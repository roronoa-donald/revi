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69" r:id="rId4"/>
    <p:sldId id="270" r:id="rId5"/>
    <p:sldId id="283" r:id="rId6"/>
    <p:sldId id="271" r:id="rId7"/>
    <p:sldId id="272" r:id="rId8"/>
    <p:sldId id="273" r:id="rId9"/>
    <p:sldId id="275" r:id="rId10"/>
    <p:sldId id="268"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41" autoAdjust="0"/>
    <p:restoredTop sz="94660"/>
  </p:normalViewPr>
  <p:slideViewPr>
    <p:cSldViewPr>
      <p:cViewPr varScale="1">
        <p:scale>
          <a:sx n="78" d="100"/>
          <a:sy n="78" d="100"/>
        </p:scale>
        <p:origin x="168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690626" y="1346947"/>
            <a:ext cx="7667244"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0626" y="4282763"/>
            <a:ext cx="7667244"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90626" y="1484779"/>
            <a:ext cx="7667244"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475220" cy="3035808"/>
          </a:xfrm>
        </p:spPr>
        <p:txBody>
          <a:bodyPr anchor="ctr">
            <a:noAutofit/>
          </a:bodyPr>
          <a:lstStyle>
            <a:lvl1pPr algn="l">
              <a:lnSpc>
                <a:spcPct val="85000"/>
              </a:lnSpc>
              <a:defRPr sz="6600" b="1" cap="none"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11E1E78C-39FB-4861-A26F-2E06CCBE47D5}" type="slidenum">
              <a:rPr lang="fr-FR" smtClean="0"/>
              <a:pPr/>
              <a:t>‹N°›</a:t>
            </a:fld>
            <a:endParaRPr lang="fr-FR"/>
          </a:p>
        </p:txBody>
      </p:sp>
    </p:spTree>
    <p:extLst>
      <p:ext uri="{BB962C8B-B14F-4D97-AF65-F5344CB8AC3E}">
        <p14:creationId xmlns:p14="http://schemas.microsoft.com/office/powerpoint/2010/main" val="3098463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4145917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5000"/>
              </a:lnSpc>
              <a:defRPr sz="6600" b="1"/>
            </a:lvl1pPr>
          </a:lstStyle>
          <a:p>
            <a:r>
              <a:rPr lang="fr-FR"/>
              <a:t>Modifiez le style du titre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7619D3DC-D1A7-43FE-8448-91B359E992DA}" type="datetimeFigureOut">
              <a:rPr lang="fr-FR" smtClean="0"/>
              <a:pPr/>
              <a:t>12/11/2024</a:t>
            </a:fld>
            <a:endParaRPr lang="fr-FR"/>
          </a:p>
        </p:txBody>
      </p:sp>
      <p:sp>
        <p:nvSpPr>
          <p:cNvPr id="5" name="Footer Placeholder 4"/>
          <p:cNvSpPr>
            <a:spLocks noGrp="1"/>
          </p:cNvSpPr>
          <p:nvPr>
            <p:ph type="ftr" sz="quarter" idx="11"/>
          </p:nvPr>
        </p:nvSpPr>
        <p:spPr>
          <a:xfrm>
            <a:off x="1623376" y="6282268"/>
            <a:ext cx="4745736" cy="365125"/>
          </a:xfrm>
        </p:spPr>
        <p:txBody>
          <a:bodyPr/>
          <a:lstStyle>
            <a:lvl1pPr>
              <a:defRPr>
                <a:solidFill>
                  <a:schemeClr val="accent1">
                    <a:lumMod val="50000"/>
                  </a:schemeClr>
                </a:solidFill>
              </a:defRPr>
            </a:lvl1pPr>
          </a:lstStyle>
          <a:p>
            <a:endParaRPr lang="fr-FR"/>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11E1E78C-39FB-4861-A26F-2E06CCBE47D5}" type="slidenum">
              <a:rPr lang="fr-FR" smtClean="0"/>
              <a:pPr/>
              <a:t>‹N°›</a:t>
            </a:fld>
            <a:endParaRPr lang="fr-FR"/>
          </a:p>
        </p:txBody>
      </p:sp>
    </p:spTree>
    <p:extLst>
      <p:ext uri="{BB962C8B-B14F-4D97-AF65-F5344CB8AC3E}">
        <p14:creationId xmlns:p14="http://schemas.microsoft.com/office/powerpoint/2010/main" val="1101878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246180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978613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7619D3DC-D1A7-43FE-8448-91B359E992DA}" type="datetimeFigureOut">
              <a:rPr lang="fr-FR" smtClean="0"/>
              <a:pPr/>
              <a:t>12/11/2024</a:t>
            </a:fld>
            <a:endParaRPr lang="fr-FR"/>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fr-FR"/>
          </a:p>
        </p:txBody>
      </p:sp>
      <p:sp>
        <p:nvSpPr>
          <p:cNvPr id="5" name="Slide Number Placeholder 4"/>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1678754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272887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1"/>
            </a:lvl1pPr>
          </a:lstStyle>
          <a:p>
            <a:r>
              <a:rPr lang="fr-FR"/>
              <a:t>Modifiez le style du titre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10" name="Footer Placeholder 9"/>
          <p:cNvSpPr>
            <a:spLocks noGrp="1"/>
          </p:cNvSpPr>
          <p:nvPr>
            <p:ph type="ftr" sz="quarter" idx="11"/>
          </p:nvPr>
        </p:nvSpPr>
        <p:spPr/>
        <p:txBody>
          <a:bodyPr/>
          <a:lstStyle/>
          <a:p>
            <a:endParaRPr lang="fr-FR"/>
          </a:p>
        </p:txBody>
      </p:sp>
      <p:sp>
        <p:nvSpPr>
          <p:cNvPr id="11" name="Slide Number Placeholder 10"/>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2912361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1"/>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10" name="Slide Number Placeholder 9"/>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2089739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742880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619D3DC-D1A7-43FE-8448-91B359E992DA}" type="datetimeFigureOut">
              <a:rPr lang="fr-FR" smtClean="0"/>
              <a:pPr/>
              <a:t>12/11/2024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1E1E78C-39FB-4861-A26F-2E06CCBE47D5}" type="slidenum">
              <a:rPr lang="fr-FR" smtClean="0"/>
              <a:pPr/>
              <a:t>‹N°›</a:t>
            </a:fld>
            <a:endParaRPr lang="fr-FR"/>
          </a:p>
        </p:txBody>
      </p:sp>
    </p:spTree>
    <p:extLst>
      <p:ext uri="{BB962C8B-B14F-4D97-AF65-F5344CB8AC3E}">
        <p14:creationId xmlns:p14="http://schemas.microsoft.com/office/powerpoint/2010/main" val="1047079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7619D3DC-D1A7-43FE-8448-91B359E992DA}" type="datetimeFigureOut">
              <a:rPr lang="fr-FR" smtClean="0"/>
              <a:pPr/>
              <a:t>12/11/2024</a:t>
            </a:fld>
            <a:endParaRPr lang="fr-FR"/>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fr-FR"/>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11E1E78C-39FB-4861-A26F-2E06CCBE47D5}" type="slidenum">
              <a:rPr lang="fr-FR" smtClean="0"/>
              <a:pPr/>
              <a:t>‹N°›</a:t>
            </a:fld>
            <a:endParaRPr lang="fr-FR"/>
          </a:p>
        </p:txBody>
      </p:sp>
    </p:spTree>
    <p:extLst>
      <p:ext uri="{BB962C8B-B14F-4D97-AF65-F5344CB8AC3E}">
        <p14:creationId xmlns:p14="http://schemas.microsoft.com/office/powerpoint/2010/main" val="334124361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2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187624" y="957804"/>
            <a:ext cx="7358114" cy="1894362"/>
          </a:xfrm>
        </p:spPr>
        <p:txBody>
          <a:bodyPr>
            <a:noAutofit/>
          </a:bodyPr>
          <a:lstStyle/>
          <a:p>
            <a:pPr algn="ctr"/>
            <a:r>
              <a:rPr lang="fr-FR" sz="3600" dirty="0"/>
              <a:t>L’Instruction de Test Alternatif </a:t>
            </a:r>
          </a:p>
        </p:txBody>
      </p:sp>
      <p:sp>
        <p:nvSpPr>
          <p:cNvPr id="4" name="Rectangle à coins arrondis 3"/>
          <p:cNvSpPr/>
          <p:nvPr/>
        </p:nvSpPr>
        <p:spPr>
          <a:xfrm>
            <a:off x="2771800" y="2412990"/>
            <a:ext cx="5572164" cy="17859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5113" indent="-265113">
              <a:buFontTx/>
              <a:buChar char="-"/>
              <a:tabLst>
                <a:tab pos="176213" algn="l"/>
              </a:tabLst>
            </a:pPr>
            <a:r>
              <a:rPr lang="fr-FR" dirty="0">
                <a:solidFill>
                  <a:schemeClr val="tx1"/>
                </a:solidFill>
              </a:rPr>
              <a:t>L’instruction de Test Alternatif Simple (TAS)</a:t>
            </a:r>
          </a:p>
          <a:p>
            <a:pPr marL="265113" indent="-265113">
              <a:buFontTx/>
              <a:buChar char="-"/>
              <a:tabLst>
                <a:tab pos="176213" algn="l"/>
              </a:tabLst>
            </a:pPr>
            <a:r>
              <a:rPr lang="fr-FR" dirty="0">
                <a:solidFill>
                  <a:schemeClr val="tx1"/>
                </a:solidFill>
              </a:rPr>
              <a:t>La syntaxe et la sémantique de TAS</a:t>
            </a:r>
          </a:p>
          <a:p>
            <a:pPr marL="265113" indent="-265113">
              <a:buFontTx/>
              <a:buChar char="-"/>
              <a:tabLst>
                <a:tab pos="176213" algn="l"/>
              </a:tabLst>
            </a:pPr>
            <a:r>
              <a:rPr lang="fr-FR" dirty="0">
                <a:solidFill>
                  <a:schemeClr val="tx1"/>
                </a:solidFill>
              </a:rPr>
              <a:t>L’instruction de Test Alternatif Double (TAD)</a:t>
            </a:r>
          </a:p>
          <a:p>
            <a:pPr marL="265113" indent="-265113">
              <a:buFontTx/>
              <a:buChar char="-"/>
              <a:tabLst>
                <a:tab pos="176213" algn="l"/>
              </a:tabLst>
            </a:pPr>
            <a:r>
              <a:rPr lang="fr-FR" dirty="0">
                <a:solidFill>
                  <a:schemeClr val="tx1"/>
                </a:solidFill>
              </a:rPr>
              <a:t>La syntaxe et la sémantique </a:t>
            </a:r>
            <a:r>
              <a:rPr lang="fr-FR">
                <a:solidFill>
                  <a:schemeClr val="tx1"/>
                </a:solidFill>
              </a:rPr>
              <a:t>de TAD</a:t>
            </a:r>
            <a:endParaRPr lang="fr-FR" dirty="0">
              <a:solidFill>
                <a:schemeClr val="tx1"/>
              </a:solidFill>
            </a:endParaRPr>
          </a:p>
        </p:txBody>
      </p:sp>
      <p:sp>
        <p:nvSpPr>
          <p:cNvPr id="7" name="Sous-titre 2">
            <a:extLst>
              <a:ext uri="{FF2B5EF4-FFF2-40B4-BE49-F238E27FC236}">
                <a16:creationId xmlns:a16="http://schemas.microsoft.com/office/drawing/2014/main" id="{5204782A-BF57-F744-4E0A-56C56B76D201}"/>
              </a:ext>
            </a:extLst>
          </p:cNvPr>
          <p:cNvSpPr>
            <a:spLocks noGrp="1"/>
          </p:cNvSpPr>
          <p:nvPr>
            <p:ph type="subTitle" idx="1"/>
          </p:nvPr>
        </p:nvSpPr>
        <p:spPr>
          <a:xfrm>
            <a:off x="2214546" y="5214950"/>
            <a:ext cx="6572296" cy="1328750"/>
          </a:xfrm>
        </p:spPr>
        <p:txBody>
          <a:bodyPr>
            <a:normAutofit/>
          </a:bodyPr>
          <a:lstStyle/>
          <a:p>
            <a:r>
              <a:rPr lang="fr-FR" dirty="0"/>
              <a:t>James ADEOLA</a:t>
            </a:r>
          </a:p>
          <a:p>
            <a:r>
              <a:rPr lang="fr-FR" dirty="0"/>
              <a:t>Collège de Paris Supérieur : Département IT</a:t>
            </a:r>
          </a:p>
          <a:p>
            <a:pPr algn="r"/>
            <a:r>
              <a:rPr lang="fr-FR" sz="1400" dirty="0">
                <a:solidFill>
                  <a:schemeClr val="bg1">
                    <a:lumMod val="65000"/>
                  </a:schemeClr>
                </a:solidFill>
              </a:rPr>
              <a:t>Année Universitaire 2024-2025</a:t>
            </a: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Simple (1/4)</a:t>
            </a:r>
          </a:p>
        </p:txBody>
      </p:sp>
      <p:sp>
        <p:nvSpPr>
          <p:cNvPr id="5" name="Espace réservé du contenu 4"/>
          <p:cNvSpPr>
            <a:spLocks noGrp="1"/>
          </p:cNvSpPr>
          <p:nvPr>
            <p:ph idx="1"/>
          </p:nvPr>
        </p:nvSpPr>
        <p:spPr>
          <a:xfrm>
            <a:off x="500034" y="1571612"/>
            <a:ext cx="7858180" cy="4643470"/>
          </a:xfrm>
          <a:ln>
            <a:solidFill>
              <a:schemeClr val="accent1"/>
            </a:solidFill>
          </a:ln>
        </p:spPr>
        <p:txBody>
          <a:bodyPr>
            <a:normAutofit/>
          </a:bodyPr>
          <a:lstStyle/>
          <a:p>
            <a:pPr algn="just"/>
            <a:r>
              <a:rPr lang="fr-FR" dirty="0"/>
              <a:t>L’instruction de Test Alternatif Simple (T.A.S.) permet de décider si on exécute une suite d’instructions (bloc d’instructions) ou non. Cette décision est basée sur une condition : Expression booléenne. Si la condition est vrai, on exécute alors ce bloc d’instructions. Sinon, on l’exécute pas.</a:t>
            </a:r>
          </a:p>
          <a:p>
            <a:pPr algn="just"/>
            <a:r>
              <a:rPr lang="fr-FR" dirty="0"/>
              <a:t>La syntaxe de l’instruction de T.A.S. est :</a:t>
            </a:r>
          </a:p>
        </p:txBody>
      </p:sp>
      <p:sp>
        <p:nvSpPr>
          <p:cNvPr id="6" name="Rectangle à coins arrondis 5"/>
          <p:cNvSpPr/>
          <p:nvPr/>
        </p:nvSpPr>
        <p:spPr>
          <a:xfrm>
            <a:off x="428596" y="1142984"/>
            <a:ext cx="8072494"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Syntaxe de l’instruction de Test Alternatif Simple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01/09</a:t>
            </a:r>
            <a:endParaRPr lang="fr-FR" sz="1400" b="1" dirty="0">
              <a:solidFill>
                <a:schemeClr val="bg1">
                  <a:lumMod val="65000"/>
                </a:schemeClr>
              </a:solidFill>
            </a:endParaRPr>
          </a:p>
        </p:txBody>
      </p:sp>
      <p:sp>
        <p:nvSpPr>
          <p:cNvPr id="9" name="ZoneTexte 8"/>
          <p:cNvSpPr txBox="1"/>
          <p:nvPr/>
        </p:nvSpPr>
        <p:spPr>
          <a:xfrm>
            <a:off x="1214414" y="4357694"/>
            <a:ext cx="2214578"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b="1" u="sng" dirty="0">
                <a:latin typeface="Calibri" pitchFamily="34" charset="0"/>
              </a:rPr>
              <a:t>Si </a:t>
            </a:r>
            <a:r>
              <a:rPr lang="fr-FR" dirty="0">
                <a:latin typeface="Calibri" pitchFamily="34" charset="0"/>
              </a:rPr>
              <a:t>&lt;Condition&gt; </a:t>
            </a:r>
            <a:r>
              <a:rPr lang="fr-FR" b="1" u="sng" dirty="0">
                <a:latin typeface="Calibri" pitchFamily="34" charset="0"/>
              </a:rPr>
              <a:t>Alors</a:t>
            </a:r>
          </a:p>
          <a:p>
            <a:r>
              <a:rPr lang="fr-FR" dirty="0">
                <a:latin typeface="Calibri" pitchFamily="34" charset="0"/>
              </a:rPr>
              <a:t>       &lt;instruction_1&gt;</a:t>
            </a:r>
          </a:p>
          <a:p>
            <a:r>
              <a:rPr lang="fr-FR" dirty="0">
                <a:latin typeface="Calibri" pitchFamily="34" charset="0"/>
              </a:rPr>
              <a:t>       &lt;instruction_2&gt;</a:t>
            </a:r>
          </a:p>
          <a:p>
            <a:r>
              <a:rPr lang="fr-FR" dirty="0">
                <a:latin typeface="Calibri" pitchFamily="34" charset="0"/>
              </a:rPr>
              <a:t>       ……..</a:t>
            </a:r>
          </a:p>
          <a:p>
            <a:r>
              <a:rPr lang="fr-FR" dirty="0">
                <a:latin typeface="Calibri" pitchFamily="34" charset="0"/>
              </a:rPr>
              <a:t>      &lt;</a:t>
            </a:r>
            <a:r>
              <a:rPr lang="fr-FR" dirty="0" err="1">
                <a:latin typeface="Calibri" pitchFamily="34" charset="0"/>
              </a:rPr>
              <a:t>instruction_n</a:t>
            </a:r>
            <a:r>
              <a:rPr lang="fr-FR" dirty="0">
                <a:latin typeface="Calibri" pitchFamily="34" charset="0"/>
              </a:rPr>
              <a:t>&gt;</a:t>
            </a:r>
          </a:p>
          <a:p>
            <a:r>
              <a:rPr lang="fr-FR" b="1" u="sng" dirty="0">
                <a:latin typeface="Calibri" pitchFamily="34" charset="0"/>
              </a:rPr>
              <a:t>Fin si</a:t>
            </a:r>
          </a:p>
        </p:txBody>
      </p:sp>
      <p:sp>
        <p:nvSpPr>
          <p:cNvPr id="10" name="Flèche droite rayée 9"/>
          <p:cNvSpPr/>
          <p:nvPr/>
        </p:nvSpPr>
        <p:spPr>
          <a:xfrm>
            <a:off x="3500430" y="4429132"/>
            <a:ext cx="1857388" cy="1071570"/>
          </a:xfrm>
          <a:prstGeom prst="stripedRightArrow">
            <a:avLst>
              <a:gd name="adj1" fmla="val 31084"/>
              <a:gd name="adj2" fmla="val 55044"/>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En PASCAL</a:t>
            </a:r>
          </a:p>
        </p:txBody>
      </p:sp>
      <p:sp>
        <p:nvSpPr>
          <p:cNvPr id="11" name="ZoneTexte 10"/>
          <p:cNvSpPr txBox="1"/>
          <p:nvPr/>
        </p:nvSpPr>
        <p:spPr>
          <a:xfrm>
            <a:off x="5429256" y="4255195"/>
            <a:ext cx="2214578"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b="1" u="sng" dirty="0">
                <a:latin typeface="Calibri" pitchFamily="34" charset="0"/>
              </a:rPr>
              <a:t>if </a:t>
            </a:r>
            <a:r>
              <a:rPr lang="fr-FR" dirty="0">
                <a:latin typeface="Calibri" pitchFamily="34" charset="0"/>
              </a:rPr>
              <a:t>&lt;Condition&gt; </a:t>
            </a:r>
            <a:r>
              <a:rPr lang="fr-FR" b="1" u="sng" dirty="0" err="1">
                <a:latin typeface="Calibri" pitchFamily="34" charset="0"/>
              </a:rPr>
              <a:t>Then</a:t>
            </a:r>
            <a:endParaRPr lang="fr-FR" b="1" u="sng" dirty="0">
              <a:latin typeface="Calibri" pitchFamily="34" charset="0"/>
            </a:endParaRPr>
          </a:p>
          <a:p>
            <a:r>
              <a:rPr lang="fr-FR" b="1" u="sng" dirty="0">
                <a:latin typeface="Calibri" pitchFamily="34" charset="0"/>
              </a:rPr>
              <a:t>Begin</a:t>
            </a:r>
          </a:p>
          <a:p>
            <a:r>
              <a:rPr lang="fr-FR" dirty="0">
                <a:latin typeface="Calibri" pitchFamily="34" charset="0"/>
              </a:rPr>
              <a:t>       &lt;instruction_1&gt;</a:t>
            </a:r>
          </a:p>
          <a:p>
            <a:r>
              <a:rPr lang="fr-FR" dirty="0">
                <a:latin typeface="Calibri" pitchFamily="34" charset="0"/>
              </a:rPr>
              <a:t>       &lt;instruction_2&gt;</a:t>
            </a:r>
          </a:p>
          <a:p>
            <a:r>
              <a:rPr lang="fr-FR" dirty="0">
                <a:latin typeface="Calibri" pitchFamily="34" charset="0"/>
              </a:rPr>
              <a:t>       ……..</a:t>
            </a:r>
          </a:p>
          <a:p>
            <a:r>
              <a:rPr lang="fr-FR" dirty="0">
                <a:latin typeface="Calibri" pitchFamily="34" charset="0"/>
              </a:rPr>
              <a:t>      &lt;</a:t>
            </a:r>
            <a:r>
              <a:rPr lang="fr-FR" dirty="0" err="1">
                <a:latin typeface="Calibri" pitchFamily="34" charset="0"/>
              </a:rPr>
              <a:t>instruction_n</a:t>
            </a:r>
            <a:r>
              <a:rPr lang="fr-FR" dirty="0">
                <a:latin typeface="Calibri" pitchFamily="34" charset="0"/>
              </a:rPr>
              <a:t>&gt;</a:t>
            </a:r>
          </a:p>
          <a:p>
            <a:r>
              <a:rPr lang="fr-FR" b="1" u="sng" dirty="0">
                <a:latin typeface="Calibri" pitchFamily="34" charset="0"/>
              </a:rPr>
              <a:t>End;</a:t>
            </a:r>
          </a:p>
        </p:txBody>
      </p:sp>
      <p:sp>
        <p:nvSpPr>
          <p:cNvPr id="12" name="Accolade ouvrante 11"/>
          <p:cNvSpPr/>
          <p:nvPr/>
        </p:nvSpPr>
        <p:spPr>
          <a:xfrm flipH="1">
            <a:off x="3143240" y="4679166"/>
            <a:ext cx="214314" cy="1000132"/>
          </a:xfrm>
          <a:prstGeom prst="leftBrace">
            <a:avLst>
              <a:gd name="adj1" fmla="val 46452"/>
              <a:gd name="adj2" fmla="val 514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3" name="Espace réservé du contenu 4"/>
          <p:cNvSpPr txBox="1">
            <a:spLocks/>
          </p:cNvSpPr>
          <p:nvPr/>
        </p:nvSpPr>
        <p:spPr>
          <a:xfrm>
            <a:off x="3714744" y="5715016"/>
            <a:ext cx="1357322" cy="357190"/>
          </a:xfrm>
          <a:prstGeom prst="rect">
            <a:avLst/>
          </a:prstGeom>
          <a:ln>
            <a:solidFill>
              <a:schemeClr val="accent1"/>
            </a:solidFill>
          </a:ln>
        </p:spPr>
        <p:txBody>
          <a:bodyPr vert="horz">
            <a:normAutofit lnSpcReduction="10000"/>
          </a:bodyPr>
          <a:lstStyle/>
          <a:p>
            <a:pPr marR="0" lvl="0" algn="ctr" defTabSz="914400" rtl="0" eaLnBrk="1" fontAlgn="auto" latinLnBrk="0" hangingPunct="1">
              <a:lnSpc>
                <a:spcPct val="100000"/>
              </a:lnSpc>
              <a:spcBef>
                <a:spcPts val="600"/>
              </a:spcBef>
              <a:spcAft>
                <a:spcPts val="0"/>
              </a:spcAft>
              <a:buClr>
                <a:schemeClr val="accent1"/>
              </a:buClr>
              <a:buSzPct val="70000"/>
              <a:tabLst/>
              <a:defRPr/>
            </a:pPr>
            <a:r>
              <a:rPr kumimoji="0" lang="fr-FR" b="0" i="0" u="none" strike="noStrike" kern="1200" cap="none" spc="0" normalizeH="0" baseline="0" noProof="0" dirty="0">
                <a:ln>
                  <a:noFill/>
                </a:ln>
                <a:solidFill>
                  <a:schemeClr val="tx1"/>
                </a:solidFill>
                <a:effectLst/>
                <a:uLnTx/>
                <a:uFillTx/>
                <a:latin typeface="+mn-lt"/>
                <a:ea typeface="+mn-ea"/>
                <a:cs typeface="+mn-cs"/>
              </a:rPr>
              <a:t>Bloc du Si</a:t>
            </a:r>
          </a:p>
        </p:txBody>
      </p:sp>
      <p:cxnSp>
        <p:nvCxnSpPr>
          <p:cNvPr id="14" name="Connecteur droit avec flèche 13"/>
          <p:cNvCxnSpPr>
            <a:stCxn id="13" idx="1"/>
            <a:endCxn id="12" idx="1"/>
          </p:cNvCxnSpPr>
          <p:nvPr/>
        </p:nvCxnSpPr>
        <p:spPr>
          <a:xfrm rot="10800000">
            <a:off x="3357554" y="5194225"/>
            <a:ext cx="357190" cy="6993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Accolade ouvrante 16"/>
          <p:cNvSpPr/>
          <p:nvPr/>
        </p:nvSpPr>
        <p:spPr>
          <a:xfrm>
            <a:off x="5429256" y="4857760"/>
            <a:ext cx="142876" cy="1214446"/>
          </a:xfrm>
          <a:prstGeom prst="leftBrace">
            <a:avLst>
              <a:gd name="adj1" fmla="val 46452"/>
              <a:gd name="adj2" fmla="val 514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cxnSp>
        <p:nvCxnSpPr>
          <p:cNvPr id="18" name="Connecteur droit avec flèche 17"/>
          <p:cNvCxnSpPr>
            <a:stCxn id="13" idx="3"/>
            <a:endCxn id="17" idx="1"/>
          </p:cNvCxnSpPr>
          <p:nvPr/>
        </p:nvCxnSpPr>
        <p:spPr>
          <a:xfrm flipV="1">
            <a:off x="5072066" y="5483188"/>
            <a:ext cx="357190" cy="4104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Espace réservé du contenu 4">
            <a:extLst>
              <a:ext uri="{FF2B5EF4-FFF2-40B4-BE49-F238E27FC236}">
                <a16:creationId xmlns:a16="http://schemas.microsoft.com/office/drawing/2014/main" id="{F076C5D5-5A87-1EF5-4CC9-CF99B3390F2C}"/>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strips(downLeft)">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strips(down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childTnLst>
                                </p:cTn>
                              </p:par>
                              <p:par>
                                <p:cTn id="37" presetID="18" presetClass="entr" presetSubtype="12"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strips(downLeft)">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8" presetClass="entr" presetSubtype="12"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strips(downLeft)">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childTnLst>
                                </p:cTn>
                              </p:par>
                              <p:par>
                                <p:cTn id="57" presetID="18" presetClass="entr" presetSubtype="12"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strips(downLeft)">
                                      <p:cBhvr>
                                        <p:cTn id="5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P spid="9" grpId="0" animBg="1"/>
      <p:bldP spid="10" grpId="0" animBg="1"/>
      <p:bldP spid="11" grpId="0" animBg="1"/>
      <p:bldP spid="12" grpId="0" animBg="1"/>
      <p:bldP spid="13"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Simple (2/4)</a:t>
            </a:r>
          </a:p>
        </p:txBody>
      </p:sp>
      <p:sp>
        <p:nvSpPr>
          <p:cNvPr id="5" name="Espace réservé du contenu 4"/>
          <p:cNvSpPr>
            <a:spLocks noGrp="1"/>
          </p:cNvSpPr>
          <p:nvPr>
            <p:ph idx="1"/>
          </p:nvPr>
        </p:nvSpPr>
        <p:spPr>
          <a:xfrm>
            <a:off x="500034" y="1571612"/>
            <a:ext cx="8072494" cy="4643470"/>
          </a:xfrm>
          <a:ln>
            <a:solidFill>
              <a:schemeClr val="accent1"/>
            </a:solidFill>
          </a:ln>
        </p:spPr>
        <p:txBody>
          <a:bodyPr>
            <a:normAutofit fontScale="92500" lnSpcReduction="10000"/>
          </a:bodyPr>
          <a:lstStyle/>
          <a:p>
            <a:pPr algn="just"/>
            <a:r>
              <a:rPr lang="fr-FR" dirty="0"/>
              <a:t>Soit l’exemple suivant (</a:t>
            </a:r>
            <a:r>
              <a:rPr lang="fr-FR" sz="1900" dirty="0"/>
              <a:t>Algorithmique / Pascal</a:t>
            </a:r>
            <a:r>
              <a:rPr lang="fr-FR" dirty="0"/>
              <a:t>)</a:t>
            </a:r>
          </a:p>
          <a:p>
            <a:pPr lvl="1" algn="just"/>
            <a:r>
              <a:rPr lang="fr-FR" b="1" u="sng" dirty="0">
                <a:latin typeface="Calibri" pitchFamily="34" charset="0"/>
              </a:rPr>
              <a:t>Si</a:t>
            </a:r>
            <a:r>
              <a:rPr lang="fr-FR" dirty="0">
                <a:latin typeface="Calibri" pitchFamily="34" charset="0"/>
              </a:rPr>
              <a:t> (x &gt; 0) </a:t>
            </a:r>
            <a:r>
              <a:rPr lang="fr-FR" b="1" u="sng" dirty="0">
                <a:latin typeface="Calibri" pitchFamily="34" charset="0"/>
              </a:rPr>
              <a:t>Alors</a:t>
            </a:r>
            <a:r>
              <a:rPr lang="fr-FR" dirty="0">
                <a:latin typeface="Calibri" pitchFamily="34" charset="0"/>
              </a:rPr>
              <a:t>			</a:t>
            </a:r>
            <a:r>
              <a:rPr lang="fr-FR" b="1" u="sng" dirty="0">
                <a:latin typeface="Calibri" pitchFamily="34" charset="0"/>
              </a:rPr>
              <a:t>if</a:t>
            </a:r>
            <a:r>
              <a:rPr lang="fr-FR" dirty="0">
                <a:latin typeface="Calibri" pitchFamily="34" charset="0"/>
              </a:rPr>
              <a:t> (x&gt;0) </a:t>
            </a:r>
            <a:r>
              <a:rPr lang="fr-FR" b="1" u="sng" dirty="0" err="1">
                <a:latin typeface="Calibri" pitchFamily="34" charset="0"/>
              </a:rPr>
              <a:t>then</a:t>
            </a:r>
            <a:endParaRPr lang="fr-FR" b="1" u="sng" dirty="0">
              <a:latin typeface="Calibri" pitchFamily="34" charset="0"/>
            </a:endParaRPr>
          </a:p>
          <a:p>
            <a:pPr lvl="1" algn="just">
              <a:buNone/>
            </a:pPr>
            <a:r>
              <a:rPr lang="fr-FR" dirty="0">
                <a:latin typeface="Calibri" pitchFamily="34" charset="0"/>
              </a:rPr>
              <a:t>		Ecrire (‘X est positif’)		    </a:t>
            </a:r>
            <a:r>
              <a:rPr lang="fr-FR" b="1" u="sng" dirty="0" err="1">
                <a:latin typeface="Calibri" pitchFamily="34" charset="0"/>
              </a:rPr>
              <a:t>begin</a:t>
            </a:r>
            <a:endParaRPr lang="fr-FR" b="1" u="sng" dirty="0">
              <a:latin typeface="Calibri" pitchFamily="34" charset="0"/>
            </a:endParaRPr>
          </a:p>
          <a:p>
            <a:pPr lvl="1" algn="just">
              <a:buNone/>
            </a:pPr>
            <a:r>
              <a:rPr lang="fr-FR" dirty="0">
                <a:latin typeface="Calibri" pitchFamily="34" charset="0"/>
              </a:rPr>
              <a:t>	</a:t>
            </a:r>
            <a:r>
              <a:rPr lang="fr-FR" b="1" u="sng" dirty="0">
                <a:latin typeface="Calibri" pitchFamily="34" charset="0"/>
              </a:rPr>
              <a:t>Fin-si</a:t>
            </a:r>
            <a:r>
              <a:rPr lang="fr-FR" dirty="0">
                <a:latin typeface="Calibri" pitchFamily="34" charset="0"/>
              </a:rPr>
              <a:t>				            </a:t>
            </a:r>
            <a:r>
              <a:rPr lang="fr-FR" dirty="0" err="1">
                <a:latin typeface="Calibri" pitchFamily="34" charset="0"/>
              </a:rPr>
              <a:t>Write</a:t>
            </a:r>
            <a:r>
              <a:rPr lang="fr-FR" dirty="0">
                <a:latin typeface="Calibri" pitchFamily="34" charset="0"/>
              </a:rPr>
              <a:t> (‘X est positif’);</a:t>
            </a:r>
          </a:p>
          <a:p>
            <a:pPr lvl="1" algn="just">
              <a:buNone/>
            </a:pPr>
            <a:r>
              <a:rPr lang="fr-FR" dirty="0">
                <a:latin typeface="Calibri" pitchFamily="34" charset="0"/>
              </a:rPr>
              <a:t>						    </a:t>
            </a:r>
            <a:r>
              <a:rPr lang="fr-FR" b="1" u="sng" dirty="0">
                <a:latin typeface="Calibri" pitchFamily="34" charset="0"/>
              </a:rPr>
              <a:t>end</a:t>
            </a:r>
            <a:r>
              <a:rPr lang="fr-FR" dirty="0">
                <a:latin typeface="Calibri" pitchFamily="34" charset="0"/>
              </a:rPr>
              <a:t>;</a:t>
            </a:r>
          </a:p>
          <a:p>
            <a:pPr lvl="1" algn="just">
              <a:buNone/>
            </a:pPr>
            <a:endParaRPr lang="fr-FR" dirty="0">
              <a:latin typeface="Calibri" pitchFamily="34" charset="0"/>
            </a:endParaRPr>
          </a:p>
          <a:p>
            <a:pPr algn="just"/>
            <a:r>
              <a:rPr lang="fr-FR" dirty="0"/>
              <a:t>Ça veut dire quoi cette instruction ?</a:t>
            </a:r>
          </a:p>
          <a:p>
            <a:pPr algn="just"/>
            <a:r>
              <a:rPr lang="fr-FR" dirty="0"/>
              <a:t>Le sens de cette instruction est comme suit : Si la valeur de x est supérieure à 0 alors on affiche la chaîne ‘</a:t>
            </a:r>
            <a:r>
              <a:rPr lang="fr-FR" i="1" dirty="0"/>
              <a:t>X est positif</a:t>
            </a:r>
            <a:r>
              <a:rPr lang="fr-FR" dirty="0"/>
              <a:t>’. Si la condition est fausse, on exécute automatiquement l’instruction qui vient après </a:t>
            </a:r>
            <a:r>
              <a:rPr lang="fr-FR" b="1" i="1" dirty="0"/>
              <a:t>Fin-Si</a:t>
            </a:r>
            <a:r>
              <a:rPr lang="fr-FR" dirty="0"/>
              <a:t>.</a:t>
            </a:r>
          </a:p>
          <a:p>
            <a:pPr algn="just"/>
            <a:r>
              <a:rPr lang="fr-FR" b="1" i="1" dirty="0"/>
              <a:t>Remarques:</a:t>
            </a:r>
          </a:p>
          <a:p>
            <a:pPr lvl="1" algn="just">
              <a:buFont typeface="Arial" pitchFamily="34" charset="0"/>
              <a:buChar char="•"/>
            </a:pPr>
            <a:r>
              <a:rPr lang="fr-FR" sz="1900" dirty="0"/>
              <a:t>Dans le TAS, il y a un seul bloc d’instructions, dans la traduction en PASCAL, le bloc est délimité par </a:t>
            </a:r>
            <a:r>
              <a:rPr lang="fr-FR" sz="1900" b="1" dirty="0"/>
              <a:t>Begin</a:t>
            </a:r>
            <a:r>
              <a:rPr lang="fr-FR" sz="1900" dirty="0"/>
              <a:t> et </a:t>
            </a:r>
            <a:r>
              <a:rPr lang="fr-FR" sz="1900" b="1" dirty="0"/>
              <a:t>End;</a:t>
            </a:r>
            <a:r>
              <a:rPr lang="fr-FR" sz="1900" dirty="0"/>
              <a:t> .</a:t>
            </a:r>
          </a:p>
          <a:p>
            <a:pPr lvl="1" algn="just">
              <a:buFont typeface="Arial" pitchFamily="34" charset="0"/>
              <a:buChar char="•"/>
            </a:pPr>
            <a:r>
              <a:rPr lang="fr-FR" sz="1900" dirty="0"/>
              <a:t>Si le bloc contient une seule instruction, on peut enlever le </a:t>
            </a:r>
            <a:r>
              <a:rPr lang="fr-FR" sz="1900" b="1" dirty="0"/>
              <a:t>Begin</a:t>
            </a:r>
            <a:r>
              <a:rPr lang="fr-FR" sz="1900" dirty="0"/>
              <a:t> et le </a:t>
            </a:r>
            <a:r>
              <a:rPr lang="fr-FR" sz="1900" b="1" dirty="0"/>
              <a:t>End;</a:t>
            </a:r>
            <a:r>
              <a:rPr lang="fr-FR" sz="1900" dirty="0"/>
              <a:t> .</a:t>
            </a:r>
          </a:p>
        </p:txBody>
      </p:sp>
      <p:sp>
        <p:nvSpPr>
          <p:cNvPr id="6" name="Rectangle à coins arrondis 5"/>
          <p:cNvSpPr/>
          <p:nvPr/>
        </p:nvSpPr>
        <p:spPr>
          <a:xfrm>
            <a:off x="428596" y="1142984"/>
            <a:ext cx="8286808"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Sémantique de l’instruction de Test Alternatif Simple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02/09</a:t>
            </a:r>
            <a:endParaRPr lang="fr-FR" sz="1400" b="1" dirty="0">
              <a:solidFill>
                <a:schemeClr val="bg1">
                  <a:lumMod val="65000"/>
                </a:schemeClr>
              </a:solidFill>
            </a:endParaRPr>
          </a:p>
        </p:txBody>
      </p:sp>
      <p:sp>
        <p:nvSpPr>
          <p:cNvPr id="3" name="Espace réservé du contenu 4">
            <a:extLst>
              <a:ext uri="{FF2B5EF4-FFF2-40B4-BE49-F238E27FC236}">
                <a16:creationId xmlns:a16="http://schemas.microsoft.com/office/drawing/2014/main" id="{EE6E13A2-06C4-37AC-6A5D-8901027CFEBA}"/>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strips(downLeft)">
                                      <p:cBhvr>
                                        <p:cTn id="19" dur="500"/>
                                        <p:tgtEl>
                                          <p:spTgt spid="5">
                                            <p:txEl>
                                              <p:pRg st="1" end="1"/>
                                            </p:txEl>
                                          </p:spTgt>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strips(downLeft)">
                                      <p:cBhvr>
                                        <p:cTn id="22" dur="500"/>
                                        <p:tgtEl>
                                          <p:spTgt spid="5">
                                            <p:txEl>
                                              <p:pRg st="2" end="2"/>
                                            </p:txEl>
                                          </p:spTgt>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strips(downLeft)">
                                      <p:cBhvr>
                                        <p:cTn id="25" dur="500"/>
                                        <p:tgtEl>
                                          <p:spTgt spid="5">
                                            <p:txEl>
                                              <p:pRg st="3" end="3"/>
                                            </p:txEl>
                                          </p:spTgt>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strips(downLeft)">
                                      <p:cBhvr>
                                        <p:cTn id="28" dur="500"/>
                                        <p:tgtEl>
                                          <p:spTgt spid="5">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strips(downLeft)">
                                      <p:cBhvr>
                                        <p:cTn id="33" dur="500"/>
                                        <p:tgtEl>
                                          <p:spTgt spid="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strips(downLeft)">
                                      <p:cBhvr>
                                        <p:cTn id="38" dur="500"/>
                                        <p:tgtEl>
                                          <p:spTgt spid="5">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grpId="0"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Effect transition="in" filter="strips(downLeft)">
                                      <p:cBhvr>
                                        <p:cTn id="43" dur="500"/>
                                        <p:tgtEl>
                                          <p:spTgt spid="5">
                                            <p:txEl>
                                              <p:pRg st="8" end="8"/>
                                            </p:txEl>
                                          </p:spTgt>
                                        </p:tgtEl>
                                      </p:cBhvr>
                                    </p:animEffect>
                                  </p:childTnLst>
                                </p:cTn>
                              </p:par>
                              <p:par>
                                <p:cTn id="44" presetID="18" presetClass="entr" presetSubtype="12" fill="hold" grpId="0" nodeType="withEffect">
                                  <p:stCondLst>
                                    <p:cond delay="0"/>
                                  </p:stCondLst>
                                  <p:childTnLst>
                                    <p:set>
                                      <p:cBhvr>
                                        <p:cTn id="45" dur="1" fill="hold">
                                          <p:stCondLst>
                                            <p:cond delay="0"/>
                                          </p:stCondLst>
                                        </p:cTn>
                                        <p:tgtEl>
                                          <p:spTgt spid="5">
                                            <p:txEl>
                                              <p:pRg st="9" end="9"/>
                                            </p:txEl>
                                          </p:spTgt>
                                        </p:tgtEl>
                                        <p:attrNameLst>
                                          <p:attrName>style.visibility</p:attrName>
                                        </p:attrNameLst>
                                      </p:cBhvr>
                                      <p:to>
                                        <p:strVal val="visible"/>
                                      </p:to>
                                    </p:set>
                                    <p:animEffect transition="in" filter="strips(downLeft)">
                                      <p:cBhvr>
                                        <p:cTn id="46" dur="500"/>
                                        <p:tgtEl>
                                          <p:spTgt spid="5">
                                            <p:txEl>
                                              <p:pRg st="9" end="9"/>
                                            </p:txEl>
                                          </p:spTgt>
                                        </p:tgtEl>
                                      </p:cBhvr>
                                    </p:animEffect>
                                  </p:childTnLst>
                                </p:cTn>
                              </p:par>
                              <p:par>
                                <p:cTn id="47" presetID="18" presetClass="entr" presetSubtype="12" fill="hold" grpId="0" nodeType="withEffect">
                                  <p:stCondLst>
                                    <p:cond delay="0"/>
                                  </p:stCondLst>
                                  <p:childTnLst>
                                    <p:set>
                                      <p:cBhvr>
                                        <p:cTn id="48" dur="1" fill="hold">
                                          <p:stCondLst>
                                            <p:cond delay="0"/>
                                          </p:stCondLst>
                                        </p:cTn>
                                        <p:tgtEl>
                                          <p:spTgt spid="5">
                                            <p:txEl>
                                              <p:pRg st="10" end="10"/>
                                            </p:txEl>
                                          </p:spTgt>
                                        </p:tgtEl>
                                        <p:attrNameLst>
                                          <p:attrName>style.visibility</p:attrName>
                                        </p:attrNameLst>
                                      </p:cBhvr>
                                      <p:to>
                                        <p:strVal val="visible"/>
                                      </p:to>
                                    </p:set>
                                    <p:animEffect transition="in" filter="strips(downLeft)">
                                      <p:cBhvr>
                                        <p:cTn id="49"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Simple (3/4)</a:t>
            </a:r>
          </a:p>
        </p:txBody>
      </p:sp>
      <p:sp>
        <p:nvSpPr>
          <p:cNvPr id="5" name="Espace réservé du contenu 4"/>
          <p:cNvSpPr>
            <a:spLocks noGrp="1"/>
          </p:cNvSpPr>
          <p:nvPr>
            <p:ph idx="1"/>
          </p:nvPr>
        </p:nvSpPr>
        <p:spPr>
          <a:xfrm>
            <a:off x="500034" y="1571612"/>
            <a:ext cx="8143932" cy="4643470"/>
          </a:xfrm>
          <a:ln>
            <a:solidFill>
              <a:schemeClr val="accent1"/>
            </a:solidFill>
          </a:ln>
        </p:spPr>
        <p:txBody>
          <a:bodyPr>
            <a:normAutofit/>
          </a:bodyPr>
          <a:lstStyle/>
          <a:p>
            <a:pPr algn="just"/>
            <a:r>
              <a:rPr lang="fr-FR" dirty="0"/>
              <a:t>Quant-est-ce que nous utiliserons l’instruction de Test Alternatif simple ?</a:t>
            </a:r>
          </a:p>
          <a:p>
            <a:pPr algn="just"/>
            <a:r>
              <a:rPr lang="fr-FR" dirty="0"/>
              <a:t>Dans l’algorithmique, et dans plusieurs situation, des instructions ne sont pas toujours exécutées. Ces instructions sont exécutées uniquement si une ou plusieurs conditions doivent être vérifiées. Ces conditions sont formulées sous forme d’expression booléennes :</a:t>
            </a:r>
          </a:p>
          <a:p>
            <a:pPr lvl="1" algn="just"/>
            <a:r>
              <a:rPr lang="fr-FR" dirty="0"/>
              <a:t>Si l’expression booléenne vaut TRUE, alors ces instructions seront exécutées.</a:t>
            </a:r>
          </a:p>
          <a:p>
            <a:pPr lvl="1" algn="just"/>
            <a:r>
              <a:rPr lang="fr-FR" dirty="0"/>
              <a:t>Si l’expression vaut FALSE, alors ces instructions ne sont pas exécutées.</a:t>
            </a:r>
          </a:p>
          <a:p>
            <a:pPr algn="just"/>
            <a:r>
              <a:rPr lang="fr-FR" dirty="0"/>
              <a:t>Dans ce type de cas, on est amené à utilise l’instruction de Test Alternatif Simple.</a:t>
            </a:r>
          </a:p>
          <a:p>
            <a:pPr algn="just">
              <a:buNone/>
            </a:pPr>
            <a:endParaRPr lang="fr-FR" dirty="0"/>
          </a:p>
        </p:txBody>
      </p:sp>
      <p:sp>
        <p:nvSpPr>
          <p:cNvPr id="6" name="Rectangle à coins arrondis 5"/>
          <p:cNvSpPr/>
          <p:nvPr/>
        </p:nvSpPr>
        <p:spPr>
          <a:xfrm>
            <a:off x="428596" y="1142984"/>
            <a:ext cx="8286808"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Utilisation de l’instruction de Test Alternatif Simple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03/09</a:t>
            </a:r>
            <a:endParaRPr lang="fr-FR" sz="1400" b="1" dirty="0">
              <a:solidFill>
                <a:schemeClr val="bg1">
                  <a:lumMod val="65000"/>
                </a:schemeClr>
              </a:solidFill>
            </a:endParaRPr>
          </a:p>
        </p:txBody>
      </p:sp>
      <p:sp>
        <p:nvSpPr>
          <p:cNvPr id="3" name="Espace réservé du contenu 4">
            <a:extLst>
              <a:ext uri="{FF2B5EF4-FFF2-40B4-BE49-F238E27FC236}">
                <a16:creationId xmlns:a16="http://schemas.microsoft.com/office/drawing/2014/main" id="{BAFDA887-76AA-6162-F26F-4122CD7BEBAC}"/>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strips(downLeft)">
                                      <p:cBhvr>
                                        <p:cTn id="21" dur="500"/>
                                        <p:tgtEl>
                                          <p:spTgt spid="5">
                                            <p:txEl>
                                              <p:pRg st="1" end="1"/>
                                            </p:txEl>
                                          </p:spTgt>
                                        </p:tgtEl>
                                      </p:cBhvr>
                                    </p:animEffect>
                                  </p:childTnLst>
                                </p:cTn>
                              </p:par>
                              <p:par>
                                <p:cTn id="22" presetID="18" presetClass="entr" presetSubtype="12"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strips(downLeft)">
                                      <p:cBhvr>
                                        <p:cTn id="24" dur="500"/>
                                        <p:tgtEl>
                                          <p:spTgt spid="5">
                                            <p:txEl>
                                              <p:pRg st="2" end="2"/>
                                            </p:txEl>
                                          </p:spTgt>
                                        </p:tgtEl>
                                      </p:cBhvr>
                                    </p:animEffect>
                                  </p:childTnLst>
                                </p:cTn>
                              </p:par>
                              <p:par>
                                <p:cTn id="25" presetID="18" presetClass="entr" presetSubtype="12"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strips(downLeft)">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strips(downLeft)">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Simple (4/4)</a:t>
            </a:r>
          </a:p>
        </p:txBody>
      </p:sp>
      <p:sp>
        <p:nvSpPr>
          <p:cNvPr id="5" name="Espace réservé du contenu 4"/>
          <p:cNvSpPr>
            <a:spLocks noGrp="1"/>
          </p:cNvSpPr>
          <p:nvPr>
            <p:ph idx="1"/>
          </p:nvPr>
        </p:nvSpPr>
        <p:spPr>
          <a:xfrm>
            <a:off x="500034" y="1571612"/>
            <a:ext cx="8143932" cy="4643470"/>
          </a:xfrm>
          <a:ln>
            <a:solidFill>
              <a:schemeClr val="accent1"/>
            </a:solidFill>
          </a:ln>
        </p:spPr>
        <p:txBody>
          <a:bodyPr>
            <a:normAutofit/>
          </a:bodyPr>
          <a:lstStyle/>
          <a:p>
            <a:pPr algn="just"/>
            <a:r>
              <a:rPr lang="fr-FR" dirty="0"/>
              <a:t>Ecrire un algorithme/Programme qui affiche pour nombre x s’il est positif.</a:t>
            </a:r>
          </a:p>
        </p:txBody>
      </p:sp>
      <p:sp>
        <p:nvSpPr>
          <p:cNvPr id="6" name="Rectangle à coins arrondis 5"/>
          <p:cNvSpPr/>
          <p:nvPr/>
        </p:nvSpPr>
        <p:spPr>
          <a:xfrm>
            <a:off x="428596" y="1142984"/>
            <a:ext cx="8286808"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Exemple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04/09</a:t>
            </a:r>
            <a:endParaRPr lang="fr-FR" sz="1400" b="1" dirty="0">
              <a:solidFill>
                <a:schemeClr val="bg1">
                  <a:lumMod val="65000"/>
                </a:schemeClr>
              </a:solidFill>
            </a:endParaRPr>
          </a:p>
        </p:txBody>
      </p:sp>
      <p:sp>
        <p:nvSpPr>
          <p:cNvPr id="9" name="ZoneTexte 8"/>
          <p:cNvSpPr txBox="1"/>
          <p:nvPr/>
        </p:nvSpPr>
        <p:spPr>
          <a:xfrm>
            <a:off x="928662" y="2643182"/>
            <a:ext cx="3214710"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b="1" u="sng" dirty="0">
                <a:latin typeface="Calibri" pitchFamily="34" charset="0"/>
              </a:rPr>
              <a:t>Algorithme</a:t>
            </a:r>
            <a:r>
              <a:rPr lang="fr-FR" dirty="0">
                <a:latin typeface="Calibri" pitchFamily="34" charset="0"/>
              </a:rPr>
              <a:t> exemple_1</a:t>
            </a:r>
          </a:p>
          <a:p>
            <a:r>
              <a:rPr lang="fr-FR" b="1" u="sng" dirty="0">
                <a:latin typeface="Calibri" pitchFamily="34" charset="0"/>
              </a:rPr>
              <a:t>Variables</a:t>
            </a:r>
          </a:p>
          <a:p>
            <a:r>
              <a:rPr lang="fr-FR" dirty="0">
                <a:latin typeface="Calibri" pitchFamily="34" charset="0"/>
              </a:rPr>
              <a:t>	x : réel</a:t>
            </a:r>
            <a:endParaRPr lang="fr-FR" b="1" u="sng" dirty="0">
              <a:latin typeface="Calibri" pitchFamily="34" charset="0"/>
            </a:endParaRPr>
          </a:p>
          <a:p>
            <a:r>
              <a:rPr lang="fr-FR" b="1" u="sng" dirty="0">
                <a:latin typeface="Calibri" pitchFamily="34" charset="0"/>
              </a:rPr>
              <a:t>Début</a:t>
            </a:r>
          </a:p>
          <a:p>
            <a:r>
              <a:rPr lang="fr-FR" dirty="0">
                <a:latin typeface="Calibri" pitchFamily="34" charset="0"/>
              </a:rPr>
              <a:t>    Lire (x)</a:t>
            </a:r>
          </a:p>
          <a:p>
            <a:endParaRPr lang="fr-FR" dirty="0">
              <a:latin typeface="Calibri" pitchFamily="34" charset="0"/>
            </a:endParaRPr>
          </a:p>
          <a:p>
            <a:r>
              <a:rPr lang="fr-FR" dirty="0">
                <a:latin typeface="Calibri" pitchFamily="34" charset="0"/>
              </a:rPr>
              <a:t>    </a:t>
            </a:r>
            <a:r>
              <a:rPr lang="fr-FR" b="1" u="sng" dirty="0">
                <a:latin typeface="Calibri" pitchFamily="34" charset="0"/>
              </a:rPr>
              <a:t>Si</a:t>
            </a:r>
            <a:r>
              <a:rPr lang="fr-FR" dirty="0">
                <a:latin typeface="Calibri" pitchFamily="34" charset="0"/>
              </a:rPr>
              <a:t> x &gt; 0 </a:t>
            </a:r>
            <a:r>
              <a:rPr lang="fr-FR" b="1" dirty="0">
                <a:latin typeface="Calibri" pitchFamily="34" charset="0"/>
              </a:rPr>
              <a:t>Alors</a:t>
            </a:r>
          </a:p>
          <a:p>
            <a:r>
              <a:rPr lang="fr-FR" dirty="0">
                <a:latin typeface="Calibri" pitchFamily="34" charset="0"/>
              </a:rPr>
              <a:t>        écrire (‘X est positif’)</a:t>
            </a:r>
          </a:p>
          <a:p>
            <a:r>
              <a:rPr lang="fr-FR" dirty="0">
                <a:latin typeface="Calibri" pitchFamily="34" charset="0"/>
              </a:rPr>
              <a:t>    </a:t>
            </a:r>
            <a:r>
              <a:rPr lang="fr-FR" b="1" u="sng" dirty="0">
                <a:latin typeface="Calibri" pitchFamily="34" charset="0"/>
              </a:rPr>
              <a:t>Fin-Si</a:t>
            </a:r>
          </a:p>
          <a:p>
            <a:endParaRPr lang="fr-FR" dirty="0">
              <a:latin typeface="Calibri" pitchFamily="34" charset="0"/>
            </a:endParaRPr>
          </a:p>
          <a:p>
            <a:r>
              <a:rPr lang="fr-FR" b="1" u="sng" dirty="0">
                <a:latin typeface="Calibri" pitchFamily="34" charset="0"/>
              </a:rPr>
              <a:t>Fin</a:t>
            </a:r>
            <a:endParaRPr lang="fr-FR" dirty="0">
              <a:latin typeface="Calibri" pitchFamily="34" charset="0"/>
            </a:endParaRPr>
          </a:p>
        </p:txBody>
      </p:sp>
      <p:sp>
        <p:nvSpPr>
          <p:cNvPr id="10" name="ZoneTexte 9"/>
          <p:cNvSpPr txBox="1"/>
          <p:nvPr/>
        </p:nvSpPr>
        <p:spPr>
          <a:xfrm>
            <a:off x="4929190" y="2428868"/>
            <a:ext cx="3214710" cy="34163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b="1" u="sng" dirty="0">
                <a:latin typeface="Calibri" pitchFamily="34" charset="0"/>
              </a:rPr>
              <a:t>Program</a:t>
            </a:r>
            <a:r>
              <a:rPr lang="fr-FR" dirty="0">
                <a:latin typeface="Calibri" pitchFamily="34" charset="0"/>
              </a:rPr>
              <a:t> exemple_1;</a:t>
            </a:r>
          </a:p>
          <a:p>
            <a:r>
              <a:rPr lang="fr-FR" b="1" u="sng" dirty="0">
                <a:latin typeface="Calibri" pitchFamily="34" charset="0"/>
              </a:rPr>
              <a:t>Uses</a:t>
            </a:r>
            <a:r>
              <a:rPr lang="fr-FR" dirty="0">
                <a:latin typeface="Calibri" pitchFamily="34" charset="0"/>
              </a:rPr>
              <a:t> </a:t>
            </a:r>
            <a:r>
              <a:rPr lang="fr-FR" dirty="0" err="1">
                <a:latin typeface="Calibri" pitchFamily="34" charset="0"/>
              </a:rPr>
              <a:t>wincrt</a:t>
            </a:r>
            <a:r>
              <a:rPr lang="fr-FR" dirty="0">
                <a:latin typeface="Calibri" pitchFamily="34" charset="0"/>
              </a:rPr>
              <a:t>;</a:t>
            </a:r>
          </a:p>
          <a:p>
            <a:r>
              <a:rPr lang="fr-FR" b="1" u="sng" dirty="0">
                <a:latin typeface="Calibri" pitchFamily="34" charset="0"/>
              </a:rPr>
              <a:t>Var</a:t>
            </a:r>
          </a:p>
          <a:p>
            <a:r>
              <a:rPr lang="fr-FR" dirty="0">
                <a:latin typeface="Calibri" pitchFamily="34" charset="0"/>
              </a:rPr>
              <a:t>	x : real;</a:t>
            </a:r>
          </a:p>
          <a:p>
            <a:r>
              <a:rPr lang="fr-FR" b="1" u="sng" dirty="0">
                <a:latin typeface="Calibri" pitchFamily="34" charset="0"/>
              </a:rPr>
              <a:t>Begin</a:t>
            </a:r>
          </a:p>
          <a:p>
            <a:r>
              <a:rPr lang="fr-FR" dirty="0">
                <a:latin typeface="Calibri" pitchFamily="34" charset="0"/>
              </a:rPr>
              <a:t>    Read (x);</a:t>
            </a:r>
          </a:p>
          <a:p>
            <a:r>
              <a:rPr lang="fr-FR" dirty="0">
                <a:latin typeface="Calibri" pitchFamily="34" charset="0"/>
              </a:rPr>
              <a:t>     </a:t>
            </a:r>
            <a:r>
              <a:rPr lang="fr-FR" b="1" u="sng" dirty="0">
                <a:latin typeface="Calibri" pitchFamily="34" charset="0"/>
              </a:rPr>
              <a:t>If</a:t>
            </a:r>
            <a:r>
              <a:rPr lang="fr-FR" dirty="0">
                <a:latin typeface="Calibri" pitchFamily="34" charset="0"/>
              </a:rPr>
              <a:t> x&gt;0 </a:t>
            </a:r>
            <a:r>
              <a:rPr lang="fr-FR" b="1" u="sng" dirty="0" err="1">
                <a:latin typeface="Calibri" pitchFamily="34" charset="0"/>
              </a:rPr>
              <a:t>Then</a:t>
            </a:r>
            <a:endParaRPr lang="fr-FR" b="1" u="sng" dirty="0">
              <a:latin typeface="Calibri" pitchFamily="34" charset="0"/>
            </a:endParaRPr>
          </a:p>
          <a:p>
            <a:r>
              <a:rPr lang="fr-FR" dirty="0">
                <a:latin typeface="Calibri" pitchFamily="34" charset="0"/>
              </a:rPr>
              <a:t>       </a:t>
            </a:r>
            <a:r>
              <a:rPr lang="fr-FR" b="1" u="sng" dirty="0" err="1">
                <a:latin typeface="Calibri" pitchFamily="34" charset="0"/>
              </a:rPr>
              <a:t>begin</a:t>
            </a:r>
            <a:endParaRPr lang="fr-FR" b="1" u="sng" dirty="0">
              <a:latin typeface="Calibri" pitchFamily="34" charset="0"/>
            </a:endParaRPr>
          </a:p>
          <a:p>
            <a:r>
              <a:rPr lang="fr-FR" dirty="0">
                <a:latin typeface="Calibri" pitchFamily="34" charset="0"/>
              </a:rPr>
              <a:t>                </a:t>
            </a:r>
            <a:r>
              <a:rPr lang="fr-FR" dirty="0" err="1">
                <a:latin typeface="Calibri" pitchFamily="34" charset="0"/>
              </a:rPr>
              <a:t>Write</a:t>
            </a:r>
            <a:r>
              <a:rPr lang="fr-FR" dirty="0">
                <a:latin typeface="Calibri" pitchFamily="34" charset="0"/>
              </a:rPr>
              <a:t>(‘X est Positif’);</a:t>
            </a:r>
          </a:p>
          <a:p>
            <a:r>
              <a:rPr lang="fr-FR" dirty="0">
                <a:latin typeface="Calibri" pitchFamily="34" charset="0"/>
              </a:rPr>
              <a:t>       </a:t>
            </a:r>
            <a:r>
              <a:rPr lang="fr-FR" b="1" u="sng" dirty="0">
                <a:latin typeface="Calibri" pitchFamily="34" charset="0"/>
              </a:rPr>
              <a:t>end</a:t>
            </a:r>
            <a:r>
              <a:rPr lang="fr-FR" dirty="0">
                <a:latin typeface="Calibri" pitchFamily="34" charset="0"/>
              </a:rPr>
              <a:t>;</a:t>
            </a:r>
          </a:p>
          <a:p>
            <a:r>
              <a:rPr lang="fr-FR" dirty="0">
                <a:latin typeface="Calibri" pitchFamily="34" charset="0"/>
              </a:rPr>
              <a:t>    </a:t>
            </a:r>
            <a:r>
              <a:rPr lang="fr-FR" dirty="0" err="1">
                <a:latin typeface="Calibri" pitchFamily="34" charset="0"/>
              </a:rPr>
              <a:t>Write</a:t>
            </a:r>
            <a:r>
              <a:rPr lang="fr-FR" dirty="0">
                <a:latin typeface="Calibri" pitchFamily="34" charset="0"/>
              </a:rPr>
              <a:t> (x);</a:t>
            </a:r>
          </a:p>
          <a:p>
            <a:r>
              <a:rPr lang="fr-FR" b="1" u="sng" dirty="0">
                <a:latin typeface="Calibri" pitchFamily="34" charset="0"/>
              </a:rPr>
              <a:t>End</a:t>
            </a:r>
            <a:r>
              <a:rPr lang="fr-FR" dirty="0">
                <a:latin typeface="Calibri" pitchFamily="34" charset="0"/>
              </a:rPr>
              <a:t>.</a:t>
            </a:r>
          </a:p>
        </p:txBody>
      </p:sp>
      <p:sp>
        <p:nvSpPr>
          <p:cNvPr id="3" name="Espace réservé du contenu 4">
            <a:extLst>
              <a:ext uri="{FF2B5EF4-FFF2-40B4-BE49-F238E27FC236}">
                <a16:creationId xmlns:a16="http://schemas.microsoft.com/office/drawing/2014/main" id="{E13F3D0C-14B9-CEEC-5179-97D6C7FAB34F}"/>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strips(down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strips(downLeft)">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Double (1/4)</a:t>
            </a:r>
          </a:p>
        </p:txBody>
      </p:sp>
      <p:sp>
        <p:nvSpPr>
          <p:cNvPr id="5" name="Espace réservé du contenu 4"/>
          <p:cNvSpPr>
            <a:spLocks noGrp="1"/>
          </p:cNvSpPr>
          <p:nvPr>
            <p:ph idx="1"/>
          </p:nvPr>
        </p:nvSpPr>
        <p:spPr>
          <a:xfrm>
            <a:off x="500034" y="1571612"/>
            <a:ext cx="8215370" cy="4786346"/>
          </a:xfrm>
          <a:ln>
            <a:solidFill>
              <a:schemeClr val="accent1"/>
            </a:solidFill>
          </a:ln>
        </p:spPr>
        <p:txBody>
          <a:bodyPr>
            <a:normAutofit/>
          </a:bodyPr>
          <a:lstStyle/>
          <a:p>
            <a:pPr algn="just"/>
            <a:r>
              <a:rPr lang="fr-FR" dirty="0"/>
              <a:t>L’instruction de Test Alternatif Double permet de faire un choix entre l’exécution d’un bloc d’instructions et un autre bloc d’instructions. Donc, dans le Test Alternatif Double il y deux blocs d’instruction</a:t>
            </a:r>
          </a:p>
          <a:p>
            <a:pPr algn="just"/>
            <a:r>
              <a:rPr lang="fr-FR" dirty="0"/>
              <a:t>La syntaxe de TAD :</a:t>
            </a:r>
          </a:p>
          <a:p>
            <a:pPr lvl="1" algn="just"/>
            <a:endParaRPr lang="fr-FR" dirty="0"/>
          </a:p>
        </p:txBody>
      </p:sp>
      <p:sp>
        <p:nvSpPr>
          <p:cNvPr id="6" name="Rectangle à coins arrondis 5"/>
          <p:cNvSpPr/>
          <p:nvPr/>
        </p:nvSpPr>
        <p:spPr>
          <a:xfrm>
            <a:off x="428596" y="1142984"/>
            <a:ext cx="8358246"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Syntaxe de l’instruction de Test Alternatif Double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05/09</a:t>
            </a:r>
            <a:endParaRPr lang="fr-FR" sz="1400" b="1" dirty="0">
              <a:solidFill>
                <a:schemeClr val="bg1">
                  <a:lumMod val="65000"/>
                </a:schemeClr>
              </a:solidFill>
            </a:endParaRPr>
          </a:p>
        </p:txBody>
      </p:sp>
      <p:sp>
        <p:nvSpPr>
          <p:cNvPr id="9" name="ZoneTexte 8"/>
          <p:cNvSpPr txBox="1"/>
          <p:nvPr/>
        </p:nvSpPr>
        <p:spPr>
          <a:xfrm>
            <a:off x="928662" y="3674375"/>
            <a:ext cx="2643206"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b="1" u="sng" dirty="0">
                <a:latin typeface="Calibri" pitchFamily="34" charset="0"/>
              </a:rPr>
              <a:t>Si </a:t>
            </a:r>
            <a:r>
              <a:rPr lang="fr-FR" dirty="0">
                <a:latin typeface="Calibri" pitchFamily="34" charset="0"/>
              </a:rPr>
              <a:t>&lt;Condition&gt; </a:t>
            </a:r>
            <a:r>
              <a:rPr lang="fr-FR" b="1" u="sng" dirty="0">
                <a:latin typeface="Calibri" pitchFamily="34" charset="0"/>
              </a:rPr>
              <a:t>Alors</a:t>
            </a:r>
          </a:p>
          <a:p>
            <a:r>
              <a:rPr lang="fr-FR" dirty="0">
                <a:latin typeface="Calibri" pitchFamily="34" charset="0"/>
              </a:rPr>
              <a:t>       &lt;instruction_1_1&gt;</a:t>
            </a:r>
          </a:p>
          <a:p>
            <a:r>
              <a:rPr lang="fr-FR" dirty="0">
                <a:latin typeface="Calibri" pitchFamily="34" charset="0"/>
              </a:rPr>
              <a:t>       ……..</a:t>
            </a:r>
          </a:p>
          <a:p>
            <a:r>
              <a:rPr lang="fr-FR" dirty="0">
                <a:latin typeface="Calibri" pitchFamily="34" charset="0"/>
              </a:rPr>
              <a:t>      &lt;instruction_1_n&gt;</a:t>
            </a:r>
          </a:p>
          <a:p>
            <a:r>
              <a:rPr lang="fr-FR" b="1" u="sng" dirty="0">
                <a:latin typeface="Calibri" pitchFamily="34" charset="0"/>
              </a:rPr>
              <a:t>Sinon</a:t>
            </a:r>
          </a:p>
          <a:p>
            <a:r>
              <a:rPr lang="fr-FR" dirty="0">
                <a:latin typeface="Calibri" pitchFamily="34" charset="0"/>
              </a:rPr>
              <a:t>      &lt;instruction_2_1&gt;</a:t>
            </a:r>
          </a:p>
          <a:p>
            <a:r>
              <a:rPr lang="fr-FR" dirty="0">
                <a:latin typeface="Calibri" pitchFamily="34" charset="0"/>
              </a:rPr>
              <a:t>       ……..</a:t>
            </a:r>
          </a:p>
          <a:p>
            <a:r>
              <a:rPr lang="fr-FR" dirty="0">
                <a:latin typeface="Calibri" pitchFamily="34" charset="0"/>
              </a:rPr>
              <a:t>      &lt;instruction_2_n&gt;</a:t>
            </a:r>
          </a:p>
          <a:p>
            <a:r>
              <a:rPr lang="fr-FR" b="1" u="sng" dirty="0">
                <a:latin typeface="Calibri" pitchFamily="34" charset="0"/>
              </a:rPr>
              <a:t>Fin si</a:t>
            </a:r>
          </a:p>
        </p:txBody>
      </p:sp>
      <p:sp>
        <p:nvSpPr>
          <p:cNvPr id="10" name="Flèche droite rayée 9"/>
          <p:cNvSpPr/>
          <p:nvPr/>
        </p:nvSpPr>
        <p:spPr>
          <a:xfrm>
            <a:off x="3571868" y="4429132"/>
            <a:ext cx="2071702" cy="1071570"/>
          </a:xfrm>
          <a:prstGeom prst="stripedRightArrow">
            <a:avLst>
              <a:gd name="adj1" fmla="val 31084"/>
              <a:gd name="adj2" fmla="val 55044"/>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En PASCAL</a:t>
            </a:r>
          </a:p>
        </p:txBody>
      </p:sp>
      <p:sp>
        <p:nvSpPr>
          <p:cNvPr id="11" name="ZoneTexte 10"/>
          <p:cNvSpPr txBox="1"/>
          <p:nvPr/>
        </p:nvSpPr>
        <p:spPr>
          <a:xfrm>
            <a:off x="5643570" y="3357562"/>
            <a:ext cx="2857520" cy="267765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sz="1400" b="1" u="sng" dirty="0">
                <a:latin typeface="Calibri" pitchFamily="34" charset="0"/>
              </a:rPr>
              <a:t>if </a:t>
            </a:r>
            <a:r>
              <a:rPr lang="fr-FR" sz="1400" dirty="0">
                <a:latin typeface="Calibri" pitchFamily="34" charset="0"/>
              </a:rPr>
              <a:t>&lt;Condition&gt; </a:t>
            </a:r>
            <a:r>
              <a:rPr lang="fr-FR" sz="1400" b="1" u="sng" dirty="0" err="1">
                <a:latin typeface="Calibri" pitchFamily="34" charset="0"/>
              </a:rPr>
              <a:t>Then</a:t>
            </a:r>
            <a:endParaRPr lang="fr-FR" sz="1400" b="1" u="sng" dirty="0">
              <a:latin typeface="Calibri" pitchFamily="34" charset="0"/>
            </a:endParaRPr>
          </a:p>
          <a:p>
            <a:r>
              <a:rPr lang="fr-FR" sz="1400" b="1" dirty="0">
                <a:latin typeface="Calibri" pitchFamily="34" charset="0"/>
              </a:rPr>
              <a:t>  </a:t>
            </a:r>
            <a:r>
              <a:rPr lang="fr-FR" sz="1400" b="1" u="sng" dirty="0">
                <a:latin typeface="Calibri" pitchFamily="34" charset="0"/>
              </a:rPr>
              <a:t>Begin</a:t>
            </a:r>
          </a:p>
          <a:p>
            <a:r>
              <a:rPr lang="fr-FR" sz="1400" dirty="0">
                <a:latin typeface="Calibri" pitchFamily="34" charset="0"/>
              </a:rPr>
              <a:t>       &lt;instruction1_1&gt;</a:t>
            </a:r>
          </a:p>
          <a:p>
            <a:r>
              <a:rPr lang="fr-FR" sz="1400" dirty="0">
                <a:latin typeface="Calibri" pitchFamily="34" charset="0"/>
              </a:rPr>
              <a:t>        ……..</a:t>
            </a:r>
          </a:p>
          <a:p>
            <a:r>
              <a:rPr lang="fr-FR" sz="1400" dirty="0">
                <a:latin typeface="Calibri" pitchFamily="34" charset="0"/>
              </a:rPr>
              <a:t>       &lt;instruction1_n&gt;</a:t>
            </a:r>
          </a:p>
          <a:p>
            <a:r>
              <a:rPr lang="fr-FR" sz="1400" b="1" dirty="0">
                <a:latin typeface="Calibri" pitchFamily="34" charset="0"/>
              </a:rPr>
              <a:t>  </a:t>
            </a:r>
            <a:r>
              <a:rPr lang="fr-FR" sz="1400" b="1" u="sng" dirty="0">
                <a:latin typeface="Calibri" pitchFamily="34" charset="0"/>
              </a:rPr>
              <a:t>End</a:t>
            </a:r>
          </a:p>
          <a:p>
            <a:r>
              <a:rPr lang="fr-FR" sz="1400" b="1" u="sng" dirty="0" err="1">
                <a:latin typeface="Calibri" pitchFamily="34" charset="0"/>
              </a:rPr>
              <a:t>else</a:t>
            </a:r>
            <a:endParaRPr lang="fr-FR" sz="1400" b="1" u="sng" dirty="0">
              <a:latin typeface="Calibri" pitchFamily="34" charset="0"/>
            </a:endParaRPr>
          </a:p>
          <a:p>
            <a:r>
              <a:rPr lang="fr-FR" sz="1400" b="1" dirty="0">
                <a:latin typeface="Calibri" pitchFamily="34" charset="0"/>
              </a:rPr>
              <a:t>   </a:t>
            </a:r>
            <a:r>
              <a:rPr lang="fr-FR" sz="1400" b="1" u="sng" dirty="0">
                <a:latin typeface="Calibri" pitchFamily="34" charset="0"/>
              </a:rPr>
              <a:t>Begin</a:t>
            </a:r>
          </a:p>
          <a:p>
            <a:r>
              <a:rPr lang="fr-FR" sz="1400" b="1" dirty="0">
                <a:latin typeface="Calibri" pitchFamily="34" charset="0"/>
              </a:rPr>
              <a:t>        </a:t>
            </a:r>
            <a:r>
              <a:rPr lang="fr-FR" sz="1400" dirty="0">
                <a:latin typeface="Calibri" pitchFamily="34" charset="0"/>
              </a:rPr>
              <a:t> &lt;instruction2_1&gt;</a:t>
            </a:r>
          </a:p>
          <a:p>
            <a:r>
              <a:rPr lang="fr-FR" sz="1400" dirty="0">
                <a:latin typeface="Calibri" pitchFamily="34" charset="0"/>
              </a:rPr>
              <a:t>        ……..</a:t>
            </a:r>
          </a:p>
          <a:p>
            <a:r>
              <a:rPr lang="fr-FR" sz="1400" dirty="0">
                <a:latin typeface="Calibri" pitchFamily="34" charset="0"/>
              </a:rPr>
              <a:t>       &lt;instruction2_n&gt;</a:t>
            </a:r>
            <a:endParaRPr lang="fr-FR" sz="1400" b="1" u="sng" dirty="0">
              <a:latin typeface="Calibri" pitchFamily="34" charset="0"/>
            </a:endParaRPr>
          </a:p>
          <a:p>
            <a:r>
              <a:rPr lang="fr-FR" sz="1400" b="1" dirty="0">
                <a:latin typeface="Calibri" pitchFamily="34" charset="0"/>
              </a:rPr>
              <a:t>   </a:t>
            </a:r>
            <a:r>
              <a:rPr lang="fr-FR" sz="1400" b="1" u="sng" dirty="0">
                <a:latin typeface="Calibri" pitchFamily="34" charset="0"/>
              </a:rPr>
              <a:t>End;</a:t>
            </a:r>
            <a:endParaRPr lang="fr-FR" b="1" u="sng" dirty="0">
              <a:latin typeface="Calibri" pitchFamily="34" charset="0"/>
            </a:endParaRPr>
          </a:p>
        </p:txBody>
      </p:sp>
      <p:sp>
        <p:nvSpPr>
          <p:cNvPr id="12" name="Accolade ouvrante 11"/>
          <p:cNvSpPr/>
          <p:nvPr/>
        </p:nvSpPr>
        <p:spPr>
          <a:xfrm flipH="1">
            <a:off x="3000364" y="3929066"/>
            <a:ext cx="214314" cy="1000132"/>
          </a:xfrm>
          <a:prstGeom prst="leftBrace">
            <a:avLst>
              <a:gd name="adj1" fmla="val 46452"/>
              <a:gd name="adj2" fmla="val 514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4" name="Espace réservé du contenu 4"/>
          <p:cNvSpPr txBox="1">
            <a:spLocks/>
          </p:cNvSpPr>
          <p:nvPr/>
        </p:nvSpPr>
        <p:spPr>
          <a:xfrm>
            <a:off x="3857620" y="3643314"/>
            <a:ext cx="1357322" cy="357190"/>
          </a:xfrm>
          <a:prstGeom prst="rect">
            <a:avLst/>
          </a:prstGeom>
          <a:ln>
            <a:solidFill>
              <a:schemeClr val="accent1"/>
            </a:solidFill>
          </a:ln>
        </p:spPr>
        <p:txBody>
          <a:bodyPr vert="horz">
            <a:normAutofit lnSpcReduction="10000"/>
          </a:bodyPr>
          <a:lstStyle/>
          <a:p>
            <a:pPr marR="0" lvl="0" algn="ctr" defTabSz="914400" rtl="0" eaLnBrk="1" fontAlgn="auto" latinLnBrk="0" hangingPunct="1">
              <a:lnSpc>
                <a:spcPct val="100000"/>
              </a:lnSpc>
              <a:spcBef>
                <a:spcPts val="600"/>
              </a:spcBef>
              <a:spcAft>
                <a:spcPts val="0"/>
              </a:spcAft>
              <a:buClr>
                <a:schemeClr val="accent1"/>
              </a:buClr>
              <a:buSzPct val="70000"/>
              <a:tabLst/>
              <a:defRPr/>
            </a:pPr>
            <a:r>
              <a:rPr kumimoji="0" lang="fr-FR" b="0" i="0" u="none" strike="noStrike" kern="1200" cap="none" spc="0" normalizeH="0" baseline="0" noProof="0" dirty="0">
                <a:ln>
                  <a:noFill/>
                </a:ln>
                <a:solidFill>
                  <a:schemeClr val="tx1"/>
                </a:solidFill>
                <a:effectLst/>
                <a:uLnTx/>
                <a:uFillTx/>
                <a:latin typeface="+mn-lt"/>
                <a:ea typeface="+mn-ea"/>
                <a:cs typeface="+mn-cs"/>
              </a:rPr>
              <a:t>Bloc du Si</a:t>
            </a:r>
          </a:p>
        </p:txBody>
      </p:sp>
      <p:cxnSp>
        <p:nvCxnSpPr>
          <p:cNvPr id="15" name="Connecteur droit avec flèche 14"/>
          <p:cNvCxnSpPr>
            <a:stCxn id="14" idx="1"/>
            <a:endCxn id="12" idx="1"/>
          </p:cNvCxnSpPr>
          <p:nvPr/>
        </p:nvCxnSpPr>
        <p:spPr>
          <a:xfrm rot="10800000" flipV="1">
            <a:off x="3214678" y="3821908"/>
            <a:ext cx="642942" cy="6222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Accolade ouvrante 26"/>
          <p:cNvSpPr/>
          <p:nvPr/>
        </p:nvSpPr>
        <p:spPr>
          <a:xfrm flipH="1">
            <a:off x="3071802" y="5143512"/>
            <a:ext cx="214314" cy="1000132"/>
          </a:xfrm>
          <a:prstGeom prst="leftBrace">
            <a:avLst>
              <a:gd name="adj1" fmla="val 46452"/>
              <a:gd name="adj2" fmla="val 514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8" name="Espace réservé du contenu 4"/>
          <p:cNvSpPr txBox="1">
            <a:spLocks/>
          </p:cNvSpPr>
          <p:nvPr/>
        </p:nvSpPr>
        <p:spPr>
          <a:xfrm>
            <a:off x="3857620" y="5786454"/>
            <a:ext cx="1357322" cy="357190"/>
          </a:xfrm>
          <a:prstGeom prst="rect">
            <a:avLst/>
          </a:prstGeom>
          <a:ln>
            <a:solidFill>
              <a:schemeClr val="accent1"/>
            </a:solidFill>
          </a:ln>
        </p:spPr>
        <p:txBody>
          <a:bodyPr vert="horz">
            <a:normAutofit fontScale="85000" lnSpcReduction="10000"/>
          </a:bodyPr>
          <a:lstStyle/>
          <a:p>
            <a:pPr marR="0" lvl="0" algn="ctr" defTabSz="914400" rtl="0" eaLnBrk="1" fontAlgn="auto" latinLnBrk="0" hangingPunct="1">
              <a:lnSpc>
                <a:spcPct val="100000"/>
              </a:lnSpc>
              <a:spcBef>
                <a:spcPts val="600"/>
              </a:spcBef>
              <a:spcAft>
                <a:spcPts val="0"/>
              </a:spcAft>
              <a:buClr>
                <a:schemeClr val="accent1"/>
              </a:buClr>
              <a:buSzPct val="70000"/>
              <a:tabLst/>
              <a:defRPr/>
            </a:pPr>
            <a:r>
              <a:rPr kumimoji="0" lang="fr-FR" b="0" i="0" u="none" strike="noStrike" kern="1200" cap="none" spc="0" normalizeH="0" baseline="0" noProof="0" dirty="0">
                <a:ln>
                  <a:noFill/>
                </a:ln>
                <a:solidFill>
                  <a:schemeClr val="tx1"/>
                </a:solidFill>
                <a:effectLst/>
                <a:uLnTx/>
                <a:uFillTx/>
                <a:latin typeface="+mn-lt"/>
                <a:ea typeface="+mn-ea"/>
                <a:cs typeface="+mn-cs"/>
              </a:rPr>
              <a:t>Bloc du Sinon</a:t>
            </a:r>
          </a:p>
        </p:txBody>
      </p:sp>
      <p:cxnSp>
        <p:nvCxnSpPr>
          <p:cNvPr id="30" name="Connecteur droit avec flèche 29"/>
          <p:cNvCxnSpPr>
            <a:stCxn id="28" idx="1"/>
            <a:endCxn id="27" idx="1"/>
          </p:cNvCxnSpPr>
          <p:nvPr/>
        </p:nvCxnSpPr>
        <p:spPr>
          <a:xfrm rot="10800000">
            <a:off x="3286116" y="5658571"/>
            <a:ext cx="571504" cy="3064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Accolade ouvrante 34"/>
          <p:cNvSpPr/>
          <p:nvPr/>
        </p:nvSpPr>
        <p:spPr>
          <a:xfrm>
            <a:off x="5643570" y="3786190"/>
            <a:ext cx="142876" cy="857256"/>
          </a:xfrm>
          <a:prstGeom prst="leftBrace">
            <a:avLst>
              <a:gd name="adj1" fmla="val 46452"/>
              <a:gd name="adj2" fmla="val 514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cxnSp>
        <p:nvCxnSpPr>
          <p:cNvPr id="36" name="Connecteur droit avec flèche 35"/>
          <p:cNvCxnSpPr>
            <a:stCxn id="14" idx="3"/>
            <a:endCxn id="35" idx="1"/>
          </p:cNvCxnSpPr>
          <p:nvPr/>
        </p:nvCxnSpPr>
        <p:spPr>
          <a:xfrm>
            <a:off x="5214942" y="3821909"/>
            <a:ext cx="428628" cy="4057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Accolade ouvrante 38"/>
          <p:cNvSpPr/>
          <p:nvPr/>
        </p:nvSpPr>
        <p:spPr>
          <a:xfrm>
            <a:off x="5643570" y="5000636"/>
            <a:ext cx="142876" cy="857256"/>
          </a:xfrm>
          <a:prstGeom prst="leftBrace">
            <a:avLst>
              <a:gd name="adj1" fmla="val 46452"/>
              <a:gd name="adj2" fmla="val 514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cxnSp>
        <p:nvCxnSpPr>
          <p:cNvPr id="40" name="Connecteur droit avec flèche 39"/>
          <p:cNvCxnSpPr>
            <a:stCxn id="28" idx="3"/>
            <a:endCxn id="39" idx="1"/>
          </p:cNvCxnSpPr>
          <p:nvPr/>
        </p:nvCxnSpPr>
        <p:spPr>
          <a:xfrm flipV="1">
            <a:off x="5214942" y="5442114"/>
            <a:ext cx="428628" cy="5229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 name="Espace réservé du contenu 4"/>
          <p:cNvSpPr txBox="1">
            <a:spLocks/>
          </p:cNvSpPr>
          <p:nvPr/>
        </p:nvSpPr>
        <p:spPr>
          <a:xfrm>
            <a:off x="7072330" y="4643446"/>
            <a:ext cx="2071670" cy="857256"/>
          </a:xfrm>
          <a:prstGeom prst="rect">
            <a:avLst/>
          </a:prstGeom>
          <a:solidFill>
            <a:schemeClr val="bg2"/>
          </a:solidFill>
          <a:ln>
            <a:solidFill>
              <a:schemeClr val="accent1"/>
            </a:solidFill>
          </a:ln>
        </p:spPr>
        <p:txBody>
          <a:bodyPr vert="horz">
            <a:normAutofit fontScale="85000" lnSpcReduction="20000"/>
          </a:bodyPr>
          <a:lstStyle/>
          <a:p>
            <a:pPr marR="0" lvl="0" algn="ctr" defTabSz="914400" rtl="0" eaLnBrk="1" fontAlgn="auto" latinLnBrk="0" hangingPunct="1">
              <a:lnSpc>
                <a:spcPct val="100000"/>
              </a:lnSpc>
              <a:spcBef>
                <a:spcPts val="600"/>
              </a:spcBef>
              <a:spcAft>
                <a:spcPts val="0"/>
              </a:spcAft>
              <a:buClr>
                <a:schemeClr val="accent1"/>
              </a:buClr>
              <a:buSzPct val="70000"/>
              <a:tabLst/>
              <a:defRPr/>
            </a:pPr>
            <a:r>
              <a:rPr kumimoji="0" lang="fr-FR" b="0" i="0" u="none" strike="noStrike" kern="1200" cap="none" spc="0" normalizeH="0" baseline="0" noProof="0" dirty="0">
                <a:ln>
                  <a:noFill/>
                </a:ln>
                <a:solidFill>
                  <a:srgbClr val="FF0000"/>
                </a:solidFill>
                <a:effectLst/>
                <a:uLnTx/>
                <a:uFillTx/>
                <a:latin typeface="+mn-lt"/>
                <a:ea typeface="+mn-ea"/>
                <a:cs typeface="+mn-cs"/>
              </a:rPr>
              <a:t>Pas de </a:t>
            </a:r>
          </a:p>
          <a:p>
            <a:pPr marR="0" lvl="0" algn="ctr" defTabSz="914400" rtl="0" eaLnBrk="1" fontAlgn="auto" latinLnBrk="0" hangingPunct="1">
              <a:lnSpc>
                <a:spcPct val="100000"/>
              </a:lnSpc>
              <a:spcBef>
                <a:spcPts val="600"/>
              </a:spcBef>
              <a:spcAft>
                <a:spcPts val="0"/>
              </a:spcAft>
              <a:buClr>
                <a:schemeClr val="accent1"/>
              </a:buClr>
              <a:buSzPct val="70000"/>
              <a:tabLst/>
              <a:defRPr/>
            </a:pPr>
            <a:r>
              <a:rPr kumimoji="0" lang="fr-FR" b="0" i="0" u="none" strike="noStrike" kern="1200" cap="none" spc="0" normalizeH="0" baseline="0" noProof="0" dirty="0">
                <a:ln>
                  <a:noFill/>
                </a:ln>
                <a:solidFill>
                  <a:srgbClr val="FF0000"/>
                </a:solidFill>
                <a:effectLst/>
                <a:uLnTx/>
                <a:uFillTx/>
                <a:latin typeface="+mn-lt"/>
                <a:ea typeface="+mn-ea"/>
                <a:cs typeface="+mn-cs"/>
              </a:rPr>
              <a:t>point-virgule avant</a:t>
            </a:r>
          </a:p>
          <a:p>
            <a:pPr marR="0" lvl="0" algn="ctr" defTabSz="914400" rtl="0" eaLnBrk="1" fontAlgn="auto" latinLnBrk="0" hangingPunct="1">
              <a:lnSpc>
                <a:spcPct val="100000"/>
              </a:lnSpc>
              <a:spcBef>
                <a:spcPts val="600"/>
              </a:spcBef>
              <a:spcAft>
                <a:spcPts val="0"/>
              </a:spcAft>
              <a:buClr>
                <a:schemeClr val="accent1"/>
              </a:buClr>
              <a:buSzPct val="70000"/>
              <a:tabLst/>
              <a:defRPr/>
            </a:pPr>
            <a:r>
              <a:rPr lang="fr-FR" b="1" dirty="0" err="1">
                <a:solidFill>
                  <a:srgbClr val="FF0000"/>
                </a:solidFill>
              </a:rPr>
              <a:t>Else</a:t>
            </a:r>
            <a:endParaRPr kumimoji="0" lang="fr-FR" b="1" i="0" u="none" strike="noStrike" kern="1200" cap="none" spc="0" normalizeH="0" baseline="0" noProof="0" dirty="0">
              <a:ln>
                <a:noFill/>
              </a:ln>
              <a:solidFill>
                <a:srgbClr val="FF0000"/>
              </a:solidFill>
              <a:effectLst/>
              <a:uLnTx/>
              <a:uFillTx/>
              <a:latin typeface="+mn-lt"/>
              <a:ea typeface="+mn-ea"/>
              <a:cs typeface="+mn-cs"/>
            </a:endParaRPr>
          </a:p>
        </p:txBody>
      </p:sp>
      <p:cxnSp>
        <p:nvCxnSpPr>
          <p:cNvPr id="45" name="Connecteur droit avec flèche 44"/>
          <p:cNvCxnSpPr>
            <a:stCxn id="44" idx="1"/>
          </p:cNvCxnSpPr>
          <p:nvPr/>
        </p:nvCxnSpPr>
        <p:spPr>
          <a:xfrm rot="10800000">
            <a:off x="6215074" y="4572018"/>
            <a:ext cx="857256" cy="500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Espace réservé du contenu 4">
            <a:extLst>
              <a:ext uri="{FF2B5EF4-FFF2-40B4-BE49-F238E27FC236}">
                <a16:creationId xmlns:a16="http://schemas.microsoft.com/office/drawing/2014/main" id="{4E4D0ED8-43E4-E3D1-EF77-CDF516884A8D}"/>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strips(downLeft)">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strips(down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childTnLst>
                                </p:cTn>
                              </p:par>
                              <p:par>
                                <p:cTn id="37" presetID="18" presetClass="entr" presetSubtype="12"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strips(downLeft)">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 calcmode="lin" valueType="num">
                                      <p:cBhvr>
                                        <p:cTn id="44" dur="500" fill="hold"/>
                                        <p:tgtEl>
                                          <p:spTgt spid="27"/>
                                        </p:tgtEl>
                                        <p:attrNameLst>
                                          <p:attrName>ppt_w</p:attrName>
                                        </p:attrNameLst>
                                      </p:cBhvr>
                                      <p:tavLst>
                                        <p:tav tm="0">
                                          <p:val>
                                            <p:fltVal val="0"/>
                                          </p:val>
                                        </p:tav>
                                        <p:tav tm="100000">
                                          <p:val>
                                            <p:strVal val="#ppt_w"/>
                                          </p:val>
                                        </p:tav>
                                      </p:tavLst>
                                    </p:anim>
                                    <p:anim calcmode="lin" valueType="num">
                                      <p:cBhvr>
                                        <p:cTn id="45" dur="500" fill="hold"/>
                                        <p:tgtEl>
                                          <p:spTgt spid="27"/>
                                        </p:tgtEl>
                                        <p:attrNameLst>
                                          <p:attrName>ppt_h</p:attrName>
                                        </p:attrNameLst>
                                      </p:cBhvr>
                                      <p:tavLst>
                                        <p:tav tm="0">
                                          <p:val>
                                            <p:fltVal val="0"/>
                                          </p:val>
                                        </p:tav>
                                        <p:tav tm="100000">
                                          <p:val>
                                            <p:strVal val="#ppt_h"/>
                                          </p:val>
                                        </p:tav>
                                      </p:tavLst>
                                    </p:anim>
                                  </p:childTnLst>
                                </p:cTn>
                              </p:par>
                              <p:par>
                                <p:cTn id="46" presetID="23" presetClass="entr" presetSubtype="16"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 calcmode="lin" valueType="num">
                                      <p:cBhvr>
                                        <p:cTn id="48" dur="500" fill="hold"/>
                                        <p:tgtEl>
                                          <p:spTgt spid="28"/>
                                        </p:tgtEl>
                                        <p:attrNameLst>
                                          <p:attrName>ppt_w</p:attrName>
                                        </p:attrNameLst>
                                      </p:cBhvr>
                                      <p:tavLst>
                                        <p:tav tm="0">
                                          <p:val>
                                            <p:fltVal val="0"/>
                                          </p:val>
                                        </p:tav>
                                        <p:tav tm="100000">
                                          <p:val>
                                            <p:strVal val="#ppt_w"/>
                                          </p:val>
                                        </p:tav>
                                      </p:tavLst>
                                    </p:anim>
                                    <p:anim calcmode="lin" valueType="num">
                                      <p:cBhvr>
                                        <p:cTn id="49" dur="500" fill="hold"/>
                                        <p:tgtEl>
                                          <p:spTgt spid="28"/>
                                        </p:tgtEl>
                                        <p:attrNameLst>
                                          <p:attrName>ppt_h</p:attrName>
                                        </p:attrNameLst>
                                      </p:cBhvr>
                                      <p:tavLst>
                                        <p:tav tm="0">
                                          <p:val>
                                            <p:fltVal val="0"/>
                                          </p:val>
                                        </p:tav>
                                        <p:tav tm="100000">
                                          <p:val>
                                            <p:strVal val="#ppt_h"/>
                                          </p:val>
                                        </p:tav>
                                      </p:tavLst>
                                    </p:anim>
                                  </p:childTnLst>
                                </p:cTn>
                              </p:par>
                              <p:par>
                                <p:cTn id="50" presetID="18" presetClass="entr" presetSubtype="12"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strips(downLeft)">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p:cTn id="57" dur="500" fill="hold"/>
                                        <p:tgtEl>
                                          <p:spTgt spid="10"/>
                                        </p:tgtEl>
                                        <p:attrNameLst>
                                          <p:attrName>ppt_w</p:attrName>
                                        </p:attrNameLst>
                                      </p:cBhvr>
                                      <p:tavLst>
                                        <p:tav tm="0">
                                          <p:val>
                                            <p:fltVal val="0"/>
                                          </p:val>
                                        </p:tav>
                                        <p:tav tm="100000">
                                          <p:val>
                                            <p:strVal val="#ppt_w"/>
                                          </p:val>
                                        </p:tav>
                                      </p:tavLst>
                                    </p:anim>
                                    <p:anim calcmode="lin" valueType="num">
                                      <p:cBhvr>
                                        <p:cTn id="58"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8" presetClass="entr" presetSubtype="12"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strips(downLeft)">
                                      <p:cBhvr>
                                        <p:cTn id="63" dur="5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grpId="0" nodeType="clickEffect">
                                  <p:stCondLst>
                                    <p:cond delay="0"/>
                                  </p:stCondLst>
                                  <p:childTnLst>
                                    <p:set>
                                      <p:cBhvr>
                                        <p:cTn id="67" dur="1" fill="hold">
                                          <p:stCondLst>
                                            <p:cond delay="0"/>
                                          </p:stCondLst>
                                        </p:cTn>
                                        <p:tgtEl>
                                          <p:spTgt spid="35"/>
                                        </p:tgtEl>
                                        <p:attrNameLst>
                                          <p:attrName>style.visibility</p:attrName>
                                        </p:attrNameLst>
                                      </p:cBhvr>
                                      <p:to>
                                        <p:strVal val="visible"/>
                                      </p:to>
                                    </p:set>
                                    <p:anim calcmode="lin" valueType="num">
                                      <p:cBhvr>
                                        <p:cTn id="68" dur="500" fill="hold"/>
                                        <p:tgtEl>
                                          <p:spTgt spid="35"/>
                                        </p:tgtEl>
                                        <p:attrNameLst>
                                          <p:attrName>ppt_w</p:attrName>
                                        </p:attrNameLst>
                                      </p:cBhvr>
                                      <p:tavLst>
                                        <p:tav tm="0">
                                          <p:val>
                                            <p:fltVal val="0"/>
                                          </p:val>
                                        </p:tav>
                                        <p:tav tm="100000">
                                          <p:val>
                                            <p:strVal val="#ppt_w"/>
                                          </p:val>
                                        </p:tav>
                                      </p:tavLst>
                                    </p:anim>
                                    <p:anim calcmode="lin" valueType="num">
                                      <p:cBhvr>
                                        <p:cTn id="69" dur="500" fill="hold"/>
                                        <p:tgtEl>
                                          <p:spTgt spid="35"/>
                                        </p:tgtEl>
                                        <p:attrNameLst>
                                          <p:attrName>ppt_h</p:attrName>
                                        </p:attrNameLst>
                                      </p:cBhvr>
                                      <p:tavLst>
                                        <p:tav tm="0">
                                          <p:val>
                                            <p:fltVal val="0"/>
                                          </p:val>
                                        </p:tav>
                                        <p:tav tm="100000">
                                          <p:val>
                                            <p:strVal val="#ppt_h"/>
                                          </p:val>
                                        </p:tav>
                                      </p:tavLst>
                                    </p:anim>
                                  </p:childTnLst>
                                </p:cTn>
                              </p:par>
                              <p:par>
                                <p:cTn id="70" presetID="18" presetClass="entr" presetSubtype="12"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strips(downLeft)">
                                      <p:cBhvr>
                                        <p:cTn id="72" dur="500"/>
                                        <p:tgtEl>
                                          <p:spTgt spid="36"/>
                                        </p:tgtEl>
                                      </p:cBhvr>
                                    </p:animEffect>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39"/>
                                        </p:tgtEl>
                                        <p:attrNameLst>
                                          <p:attrName>style.visibility</p:attrName>
                                        </p:attrNameLst>
                                      </p:cBhvr>
                                      <p:to>
                                        <p:strVal val="visible"/>
                                      </p:to>
                                    </p:set>
                                    <p:anim calcmode="lin" valueType="num">
                                      <p:cBhvr>
                                        <p:cTn id="77" dur="500" fill="hold"/>
                                        <p:tgtEl>
                                          <p:spTgt spid="39"/>
                                        </p:tgtEl>
                                        <p:attrNameLst>
                                          <p:attrName>ppt_w</p:attrName>
                                        </p:attrNameLst>
                                      </p:cBhvr>
                                      <p:tavLst>
                                        <p:tav tm="0">
                                          <p:val>
                                            <p:fltVal val="0"/>
                                          </p:val>
                                        </p:tav>
                                        <p:tav tm="100000">
                                          <p:val>
                                            <p:strVal val="#ppt_w"/>
                                          </p:val>
                                        </p:tav>
                                      </p:tavLst>
                                    </p:anim>
                                    <p:anim calcmode="lin" valueType="num">
                                      <p:cBhvr>
                                        <p:cTn id="78" dur="500" fill="hold"/>
                                        <p:tgtEl>
                                          <p:spTgt spid="39"/>
                                        </p:tgtEl>
                                        <p:attrNameLst>
                                          <p:attrName>ppt_h</p:attrName>
                                        </p:attrNameLst>
                                      </p:cBhvr>
                                      <p:tavLst>
                                        <p:tav tm="0">
                                          <p:val>
                                            <p:fltVal val="0"/>
                                          </p:val>
                                        </p:tav>
                                        <p:tav tm="100000">
                                          <p:val>
                                            <p:strVal val="#ppt_h"/>
                                          </p:val>
                                        </p:tav>
                                      </p:tavLst>
                                    </p:anim>
                                  </p:childTnLst>
                                </p:cTn>
                              </p:par>
                              <p:par>
                                <p:cTn id="79" presetID="18" presetClass="entr" presetSubtype="12"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strips(downLeft)">
                                      <p:cBhvr>
                                        <p:cTn id="81" dur="500"/>
                                        <p:tgtEl>
                                          <p:spTgt spid="40"/>
                                        </p:tgtEl>
                                      </p:cBhvr>
                                    </p:animEffect>
                                  </p:childTnLst>
                                </p:cTn>
                              </p:par>
                            </p:childTnLst>
                          </p:cTn>
                        </p:par>
                        <p:par>
                          <p:cTn id="82" fill="hold">
                            <p:stCondLst>
                              <p:cond delay="500"/>
                            </p:stCondLst>
                            <p:childTnLst>
                              <p:par>
                                <p:cTn id="83" presetID="23" presetClass="entr" presetSubtype="16" fill="hold" grpId="0" nodeType="afterEffect">
                                  <p:stCondLst>
                                    <p:cond delay="0"/>
                                  </p:stCondLst>
                                  <p:childTnLst>
                                    <p:set>
                                      <p:cBhvr>
                                        <p:cTn id="84" dur="1" fill="hold">
                                          <p:stCondLst>
                                            <p:cond delay="0"/>
                                          </p:stCondLst>
                                        </p:cTn>
                                        <p:tgtEl>
                                          <p:spTgt spid="44"/>
                                        </p:tgtEl>
                                        <p:attrNameLst>
                                          <p:attrName>style.visibility</p:attrName>
                                        </p:attrNameLst>
                                      </p:cBhvr>
                                      <p:to>
                                        <p:strVal val="visible"/>
                                      </p:to>
                                    </p:set>
                                    <p:anim calcmode="lin" valueType="num">
                                      <p:cBhvr>
                                        <p:cTn id="85" dur="500" fill="hold"/>
                                        <p:tgtEl>
                                          <p:spTgt spid="44"/>
                                        </p:tgtEl>
                                        <p:attrNameLst>
                                          <p:attrName>ppt_w</p:attrName>
                                        </p:attrNameLst>
                                      </p:cBhvr>
                                      <p:tavLst>
                                        <p:tav tm="0">
                                          <p:val>
                                            <p:fltVal val="0"/>
                                          </p:val>
                                        </p:tav>
                                        <p:tav tm="100000">
                                          <p:val>
                                            <p:strVal val="#ppt_w"/>
                                          </p:val>
                                        </p:tav>
                                      </p:tavLst>
                                    </p:anim>
                                    <p:anim calcmode="lin" valueType="num">
                                      <p:cBhvr>
                                        <p:cTn id="86" dur="500" fill="hold"/>
                                        <p:tgtEl>
                                          <p:spTgt spid="44"/>
                                        </p:tgtEl>
                                        <p:attrNameLst>
                                          <p:attrName>ppt_h</p:attrName>
                                        </p:attrNameLst>
                                      </p:cBhvr>
                                      <p:tavLst>
                                        <p:tav tm="0">
                                          <p:val>
                                            <p:fltVal val="0"/>
                                          </p:val>
                                        </p:tav>
                                        <p:tav tm="100000">
                                          <p:val>
                                            <p:strVal val="#ppt_h"/>
                                          </p:val>
                                        </p:tav>
                                      </p:tavLst>
                                    </p:anim>
                                  </p:childTnLst>
                                </p:cTn>
                              </p:par>
                              <p:par>
                                <p:cTn id="87" presetID="18" presetClass="entr" presetSubtype="12"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strips(downLeft)">
                                      <p:cBhvr>
                                        <p:cTn id="8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P spid="9" grpId="0" animBg="1"/>
      <p:bldP spid="10" grpId="0" animBg="1"/>
      <p:bldP spid="11" grpId="0" animBg="1"/>
      <p:bldP spid="12" grpId="0" animBg="1"/>
      <p:bldP spid="14" grpId="0" animBg="1"/>
      <p:bldP spid="27" grpId="0" animBg="1"/>
      <p:bldP spid="28" grpId="0" animBg="1"/>
      <p:bldP spid="35" grpId="0" animBg="1"/>
      <p:bldP spid="39" grpId="0" animBg="1"/>
      <p:bldP spid="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Double(2/4)</a:t>
            </a:r>
          </a:p>
        </p:txBody>
      </p:sp>
      <p:sp>
        <p:nvSpPr>
          <p:cNvPr id="5" name="Espace réservé du contenu 4"/>
          <p:cNvSpPr>
            <a:spLocks noGrp="1"/>
          </p:cNvSpPr>
          <p:nvPr>
            <p:ph idx="1"/>
          </p:nvPr>
        </p:nvSpPr>
        <p:spPr>
          <a:xfrm>
            <a:off x="500034" y="1571612"/>
            <a:ext cx="8215370" cy="4786346"/>
          </a:xfrm>
          <a:ln>
            <a:solidFill>
              <a:schemeClr val="accent1"/>
            </a:solidFill>
          </a:ln>
        </p:spPr>
        <p:txBody>
          <a:bodyPr>
            <a:normAutofit/>
          </a:bodyPr>
          <a:lstStyle/>
          <a:p>
            <a:pPr algn="just"/>
            <a:r>
              <a:rPr lang="fr-FR" dirty="0"/>
              <a:t>Prenons l’exemple suivant :</a:t>
            </a:r>
          </a:p>
          <a:p>
            <a:pPr lvl="1" algn="just">
              <a:buNone/>
            </a:pPr>
            <a:r>
              <a:rPr lang="fr-FR" b="1" u="sng" dirty="0"/>
              <a:t>Si</a:t>
            </a:r>
            <a:r>
              <a:rPr lang="fr-FR" dirty="0"/>
              <a:t> x&gt;0 </a:t>
            </a:r>
            <a:r>
              <a:rPr lang="fr-FR" b="1" u="sng" dirty="0"/>
              <a:t>alors</a:t>
            </a:r>
            <a:r>
              <a:rPr lang="fr-FR" dirty="0"/>
              <a:t>				</a:t>
            </a:r>
            <a:r>
              <a:rPr lang="fr-FR" b="1" u="sng" dirty="0"/>
              <a:t>if</a:t>
            </a:r>
            <a:r>
              <a:rPr lang="fr-FR" dirty="0"/>
              <a:t> x &gt; 0 </a:t>
            </a:r>
            <a:r>
              <a:rPr lang="fr-FR" b="1" u="sng" dirty="0" err="1"/>
              <a:t>then</a:t>
            </a:r>
            <a:endParaRPr lang="fr-FR" b="1" u="sng" dirty="0"/>
          </a:p>
          <a:p>
            <a:pPr lvl="1" algn="just">
              <a:buNone/>
            </a:pPr>
            <a:r>
              <a:rPr lang="fr-FR" dirty="0"/>
              <a:t>	x </a:t>
            </a:r>
            <a:r>
              <a:rPr lang="fr-FR" dirty="0">
                <a:sym typeface="Wingdings" pitchFamily="2" charset="2"/>
              </a:rPr>
              <a:t> x – 1				      x := x - 1</a:t>
            </a:r>
          </a:p>
          <a:p>
            <a:pPr lvl="1" algn="just">
              <a:buNone/>
            </a:pPr>
            <a:r>
              <a:rPr lang="fr-FR" b="1" u="sng" dirty="0">
                <a:sym typeface="Wingdings" pitchFamily="2" charset="2"/>
              </a:rPr>
              <a:t>Sinon</a:t>
            </a:r>
            <a:r>
              <a:rPr lang="fr-FR" dirty="0">
                <a:sym typeface="Wingdings" pitchFamily="2" charset="2"/>
              </a:rPr>
              <a:t>				</a:t>
            </a:r>
            <a:r>
              <a:rPr lang="fr-FR" b="1" u="sng" dirty="0" err="1">
                <a:sym typeface="Wingdings" pitchFamily="2" charset="2"/>
              </a:rPr>
              <a:t>else</a:t>
            </a:r>
            <a:endParaRPr lang="fr-FR" b="1" u="sng" dirty="0">
              <a:sym typeface="Wingdings" pitchFamily="2" charset="2"/>
            </a:endParaRPr>
          </a:p>
          <a:p>
            <a:pPr lvl="1" algn="just">
              <a:buNone/>
            </a:pPr>
            <a:r>
              <a:rPr lang="fr-FR" dirty="0">
                <a:sym typeface="Wingdings" pitchFamily="2" charset="2"/>
              </a:rPr>
              <a:t>	x  x + 2				      x := x + 2;</a:t>
            </a:r>
          </a:p>
          <a:p>
            <a:pPr lvl="1" algn="just">
              <a:buNone/>
            </a:pPr>
            <a:r>
              <a:rPr lang="fr-FR" b="1" u="sng" dirty="0">
                <a:sym typeface="Wingdings" pitchFamily="2" charset="2"/>
              </a:rPr>
              <a:t>Fin-Si</a:t>
            </a:r>
            <a:r>
              <a:rPr lang="fr-FR" dirty="0">
                <a:sym typeface="Wingdings" pitchFamily="2" charset="2"/>
              </a:rPr>
              <a:t>			</a:t>
            </a:r>
            <a:endParaRPr lang="fr-FR" b="1" u="sng" dirty="0"/>
          </a:p>
          <a:p>
            <a:pPr algn="just"/>
            <a:r>
              <a:rPr lang="fr-FR" dirty="0"/>
              <a:t>L’instruction précédente signifie que si la valeur de x est supérieur à 0 alors on décrémente la valeur de x (x </a:t>
            </a:r>
            <a:r>
              <a:rPr lang="fr-FR" dirty="0">
                <a:sym typeface="Wingdings" pitchFamily="2" charset="2"/>
              </a:rPr>
              <a:t> x-1</a:t>
            </a:r>
            <a:r>
              <a:rPr lang="fr-FR" dirty="0"/>
              <a:t>), sinon (</a:t>
            </a:r>
            <a:r>
              <a:rPr lang="fr-FR" dirty="0" err="1"/>
              <a:t>c-a-d</a:t>
            </a:r>
            <a:r>
              <a:rPr lang="fr-FR" dirty="0"/>
              <a:t> x &lt;=0) on incrémente la variable x de 2 (x </a:t>
            </a:r>
            <a:r>
              <a:rPr lang="fr-FR" dirty="0">
                <a:sym typeface="Wingdings" pitchFamily="2" charset="2"/>
              </a:rPr>
              <a:t> x+2</a:t>
            </a:r>
            <a:r>
              <a:rPr lang="fr-FR" dirty="0"/>
              <a:t>).</a:t>
            </a:r>
          </a:p>
          <a:p>
            <a:pPr algn="just"/>
            <a:r>
              <a:rPr lang="fr-FR" dirty="0"/>
              <a:t>Si on prend l’exemple x=-5, donc on exécute le bloc </a:t>
            </a:r>
            <a:r>
              <a:rPr lang="fr-FR" b="1" i="1" dirty="0"/>
              <a:t>Sinon</a:t>
            </a:r>
            <a:r>
              <a:rPr lang="fr-FR" dirty="0"/>
              <a:t>, puisque la condition x&gt;0 n’est pas vérifiée. Ainsi, la nouvelle valeur de x est : </a:t>
            </a:r>
            <a:r>
              <a:rPr lang="fr-FR" b="1" dirty="0"/>
              <a:t>-3</a:t>
            </a:r>
            <a:r>
              <a:rPr lang="fr-FR" dirty="0"/>
              <a:t>.</a:t>
            </a:r>
          </a:p>
          <a:p>
            <a:pPr algn="just"/>
            <a:r>
              <a:rPr lang="fr-FR" dirty="0"/>
              <a:t>Si on prend x = 8, donc on exécute le bloc </a:t>
            </a:r>
            <a:r>
              <a:rPr lang="fr-FR" b="1" i="1" dirty="0"/>
              <a:t>Si</a:t>
            </a:r>
            <a:r>
              <a:rPr lang="fr-FR" dirty="0"/>
              <a:t>, (la condition x&gt;0 est vérifiée). La nouvelle valeur de x sera : </a:t>
            </a:r>
            <a:r>
              <a:rPr lang="fr-FR" b="1" dirty="0"/>
              <a:t>7</a:t>
            </a:r>
            <a:r>
              <a:rPr lang="fr-FR" dirty="0"/>
              <a:t>.</a:t>
            </a:r>
            <a:endParaRPr lang="fr-FR" sz="2000" dirty="0">
              <a:latin typeface="Calibri" pitchFamily="34" charset="0"/>
            </a:endParaRPr>
          </a:p>
        </p:txBody>
      </p:sp>
      <p:sp>
        <p:nvSpPr>
          <p:cNvPr id="6" name="Rectangle à coins arrondis 5"/>
          <p:cNvSpPr/>
          <p:nvPr/>
        </p:nvSpPr>
        <p:spPr>
          <a:xfrm>
            <a:off x="428596" y="1142984"/>
            <a:ext cx="8358246"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Sémantique de l’instruction de Test Alternatif Double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06/09</a:t>
            </a:r>
            <a:endParaRPr lang="fr-FR" sz="1400" b="1" dirty="0">
              <a:solidFill>
                <a:schemeClr val="bg1">
                  <a:lumMod val="65000"/>
                </a:schemeClr>
              </a:solidFill>
            </a:endParaRPr>
          </a:p>
        </p:txBody>
      </p:sp>
      <p:sp>
        <p:nvSpPr>
          <p:cNvPr id="3" name="Espace réservé du contenu 4">
            <a:extLst>
              <a:ext uri="{FF2B5EF4-FFF2-40B4-BE49-F238E27FC236}">
                <a16:creationId xmlns:a16="http://schemas.microsoft.com/office/drawing/2014/main" id="{019C82FC-4999-A41B-4C6F-78C8D07D66A3}"/>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strips(downLeft)">
                                      <p:cBhvr>
                                        <p:cTn id="19" dur="500"/>
                                        <p:tgtEl>
                                          <p:spTgt spid="5">
                                            <p:txEl>
                                              <p:pRg st="1" end="1"/>
                                            </p:txEl>
                                          </p:spTgt>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strips(downLeft)">
                                      <p:cBhvr>
                                        <p:cTn id="22" dur="500"/>
                                        <p:tgtEl>
                                          <p:spTgt spid="5">
                                            <p:txEl>
                                              <p:pRg st="2" end="2"/>
                                            </p:txEl>
                                          </p:spTgt>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strips(downLeft)">
                                      <p:cBhvr>
                                        <p:cTn id="25" dur="500"/>
                                        <p:tgtEl>
                                          <p:spTgt spid="5">
                                            <p:txEl>
                                              <p:pRg st="3" end="3"/>
                                            </p:txEl>
                                          </p:spTgt>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strips(downLeft)">
                                      <p:cBhvr>
                                        <p:cTn id="28" dur="500"/>
                                        <p:tgtEl>
                                          <p:spTgt spid="5">
                                            <p:txEl>
                                              <p:pRg st="4" end="4"/>
                                            </p:txEl>
                                          </p:spTgt>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strips(downLeft)">
                                      <p:cBhvr>
                                        <p:cTn id="31" dur="500"/>
                                        <p:tgtEl>
                                          <p:spTgt spid="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animEffect transition="in" filter="strips(downLeft)">
                                      <p:cBhvr>
                                        <p:cTn id="36" dur="500"/>
                                        <p:tgtEl>
                                          <p:spTgt spid="5">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strips(downLeft)">
                                      <p:cBhvr>
                                        <p:cTn id="41" dur="500"/>
                                        <p:tgtEl>
                                          <p:spTgt spid="5">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5">
                                            <p:txEl>
                                              <p:pRg st="8" end="8"/>
                                            </p:txEl>
                                          </p:spTgt>
                                        </p:tgtEl>
                                        <p:attrNameLst>
                                          <p:attrName>style.visibility</p:attrName>
                                        </p:attrNameLst>
                                      </p:cBhvr>
                                      <p:to>
                                        <p:strVal val="visible"/>
                                      </p:to>
                                    </p:set>
                                    <p:animEffect transition="in" filter="strips(downLeft)">
                                      <p:cBhvr>
                                        <p:cTn id="46"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Double (3/4)</a:t>
            </a:r>
          </a:p>
        </p:txBody>
      </p:sp>
      <p:sp>
        <p:nvSpPr>
          <p:cNvPr id="5" name="Espace réservé du contenu 4"/>
          <p:cNvSpPr>
            <a:spLocks noGrp="1"/>
          </p:cNvSpPr>
          <p:nvPr>
            <p:ph idx="1"/>
          </p:nvPr>
        </p:nvSpPr>
        <p:spPr>
          <a:xfrm>
            <a:off x="285720" y="1571612"/>
            <a:ext cx="8429684" cy="4786346"/>
          </a:xfrm>
          <a:ln>
            <a:solidFill>
              <a:schemeClr val="accent1"/>
            </a:solidFill>
          </a:ln>
        </p:spPr>
        <p:txBody>
          <a:bodyPr>
            <a:normAutofit/>
          </a:bodyPr>
          <a:lstStyle/>
          <a:p>
            <a:pPr algn="just"/>
            <a:r>
              <a:rPr lang="fr-FR" dirty="0"/>
              <a:t>Quant-est-ce que l’instruction de T.A.D. ?</a:t>
            </a:r>
          </a:p>
          <a:p>
            <a:pPr algn="just"/>
            <a:r>
              <a:rPr lang="fr-FR" dirty="0"/>
              <a:t>Dans plusieurs problèmes, on est amené à choisir entre deux séquences d’instructions à exécuter. Le choix, bien évidemment est effectué selon une condition (expression booléenne).</a:t>
            </a:r>
          </a:p>
          <a:p>
            <a:pPr algn="just"/>
            <a:r>
              <a:rPr lang="fr-FR" dirty="0"/>
              <a:t>Dans certain cas, il faut choisir entre au moins trois blocs d’instructions (plus que deux). La solution est d’utiliser les structures imbriquées : on aura par exemple une instruction de TAD à l’intérieur du bloc </a:t>
            </a:r>
            <a:r>
              <a:rPr lang="fr-FR" b="1" i="1" dirty="0"/>
              <a:t>Si</a:t>
            </a:r>
            <a:r>
              <a:rPr lang="fr-FR" dirty="0"/>
              <a:t> (ou du bloc </a:t>
            </a:r>
            <a:r>
              <a:rPr lang="fr-FR" b="1" i="1" dirty="0"/>
              <a:t>Sinon</a:t>
            </a:r>
            <a:r>
              <a:rPr lang="fr-FR" dirty="0"/>
              <a:t>) d’une autre instruction de TAD. Voir l’exemple suivant.</a:t>
            </a:r>
          </a:p>
        </p:txBody>
      </p:sp>
      <p:sp>
        <p:nvSpPr>
          <p:cNvPr id="6" name="Rectangle à coins arrondis 5"/>
          <p:cNvSpPr/>
          <p:nvPr/>
        </p:nvSpPr>
        <p:spPr>
          <a:xfrm>
            <a:off x="214282" y="1142984"/>
            <a:ext cx="8501122"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Utilisation de l’instruction de Test Alternatif Double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07/09</a:t>
            </a:r>
            <a:endParaRPr lang="fr-FR" sz="1400" b="1" dirty="0">
              <a:solidFill>
                <a:schemeClr val="bg1">
                  <a:lumMod val="65000"/>
                </a:schemeClr>
              </a:solidFill>
            </a:endParaRPr>
          </a:p>
        </p:txBody>
      </p:sp>
      <p:sp>
        <p:nvSpPr>
          <p:cNvPr id="3" name="Espace réservé du contenu 4">
            <a:extLst>
              <a:ext uri="{FF2B5EF4-FFF2-40B4-BE49-F238E27FC236}">
                <a16:creationId xmlns:a16="http://schemas.microsoft.com/office/drawing/2014/main" id="{47F86F6B-4A13-E082-AF7F-F6F14368237B}"/>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strips(downLeft)">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strips(downLeft)">
                                      <p:cBhvr>
                                        <p:cTn id="26"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54032"/>
          </a:xfrm>
        </p:spPr>
        <p:txBody>
          <a:bodyPr>
            <a:normAutofit fontScale="90000"/>
          </a:bodyPr>
          <a:lstStyle/>
          <a:p>
            <a:r>
              <a:rPr lang="fr-FR" dirty="0"/>
              <a:t>Test Alternatif Double (4/4)</a:t>
            </a:r>
          </a:p>
        </p:txBody>
      </p:sp>
      <p:sp>
        <p:nvSpPr>
          <p:cNvPr id="5" name="Espace réservé du contenu 4"/>
          <p:cNvSpPr>
            <a:spLocks noGrp="1"/>
          </p:cNvSpPr>
          <p:nvPr>
            <p:ph idx="1"/>
          </p:nvPr>
        </p:nvSpPr>
        <p:spPr>
          <a:xfrm>
            <a:off x="285720" y="1571612"/>
            <a:ext cx="8429684" cy="4786346"/>
          </a:xfrm>
          <a:ln>
            <a:solidFill>
              <a:schemeClr val="accent1"/>
            </a:solidFill>
          </a:ln>
        </p:spPr>
        <p:txBody>
          <a:bodyPr>
            <a:normAutofit/>
          </a:bodyPr>
          <a:lstStyle/>
          <a:p>
            <a:pPr algn="just"/>
            <a:r>
              <a:rPr lang="fr-FR" dirty="0"/>
              <a:t>Soit deux nombres A et B. Afficher selon le cas : </a:t>
            </a:r>
          </a:p>
          <a:p>
            <a:pPr lvl="1" algn="just"/>
            <a:r>
              <a:rPr lang="fr-FR" dirty="0"/>
              <a:t>A est plus grand que B</a:t>
            </a:r>
          </a:p>
          <a:p>
            <a:pPr lvl="1" algn="just"/>
            <a:r>
              <a:rPr lang="fr-FR" dirty="0"/>
              <a:t>A est plus petit que B</a:t>
            </a:r>
          </a:p>
          <a:p>
            <a:pPr lvl="1" algn="just"/>
            <a:r>
              <a:rPr lang="fr-FR" dirty="0"/>
              <a:t>A est égale à B</a:t>
            </a:r>
          </a:p>
        </p:txBody>
      </p:sp>
      <p:sp>
        <p:nvSpPr>
          <p:cNvPr id="6" name="Rectangle à coins arrondis 5"/>
          <p:cNvSpPr/>
          <p:nvPr/>
        </p:nvSpPr>
        <p:spPr>
          <a:xfrm>
            <a:off x="214282" y="1142984"/>
            <a:ext cx="8501122"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t>Exemple</a:t>
            </a:r>
          </a:p>
        </p:txBody>
      </p:sp>
      <p:cxnSp>
        <p:nvCxnSpPr>
          <p:cNvPr id="8" name="Connecteur droit 7"/>
          <p:cNvCxnSpPr/>
          <p:nvPr/>
        </p:nvCxnSpPr>
        <p:spPr>
          <a:xfrm rot="10800000" flipV="1">
            <a:off x="0"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dirty="0">
                <a:solidFill>
                  <a:srgbClr val="00B0F0"/>
                </a:solidFill>
              </a:rPr>
              <a:t>08/09</a:t>
            </a:r>
            <a:endParaRPr lang="fr-FR" sz="1400" b="1" dirty="0">
              <a:solidFill>
                <a:schemeClr val="bg1">
                  <a:lumMod val="65000"/>
                </a:schemeClr>
              </a:solidFill>
            </a:endParaRPr>
          </a:p>
        </p:txBody>
      </p:sp>
      <p:sp>
        <p:nvSpPr>
          <p:cNvPr id="9" name="ZoneTexte 8"/>
          <p:cNvSpPr txBox="1"/>
          <p:nvPr/>
        </p:nvSpPr>
        <p:spPr>
          <a:xfrm>
            <a:off x="357158" y="2996952"/>
            <a:ext cx="3929090" cy="34163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b="1" u="sng" dirty="0">
                <a:latin typeface="Calibri" pitchFamily="34" charset="0"/>
              </a:rPr>
              <a:t>Algorithme</a:t>
            </a:r>
            <a:r>
              <a:rPr lang="fr-FR" dirty="0">
                <a:latin typeface="Calibri" pitchFamily="34" charset="0"/>
              </a:rPr>
              <a:t> exemple_2</a:t>
            </a:r>
          </a:p>
          <a:p>
            <a:r>
              <a:rPr lang="fr-FR" b="1" u="sng" dirty="0">
                <a:latin typeface="Calibri" pitchFamily="34" charset="0"/>
              </a:rPr>
              <a:t>Variables</a:t>
            </a:r>
            <a:r>
              <a:rPr lang="fr-FR" b="1" dirty="0">
                <a:latin typeface="Calibri" pitchFamily="34" charset="0"/>
              </a:rPr>
              <a:t> </a:t>
            </a:r>
            <a:r>
              <a:rPr lang="fr-FR" dirty="0">
                <a:latin typeface="Calibri" pitchFamily="34" charset="0"/>
              </a:rPr>
              <a:t>A, B:réel</a:t>
            </a:r>
            <a:endParaRPr lang="fr-FR" b="1" u="sng" dirty="0">
              <a:latin typeface="Calibri" pitchFamily="34" charset="0"/>
            </a:endParaRPr>
          </a:p>
          <a:p>
            <a:r>
              <a:rPr lang="fr-FR" b="1" u="sng" dirty="0">
                <a:latin typeface="Calibri" pitchFamily="34" charset="0"/>
              </a:rPr>
              <a:t>Début</a:t>
            </a:r>
          </a:p>
          <a:p>
            <a:r>
              <a:rPr lang="fr-FR" dirty="0">
                <a:latin typeface="Calibri" pitchFamily="34" charset="0"/>
              </a:rPr>
              <a:t>   </a:t>
            </a:r>
            <a:r>
              <a:rPr lang="fr-FR" sz="1400" dirty="0">
                <a:latin typeface="Calibri" pitchFamily="34" charset="0"/>
              </a:rPr>
              <a:t>Lire (A, B)</a:t>
            </a:r>
          </a:p>
          <a:p>
            <a:r>
              <a:rPr lang="fr-FR" sz="1400" dirty="0">
                <a:latin typeface="Calibri" pitchFamily="34" charset="0"/>
              </a:rPr>
              <a:t>    </a:t>
            </a:r>
            <a:r>
              <a:rPr lang="fr-FR" sz="1400" b="1" u="sng" dirty="0">
                <a:latin typeface="Calibri" pitchFamily="34" charset="0"/>
              </a:rPr>
              <a:t>Si</a:t>
            </a:r>
            <a:r>
              <a:rPr lang="fr-FR" sz="1400" dirty="0">
                <a:latin typeface="Calibri" pitchFamily="34" charset="0"/>
              </a:rPr>
              <a:t> A &gt; B </a:t>
            </a:r>
            <a:r>
              <a:rPr lang="fr-FR" sz="1400" b="1" u="sng" dirty="0">
                <a:latin typeface="Calibri" pitchFamily="34" charset="0"/>
              </a:rPr>
              <a:t>Alors</a:t>
            </a:r>
          </a:p>
          <a:p>
            <a:r>
              <a:rPr lang="fr-FR" sz="1400" dirty="0">
                <a:latin typeface="Calibri" pitchFamily="34" charset="0"/>
              </a:rPr>
              <a:t>       Ecrire(‘A est plus grand que B’)</a:t>
            </a:r>
          </a:p>
          <a:p>
            <a:r>
              <a:rPr lang="fr-FR" sz="1400" dirty="0">
                <a:latin typeface="Calibri" pitchFamily="34" charset="0"/>
              </a:rPr>
              <a:t>    </a:t>
            </a:r>
            <a:r>
              <a:rPr lang="fr-FR" sz="1400" b="1" u="sng" dirty="0">
                <a:latin typeface="Calibri" pitchFamily="34" charset="0"/>
              </a:rPr>
              <a:t>Sinon</a:t>
            </a:r>
          </a:p>
          <a:p>
            <a:r>
              <a:rPr lang="fr-FR" sz="1400" dirty="0">
                <a:latin typeface="Calibri" pitchFamily="34" charset="0"/>
              </a:rPr>
              <a:t>       </a:t>
            </a:r>
            <a:r>
              <a:rPr lang="fr-FR" sz="1400" b="1" u="sng" dirty="0">
                <a:latin typeface="Calibri" pitchFamily="34" charset="0"/>
              </a:rPr>
              <a:t>Si</a:t>
            </a:r>
            <a:r>
              <a:rPr lang="fr-FR" sz="1400" dirty="0">
                <a:latin typeface="Calibri" pitchFamily="34" charset="0"/>
              </a:rPr>
              <a:t> A &lt; B </a:t>
            </a:r>
            <a:r>
              <a:rPr lang="fr-FR" sz="1400" b="1" u="sng" dirty="0">
                <a:latin typeface="Calibri" pitchFamily="34" charset="0"/>
              </a:rPr>
              <a:t>Alors</a:t>
            </a:r>
          </a:p>
          <a:p>
            <a:r>
              <a:rPr lang="fr-FR" sz="1400" dirty="0">
                <a:latin typeface="Calibri" pitchFamily="34" charset="0"/>
              </a:rPr>
              <a:t>           Ecrire(‘A est plus petit que B’)</a:t>
            </a:r>
          </a:p>
          <a:p>
            <a:r>
              <a:rPr lang="fr-FR" sz="1400" dirty="0">
                <a:latin typeface="Calibri" pitchFamily="34" charset="0"/>
              </a:rPr>
              <a:t>       </a:t>
            </a:r>
            <a:r>
              <a:rPr lang="fr-FR" sz="1400" b="1" u="sng" dirty="0">
                <a:latin typeface="Calibri" pitchFamily="34" charset="0"/>
              </a:rPr>
              <a:t>Sinon</a:t>
            </a:r>
          </a:p>
          <a:p>
            <a:r>
              <a:rPr lang="fr-FR" sz="1400" dirty="0">
                <a:latin typeface="Calibri" pitchFamily="34" charset="0"/>
              </a:rPr>
              <a:t>           Ecrire(‘A est égale à B’)</a:t>
            </a:r>
          </a:p>
          <a:p>
            <a:r>
              <a:rPr lang="fr-FR" sz="1400" dirty="0">
                <a:latin typeface="Calibri" pitchFamily="34" charset="0"/>
              </a:rPr>
              <a:t>       </a:t>
            </a:r>
            <a:r>
              <a:rPr lang="fr-FR" sz="1400" b="1" u="sng" dirty="0">
                <a:latin typeface="Calibri" pitchFamily="34" charset="0"/>
              </a:rPr>
              <a:t>Fin-Si</a:t>
            </a:r>
            <a:r>
              <a:rPr lang="fr-FR" sz="1400" dirty="0">
                <a:latin typeface="Calibri" pitchFamily="34" charset="0"/>
              </a:rPr>
              <a:t> </a:t>
            </a:r>
          </a:p>
          <a:p>
            <a:r>
              <a:rPr lang="fr-FR" sz="1400" dirty="0">
                <a:latin typeface="Calibri" pitchFamily="34" charset="0"/>
              </a:rPr>
              <a:t>    </a:t>
            </a:r>
            <a:r>
              <a:rPr lang="fr-FR" sz="1400" b="1" u="sng" dirty="0">
                <a:latin typeface="Calibri" pitchFamily="34" charset="0"/>
              </a:rPr>
              <a:t>Fin-Si</a:t>
            </a:r>
            <a:endParaRPr lang="fr-FR" b="1" u="sng" dirty="0">
              <a:latin typeface="Calibri" pitchFamily="34" charset="0"/>
            </a:endParaRPr>
          </a:p>
          <a:p>
            <a:r>
              <a:rPr lang="fr-FR" b="1" u="sng" dirty="0">
                <a:latin typeface="Calibri" pitchFamily="34" charset="0"/>
              </a:rPr>
              <a:t>Fin</a:t>
            </a:r>
            <a:endParaRPr lang="fr-FR" dirty="0">
              <a:latin typeface="Calibri" pitchFamily="34" charset="0"/>
            </a:endParaRPr>
          </a:p>
        </p:txBody>
      </p:sp>
      <p:sp>
        <p:nvSpPr>
          <p:cNvPr id="10" name="ZoneTexte 9"/>
          <p:cNvSpPr txBox="1"/>
          <p:nvPr/>
        </p:nvSpPr>
        <p:spPr>
          <a:xfrm>
            <a:off x="4429124" y="2996952"/>
            <a:ext cx="4071966" cy="32624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fr-FR" b="1" u="sng" dirty="0">
                <a:latin typeface="Calibri" pitchFamily="34" charset="0"/>
              </a:rPr>
              <a:t>Program</a:t>
            </a:r>
            <a:r>
              <a:rPr lang="fr-FR" dirty="0">
                <a:latin typeface="Calibri" pitchFamily="34" charset="0"/>
              </a:rPr>
              <a:t> exemple_2;</a:t>
            </a:r>
          </a:p>
          <a:p>
            <a:r>
              <a:rPr lang="fr-FR" b="1" u="sng" dirty="0">
                <a:latin typeface="Calibri" pitchFamily="34" charset="0"/>
              </a:rPr>
              <a:t>Uses</a:t>
            </a:r>
            <a:r>
              <a:rPr lang="fr-FR" dirty="0">
                <a:latin typeface="Calibri" pitchFamily="34" charset="0"/>
              </a:rPr>
              <a:t> </a:t>
            </a:r>
            <a:r>
              <a:rPr lang="fr-FR" dirty="0" err="1">
                <a:latin typeface="Calibri" pitchFamily="34" charset="0"/>
              </a:rPr>
              <a:t>wincrt</a:t>
            </a:r>
            <a:r>
              <a:rPr lang="fr-FR" dirty="0">
                <a:latin typeface="Calibri" pitchFamily="34" charset="0"/>
              </a:rPr>
              <a:t>;</a:t>
            </a:r>
          </a:p>
          <a:p>
            <a:r>
              <a:rPr lang="fr-FR" b="1" u="sng" dirty="0">
                <a:latin typeface="Calibri" pitchFamily="34" charset="0"/>
              </a:rPr>
              <a:t>Var</a:t>
            </a:r>
            <a:r>
              <a:rPr lang="fr-FR" dirty="0">
                <a:latin typeface="Calibri" pitchFamily="34" charset="0"/>
              </a:rPr>
              <a:t> A, B: real;</a:t>
            </a:r>
          </a:p>
          <a:p>
            <a:r>
              <a:rPr lang="fr-FR" b="1" u="sng" dirty="0">
                <a:latin typeface="Calibri" pitchFamily="34" charset="0"/>
              </a:rPr>
              <a:t>Begin</a:t>
            </a:r>
          </a:p>
          <a:p>
            <a:r>
              <a:rPr lang="fr-FR" dirty="0">
                <a:latin typeface="Calibri" pitchFamily="34" charset="0"/>
              </a:rPr>
              <a:t>    </a:t>
            </a:r>
            <a:r>
              <a:rPr lang="fr-FR" sz="1400" dirty="0">
                <a:latin typeface="Calibri" pitchFamily="34" charset="0"/>
              </a:rPr>
              <a:t>Read (A, B);</a:t>
            </a:r>
          </a:p>
          <a:p>
            <a:r>
              <a:rPr lang="fr-FR" sz="1400" dirty="0">
                <a:latin typeface="Calibri" pitchFamily="34" charset="0"/>
              </a:rPr>
              <a:t>     </a:t>
            </a:r>
            <a:r>
              <a:rPr lang="fr-FR" sz="1400" b="1" u="sng" dirty="0">
                <a:latin typeface="Calibri" pitchFamily="34" charset="0"/>
              </a:rPr>
              <a:t>if</a:t>
            </a:r>
            <a:r>
              <a:rPr lang="fr-FR" sz="1400" dirty="0">
                <a:latin typeface="Calibri" pitchFamily="34" charset="0"/>
              </a:rPr>
              <a:t> A &gt; B </a:t>
            </a:r>
            <a:r>
              <a:rPr lang="fr-FR" sz="1400" b="1" u="sng" dirty="0" err="1">
                <a:latin typeface="Calibri" pitchFamily="34" charset="0"/>
              </a:rPr>
              <a:t>then</a:t>
            </a:r>
            <a:endParaRPr lang="fr-FR" sz="1400" b="1" u="sng" dirty="0">
              <a:latin typeface="Calibri" pitchFamily="34" charset="0"/>
            </a:endParaRPr>
          </a:p>
          <a:p>
            <a:r>
              <a:rPr lang="fr-FR" sz="1400" dirty="0">
                <a:latin typeface="Calibri" pitchFamily="34" charset="0"/>
              </a:rPr>
              <a:t>           </a:t>
            </a:r>
            <a:r>
              <a:rPr lang="fr-FR" sz="1400" dirty="0" err="1">
                <a:latin typeface="Calibri" pitchFamily="34" charset="0"/>
              </a:rPr>
              <a:t>write</a:t>
            </a:r>
            <a:r>
              <a:rPr lang="fr-FR" sz="1400" dirty="0">
                <a:latin typeface="Calibri" pitchFamily="34" charset="0"/>
              </a:rPr>
              <a:t>(‘A est plus grand que B’)</a:t>
            </a:r>
          </a:p>
          <a:p>
            <a:r>
              <a:rPr lang="fr-FR" sz="1400" dirty="0">
                <a:latin typeface="Calibri" pitchFamily="34" charset="0"/>
              </a:rPr>
              <a:t>    </a:t>
            </a:r>
            <a:r>
              <a:rPr lang="fr-FR" sz="1400" b="1" u="sng" dirty="0" err="1">
                <a:latin typeface="Calibri" pitchFamily="34" charset="0"/>
              </a:rPr>
              <a:t>else</a:t>
            </a:r>
            <a:endParaRPr lang="fr-FR" sz="1400" b="1" u="sng" dirty="0">
              <a:latin typeface="Calibri" pitchFamily="34" charset="0"/>
            </a:endParaRPr>
          </a:p>
          <a:p>
            <a:r>
              <a:rPr lang="fr-FR" sz="1400" dirty="0">
                <a:latin typeface="Calibri" pitchFamily="34" charset="0"/>
              </a:rPr>
              <a:t>           </a:t>
            </a:r>
            <a:r>
              <a:rPr lang="fr-FR" sz="1400" b="1" u="sng" dirty="0">
                <a:latin typeface="Calibri" pitchFamily="34" charset="0"/>
              </a:rPr>
              <a:t>if</a:t>
            </a:r>
            <a:r>
              <a:rPr lang="fr-FR" sz="1400" dirty="0">
                <a:latin typeface="Calibri" pitchFamily="34" charset="0"/>
              </a:rPr>
              <a:t> A &lt; B </a:t>
            </a:r>
            <a:r>
              <a:rPr lang="fr-FR" sz="1400" b="1" u="sng" dirty="0" err="1">
                <a:latin typeface="Calibri" pitchFamily="34" charset="0"/>
              </a:rPr>
              <a:t>then</a:t>
            </a:r>
            <a:endParaRPr lang="fr-FR" sz="1400" b="1" u="sng" dirty="0">
              <a:latin typeface="Calibri" pitchFamily="34" charset="0"/>
            </a:endParaRPr>
          </a:p>
          <a:p>
            <a:r>
              <a:rPr lang="fr-FR" sz="1400" dirty="0">
                <a:latin typeface="Calibri" pitchFamily="34" charset="0"/>
              </a:rPr>
              <a:t>               </a:t>
            </a:r>
            <a:r>
              <a:rPr lang="fr-FR" sz="1400" dirty="0" err="1">
                <a:latin typeface="Calibri" pitchFamily="34" charset="0"/>
              </a:rPr>
              <a:t>write</a:t>
            </a:r>
            <a:r>
              <a:rPr lang="fr-FR" sz="1400" dirty="0">
                <a:latin typeface="Calibri" pitchFamily="34" charset="0"/>
              </a:rPr>
              <a:t>(‘A est plus petit que B’)</a:t>
            </a:r>
          </a:p>
          <a:p>
            <a:r>
              <a:rPr lang="fr-FR" sz="1400" dirty="0">
                <a:latin typeface="Calibri" pitchFamily="34" charset="0"/>
              </a:rPr>
              <a:t>           </a:t>
            </a:r>
            <a:r>
              <a:rPr lang="fr-FR" sz="1400" b="1" u="sng" dirty="0" err="1">
                <a:latin typeface="Calibri" pitchFamily="34" charset="0"/>
              </a:rPr>
              <a:t>else</a:t>
            </a:r>
            <a:endParaRPr lang="fr-FR" sz="1400" b="1" u="sng" dirty="0">
              <a:latin typeface="Calibri" pitchFamily="34" charset="0"/>
            </a:endParaRPr>
          </a:p>
          <a:p>
            <a:r>
              <a:rPr lang="fr-FR" sz="1400" dirty="0">
                <a:latin typeface="Calibri" pitchFamily="34" charset="0"/>
              </a:rPr>
              <a:t>               </a:t>
            </a:r>
            <a:r>
              <a:rPr lang="fr-FR" sz="1400" dirty="0" err="1">
                <a:latin typeface="Calibri" pitchFamily="34" charset="0"/>
              </a:rPr>
              <a:t>write</a:t>
            </a:r>
            <a:r>
              <a:rPr lang="fr-FR" sz="1400" dirty="0">
                <a:latin typeface="Calibri" pitchFamily="34" charset="0"/>
              </a:rPr>
              <a:t>(‘A est égale à B’);</a:t>
            </a:r>
          </a:p>
          <a:p>
            <a:r>
              <a:rPr lang="fr-FR" b="1" u="sng" dirty="0">
                <a:latin typeface="Calibri" pitchFamily="34" charset="0"/>
              </a:rPr>
              <a:t>End</a:t>
            </a:r>
            <a:r>
              <a:rPr lang="fr-FR" dirty="0">
                <a:latin typeface="Calibri" pitchFamily="34" charset="0"/>
              </a:rPr>
              <a:t>.</a:t>
            </a:r>
          </a:p>
        </p:txBody>
      </p:sp>
      <p:sp>
        <p:nvSpPr>
          <p:cNvPr id="3" name="Espace réservé du contenu 4">
            <a:extLst>
              <a:ext uri="{FF2B5EF4-FFF2-40B4-BE49-F238E27FC236}">
                <a16:creationId xmlns:a16="http://schemas.microsoft.com/office/drawing/2014/main" id="{FD8CEB2A-8398-DE14-34B6-5A36513803DA}"/>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5">
                                            <p:bg/>
                                          </p:spTgt>
                                        </p:tgtEl>
                                        <p:attrNameLst>
                                          <p:attrName>style.visibility</p:attrName>
                                        </p:attrNameLst>
                                      </p:cBhvr>
                                      <p:to>
                                        <p:strVal val="visible"/>
                                      </p:to>
                                    </p:set>
                                    <p:animEffect transition="in" filter="strips(downLeft)">
                                      <p:cBhvr>
                                        <p:cTn id="11" dur="500"/>
                                        <p:tgtEl>
                                          <p:spTgt spid="5">
                                            <p:bg/>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strips(downLeft)">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strips(downLeft)">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strips(downLeft)">
                                      <p:cBhvr>
                                        <p:cTn id="26" dur="500"/>
                                        <p:tgtEl>
                                          <p:spTgt spid="5">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Effect transition="in" filter="strips(downLeft)">
                                      <p:cBhvr>
                                        <p:cTn id="31" dur="500"/>
                                        <p:tgtEl>
                                          <p:spTgt spid="5">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strips(downLef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strips(downLeft)">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animBg="1"/>
      <p:bldP spid="6"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329642" cy="654032"/>
          </a:xfrm>
        </p:spPr>
        <p:txBody>
          <a:bodyPr>
            <a:normAutofit fontScale="90000"/>
          </a:bodyPr>
          <a:lstStyle/>
          <a:p>
            <a:r>
              <a:rPr lang="fr-FR" dirty="0"/>
              <a:t>Résumé</a:t>
            </a:r>
          </a:p>
        </p:txBody>
      </p:sp>
      <p:sp>
        <p:nvSpPr>
          <p:cNvPr id="12" name="Espace réservé du contenu 4"/>
          <p:cNvSpPr>
            <a:spLocks noGrp="1"/>
          </p:cNvSpPr>
          <p:nvPr>
            <p:ph idx="1"/>
          </p:nvPr>
        </p:nvSpPr>
        <p:spPr>
          <a:xfrm>
            <a:off x="500034" y="1500174"/>
            <a:ext cx="7858180" cy="4643470"/>
          </a:xfrm>
          <a:ln>
            <a:solidFill>
              <a:schemeClr val="accent1"/>
            </a:solidFill>
          </a:ln>
        </p:spPr>
        <p:txBody>
          <a:bodyPr>
            <a:normAutofit/>
          </a:bodyPr>
          <a:lstStyle/>
          <a:p>
            <a:pPr algn="just"/>
            <a:r>
              <a:rPr lang="fr-FR" b="1" dirty="0"/>
              <a:t>L’instruction de test alternatif simple </a:t>
            </a:r>
            <a:r>
              <a:rPr lang="fr-FR" dirty="0"/>
              <a:t>permet de faire un choix entre l’exécution d’un bloc d’instructions ou non. Ce choix (ou cette décision) est basé sur une condition (Expression Booléenne : Vrai ou Faux).</a:t>
            </a:r>
          </a:p>
          <a:p>
            <a:pPr algn="just"/>
            <a:r>
              <a:rPr lang="fr-FR" b="1" dirty="0"/>
              <a:t>L’instruction de test alternatif double</a:t>
            </a:r>
            <a:r>
              <a:rPr lang="fr-FR" dirty="0"/>
              <a:t> permet de faire un choix entre l’exécution d’un bloc d’instructions ou l’exécution d’un autre bloc d’instructions. Donc, il y aura un premier bloc qui sera exécuté si la condition est vérifié (Vrai) et un deuxième bloc qui est exécuté si la condition est Fausse.</a:t>
            </a:r>
          </a:p>
          <a:p>
            <a:pPr algn="just"/>
            <a:r>
              <a:rPr lang="fr-FR" dirty="0"/>
              <a:t>L’instruction de test alternatif (simple ou double) se base toute les deux sur une expression booléenne (la condition du test)</a:t>
            </a:r>
          </a:p>
        </p:txBody>
      </p:sp>
      <p:cxnSp>
        <p:nvCxnSpPr>
          <p:cNvPr id="8" name="Connecteur droit 7"/>
          <p:cNvCxnSpPr/>
          <p:nvPr/>
        </p:nvCxnSpPr>
        <p:spPr>
          <a:xfrm rot="10800000" flipV="1">
            <a:off x="-15022" y="1000109"/>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Espace réservé du contenu 4"/>
          <p:cNvSpPr txBox="1">
            <a:spLocks/>
          </p:cNvSpPr>
          <p:nvPr/>
        </p:nvSpPr>
        <p:spPr>
          <a:xfrm>
            <a:off x="1142976" y="6429396"/>
            <a:ext cx="6858048" cy="428604"/>
          </a:xfrm>
          <a:prstGeom prst="rect">
            <a:avLst/>
          </a:prstGeom>
          <a:ln>
            <a:noFill/>
          </a:ln>
        </p:spPr>
        <p:txBody>
          <a:bodyPr vert="horz">
            <a:normAutofit/>
          </a:bodyPr>
          <a:lstStyle/>
          <a:p>
            <a:pPr marL="274320" lvl="0" indent="-274320" algn="ctr">
              <a:lnSpc>
                <a:spcPct val="150000"/>
              </a:lnSpc>
              <a:buClr>
                <a:schemeClr val="accent1"/>
              </a:buClr>
              <a:buSzPct val="70000"/>
              <a:defRPr/>
            </a:pPr>
            <a:r>
              <a:rPr lang="fr-FR" sz="1400" b="1">
                <a:solidFill>
                  <a:srgbClr val="00B0F0"/>
                </a:solidFill>
              </a:rPr>
              <a:t>09/09</a:t>
            </a:r>
            <a:endParaRPr kumimoji="0" lang="fr-FR" sz="1400" b="1"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
        <p:nvSpPr>
          <p:cNvPr id="3" name="Espace réservé du contenu 4">
            <a:extLst>
              <a:ext uri="{FF2B5EF4-FFF2-40B4-BE49-F238E27FC236}">
                <a16:creationId xmlns:a16="http://schemas.microsoft.com/office/drawing/2014/main" id="{E2FAD4D8-90C3-B186-81A6-00F216DB4817}"/>
              </a:ext>
            </a:extLst>
          </p:cNvPr>
          <p:cNvSpPr txBox="1">
            <a:spLocks/>
          </p:cNvSpPr>
          <p:nvPr/>
        </p:nvSpPr>
        <p:spPr>
          <a:xfrm>
            <a:off x="0" y="6429396"/>
            <a:ext cx="9144000" cy="428604"/>
          </a:xfrm>
          <a:prstGeom prst="rect">
            <a:avLst/>
          </a:prstGeom>
          <a:ln>
            <a:solidFill>
              <a:schemeClr val="accent1"/>
            </a:solidFill>
          </a:ln>
        </p:spPr>
        <p:txBody>
          <a:bodyPr vert="horz">
            <a:normAutofit/>
          </a:bodyPr>
          <a:lstStyle/>
          <a:p>
            <a:pPr marL="274320" marR="0" lvl="0" indent="-274320" algn="just" defTabSz="914400" rtl="0" eaLnBrk="1" fontAlgn="auto" latinLnBrk="0" hangingPunct="1">
              <a:lnSpc>
                <a:spcPct val="150000"/>
              </a:lnSpc>
              <a:spcAft>
                <a:spcPts val="0"/>
              </a:spcAft>
              <a:buClr>
                <a:schemeClr val="accent1"/>
              </a:buClr>
              <a:buSzPct val="70000"/>
              <a:tabLst/>
              <a:defRPr/>
            </a:pPr>
            <a:r>
              <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rPr>
              <a:t>1</a:t>
            </a:r>
            <a:r>
              <a:rPr kumimoji="0" lang="fr-FR" sz="1400" b="0" i="0" u="none" strike="noStrike" kern="1200" cap="none" spc="0" normalizeH="0" baseline="30000" noProof="0" dirty="0">
                <a:ln>
                  <a:noFill/>
                </a:ln>
                <a:solidFill>
                  <a:schemeClr val="bg1">
                    <a:lumMod val="65000"/>
                  </a:schemeClr>
                </a:solidFill>
                <a:effectLst/>
                <a:uLnTx/>
                <a:uFillTx/>
                <a:latin typeface="+mn-lt"/>
                <a:ea typeface="+mn-ea"/>
                <a:cs typeface="+mn-cs"/>
              </a:rPr>
              <a:t>ère</a:t>
            </a:r>
            <a:r>
              <a:rPr kumimoji="0" lang="fr-FR" sz="1400" b="0" i="0" u="none" strike="noStrike" kern="1200" cap="none" spc="0" normalizeH="0" noProof="0" dirty="0">
                <a:ln>
                  <a:noFill/>
                </a:ln>
                <a:solidFill>
                  <a:schemeClr val="bg1">
                    <a:lumMod val="65000"/>
                  </a:schemeClr>
                </a:solidFill>
                <a:effectLst/>
                <a:uLnTx/>
                <a:uFillTx/>
                <a:latin typeface="+mn-lt"/>
                <a:ea typeface="+mn-ea"/>
                <a:cs typeface="+mn-cs"/>
              </a:rPr>
              <a:t> Année IT (IABD, ASI)				             Année Universitaire : 2024/2025</a:t>
            </a:r>
            <a:endParaRPr kumimoji="0" lang="fr-FR" sz="1400" b="0" i="0" u="none" strike="noStrike" kern="1200" cap="none" spc="0" normalizeH="0" baseline="0" noProof="0" dirty="0">
              <a:ln>
                <a:noFill/>
              </a:ln>
              <a:solidFill>
                <a:schemeClr val="bg1">
                  <a:lumMod val="6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strips(downLeft)">
                                      <p:cBhvr>
                                        <p:cTn id="7" dur="500"/>
                                        <p:tgtEl>
                                          <p:spTgt spid="12">
                                            <p:bg/>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strips(downLeft)">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strips(downLeft)">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strips(downLeft)">
                                      <p:cBhvr>
                                        <p:cTn id="22"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Type de bois">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Type de bois">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ype de bois">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emplate>Type de bois</Template>
  <TotalTime>3156</TotalTime>
  <Words>1455</Words>
  <Application>Microsoft Office PowerPoint</Application>
  <PresentationFormat>Affichage à l'écran (4:3)</PresentationFormat>
  <Paragraphs>175</Paragraphs>
  <Slides>10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Arial</vt:lpstr>
      <vt:lpstr>Calibri</vt:lpstr>
      <vt:lpstr>Georgia</vt:lpstr>
      <vt:lpstr>Trebuchet MS</vt:lpstr>
      <vt:lpstr>Wingdings</vt:lpstr>
      <vt:lpstr>Type de bois</vt:lpstr>
      <vt:lpstr>L’Instruction de Test Alternatif </vt:lpstr>
      <vt:lpstr>Test Alternatif Simple (1/4)</vt:lpstr>
      <vt:lpstr>Test Alternatif Simple (2/4)</vt:lpstr>
      <vt:lpstr>Test Alternatif Simple (3/4)</vt:lpstr>
      <vt:lpstr>Test Alternatif Simple (4/4)</vt:lpstr>
      <vt:lpstr>Test Alternatif Double (1/4)</vt:lpstr>
      <vt:lpstr>Test Alternatif Double(2/4)</vt:lpstr>
      <vt:lpstr>Test Alternatif Double (3/4)</vt:lpstr>
      <vt:lpstr>Test Alternatif Double (4/4)</vt:lpstr>
      <vt:lpstr>Résumé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à L’Algorithmique</dc:title>
  <dc:creator>bleuxp</dc:creator>
  <cp:lastModifiedBy>James  ADEOLA</cp:lastModifiedBy>
  <cp:revision>305</cp:revision>
  <dcterms:created xsi:type="dcterms:W3CDTF">2015-10-10T14:43:06Z</dcterms:created>
  <dcterms:modified xsi:type="dcterms:W3CDTF">2024-11-12T08:34:45Z</dcterms:modified>
</cp:coreProperties>
</file>