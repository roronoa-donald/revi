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0" r:id="rId1"/>
  </p:sldMasterIdLst>
  <p:notesMasterIdLst>
    <p:notesMasterId r:id="rId67"/>
  </p:notesMasterIdLst>
  <p:sldIdLst>
    <p:sldId id="256" r:id="rId2"/>
    <p:sldId id="348" r:id="rId3"/>
    <p:sldId id="560" r:id="rId4"/>
    <p:sldId id="574" r:id="rId5"/>
    <p:sldId id="575" r:id="rId6"/>
    <p:sldId id="576" r:id="rId7"/>
    <p:sldId id="559" r:id="rId8"/>
    <p:sldId id="577" r:id="rId9"/>
    <p:sldId id="349" r:id="rId10"/>
    <p:sldId id="350" r:id="rId11"/>
    <p:sldId id="579" r:id="rId12"/>
    <p:sldId id="580" r:id="rId13"/>
    <p:sldId id="581" r:id="rId14"/>
    <p:sldId id="578" r:id="rId15"/>
    <p:sldId id="561" r:id="rId16"/>
    <p:sldId id="562" r:id="rId17"/>
    <p:sldId id="563" r:id="rId18"/>
    <p:sldId id="564" r:id="rId19"/>
    <p:sldId id="565" r:id="rId20"/>
    <p:sldId id="566" r:id="rId21"/>
    <p:sldId id="567" r:id="rId22"/>
    <p:sldId id="568" r:id="rId23"/>
    <p:sldId id="569" r:id="rId24"/>
    <p:sldId id="570" r:id="rId25"/>
    <p:sldId id="571" r:id="rId26"/>
    <p:sldId id="572" r:id="rId27"/>
    <p:sldId id="573" r:id="rId28"/>
    <p:sldId id="582" r:id="rId29"/>
    <p:sldId id="583" r:id="rId30"/>
    <p:sldId id="584" r:id="rId31"/>
    <p:sldId id="585" r:id="rId32"/>
    <p:sldId id="586" r:id="rId33"/>
    <p:sldId id="587" r:id="rId34"/>
    <p:sldId id="588" r:id="rId35"/>
    <p:sldId id="589" r:id="rId36"/>
    <p:sldId id="590" r:id="rId37"/>
    <p:sldId id="591" r:id="rId38"/>
    <p:sldId id="592" r:id="rId39"/>
    <p:sldId id="593" r:id="rId40"/>
    <p:sldId id="594" r:id="rId41"/>
    <p:sldId id="595" r:id="rId42"/>
    <p:sldId id="596" r:id="rId43"/>
    <p:sldId id="597" r:id="rId44"/>
    <p:sldId id="598" r:id="rId45"/>
    <p:sldId id="599" r:id="rId46"/>
    <p:sldId id="600" r:id="rId47"/>
    <p:sldId id="601" r:id="rId48"/>
    <p:sldId id="602" r:id="rId49"/>
    <p:sldId id="603" r:id="rId50"/>
    <p:sldId id="604" r:id="rId51"/>
    <p:sldId id="605" r:id="rId52"/>
    <p:sldId id="606" r:id="rId53"/>
    <p:sldId id="607" r:id="rId54"/>
    <p:sldId id="608" r:id="rId55"/>
    <p:sldId id="609" r:id="rId56"/>
    <p:sldId id="610" r:id="rId57"/>
    <p:sldId id="611" r:id="rId58"/>
    <p:sldId id="612" r:id="rId59"/>
    <p:sldId id="613" r:id="rId60"/>
    <p:sldId id="614" r:id="rId61"/>
    <p:sldId id="615" r:id="rId62"/>
    <p:sldId id="616" r:id="rId63"/>
    <p:sldId id="617" r:id="rId64"/>
    <p:sldId id="618" r:id="rId65"/>
    <p:sldId id="619" r:id="rId6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51110C-4219-4EB4-B17B-39406971B367}" type="datetimeFigureOut">
              <a:rPr lang="fr-FR" smtClean="0"/>
              <a:t>31/03/2025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80FC1E-FD32-4A86-948B-90483BFC72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692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74EC9-40E4-490B-9853-16A9015B1053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592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4E164-8E60-4C13-8119-C14DFFF7D4C9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591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318F7-0039-464C-8A03-A93F9D87C370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516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30226-A599-4294-BA2C-4E3C8A1C22B1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159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A959A-DBFD-4A91-927F-817CED282719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53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136A2-A46A-4DA2-91B1-20DB3E5165F0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71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9CB5B-3BBA-4FDE-ADAF-A7B96B21F161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7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9B33-6C99-49F0-9479-A621B9235D3C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808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413A8-7656-45D6-9CE7-E58ED81BD524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439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CA3D-C7B2-408B-8D06-759A7A575F31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772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0F13F-CC75-48E1-8783-CC5B89D449C9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0612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8728A-E692-49ED-8A37-5F5ECD17049C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158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60A25-03EA-4940-8C44-833DF425108A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97826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5FA4C-0ED6-42FF-91E0-6F463CBE3B6C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271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5383C-639C-4370-98A3-BDAF078B938A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523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E29BC-2110-43A9-959E-11E76E7EFD5B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385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BCFCC-A5D1-43F5-9525-83C2A59A424D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356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13.png"/><Relationship Id="rId4" Type="http://schemas.microsoft.com/office/2007/relationships/hdphoto" Target="../media/hdphoto2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microsoft.com/office/2007/relationships/hdphoto" Target="../media/hdphoto4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6.wdp"/><Relationship Id="rId5" Type="http://schemas.openxmlformats.org/officeDocument/2006/relationships/image" Target="../media/image17.png"/><Relationship Id="rId4" Type="http://schemas.microsoft.com/office/2007/relationships/hdphoto" Target="../media/hdphoto5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microsoft.com/office/2007/relationships/hdphoto" Target="../media/hdphoto7.wdp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microsoft.com/office/2007/relationships/hdphoto" Target="../media/hdphoto8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9.wdp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microsoft.com/office/2007/relationships/hdphoto" Target="../media/hdphoto10.wdp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12.wdp"/><Relationship Id="rId5" Type="http://schemas.openxmlformats.org/officeDocument/2006/relationships/image" Target="../media/image29.png"/><Relationship Id="rId4" Type="http://schemas.microsoft.com/office/2007/relationships/hdphoto" Target="../media/hdphoto11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microsoft.com/office/2007/relationships/hdphoto" Target="../media/hdphoto13.wdp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4.wdp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5.wdp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6.wdp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7.wdp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8.wdp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9.wdp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20.wdp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2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54927" y="3396343"/>
            <a:ext cx="9927770" cy="1381038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   CCNA1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Collège de Paris </a:t>
            </a:r>
          </a:p>
          <a:p>
            <a:r>
              <a:rPr lang="fr-FR" b="1" dirty="0">
                <a:solidFill>
                  <a:schemeClr val="tx1"/>
                </a:solidFill>
              </a:rPr>
              <a:t>IT</a:t>
            </a:r>
          </a:p>
          <a:p>
            <a:r>
              <a:rPr lang="fr-FR" b="1" dirty="0">
                <a:solidFill>
                  <a:schemeClr val="tx1"/>
                </a:solidFill>
              </a:rPr>
              <a:t>Licence Semestre 1 et 2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1459658" y="6063715"/>
            <a:ext cx="5425235" cy="339241"/>
          </a:xfrm>
        </p:spPr>
        <p:txBody>
          <a:bodyPr/>
          <a:lstStyle/>
          <a:p>
            <a:r>
              <a:rPr lang="en-US" b="1" dirty="0"/>
              <a:t>Présenté par Essowaba AHOULOUMI Ingénieur en Informatique et réseaux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7" name="Image 6" descr="https://www.movicon.fr/wp-content/uploads/2017/04/server_close-up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043" y="188816"/>
            <a:ext cx="7759337" cy="38423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9479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INTRODUCTION DU </a:t>
            </a:r>
            <a:r>
              <a:rPr lang="fr-FR" b="1" dirty="0">
                <a:solidFill>
                  <a:srgbClr val="FF0000"/>
                </a:solidFill>
              </a:rPr>
              <a:t>COURS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685109"/>
            <a:ext cx="8915400" cy="4297679"/>
          </a:xfrm>
        </p:spPr>
        <p:txBody>
          <a:bodyPr>
            <a:no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CCNA</a:t>
            </a:r>
            <a:r>
              <a:rPr lang="fr-FR" sz="3200" b="1" dirty="0">
                <a:solidFill>
                  <a:schemeClr val="tx1"/>
                </a:solidFill>
              </a:rPr>
              <a:t> signifie Cisco </a:t>
            </a:r>
            <a:r>
              <a:rPr lang="fr-FR" sz="3200" b="1" dirty="0" err="1">
                <a:solidFill>
                  <a:schemeClr val="tx1"/>
                </a:solidFill>
              </a:rPr>
              <a:t>Certified</a:t>
            </a:r>
            <a:r>
              <a:rPr lang="fr-FR" sz="3200" b="1" dirty="0">
                <a:solidFill>
                  <a:schemeClr val="tx1"/>
                </a:solidFill>
              </a:rPr>
              <a:t> Network </a:t>
            </a:r>
            <a:r>
              <a:rPr lang="fr-FR" sz="3200" b="1" dirty="0" err="1">
                <a:solidFill>
                  <a:schemeClr val="tx1"/>
                </a:solidFill>
              </a:rPr>
              <a:t>Associate</a:t>
            </a:r>
            <a:r>
              <a:rPr lang="fr-FR" sz="3200" b="1" dirty="0">
                <a:solidFill>
                  <a:schemeClr val="tx1"/>
                </a:solidFill>
              </a:rPr>
              <a:t> (Certifié Réseau Cisco Associé). Il s’agit d’une </a:t>
            </a:r>
            <a:r>
              <a:rPr lang="fr-FR" sz="3200" b="1" dirty="0">
                <a:solidFill>
                  <a:srgbClr val="FF0000"/>
                </a:solidFill>
              </a:rPr>
              <a:t>certification</a:t>
            </a:r>
            <a:r>
              <a:rPr lang="fr-FR" sz="3200" b="1" dirty="0">
                <a:solidFill>
                  <a:schemeClr val="tx1"/>
                </a:solidFill>
              </a:rPr>
              <a:t> en réseaux informatiques délivrée par la société de matériel réseau </a:t>
            </a:r>
            <a:r>
              <a:rPr lang="fr-FR" sz="3200" b="1" dirty="0">
                <a:solidFill>
                  <a:srgbClr val="FF0000"/>
                </a:solidFill>
              </a:rPr>
              <a:t>CISCO</a:t>
            </a:r>
            <a:r>
              <a:rPr lang="fr-FR" sz="3200" b="1" dirty="0">
                <a:solidFill>
                  <a:schemeClr val="tx1"/>
                </a:solidFill>
              </a:rPr>
              <a:t>. Le programme CCNA est conçu pour </a:t>
            </a:r>
            <a:r>
              <a:rPr lang="fr-FR" sz="3200" b="1" dirty="0">
                <a:solidFill>
                  <a:srgbClr val="FF0000"/>
                </a:solidFill>
              </a:rPr>
              <a:t>valider </a:t>
            </a:r>
            <a:r>
              <a:rPr lang="fr-FR" sz="3200" b="1" dirty="0">
                <a:solidFill>
                  <a:schemeClr val="tx1"/>
                </a:solidFill>
              </a:rPr>
              <a:t>les </a:t>
            </a:r>
            <a:r>
              <a:rPr lang="fr-FR" sz="3200" b="1" dirty="0">
                <a:solidFill>
                  <a:srgbClr val="FF0000"/>
                </a:solidFill>
              </a:rPr>
              <a:t>connaissances</a:t>
            </a:r>
            <a:r>
              <a:rPr lang="fr-FR" sz="3200" b="1" dirty="0">
                <a:solidFill>
                  <a:schemeClr val="tx1"/>
                </a:solidFill>
              </a:rPr>
              <a:t> de l’apprenant sur les concepts de réseau informatique.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53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INTRODUCTION DU </a:t>
            </a:r>
            <a:r>
              <a:rPr lang="fr-FR" b="1" dirty="0">
                <a:solidFill>
                  <a:srgbClr val="FF0000"/>
                </a:solidFill>
              </a:rPr>
              <a:t>COURS </a:t>
            </a:r>
            <a:r>
              <a:rPr lang="fr-FR" b="1" dirty="0">
                <a:solidFill>
                  <a:schemeClr val="tx1"/>
                </a:solidFill>
              </a:rPr>
              <a:t>(Suite)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De </a:t>
            </a:r>
            <a:r>
              <a:rPr lang="fr-FR" sz="3200" b="1" dirty="0">
                <a:solidFill>
                  <a:srgbClr val="FF0000"/>
                </a:solidFill>
              </a:rPr>
              <a:t>nos jours</a:t>
            </a:r>
            <a:r>
              <a:rPr lang="fr-FR" sz="3200" b="1" dirty="0">
                <a:solidFill>
                  <a:schemeClr val="tx1"/>
                </a:solidFill>
              </a:rPr>
              <a:t>, les réseaux informatiques sont </a:t>
            </a:r>
            <a:r>
              <a:rPr lang="fr-FR" sz="3200" b="1" dirty="0">
                <a:solidFill>
                  <a:srgbClr val="FF0000"/>
                </a:solidFill>
              </a:rPr>
              <a:t>indispensables</a:t>
            </a:r>
            <a:r>
              <a:rPr lang="fr-FR" sz="3200" b="1" dirty="0">
                <a:solidFill>
                  <a:schemeClr val="tx1"/>
                </a:solidFill>
              </a:rPr>
              <a:t> dans un </a:t>
            </a:r>
            <a:r>
              <a:rPr lang="fr-FR" sz="3200" b="1" dirty="0">
                <a:solidFill>
                  <a:srgbClr val="FF0000"/>
                </a:solidFill>
              </a:rPr>
              <a:t>écosystème</a:t>
            </a:r>
            <a:r>
              <a:rPr lang="fr-FR" sz="3200" b="1" dirty="0">
                <a:solidFill>
                  <a:schemeClr val="tx1"/>
                </a:solidFill>
              </a:rPr>
              <a:t> numérique. </a:t>
            </a:r>
            <a:r>
              <a:rPr lang="fr-FR" sz="3200" b="1" dirty="0">
                <a:solidFill>
                  <a:srgbClr val="FF0000"/>
                </a:solidFill>
              </a:rPr>
              <a:t>Sans</a:t>
            </a:r>
            <a:r>
              <a:rPr lang="fr-FR" sz="3200" b="1" dirty="0">
                <a:solidFill>
                  <a:schemeClr val="tx1"/>
                </a:solidFill>
              </a:rPr>
              <a:t> eux, les données </a:t>
            </a:r>
            <a:r>
              <a:rPr lang="fr-FR" sz="3200" b="1" dirty="0">
                <a:solidFill>
                  <a:srgbClr val="FF0000"/>
                </a:solidFill>
              </a:rPr>
              <a:t>ne </a:t>
            </a:r>
            <a:r>
              <a:rPr lang="fr-FR" sz="3200" b="1" dirty="0">
                <a:solidFill>
                  <a:schemeClr val="tx1"/>
                </a:solidFill>
              </a:rPr>
              <a:t>peuvent être </a:t>
            </a:r>
            <a:r>
              <a:rPr lang="fr-FR" sz="3200" b="1" dirty="0">
                <a:solidFill>
                  <a:srgbClr val="FF0000"/>
                </a:solidFill>
              </a:rPr>
              <a:t>transmises</a:t>
            </a:r>
            <a:r>
              <a:rPr lang="fr-FR" sz="3200" b="1" dirty="0">
                <a:solidFill>
                  <a:schemeClr val="tx1"/>
                </a:solidFill>
              </a:rPr>
              <a:t>. En </a:t>
            </a:r>
            <a:r>
              <a:rPr lang="fr-FR" sz="3200" b="1" dirty="0">
                <a:solidFill>
                  <a:srgbClr val="FF0000"/>
                </a:solidFill>
              </a:rPr>
              <a:t>plus </a:t>
            </a:r>
            <a:r>
              <a:rPr lang="fr-FR" sz="3200" b="1" dirty="0">
                <a:solidFill>
                  <a:schemeClr val="tx1"/>
                </a:solidFill>
              </a:rPr>
              <a:t>de cela, </a:t>
            </a:r>
            <a:r>
              <a:rPr lang="fr-FR" sz="3200" b="1" dirty="0">
                <a:solidFill>
                  <a:srgbClr val="FF0000"/>
                </a:solidFill>
              </a:rPr>
              <a:t>Internet </a:t>
            </a:r>
            <a:r>
              <a:rPr lang="fr-FR" sz="3200" b="1" dirty="0">
                <a:solidFill>
                  <a:schemeClr val="tx1"/>
                </a:solidFill>
              </a:rPr>
              <a:t>n’existerait </a:t>
            </a:r>
            <a:r>
              <a:rPr lang="fr-FR" sz="3200" b="1" dirty="0">
                <a:solidFill>
                  <a:srgbClr val="FF0000"/>
                </a:solidFill>
              </a:rPr>
              <a:t>pas</a:t>
            </a:r>
            <a:r>
              <a:rPr lang="fr-FR" sz="3200" b="1" dirty="0">
                <a:solidFill>
                  <a:schemeClr val="tx1"/>
                </a:solidFill>
              </a:rPr>
              <a:t>. Ainsi les réseaux informatiques sont la </a:t>
            </a:r>
            <a:r>
              <a:rPr lang="fr-FR" sz="3200" b="1" dirty="0">
                <a:solidFill>
                  <a:srgbClr val="FF0000"/>
                </a:solidFill>
              </a:rPr>
              <a:t>pierre angulaire</a:t>
            </a:r>
            <a:r>
              <a:rPr lang="fr-FR" sz="3200" b="1" dirty="0">
                <a:solidFill>
                  <a:schemeClr val="tx1"/>
                </a:solidFill>
              </a:rPr>
              <a:t> d’un système d’information.</a:t>
            </a:r>
            <a:endParaRPr lang="fr-FR" sz="3200" dirty="0">
              <a:solidFill>
                <a:schemeClr val="tx1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389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INTRODUCTION DU </a:t>
            </a:r>
            <a:r>
              <a:rPr lang="fr-FR" b="1" dirty="0">
                <a:solidFill>
                  <a:srgbClr val="FF0000"/>
                </a:solidFill>
              </a:rPr>
              <a:t>COURS </a:t>
            </a:r>
            <a:r>
              <a:rPr lang="fr-FR" b="1" dirty="0">
                <a:solidFill>
                  <a:schemeClr val="tx1"/>
                </a:solidFill>
              </a:rPr>
              <a:t>(Suite)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Il </a:t>
            </a:r>
            <a:r>
              <a:rPr lang="fr-FR" sz="3200" b="1" dirty="0">
                <a:solidFill>
                  <a:srgbClr val="FF0000"/>
                </a:solidFill>
              </a:rPr>
              <a:t>devient </a:t>
            </a:r>
            <a:r>
              <a:rPr lang="fr-FR" sz="3200" b="1" dirty="0">
                <a:solidFill>
                  <a:schemeClr val="tx1"/>
                </a:solidFill>
              </a:rPr>
              <a:t>alors plus qu’</a:t>
            </a:r>
            <a:r>
              <a:rPr lang="fr-FR" sz="3200" b="1" dirty="0">
                <a:solidFill>
                  <a:srgbClr val="FF0000"/>
                </a:solidFill>
              </a:rPr>
              <a:t>indispensable </a:t>
            </a:r>
            <a:r>
              <a:rPr lang="fr-FR" sz="3200" b="1" dirty="0">
                <a:solidFill>
                  <a:schemeClr val="tx1"/>
                </a:solidFill>
              </a:rPr>
              <a:t>d’avoir de bonnes </a:t>
            </a:r>
            <a:r>
              <a:rPr lang="fr-FR" sz="3200" b="1" dirty="0">
                <a:solidFill>
                  <a:srgbClr val="FF0000"/>
                </a:solidFill>
              </a:rPr>
              <a:t>connaissances théoriques</a:t>
            </a:r>
            <a:r>
              <a:rPr lang="fr-FR" sz="3200" b="1" dirty="0">
                <a:solidFill>
                  <a:schemeClr val="tx1"/>
                </a:solidFill>
              </a:rPr>
              <a:t> comme pratiques des </a:t>
            </a:r>
            <a:r>
              <a:rPr lang="fr-FR" sz="3200" b="1" dirty="0">
                <a:solidFill>
                  <a:srgbClr val="FF0000"/>
                </a:solidFill>
              </a:rPr>
              <a:t>réseaux</a:t>
            </a:r>
            <a:r>
              <a:rPr lang="fr-FR" sz="3200" b="1" dirty="0">
                <a:solidFill>
                  <a:schemeClr val="tx1"/>
                </a:solidFill>
              </a:rPr>
              <a:t> informatiques. D’</a:t>
            </a:r>
            <a:r>
              <a:rPr lang="fr-FR" sz="3200" b="1" dirty="0">
                <a:solidFill>
                  <a:srgbClr val="FF0000"/>
                </a:solidFill>
              </a:rPr>
              <a:t>où</a:t>
            </a:r>
            <a:r>
              <a:rPr lang="fr-FR" sz="3200" b="1" dirty="0">
                <a:solidFill>
                  <a:schemeClr val="tx1"/>
                </a:solidFill>
              </a:rPr>
              <a:t> la raison d’être de ce cours </a:t>
            </a:r>
            <a:r>
              <a:rPr lang="fr-FR" sz="3200" b="1" dirty="0">
                <a:solidFill>
                  <a:srgbClr val="FF0000"/>
                </a:solidFill>
              </a:rPr>
              <a:t>destiné</a:t>
            </a:r>
            <a:r>
              <a:rPr lang="fr-FR" sz="3200" b="1" dirty="0">
                <a:solidFill>
                  <a:schemeClr val="tx1"/>
                </a:solidFill>
              </a:rPr>
              <a:t> aux </a:t>
            </a:r>
            <a:r>
              <a:rPr lang="fr-FR" sz="3200" b="1" dirty="0">
                <a:solidFill>
                  <a:srgbClr val="FF0000"/>
                </a:solidFill>
              </a:rPr>
              <a:t>étudiants </a:t>
            </a:r>
            <a:r>
              <a:rPr lang="fr-FR" sz="3200" b="1" dirty="0">
                <a:solidFill>
                  <a:schemeClr val="tx1"/>
                </a:solidFill>
              </a:rPr>
              <a:t>du collège de Paris de Lomé.</a:t>
            </a:r>
            <a:endParaRPr lang="fr-FR" sz="3200" dirty="0">
              <a:solidFill>
                <a:schemeClr val="tx1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899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OBJECTIF DU </a:t>
            </a:r>
            <a:r>
              <a:rPr lang="fr-FR" b="1" dirty="0">
                <a:solidFill>
                  <a:srgbClr val="FF0000"/>
                </a:solidFill>
              </a:rPr>
              <a:t>COURS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L’</a:t>
            </a:r>
            <a:r>
              <a:rPr lang="fr-FR" sz="3200" b="1" dirty="0">
                <a:solidFill>
                  <a:srgbClr val="FF0000"/>
                </a:solidFill>
              </a:rPr>
              <a:t>objectif </a:t>
            </a:r>
            <a:r>
              <a:rPr lang="fr-FR" sz="3200" b="1" dirty="0">
                <a:solidFill>
                  <a:schemeClr val="tx1"/>
                </a:solidFill>
              </a:rPr>
              <a:t>de ce </a:t>
            </a:r>
            <a:r>
              <a:rPr lang="fr-FR" sz="3200" b="1" dirty="0">
                <a:solidFill>
                  <a:srgbClr val="FF0000"/>
                </a:solidFill>
              </a:rPr>
              <a:t>programme</a:t>
            </a:r>
            <a:r>
              <a:rPr lang="fr-FR" sz="3200" b="1" dirty="0">
                <a:solidFill>
                  <a:schemeClr val="tx1"/>
                </a:solidFill>
              </a:rPr>
              <a:t> est de </a:t>
            </a:r>
            <a:r>
              <a:rPr lang="fr-FR" sz="3200" b="1" dirty="0">
                <a:solidFill>
                  <a:srgbClr val="FF0000"/>
                </a:solidFill>
              </a:rPr>
              <a:t>permettre</a:t>
            </a:r>
            <a:r>
              <a:rPr lang="fr-FR" sz="3200" b="1" dirty="0">
                <a:solidFill>
                  <a:schemeClr val="tx1"/>
                </a:solidFill>
              </a:rPr>
              <a:t> à tout étudiant de </a:t>
            </a:r>
            <a:r>
              <a:rPr lang="fr-FR" sz="3200" b="1" dirty="0">
                <a:solidFill>
                  <a:srgbClr val="FF0000"/>
                </a:solidFill>
              </a:rPr>
              <a:t>maîtriser</a:t>
            </a:r>
            <a:r>
              <a:rPr lang="fr-FR" sz="3200" b="1" dirty="0">
                <a:solidFill>
                  <a:schemeClr val="tx1"/>
                </a:solidFill>
              </a:rPr>
              <a:t> la </a:t>
            </a:r>
            <a:r>
              <a:rPr lang="fr-FR" sz="3200" b="1" dirty="0">
                <a:solidFill>
                  <a:srgbClr val="FF0000"/>
                </a:solidFill>
              </a:rPr>
              <a:t>conception</a:t>
            </a:r>
            <a:r>
              <a:rPr lang="fr-FR" sz="3200" b="1" dirty="0">
                <a:solidFill>
                  <a:schemeClr val="tx1"/>
                </a:solidFill>
              </a:rPr>
              <a:t>, déploiement et l’</a:t>
            </a:r>
            <a:r>
              <a:rPr lang="fr-FR" sz="3200" b="1" dirty="0">
                <a:solidFill>
                  <a:srgbClr val="FF0000"/>
                </a:solidFill>
              </a:rPr>
              <a:t>administration</a:t>
            </a:r>
            <a:r>
              <a:rPr lang="fr-FR" sz="3200" b="1" dirty="0">
                <a:solidFill>
                  <a:schemeClr val="tx1"/>
                </a:solidFill>
              </a:rPr>
              <a:t> des réseaux informatiques et surtout de préférence </a:t>
            </a:r>
            <a:r>
              <a:rPr lang="fr-FR" sz="3200" b="1" dirty="0">
                <a:solidFill>
                  <a:srgbClr val="FF0000"/>
                </a:solidFill>
              </a:rPr>
              <a:t>avec</a:t>
            </a:r>
            <a:r>
              <a:rPr lang="fr-FR" sz="3200" b="1" dirty="0">
                <a:solidFill>
                  <a:schemeClr val="tx1"/>
                </a:solidFill>
              </a:rPr>
              <a:t> les </a:t>
            </a:r>
            <a:r>
              <a:rPr lang="fr-FR" sz="3200" b="1" dirty="0">
                <a:solidFill>
                  <a:srgbClr val="FF0000"/>
                </a:solidFill>
              </a:rPr>
              <a:t>équipements</a:t>
            </a:r>
            <a:r>
              <a:rPr lang="fr-FR" sz="3200" b="1" dirty="0">
                <a:solidFill>
                  <a:schemeClr val="tx1"/>
                </a:solidFill>
              </a:rPr>
              <a:t> de marque </a:t>
            </a:r>
            <a:r>
              <a:rPr lang="fr-FR" sz="3200" b="1" dirty="0">
                <a:solidFill>
                  <a:srgbClr val="FF0000"/>
                </a:solidFill>
              </a:rPr>
              <a:t>CISCO</a:t>
            </a:r>
            <a:r>
              <a:rPr lang="fr-FR" sz="3200" b="1" dirty="0">
                <a:solidFill>
                  <a:schemeClr val="tx1"/>
                </a:solidFill>
              </a:rPr>
              <a:t>. </a:t>
            </a:r>
            <a:endParaRPr lang="fr-FR" sz="3200" dirty="0">
              <a:solidFill>
                <a:schemeClr val="tx1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724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PROGRAMME </a:t>
            </a:r>
            <a:r>
              <a:rPr lang="fr-FR" b="1" dirty="0">
                <a:solidFill>
                  <a:srgbClr val="FF0000"/>
                </a:solidFill>
              </a:rPr>
              <a:t>CCNA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Ce </a:t>
            </a:r>
            <a:r>
              <a:rPr lang="fr-FR" sz="3200" b="1" dirty="0">
                <a:solidFill>
                  <a:srgbClr val="FF0000"/>
                </a:solidFill>
              </a:rPr>
              <a:t>programme</a:t>
            </a:r>
            <a:r>
              <a:rPr lang="fr-FR" sz="3200" b="1" dirty="0">
                <a:solidFill>
                  <a:schemeClr val="tx1"/>
                </a:solidFill>
              </a:rPr>
              <a:t> est subdivisé en deux grandes </a:t>
            </a:r>
            <a:r>
              <a:rPr lang="fr-FR" sz="3200" b="1" dirty="0">
                <a:solidFill>
                  <a:srgbClr val="FF0000"/>
                </a:solidFill>
              </a:rPr>
              <a:t>parties</a:t>
            </a:r>
            <a:r>
              <a:rPr lang="fr-FR" sz="3200" b="1" dirty="0">
                <a:solidFill>
                  <a:schemeClr val="tx1"/>
                </a:solidFill>
              </a:rPr>
              <a:t> ; respectivement </a:t>
            </a:r>
            <a:r>
              <a:rPr lang="fr-FR" sz="3200" b="1" dirty="0">
                <a:solidFill>
                  <a:srgbClr val="FF0000"/>
                </a:solidFill>
              </a:rPr>
              <a:t>CCNA1</a:t>
            </a:r>
            <a:r>
              <a:rPr lang="fr-FR" sz="3200" b="1" dirty="0">
                <a:solidFill>
                  <a:schemeClr val="tx1"/>
                </a:solidFill>
              </a:rPr>
              <a:t> et </a:t>
            </a:r>
            <a:r>
              <a:rPr lang="fr-FR" sz="3200" b="1" dirty="0">
                <a:solidFill>
                  <a:srgbClr val="FF0000"/>
                </a:solidFill>
              </a:rPr>
              <a:t>CCNA2</a:t>
            </a:r>
            <a:r>
              <a:rPr lang="fr-FR" sz="3200" b="1" dirty="0">
                <a:solidFill>
                  <a:schemeClr val="tx1"/>
                </a:solidFill>
              </a:rPr>
              <a:t>. Dans ce </a:t>
            </a:r>
            <a:r>
              <a:rPr lang="fr-FR" sz="3200" b="1" dirty="0">
                <a:solidFill>
                  <a:srgbClr val="FF0000"/>
                </a:solidFill>
              </a:rPr>
              <a:t>document</a:t>
            </a:r>
            <a:r>
              <a:rPr lang="fr-FR" sz="3200" b="1" dirty="0">
                <a:solidFill>
                  <a:schemeClr val="tx1"/>
                </a:solidFill>
              </a:rPr>
              <a:t>, nous allons essentiellement </a:t>
            </a:r>
            <a:r>
              <a:rPr lang="fr-FR" sz="3200" b="1" dirty="0">
                <a:solidFill>
                  <a:srgbClr val="FF0000"/>
                </a:solidFill>
              </a:rPr>
              <a:t>aborder</a:t>
            </a:r>
            <a:r>
              <a:rPr lang="fr-FR" sz="3200" b="1" dirty="0">
                <a:solidFill>
                  <a:schemeClr val="tx1"/>
                </a:solidFill>
              </a:rPr>
              <a:t> </a:t>
            </a:r>
            <a:r>
              <a:rPr lang="fr-FR" sz="3200" b="1" dirty="0">
                <a:solidFill>
                  <a:srgbClr val="FF0000"/>
                </a:solidFill>
              </a:rPr>
              <a:t>CCNA1</a:t>
            </a:r>
            <a:r>
              <a:rPr lang="fr-FR" sz="3200" b="1" dirty="0">
                <a:solidFill>
                  <a:schemeClr val="tx1"/>
                </a:solidFill>
              </a:rPr>
              <a:t> qui est subdivisé en six (</a:t>
            </a:r>
            <a:r>
              <a:rPr lang="fr-FR" sz="3200" b="1" dirty="0">
                <a:solidFill>
                  <a:srgbClr val="FF0000"/>
                </a:solidFill>
              </a:rPr>
              <a:t>06</a:t>
            </a:r>
            <a:r>
              <a:rPr lang="fr-FR" sz="3200" b="1" dirty="0">
                <a:solidFill>
                  <a:schemeClr val="tx1"/>
                </a:solidFill>
              </a:rPr>
              <a:t>) chapitres.</a:t>
            </a:r>
            <a:endParaRPr lang="fr-FR" sz="3200" dirty="0">
              <a:solidFill>
                <a:schemeClr val="tx1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124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PLAN DE PRESENTATION</a:t>
            </a:r>
            <a:br>
              <a:rPr lang="fr-FR" b="1" dirty="0">
                <a:solidFill>
                  <a:schemeClr val="tx1"/>
                </a:solidFill>
              </a:rPr>
            </a:br>
            <a:r>
              <a:rPr lang="fr-FR" b="1" dirty="0">
                <a:solidFill>
                  <a:schemeClr val="tx1"/>
                </a:solidFill>
              </a:rPr>
              <a:t>DU COURS: </a:t>
            </a:r>
            <a:r>
              <a:rPr lang="fr-FR" b="1" dirty="0">
                <a:solidFill>
                  <a:srgbClr val="FF0000"/>
                </a:solidFill>
              </a:rPr>
              <a:t>CCNA1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2076994"/>
            <a:ext cx="8915400" cy="4058814"/>
          </a:xfrm>
        </p:spPr>
        <p:txBody>
          <a:bodyPr>
            <a:normAutofit fontScale="92500" lnSpcReduction="10000"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CHAPITRE I :</a:t>
            </a:r>
            <a:r>
              <a:rPr lang="fr-FR" sz="2400" b="1" dirty="0">
                <a:solidFill>
                  <a:schemeClr val="tx1"/>
                </a:solidFill>
              </a:rPr>
              <a:t> GENERALITES SUR LES RESEAUX INFORMATIQUES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CHAPITRE II : </a:t>
            </a:r>
            <a:r>
              <a:rPr lang="fr-FR" sz="2400" b="1" dirty="0">
                <a:solidFill>
                  <a:schemeClr val="tx1"/>
                </a:solidFill>
              </a:rPr>
              <a:t>INTRODUCTION AUX MODELES TCP/IP ET OSI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CHAPITRE III : </a:t>
            </a:r>
            <a:r>
              <a:rPr lang="fr-FR" sz="2400" b="1" dirty="0">
                <a:solidFill>
                  <a:schemeClr val="tx1"/>
                </a:solidFill>
              </a:rPr>
              <a:t>PRINCIPES DE BASE DES RESEAUX LOCAUX</a:t>
            </a:r>
          </a:p>
          <a:p>
            <a:pPr marL="0" indent="0">
              <a:buNone/>
            </a:pPr>
            <a:r>
              <a:rPr lang="fr-FR" sz="2400" b="1" dirty="0">
                <a:solidFill>
                  <a:schemeClr val="tx1"/>
                </a:solidFill>
              </a:rPr>
              <a:t>                           ETHERNET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CHAPITRE IV : </a:t>
            </a:r>
            <a:r>
              <a:rPr lang="fr-FR" sz="2400" b="1" dirty="0">
                <a:solidFill>
                  <a:schemeClr val="tx1"/>
                </a:solidFill>
              </a:rPr>
              <a:t>FONDAMENTAUX DES WAN ET DU ROUTAGE IP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CHAPITRE V :</a:t>
            </a:r>
            <a:r>
              <a:rPr lang="fr-FR" sz="2400" b="1" dirty="0">
                <a:solidFill>
                  <a:schemeClr val="tx1"/>
                </a:solidFill>
              </a:rPr>
              <a:t> UTILISATION DE L'INTERFACE DE LIGNE DE </a:t>
            </a:r>
          </a:p>
          <a:p>
            <a:pPr marL="0" indent="0">
              <a:buNone/>
            </a:pPr>
            <a:r>
              <a:rPr lang="fr-FR" sz="2400" b="1" dirty="0">
                <a:solidFill>
                  <a:schemeClr val="tx1"/>
                </a:solidFill>
              </a:rPr>
              <a:t>                           COMMANDE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CHAPITRE VI : </a:t>
            </a:r>
            <a:r>
              <a:rPr lang="fr-FR" sz="2400" b="1" dirty="0">
                <a:solidFill>
                  <a:schemeClr val="tx1"/>
                </a:solidFill>
              </a:rPr>
              <a:t>CONFIGURATION DE LA GESTION DE BASE D’UN</a:t>
            </a:r>
          </a:p>
          <a:p>
            <a:pPr marL="0" indent="0">
              <a:buNone/>
            </a:pPr>
            <a:r>
              <a:rPr lang="fr-FR" sz="2400" b="1" dirty="0">
                <a:solidFill>
                  <a:schemeClr val="tx1"/>
                </a:solidFill>
              </a:rPr>
              <a:t>                            COMMUTATEUR CISCO</a:t>
            </a:r>
          </a:p>
          <a:p>
            <a:pPr marL="0" indent="0">
              <a:buNone/>
            </a:pPr>
            <a:endParaRPr lang="fr-FR" b="1" dirty="0">
              <a:solidFill>
                <a:schemeClr val="tx1"/>
              </a:solidFill>
            </a:endParaRPr>
          </a:p>
          <a:p>
            <a:endParaRPr lang="fr-FR" b="1" dirty="0">
              <a:solidFill>
                <a:schemeClr val="tx1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40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OBJECTIF DE CE </a:t>
            </a:r>
            <a:r>
              <a:rPr lang="fr-FR" b="1" dirty="0">
                <a:solidFill>
                  <a:srgbClr val="FF0000"/>
                </a:solidFill>
              </a:rPr>
              <a:t>CHAPITRE 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L’</a:t>
            </a:r>
            <a:r>
              <a:rPr lang="fr-FR" sz="3200" b="1" dirty="0">
                <a:solidFill>
                  <a:srgbClr val="FF0000"/>
                </a:solidFill>
              </a:rPr>
              <a:t>objectif</a:t>
            </a:r>
            <a:r>
              <a:rPr lang="fr-FR" sz="3200" b="1" dirty="0">
                <a:solidFill>
                  <a:schemeClr val="tx1"/>
                </a:solidFill>
              </a:rPr>
              <a:t> de ce </a:t>
            </a:r>
            <a:r>
              <a:rPr lang="fr-FR" sz="3200" b="1" dirty="0">
                <a:solidFill>
                  <a:srgbClr val="FF0000"/>
                </a:solidFill>
              </a:rPr>
              <a:t>chapitre</a:t>
            </a:r>
            <a:r>
              <a:rPr lang="fr-FR" sz="3200" b="1" dirty="0">
                <a:solidFill>
                  <a:schemeClr val="tx1"/>
                </a:solidFill>
              </a:rPr>
              <a:t> est non seulement de </a:t>
            </a:r>
            <a:r>
              <a:rPr lang="fr-FR" sz="3200" b="1" dirty="0">
                <a:solidFill>
                  <a:srgbClr val="FF0000"/>
                </a:solidFill>
              </a:rPr>
              <a:t>comprendre</a:t>
            </a:r>
            <a:r>
              <a:rPr lang="fr-FR" sz="3200" b="1" dirty="0">
                <a:solidFill>
                  <a:schemeClr val="tx1"/>
                </a:solidFill>
              </a:rPr>
              <a:t> ce qu’est un réseau </a:t>
            </a:r>
            <a:r>
              <a:rPr lang="fr-FR" sz="3200" b="1" dirty="0">
                <a:solidFill>
                  <a:srgbClr val="FF0000"/>
                </a:solidFill>
              </a:rPr>
              <a:t>informatique </a:t>
            </a:r>
            <a:r>
              <a:rPr lang="fr-FR" sz="3200" b="1" dirty="0">
                <a:solidFill>
                  <a:schemeClr val="tx1"/>
                </a:solidFill>
              </a:rPr>
              <a:t>mais aussi de </a:t>
            </a:r>
            <a:r>
              <a:rPr lang="fr-FR" sz="3200" b="1" dirty="0">
                <a:solidFill>
                  <a:srgbClr val="FF0000"/>
                </a:solidFill>
              </a:rPr>
              <a:t>connaître</a:t>
            </a:r>
            <a:r>
              <a:rPr lang="fr-FR" sz="3200" b="1" dirty="0">
                <a:solidFill>
                  <a:schemeClr val="tx1"/>
                </a:solidFill>
              </a:rPr>
              <a:t> toutes </a:t>
            </a:r>
            <a:r>
              <a:rPr lang="fr-FR" sz="3200" b="1" dirty="0">
                <a:solidFill>
                  <a:srgbClr val="FF0000"/>
                </a:solidFill>
              </a:rPr>
              <a:t>ses </a:t>
            </a:r>
            <a:r>
              <a:rPr lang="fr-FR" sz="3200" b="1" dirty="0">
                <a:solidFill>
                  <a:schemeClr val="tx1"/>
                </a:solidFill>
              </a:rPr>
              <a:t>composantes.</a:t>
            </a:r>
            <a:endParaRPr lang="fr-FR" sz="3200" dirty="0">
              <a:solidFill>
                <a:schemeClr val="tx1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630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CHAPITRE I : Généralités sur les réseaux informatiques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230808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Dans ce </a:t>
            </a:r>
            <a:r>
              <a:rPr lang="fr-FR" sz="3200" b="1" dirty="0">
                <a:solidFill>
                  <a:srgbClr val="FF0000"/>
                </a:solidFill>
              </a:rPr>
              <a:t>1</a:t>
            </a:r>
            <a:r>
              <a:rPr lang="fr-FR" sz="3200" b="1" baseline="30000" dirty="0">
                <a:solidFill>
                  <a:srgbClr val="FF0000"/>
                </a:solidFill>
              </a:rPr>
              <a:t>er</a:t>
            </a:r>
            <a:r>
              <a:rPr lang="fr-FR" sz="3200" b="1" dirty="0">
                <a:solidFill>
                  <a:schemeClr val="tx1"/>
                </a:solidFill>
              </a:rPr>
              <a:t> </a:t>
            </a:r>
            <a:r>
              <a:rPr lang="fr-FR" sz="3200" b="1" dirty="0">
                <a:solidFill>
                  <a:srgbClr val="FF0000"/>
                </a:solidFill>
              </a:rPr>
              <a:t>Chapitre</a:t>
            </a:r>
            <a:r>
              <a:rPr lang="fr-FR" sz="3200" b="1" dirty="0">
                <a:solidFill>
                  <a:schemeClr val="tx1"/>
                </a:solidFill>
              </a:rPr>
              <a:t>, nous allons d’abord </a:t>
            </a:r>
            <a:r>
              <a:rPr lang="fr-FR" sz="3200" b="1" dirty="0">
                <a:solidFill>
                  <a:srgbClr val="FF0000"/>
                </a:solidFill>
              </a:rPr>
              <a:t>expliquer</a:t>
            </a:r>
            <a:r>
              <a:rPr lang="fr-FR" sz="3200" b="1" dirty="0">
                <a:solidFill>
                  <a:schemeClr val="tx1"/>
                </a:solidFill>
              </a:rPr>
              <a:t> les réseaux </a:t>
            </a:r>
            <a:r>
              <a:rPr lang="fr-FR" sz="3200" b="1" dirty="0">
                <a:solidFill>
                  <a:srgbClr val="FF0000"/>
                </a:solidFill>
              </a:rPr>
              <a:t>informatiques</a:t>
            </a:r>
            <a:r>
              <a:rPr lang="fr-FR" sz="3200" b="1" dirty="0">
                <a:solidFill>
                  <a:schemeClr val="tx1"/>
                </a:solidFill>
              </a:rPr>
              <a:t>. Par </a:t>
            </a:r>
            <a:r>
              <a:rPr lang="fr-FR" sz="3200" b="1" dirty="0">
                <a:solidFill>
                  <a:srgbClr val="FF0000"/>
                </a:solidFill>
              </a:rPr>
              <a:t>après</a:t>
            </a:r>
            <a:r>
              <a:rPr lang="fr-FR" sz="3200" b="1" dirty="0">
                <a:solidFill>
                  <a:schemeClr val="tx1"/>
                </a:solidFill>
              </a:rPr>
              <a:t>, nous allons voir </a:t>
            </a:r>
            <a:r>
              <a:rPr lang="fr-FR" sz="3200" b="1" dirty="0">
                <a:solidFill>
                  <a:srgbClr val="FF0000"/>
                </a:solidFill>
              </a:rPr>
              <a:t>toutes</a:t>
            </a:r>
            <a:r>
              <a:rPr lang="fr-FR" sz="3200" b="1" dirty="0">
                <a:solidFill>
                  <a:schemeClr val="tx1"/>
                </a:solidFill>
              </a:rPr>
              <a:t> les </a:t>
            </a:r>
            <a:r>
              <a:rPr lang="fr-FR" sz="3200" b="1" dirty="0">
                <a:solidFill>
                  <a:srgbClr val="FF0000"/>
                </a:solidFill>
              </a:rPr>
              <a:t>composantes </a:t>
            </a:r>
            <a:r>
              <a:rPr lang="fr-FR" sz="3200" b="1" dirty="0">
                <a:solidFill>
                  <a:schemeClr val="tx1"/>
                </a:solidFill>
              </a:rPr>
              <a:t>d’un </a:t>
            </a:r>
            <a:r>
              <a:rPr lang="fr-FR" sz="3200" b="1" dirty="0">
                <a:solidFill>
                  <a:srgbClr val="FF0000"/>
                </a:solidFill>
              </a:rPr>
              <a:t>réseau</a:t>
            </a:r>
            <a:r>
              <a:rPr lang="fr-FR" sz="3200" b="1" dirty="0">
                <a:solidFill>
                  <a:schemeClr val="tx1"/>
                </a:solidFill>
              </a:rPr>
              <a:t> informatique. 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Les réseaux informatiques ne pouvant exister </a:t>
            </a:r>
            <a:r>
              <a:rPr lang="fr-FR" sz="3200" b="1" dirty="0">
                <a:solidFill>
                  <a:srgbClr val="FF0000"/>
                </a:solidFill>
              </a:rPr>
              <a:t>sans</a:t>
            </a:r>
            <a:r>
              <a:rPr lang="fr-FR" sz="3200" b="1" dirty="0">
                <a:solidFill>
                  <a:schemeClr val="tx1"/>
                </a:solidFill>
              </a:rPr>
              <a:t> les </a:t>
            </a:r>
            <a:r>
              <a:rPr lang="fr-FR" sz="3200" b="1" dirty="0">
                <a:solidFill>
                  <a:srgbClr val="FF0000"/>
                </a:solidFill>
              </a:rPr>
              <a:t>câblages</a:t>
            </a:r>
            <a:r>
              <a:rPr lang="fr-FR" sz="3200" b="1" dirty="0">
                <a:solidFill>
                  <a:schemeClr val="tx1"/>
                </a:solidFill>
              </a:rPr>
              <a:t>, alors nous </a:t>
            </a:r>
            <a:r>
              <a:rPr lang="fr-FR" sz="3200" b="1" dirty="0">
                <a:solidFill>
                  <a:srgbClr val="FF0000"/>
                </a:solidFill>
              </a:rPr>
              <a:t>finirons </a:t>
            </a:r>
            <a:r>
              <a:rPr lang="fr-FR" sz="3200" b="1" dirty="0">
                <a:solidFill>
                  <a:schemeClr val="tx1"/>
                </a:solidFill>
              </a:rPr>
              <a:t>par les différents </a:t>
            </a:r>
            <a:r>
              <a:rPr lang="fr-FR" sz="3200" b="1" dirty="0">
                <a:solidFill>
                  <a:srgbClr val="FF0000"/>
                </a:solidFill>
              </a:rPr>
              <a:t>types</a:t>
            </a:r>
            <a:r>
              <a:rPr lang="fr-FR" sz="3200" b="1" dirty="0">
                <a:solidFill>
                  <a:schemeClr val="tx1"/>
                </a:solidFill>
              </a:rPr>
              <a:t> de </a:t>
            </a:r>
            <a:r>
              <a:rPr lang="fr-FR" sz="3200" b="1" dirty="0">
                <a:solidFill>
                  <a:srgbClr val="FF0000"/>
                </a:solidFill>
              </a:rPr>
              <a:t>câblage</a:t>
            </a:r>
            <a:r>
              <a:rPr lang="fr-FR" sz="3200" b="1" dirty="0">
                <a:solidFill>
                  <a:schemeClr val="tx1"/>
                </a:solidFill>
              </a:rPr>
              <a:t> réseau </a:t>
            </a:r>
            <a:r>
              <a:rPr lang="fr-FR" sz="3200" b="1" dirty="0">
                <a:solidFill>
                  <a:srgbClr val="FF0000"/>
                </a:solidFill>
              </a:rPr>
              <a:t>existants</a:t>
            </a:r>
            <a:r>
              <a:rPr lang="fr-FR" sz="3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400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Historique !!!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Télégraphe </a:t>
            </a:r>
            <a:r>
              <a:rPr lang="fr-FR" sz="3200" b="1" dirty="0">
                <a:solidFill>
                  <a:schemeClr val="tx1"/>
                </a:solidFill>
              </a:rPr>
              <a:t>de Claude Chappe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 descr="C:\Users\Victor\Pictures\Semaphore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0903" y="2220686"/>
            <a:ext cx="2690948" cy="44325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4900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Historique !!!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Télégraphe</a:t>
            </a:r>
            <a:r>
              <a:rPr lang="fr-FR" sz="3200" b="1" dirty="0">
                <a:solidFill>
                  <a:schemeClr val="tx1"/>
                </a:solidFill>
              </a:rPr>
              <a:t> de Morse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 descr="C:\Users\Victor\Pictures\morse-telegraphe-02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703" y="2216432"/>
            <a:ext cx="3241266" cy="30744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3366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Historique !!!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Téléphone </a:t>
            </a:r>
            <a:r>
              <a:rPr lang="fr-FR" sz="3200" b="1" dirty="0">
                <a:solidFill>
                  <a:schemeClr val="tx1"/>
                </a:solidFill>
              </a:rPr>
              <a:t>de Bell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 descr="C:\Users\Victor\Pictures\Téléphone de Bell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8299" y="2278515"/>
            <a:ext cx="3200671" cy="39394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055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Historique !!!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ARPANET (</a:t>
            </a:r>
            <a:r>
              <a:rPr lang="fr-FR" sz="3200" b="1" dirty="0">
                <a:solidFill>
                  <a:schemeClr val="tx1"/>
                </a:solidFill>
              </a:rPr>
              <a:t>Début de l’internet</a:t>
            </a:r>
            <a:r>
              <a:rPr lang="fr-FR" sz="3200" b="1" dirty="0">
                <a:solidFill>
                  <a:srgbClr val="FF0000"/>
                </a:solidFill>
              </a:rPr>
              <a:t>)</a:t>
            </a: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 descr="C:\Users\Victor\Pictures\ARPANET.PNG"/>
          <p:cNvPicPr/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446"/>
          <a:stretch/>
        </p:blipFill>
        <p:spPr bwMode="auto">
          <a:xfrm>
            <a:off x="3579222" y="2246812"/>
            <a:ext cx="5528355" cy="439646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50012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Qu'est-ce qu'un </a:t>
            </a:r>
            <a:r>
              <a:rPr lang="fr-FR" b="1" dirty="0">
                <a:solidFill>
                  <a:srgbClr val="FF0000"/>
                </a:solidFill>
              </a:rPr>
              <a:t>réseau informatique </a:t>
            </a:r>
            <a:r>
              <a:rPr lang="fr-FR" b="1" dirty="0"/>
              <a:t>?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Un </a:t>
            </a:r>
            <a:r>
              <a:rPr lang="fr-FR" sz="3200" b="1" dirty="0">
                <a:solidFill>
                  <a:srgbClr val="FF0000"/>
                </a:solidFill>
              </a:rPr>
              <a:t>réseau </a:t>
            </a:r>
            <a:r>
              <a:rPr lang="fr-FR" sz="3200" b="1" dirty="0">
                <a:solidFill>
                  <a:schemeClr val="tx1"/>
                </a:solidFill>
              </a:rPr>
              <a:t>est l’</a:t>
            </a:r>
            <a:r>
              <a:rPr lang="fr-FR" sz="3200" b="1" dirty="0">
                <a:solidFill>
                  <a:srgbClr val="FF0000"/>
                </a:solidFill>
              </a:rPr>
              <a:t>interconnexion </a:t>
            </a:r>
            <a:r>
              <a:rPr lang="fr-FR" sz="3200" b="1" dirty="0">
                <a:solidFill>
                  <a:schemeClr val="tx1"/>
                </a:solidFill>
              </a:rPr>
              <a:t>de </a:t>
            </a:r>
            <a:r>
              <a:rPr lang="fr-FR" sz="3200" b="1" dirty="0">
                <a:solidFill>
                  <a:srgbClr val="FF0000"/>
                </a:solidFill>
              </a:rPr>
              <a:t>matériels</a:t>
            </a:r>
            <a:r>
              <a:rPr lang="fr-FR" sz="3200" b="1" dirty="0">
                <a:solidFill>
                  <a:schemeClr val="tx1"/>
                </a:solidFill>
              </a:rPr>
              <a:t> informatiques dans l’optique de pouvoir s’échanger les informations.</a:t>
            </a:r>
          </a:p>
          <a:p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s://userscontent2.emaze.com/images/5a2b2c88-2896-4ad3-a2d4-0789065bac75/830281587f55bf34d1cc0e75d82f7e8c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897" y="3291839"/>
            <a:ext cx="7001692" cy="3396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3886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2925" y="351377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Différentes composantes d’un </a:t>
            </a:r>
            <a:r>
              <a:rPr lang="fr-FR" b="1" dirty="0">
                <a:solidFill>
                  <a:srgbClr val="FF0000"/>
                </a:solidFill>
              </a:rPr>
              <a:t>réseau informatique </a:t>
            </a:r>
            <a:r>
              <a:rPr lang="fr-FR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843000"/>
            <a:ext cx="8915400" cy="4585652"/>
          </a:xfrm>
        </p:spPr>
        <p:txBody>
          <a:bodyPr>
            <a:normAutofit fontScale="92500" lnSpcReduction="20000"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Périphérique terminal,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Routeur,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Commutateur de couche 2,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Commutateur de couche 3,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Ponts, Concentrateurs et Répéteurs,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Matériels sans fil,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Pare-feu,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IDS/IPS et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Supports de transmission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1506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240563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Périphérique terminal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/>
          <p:cNvPicPr/>
          <p:nvPr/>
        </p:nvPicPr>
        <p:blipFill>
          <a:blip r:embed="rId3"/>
          <a:stretch>
            <a:fillRect/>
          </a:stretch>
        </p:blipFill>
        <p:spPr>
          <a:xfrm>
            <a:off x="2589212" y="1608511"/>
            <a:ext cx="3971925" cy="1990725"/>
          </a:xfrm>
          <a:prstGeom prst="rect">
            <a:avLst/>
          </a:prstGeom>
        </p:spPr>
      </p:pic>
      <p:pic>
        <p:nvPicPr>
          <p:cNvPr id="2050" name="Picture 2" descr="https://jooinn.com/images/picture-with-smartphone-3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84" t="8063" r="31920"/>
          <a:stretch/>
        </p:blipFill>
        <p:spPr bwMode="auto">
          <a:xfrm>
            <a:off x="6561137" y="1584439"/>
            <a:ext cx="1456361" cy="2246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cdn.vox-cdn.com/thumbor/PUswy3EF3nojtrMhUWeYabQEi9A=/0x0:2039x1359/1200x800/filters:focal(0x0:2039x1359)/cdn.vox-cdn.com/uploads/chorus_image/image/52590407/jkastrenakes_161222_1339_A_0018__1_.0.0.jpe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498" y="1608511"/>
            <a:ext cx="3094098" cy="2062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www.designsupply.co.uk/wp-content/uploads/2021/09/61-tz7nALL._AC_SL1500_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827" y="3641612"/>
            <a:ext cx="2863294" cy="220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1822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2925" y="209870"/>
            <a:ext cx="8911687" cy="116167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Routeur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89212" y="1596126"/>
            <a:ext cx="2343150" cy="1362075"/>
          </a:xfrm>
          <a:prstGeom prst="rect">
            <a:avLst/>
          </a:prstGeom>
        </p:spPr>
      </p:pic>
      <p:pic>
        <p:nvPicPr>
          <p:cNvPr id="3074" name="Picture 2" descr="https://storage.googleapis.com/blogs-images/ciscoblogs/1/Cisco-4221-images-blog-post-11_8_16-v2.jpg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2" y="1596126"/>
            <a:ext cx="6832522" cy="379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0683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209870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Commutateur de couche 2 ou </a:t>
            </a:r>
            <a:r>
              <a:rPr lang="fr-FR" b="1" dirty="0">
                <a:solidFill>
                  <a:srgbClr val="FF0000"/>
                </a:solidFill>
              </a:rPr>
              <a:t>Switch de niveau 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89212" y="1596126"/>
            <a:ext cx="2038350" cy="971550"/>
          </a:xfrm>
          <a:prstGeom prst="rect">
            <a:avLst/>
          </a:prstGeom>
        </p:spPr>
      </p:pic>
      <p:pic>
        <p:nvPicPr>
          <p:cNvPr id="4098" name="Picture 2" descr="https://www.usedcisco.de/media/image/65/51/c2/ws-c2960s-48td-l-10105388-014m8zUlDHhWCYyh_600x600@2x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72" b="20594"/>
          <a:stretch/>
        </p:blipFill>
        <p:spPr bwMode="auto">
          <a:xfrm>
            <a:off x="4627562" y="1587175"/>
            <a:ext cx="6562725" cy="2881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855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Commutateur de couche 3 ou </a:t>
            </a:r>
            <a:r>
              <a:rPr lang="fr-FR" b="1" dirty="0">
                <a:solidFill>
                  <a:srgbClr val="FF0000"/>
                </a:solidFill>
              </a:rPr>
              <a:t>Switch de niveau 3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2115733"/>
            <a:ext cx="8915400" cy="4363443"/>
          </a:xfrm>
        </p:spPr>
        <p:txBody>
          <a:bodyPr>
            <a:normAutofit/>
          </a:bodyPr>
          <a:lstStyle/>
          <a:p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https://tease-shop.de/media/69/fc/dd/1680497679/00d866e7a3e24f9cab967308a6d29dae.jp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2" y="1980470"/>
            <a:ext cx="8915400" cy="1703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/>
          <p:cNvPicPr/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95850" y="3818989"/>
            <a:ext cx="1933303" cy="135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37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Points d’Accès </a:t>
            </a:r>
            <a:r>
              <a:rPr lang="fr-FR" b="1" dirty="0">
                <a:solidFill>
                  <a:srgbClr val="FF0000"/>
                </a:solidFill>
              </a:rPr>
              <a:t>Wi-Fi 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Espace réservé du contenu 6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46523" y="2021251"/>
            <a:ext cx="2809875" cy="1314450"/>
          </a:xfrm>
          <a:prstGeom prst="rect">
            <a:avLst/>
          </a:prstGeom>
        </p:spPr>
      </p:pic>
      <p:pic>
        <p:nvPicPr>
          <p:cNvPr id="6146" name="Picture 2" descr="https://kirov.sidex.ru/images_offers/57/57246/cisco_airoeap602iek9_1.jpg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0145" y="1596126"/>
            <a:ext cx="2888071" cy="288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i.pinimg.com/originals/55/c2/d2/55c2d287a6663869a7663c53389dbbb1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845" y="3699716"/>
            <a:ext cx="3072969" cy="2316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4963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2925" y="274320"/>
            <a:ext cx="8911687" cy="1136469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Contrôleur </a:t>
            </a:r>
            <a:r>
              <a:rPr lang="fr-FR" b="1" dirty="0">
                <a:solidFill>
                  <a:srgbClr val="FF0000"/>
                </a:solidFill>
              </a:rPr>
              <a:t>Wi-Fi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5"/>
            <a:ext cx="8915400" cy="488305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22849" y="1359625"/>
            <a:ext cx="3019425" cy="1866900"/>
          </a:xfrm>
          <a:prstGeom prst="rect">
            <a:avLst/>
          </a:prstGeom>
        </p:spPr>
      </p:pic>
      <p:pic>
        <p:nvPicPr>
          <p:cNvPr id="7170" name="Picture 2" descr="https://utmnetwork.ru/upload/iblock/8da/8dae66d30b1dfa95f96be3edd7f1e993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6912" y="3226525"/>
            <a:ext cx="762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501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15234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Pare-Feu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Espace réservé du contenu 6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23899" y="1097242"/>
            <a:ext cx="1943100" cy="1419225"/>
          </a:xfrm>
          <a:prstGeom prst="rect">
            <a:avLst/>
          </a:prstGeom>
        </p:spPr>
      </p:pic>
      <p:pic>
        <p:nvPicPr>
          <p:cNvPr id="8194" name="Picture 2" descr="https://pbs.twimg.com/media/D59of2_WAAAft4L.jpg:large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7783" y="2903570"/>
            <a:ext cx="6215332" cy="349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60884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2925" y="287384"/>
            <a:ext cx="8911687" cy="1214846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IDS/IPS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/>
          <p:cNvPicPr/>
          <p:nvPr/>
        </p:nvPicPr>
        <p:blipFill>
          <a:blip r:embed="rId3"/>
          <a:stretch>
            <a:fillRect/>
          </a:stretch>
        </p:blipFill>
        <p:spPr>
          <a:xfrm>
            <a:off x="5965916" y="1300162"/>
            <a:ext cx="1409700" cy="1514475"/>
          </a:xfrm>
          <a:prstGeom prst="rect">
            <a:avLst/>
          </a:prstGeom>
        </p:spPr>
      </p:pic>
      <p:pic>
        <p:nvPicPr>
          <p:cNvPr id="9218" name="Picture 2" descr="https://fiverr-res.cloudinary.com/images/t_main1,q_auto,f_auto,q_auto,f_auto/gigs/168115540/original/7619b568c26c9a373d50ba0ea7834098d0d4cac4/assist-to-config-cisco-paloalto-f5-sophos-firewall-utm-ftd.jpg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771" y="2952206"/>
            <a:ext cx="6039126" cy="340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s://static22.tgcnt.ru/posts/_0/27/27e719b29a3677c499ca2dc9e1df0b7f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675" y="936453"/>
            <a:ext cx="3207658" cy="1747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63137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Supports de transmission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5"/>
            <a:ext cx="8915400" cy="488305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sz="3200" b="1" dirty="0">
                <a:solidFill>
                  <a:schemeClr val="tx1"/>
                </a:solidFill>
              </a:rPr>
              <a:t>Câbles à paires torsadées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3200" b="1" dirty="0">
                <a:solidFill>
                  <a:schemeClr val="tx1"/>
                </a:solidFill>
              </a:rPr>
              <a:t>Fibre Optique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3200" b="1" dirty="0">
                <a:solidFill>
                  <a:schemeClr val="tx1"/>
                </a:solidFill>
              </a:rPr>
              <a:t>Ondes Radio 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3200" b="1" dirty="0">
                <a:solidFill>
                  <a:schemeClr val="tx1"/>
                </a:solidFill>
              </a:rPr>
              <a:t>Infra-rouge (</a:t>
            </a:r>
            <a:r>
              <a:rPr lang="fr-FR" sz="3200" b="1" dirty="0">
                <a:solidFill>
                  <a:srgbClr val="FF0000"/>
                </a:solidFill>
              </a:rPr>
              <a:t>Optionnel</a:t>
            </a:r>
            <a:r>
              <a:rPr lang="fr-FR" sz="3200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8473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Câbles à paires torsadées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5"/>
            <a:ext cx="8915400" cy="4883051"/>
          </a:xfrm>
        </p:spPr>
        <p:txBody>
          <a:bodyPr>
            <a:normAutofit/>
          </a:bodyPr>
          <a:lstStyle/>
          <a:p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 descr="E:\Documents and Settings\Administrateur\Mes documents\Mes images\Nouvelle image (13).png"/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2585499" y="1610789"/>
            <a:ext cx="3886200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Image 7" descr="https://magazun.com/images/detailed/250/7422d000-9813-11e9-a20f-7085c2a4485b.jpg"/>
          <p:cNvPicPr/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1699" y="1610789"/>
            <a:ext cx="3357154" cy="31846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058452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Fibre Optique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5"/>
            <a:ext cx="8915400" cy="4883051"/>
          </a:xfrm>
        </p:spPr>
        <p:txBody>
          <a:bodyPr>
            <a:normAutofit/>
          </a:bodyPr>
          <a:lstStyle/>
          <a:p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https://www.navegalo.com/wp-content/uploads/2019/12/fiberoptic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5499" y="1596124"/>
            <a:ext cx="6336484" cy="4226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32922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Ondes Radio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 descr="https://i.pinimg.com/originals/fa/07/c8/fa07c81b86bf1f1dcbadfc0b28be10a5.jp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5499" y="1575658"/>
            <a:ext cx="4808078" cy="2822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https://www.dlf.pt/dfpng/middlepng/69-695897_onde-radio-png-transparent-png.png"/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577" y="1575658"/>
            <a:ext cx="4342520" cy="3095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9907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CHAPITRE II : Introduction aux Modèles </a:t>
            </a:r>
            <a:r>
              <a:rPr lang="fr-FR" b="1" dirty="0">
                <a:solidFill>
                  <a:srgbClr val="FF0000"/>
                </a:solidFill>
              </a:rPr>
              <a:t>TCP/IP</a:t>
            </a:r>
            <a:r>
              <a:rPr lang="fr-FR" b="1" dirty="0">
                <a:solidFill>
                  <a:schemeClr val="tx1"/>
                </a:solidFill>
              </a:rPr>
              <a:t> et </a:t>
            </a:r>
            <a:r>
              <a:rPr lang="fr-FR" b="1" dirty="0">
                <a:solidFill>
                  <a:srgbClr val="FF0000"/>
                </a:solidFill>
              </a:rPr>
              <a:t>OSI</a:t>
            </a:r>
            <a:r>
              <a:rPr lang="fr-FR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230808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En </a:t>
            </a:r>
            <a:r>
              <a:rPr lang="fr-FR" sz="3200" b="1" dirty="0">
                <a:solidFill>
                  <a:srgbClr val="FF0000"/>
                </a:solidFill>
              </a:rPr>
              <a:t>informatique</a:t>
            </a:r>
            <a:r>
              <a:rPr lang="fr-FR" sz="3200" b="1" dirty="0">
                <a:solidFill>
                  <a:schemeClr val="tx1"/>
                </a:solidFill>
              </a:rPr>
              <a:t>, tout est régi par les protocoles. </a:t>
            </a:r>
            <a:r>
              <a:rPr lang="fr-FR" sz="3200" b="1" dirty="0">
                <a:solidFill>
                  <a:srgbClr val="FF0000"/>
                </a:solidFill>
              </a:rPr>
              <a:t>Ces derniers </a:t>
            </a:r>
            <a:r>
              <a:rPr lang="fr-FR" sz="3200" b="1" dirty="0">
                <a:solidFill>
                  <a:schemeClr val="tx1"/>
                </a:solidFill>
              </a:rPr>
              <a:t>sont un ensemble de </a:t>
            </a:r>
            <a:r>
              <a:rPr lang="fr-FR" sz="3200" b="1" dirty="0">
                <a:solidFill>
                  <a:srgbClr val="FF0000"/>
                </a:solidFill>
              </a:rPr>
              <a:t>règles</a:t>
            </a:r>
            <a:r>
              <a:rPr lang="fr-FR" sz="3200" b="1" dirty="0">
                <a:solidFill>
                  <a:schemeClr val="tx1"/>
                </a:solidFill>
              </a:rPr>
              <a:t> définies et qui régissent le bon fonctionnement des systèmes informatiques. 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4297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CHAPITRE II : Introduction aux Modèles </a:t>
            </a:r>
            <a:r>
              <a:rPr lang="fr-FR" b="1" dirty="0">
                <a:solidFill>
                  <a:srgbClr val="FF0000"/>
                </a:solidFill>
              </a:rPr>
              <a:t>TCP/IP</a:t>
            </a:r>
            <a:r>
              <a:rPr lang="fr-FR" b="1" dirty="0">
                <a:solidFill>
                  <a:schemeClr val="tx1"/>
                </a:solidFill>
              </a:rPr>
              <a:t> et </a:t>
            </a:r>
            <a:r>
              <a:rPr lang="fr-FR" b="1" dirty="0">
                <a:solidFill>
                  <a:srgbClr val="FF0000"/>
                </a:solidFill>
              </a:rPr>
              <a:t>OSI</a:t>
            </a:r>
            <a:r>
              <a:rPr lang="fr-FR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230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chemeClr val="tx1"/>
                </a:solidFill>
              </a:rPr>
              <a:t>Pour qu’un </a:t>
            </a:r>
            <a:r>
              <a:rPr lang="fr-FR" sz="3200" b="1" dirty="0">
                <a:solidFill>
                  <a:srgbClr val="FF0000"/>
                </a:solidFill>
              </a:rPr>
              <a:t>réseau</a:t>
            </a:r>
            <a:r>
              <a:rPr lang="fr-FR" sz="3200" b="1" dirty="0">
                <a:solidFill>
                  <a:schemeClr val="tx1"/>
                </a:solidFill>
              </a:rPr>
              <a:t> informatique </a:t>
            </a:r>
            <a:r>
              <a:rPr lang="fr-FR" sz="3200" b="1" dirty="0">
                <a:solidFill>
                  <a:srgbClr val="FF0000"/>
                </a:solidFill>
              </a:rPr>
              <a:t>fonctionne</a:t>
            </a:r>
            <a:r>
              <a:rPr lang="fr-FR" sz="3200" b="1" dirty="0">
                <a:solidFill>
                  <a:schemeClr val="tx1"/>
                </a:solidFill>
              </a:rPr>
              <a:t> correctement, des </a:t>
            </a:r>
            <a:r>
              <a:rPr lang="fr-FR" sz="3200" b="1" dirty="0">
                <a:solidFill>
                  <a:srgbClr val="FF0000"/>
                </a:solidFill>
              </a:rPr>
              <a:t>protocoles</a:t>
            </a:r>
            <a:r>
              <a:rPr lang="fr-FR" sz="3200" b="1" dirty="0">
                <a:solidFill>
                  <a:schemeClr val="tx1"/>
                </a:solidFill>
              </a:rPr>
              <a:t> sont définis. Parmi ces protocoles, nous avons deux qui dominent :</a:t>
            </a:r>
          </a:p>
          <a:p>
            <a:r>
              <a:rPr lang="fr-FR" sz="3200" b="1" dirty="0">
                <a:solidFill>
                  <a:srgbClr val="FF0000"/>
                </a:solidFill>
              </a:rPr>
              <a:t>TCP/IP</a:t>
            </a:r>
            <a:r>
              <a:rPr lang="fr-FR" sz="3200" b="1" dirty="0">
                <a:solidFill>
                  <a:schemeClr val="tx1"/>
                </a:solidFill>
              </a:rPr>
              <a:t> et</a:t>
            </a:r>
          </a:p>
          <a:p>
            <a:r>
              <a:rPr lang="fr-FR" sz="3200" b="1" dirty="0">
                <a:solidFill>
                  <a:srgbClr val="FF0000"/>
                </a:solidFill>
              </a:rPr>
              <a:t>OSI</a:t>
            </a:r>
            <a:r>
              <a:rPr lang="fr-FR" sz="3200" b="1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5052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CHAPITRE II : Introduction aux Modèles </a:t>
            </a:r>
            <a:r>
              <a:rPr lang="fr-FR" b="1" dirty="0">
                <a:solidFill>
                  <a:srgbClr val="FF0000"/>
                </a:solidFill>
              </a:rPr>
              <a:t>TCP/IP</a:t>
            </a:r>
            <a:r>
              <a:rPr lang="fr-FR" b="1" dirty="0">
                <a:solidFill>
                  <a:schemeClr val="tx1"/>
                </a:solidFill>
              </a:rPr>
              <a:t> et </a:t>
            </a:r>
            <a:r>
              <a:rPr lang="fr-FR" b="1" dirty="0">
                <a:solidFill>
                  <a:srgbClr val="FF0000"/>
                </a:solidFill>
              </a:rPr>
              <a:t>OSI</a:t>
            </a:r>
            <a:r>
              <a:rPr lang="fr-FR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230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chemeClr val="tx1"/>
                </a:solidFill>
              </a:rPr>
              <a:t>Dans ce </a:t>
            </a:r>
            <a:r>
              <a:rPr lang="fr-FR" sz="3200" b="1" dirty="0">
                <a:solidFill>
                  <a:srgbClr val="FF0000"/>
                </a:solidFill>
              </a:rPr>
              <a:t>second </a:t>
            </a:r>
            <a:r>
              <a:rPr lang="fr-FR" sz="3200" b="1" dirty="0">
                <a:solidFill>
                  <a:schemeClr val="tx1"/>
                </a:solidFill>
              </a:rPr>
              <a:t>chapitre, nous allons </a:t>
            </a:r>
            <a:r>
              <a:rPr lang="fr-FR" sz="3200" b="1" dirty="0">
                <a:solidFill>
                  <a:srgbClr val="FF0000"/>
                </a:solidFill>
              </a:rPr>
              <a:t>définir</a:t>
            </a:r>
            <a:r>
              <a:rPr lang="fr-FR" sz="3200" b="1" dirty="0">
                <a:solidFill>
                  <a:schemeClr val="tx1"/>
                </a:solidFill>
              </a:rPr>
              <a:t> ce qu’est le </a:t>
            </a:r>
            <a:r>
              <a:rPr lang="fr-FR" sz="3200" b="1" dirty="0">
                <a:solidFill>
                  <a:srgbClr val="FF0000"/>
                </a:solidFill>
              </a:rPr>
              <a:t>modèle</a:t>
            </a:r>
            <a:r>
              <a:rPr lang="fr-FR" sz="3200" b="1" dirty="0">
                <a:solidFill>
                  <a:schemeClr val="tx1"/>
                </a:solidFill>
              </a:rPr>
              <a:t> TCP/IP, ensuite faire la comparaison avec le modèle </a:t>
            </a:r>
            <a:r>
              <a:rPr lang="fr-FR" sz="3200" b="1" dirty="0">
                <a:solidFill>
                  <a:srgbClr val="FF0000"/>
                </a:solidFill>
              </a:rPr>
              <a:t>OSI</a:t>
            </a:r>
            <a:r>
              <a:rPr lang="fr-FR" sz="3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8952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Historique !!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Aujourd'hui</a:t>
            </a:r>
            <a:r>
              <a:rPr lang="fr-FR" sz="3200" b="1" dirty="0">
                <a:solidFill>
                  <a:schemeClr val="tx1"/>
                </a:solidFill>
              </a:rPr>
              <a:t>, le monde des réseaux informatiques </a:t>
            </a:r>
            <a:r>
              <a:rPr lang="fr-FR" sz="3200" b="1" dirty="0">
                <a:solidFill>
                  <a:srgbClr val="FF0000"/>
                </a:solidFill>
              </a:rPr>
              <a:t>utilise</a:t>
            </a:r>
            <a:r>
              <a:rPr lang="fr-FR" sz="3200" b="1" dirty="0">
                <a:solidFill>
                  <a:schemeClr val="tx1"/>
                </a:solidFill>
              </a:rPr>
              <a:t> le modèle </a:t>
            </a:r>
            <a:r>
              <a:rPr lang="fr-FR" sz="3200" b="1" dirty="0">
                <a:solidFill>
                  <a:srgbClr val="FF0000"/>
                </a:solidFill>
              </a:rPr>
              <a:t>TCP/IP</a:t>
            </a:r>
            <a:r>
              <a:rPr lang="fr-FR" sz="3200" b="1" dirty="0">
                <a:solidFill>
                  <a:schemeClr val="tx1"/>
                </a:solidFill>
              </a:rPr>
              <a:t>. Entre </a:t>
            </a:r>
            <a:r>
              <a:rPr lang="fr-FR" sz="3200" b="1" dirty="0">
                <a:solidFill>
                  <a:srgbClr val="FF0000"/>
                </a:solidFill>
              </a:rPr>
              <a:t>temps</a:t>
            </a:r>
            <a:r>
              <a:rPr lang="fr-FR" sz="3200" b="1" dirty="0">
                <a:solidFill>
                  <a:schemeClr val="tx1"/>
                </a:solidFill>
              </a:rPr>
              <a:t>, les modèles réseau TCP/IP ou </a:t>
            </a:r>
            <a:r>
              <a:rPr lang="fr-FR" sz="3200" b="1" dirty="0">
                <a:solidFill>
                  <a:srgbClr val="FF0000"/>
                </a:solidFill>
              </a:rPr>
              <a:t>OSI</a:t>
            </a:r>
            <a:r>
              <a:rPr lang="fr-FR" sz="3200" b="1" dirty="0">
                <a:solidFill>
                  <a:schemeClr val="tx1"/>
                </a:solidFill>
              </a:rPr>
              <a:t> n'</a:t>
            </a:r>
            <a:r>
              <a:rPr lang="fr-FR" sz="3200" b="1" dirty="0">
                <a:solidFill>
                  <a:srgbClr val="FF0000"/>
                </a:solidFill>
              </a:rPr>
              <a:t>existaient</a:t>
            </a:r>
            <a:r>
              <a:rPr lang="fr-FR" sz="3200" b="1" dirty="0">
                <a:solidFill>
                  <a:schemeClr val="tx1"/>
                </a:solidFill>
              </a:rPr>
              <a:t> pas.</a:t>
            </a:r>
          </a:p>
          <a:p>
            <a:r>
              <a:rPr lang="fr-FR" sz="3200" b="1" dirty="0">
                <a:solidFill>
                  <a:srgbClr val="FF0000"/>
                </a:solidFill>
              </a:rPr>
              <a:t>Chaque</a:t>
            </a:r>
            <a:r>
              <a:rPr lang="fr-FR" sz="3200" b="1" dirty="0">
                <a:solidFill>
                  <a:schemeClr val="tx1"/>
                </a:solidFill>
              </a:rPr>
              <a:t> constructeur de </a:t>
            </a:r>
            <a:r>
              <a:rPr lang="fr-FR" sz="3200" b="1" dirty="0">
                <a:solidFill>
                  <a:srgbClr val="FF0000"/>
                </a:solidFill>
              </a:rPr>
              <a:t>matériels</a:t>
            </a:r>
            <a:r>
              <a:rPr lang="fr-FR" sz="3200" b="1" dirty="0">
                <a:solidFill>
                  <a:schemeClr val="tx1"/>
                </a:solidFill>
              </a:rPr>
              <a:t> informatiques avait son </a:t>
            </a:r>
            <a:r>
              <a:rPr lang="fr-FR" sz="3200" b="1" dirty="0">
                <a:solidFill>
                  <a:srgbClr val="FF0000"/>
                </a:solidFill>
              </a:rPr>
              <a:t>propre</a:t>
            </a:r>
            <a:r>
              <a:rPr lang="fr-FR" sz="3200" b="1" dirty="0">
                <a:solidFill>
                  <a:schemeClr val="tx1"/>
                </a:solidFill>
              </a:rPr>
              <a:t> modèle qui lui </a:t>
            </a:r>
            <a:r>
              <a:rPr lang="fr-FR" sz="3200" b="1" dirty="0">
                <a:solidFill>
                  <a:srgbClr val="FF0000"/>
                </a:solidFill>
              </a:rPr>
              <a:t>permettait</a:t>
            </a:r>
            <a:r>
              <a:rPr lang="fr-FR" sz="3200" b="1" dirty="0">
                <a:solidFill>
                  <a:schemeClr val="tx1"/>
                </a:solidFill>
              </a:rPr>
              <a:t> de fabriquer ses matériels </a:t>
            </a:r>
            <a:r>
              <a:rPr lang="fr-FR" sz="3200" b="1" dirty="0">
                <a:solidFill>
                  <a:srgbClr val="FF0000"/>
                </a:solidFill>
              </a:rPr>
              <a:t>informatiques</a:t>
            </a:r>
            <a:r>
              <a:rPr lang="fr-FR" sz="3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14847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Historique (Suite) !!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Cette </a:t>
            </a:r>
            <a:r>
              <a:rPr lang="fr-FR" sz="3200" b="1" dirty="0">
                <a:solidFill>
                  <a:srgbClr val="FF0000"/>
                </a:solidFill>
              </a:rPr>
              <a:t>façon</a:t>
            </a:r>
            <a:r>
              <a:rPr lang="fr-FR" sz="3200" b="1" dirty="0">
                <a:solidFill>
                  <a:schemeClr val="tx1"/>
                </a:solidFill>
              </a:rPr>
              <a:t> de faire avait des </a:t>
            </a:r>
            <a:r>
              <a:rPr lang="fr-FR" sz="3200" b="1" dirty="0">
                <a:solidFill>
                  <a:srgbClr val="FF0000"/>
                </a:solidFill>
              </a:rPr>
              <a:t>conséquences</a:t>
            </a:r>
            <a:r>
              <a:rPr lang="fr-FR" sz="3200" b="1" dirty="0">
                <a:solidFill>
                  <a:schemeClr val="tx1"/>
                </a:solidFill>
              </a:rPr>
              <a:t>.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Les </a:t>
            </a:r>
            <a:r>
              <a:rPr lang="fr-FR" sz="3200" b="1" dirty="0">
                <a:solidFill>
                  <a:srgbClr val="FF0000"/>
                </a:solidFill>
              </a:rPr>
              <a:t>matériels</a:t>
            </a:r>
            <a:r>
              <a:rPr lang="fr-FR" sz="3200" b="1" dirty="0">
                <a:solidFill>
                  <a:schemeClr val="tx1"/>
                </a:solidFill>
              </a:rPr>
              <a:t> informatiques de </a:t>
            </a:r>
            <a:r>
              <a:rPr lang="fr-FR" sz="3200" b="1" dirty="0">
                <a:solidFill>
                  <a:srgbClr val="FF0000"/>
                </a:solidFill>
              </a:rPr>
              <a:t>différents</a:t>
            </a:r>
            <a:r>
              <a:rPr lang="fr-FR" sz="3200" b="1" dirty="0">
                <a:solidFill>
                  <a:schemeClr val="tx1"/>
                </a:solidFill>
              </a:rPr>
              <a:t> constructeurs </a:t>
            </a:r>
            <a:r>
              <a:rPr lang="fr-FR" sz="3200" b="1" dirty="0">
                <a:solidFill>
                  <a:srgbClr val="FF0000"/>
                </a:solidFill>
              </a:rPr>
              <a:t>ne</a:t>
            </a:r>
            <a:r>
              <a:rPr lang="fr-FR" sz="3200" b="1" dirty="0">
                <a:solidFill>
                  <a:schemeClr val="tx1"/>
                </a:solidFill>
              </a:rPr>
              <a:t> pouvaient pas </a:t>
            </a:r>
            <a:r>
              <a:rPr lang="fr-FR" sz="3200" b="1" dirty="0">
                <a:solidFill>
                  <a:srgbClr val="FF0000"/>
                </a:solidFill>
              </a:rPr>
              <a:t>interagir</a:t>
            </a:r>
            <a:r>
              <a:rPr lang="fr-FR" sz="3200" b="1" dirty="0">
                <a:solidFill>
                  <a:schemeClr val="tx1"/>
                </a:solidFill>
              </a:rPr>
              <a:t>.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Cela coûtait très chers aux utilisateurs. Personne n’y gagnait en procédant ainsi.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25573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Historique (Suite) !!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Il </a:t>
            </a:r>
            <a:r>
              <a:rPr lang="fr-FR" sz="3200" b="1" dirty="0">
                <a:solidFill>
                  <a:srgbClr val="FF0000"/>
                </a:solidFill>
              </a:rPr>
              <a:t>fallait</a:t>
            </a:r>
            <a:r>
              <a:rPr lang="fr-FR" sz="3200" b="1" dirty="0">
                <a:solidFill>
                  <a:schemeClr val="tx1"/>
                </a:solidFill>
              </a:rPr>
              <a:t> trouver un </a:t>
            </a:r>
            <a:r>
              <a:rPr lang="fr-FR" sz="3200" b="1" dirty="0">
                <a:solidFill>
                  <a:srgbClr val="FF0000"/>
                </a:solidFill>
              </a:rPr>
              <a:t>modèle</a:t>
            </a:r>
            <a:r>
              <a:rPr lang="fr-FR" sz="3200" b="1" dirty="0">
                <a:solidFill>
                  <a:schemeClr val="tx1"/>
                </a:solidFill>
              </a:rPr>
              <a:t> universel qui </a:t>
            </a:r>
            <a:r>
              <a:rPr lang="fr-FR" sz="3200" b="1" dirty="0">
                <a:solidFill>
                  <a:srgbClr val="FF0000"/>
                </a:solidFill>
              </a:rPr>
              <a:t>permettrait</a:t>
            </a:r>
            <a:r>
              <a:rPr lang="fr-FR" sz="3200" b="1" dirty="0">
                <a:solidFill>
                  <a:schemeClr val="tx1"/>
                </a:solidFill>
              </a:rPr>
              <a:t> aux constructeurs de matériels informatiques de pouvoir </a:t>
            </a:r>
            <a:r>
              <a:rPr lang="fr-FR" sz="3200" b="1" dirty="0">
                <a:solidFill>
                  <a:srgbClr val="FF0000"/>
                </a:solidFill>
              </a:rPr>
              <a:t>fabriquer</a:t>
            </a:r>
            <a:r>
              <a:rPr lang="fr-FR" sz="3200" b="1" dirty="0">
                <a:solidFill>
                  <a:schemeClr val="tx1"/>
                </a:solidFill>
              </a:rPr>
              <a:t> leurs </a:t>
            </a:r>
            <a:r>
              <a:rPr lang="fr-FR" sz="3200" b="1" dirty="0">
                <a:solidFill>
                  <a:srgbClr val="FF0000"/>
                </a:solidFill>
              </a:rPr>
              <a:t>équipements</a:t>
            </a:r>
            <a:r>
              <a:rPr lang="fr-FR" sz="3200" b="1" dirty="0">
                <a:solidFill>
                  <a:schemeClr val="tx1"/>
                </a:solidFill>
              </a:rPr>
              <a:t> informatiques.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75345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Historique (Suite) !!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D’où la </a:t>
            </a:r>
            <a:r>
              <a:rPr lang="fr-FR" sz="3200" b="1" dirty="0">
                <a:solidFill>
                  <a:srgbClr val="FF0000"/>
                </a:solidFill>
              </a:rPr>
              <a:t>naissance</a:t>
            </a:r>
            <a:r>
              <a:rPr lang="fr-FR" sz="3200" b="1" dirty="0">
                <a:solidFill>
                  <a:schemeClr val="tx1"/>
                </a:solidFill>
              </a:rPr>
              <a:t> du modèle </a:t>
            </a:r>
            <a:r>
              <a:rPr lang="fr-FR" sz="3200" b="1" dirty="0">
                <a:solidFill>
                  <a:srgbClr val="FF0000"/>
                </a:solidFill>
              </a:rPr>
              <a:t>OSI</a:t>
            </a:r>
            <a:r>
              <a:rPr lang="fr-FR" sz="3200" b="1" dirty="0">
                <a:solidFill>
                  <a:schemeClr val="tx1"/>
                </a:solidFill>
              </a:rPr>
              <a:t>.</a:t>
            </a:r>
          </a:p>
          <a:p>
            <a:r>
              <a:rPr lang="fr-FR" sz="3200" b="1" dirty="0">
                <a:solidFill>
                  <a:srgbClr val="FF0000"/>
                </a:solidFill>
              </a:rPr>
              <a:t>OSI</a:t>
            </a:r>
            <a:r>
              <a:rPr lang="fr-FR" sz="3200" b="1" dirty="0">
                <a:solidFill>
                  <a:schemeClr val="tx1"/>
                </a:solidFill>
              </a:rPr>
              <a:t>=Open </a:t>
            </a:r>
            <a:r>
              <a:rPr lang="fr-FR" sz="3200" b="1" dirty="0" err="1">
                <a:solidFill>
                  <a:schemeClr val="tx1"/>
                </a:solidFill>
              </a:rPr>
              <a:t>Systems</a:t>
            </a:r>
            <a:r>
              <a:rPr lang="fr-FR" sz="3200" b="1" dirty="0">
                <a:solidFill>
                  <a:schemeClr val="tx1"/>
                </a:solidFill>
              </a:rPr>
              <a:t> </a:t>
            </a:r>
            <a:r>
              <a:rPr lang="fr-FR" sz="3200" b="1" dirty="0" err="1">
                <a:solidFill>
                  <a:schemeClr val="tx1"/>
                </a:solidFill>
              </a:rPr>
              <a:t>Interconnection</a:t>
            </a:r>
            <a:r>
              <a:rPr lang="fr-FR" sz="3200" b="1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fr-FR" sz="3200" b="1" dirty="0">
                <a:solidFill>
                  <a:schemeClr val="tx1"/>
                </a:solidFill>
              </a:rPr>
              <a:t>Ou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Interconnexion des systèmes ouverts en </a:t>
            </a:r>
            <a:r>
              <a:rPr lang="fr-FR" sz="3200" b="1" dirty="0">
                <a:solidFill>
                  <a:srgbClr val="FF0000"/>
                </a:solidFill>
              </a:rPr>
              <a:t>Français</a:t>
            </a:r>
            <a:r>
              <a:rPr lang="fr-FR" sz="3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43278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Historique (Suite) !!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Au </a:t>
            </a:r>
            <a:r>
              <a:rPr lang="fr-FR" sz="3200" b="1" dirty="0">
                <a:solidFill>
                  <a:srgbClr val="FF0000"/>
                </a:solidFill>
              </a:rPr>
              <a:t>même</a:t>
            </a:r>
            <a:r>
              <a:rPr lang="fr-FR" sz="3200" b="1" dirty="0">
                <a:solidFill>
                  <a:schemeClr val="tx1"/>
                </a:solidFill>
              </a:rPr>
              <a:t> moment, un second </a:t>
            </a:r>
            <a:r>
              <a:rPr lang="fr-FR" sz="3200" b="1" dirty="0">
                <a:solidFill>
                  <a:srgbClr val="FF0000"/>
                </a:solidFill>
              </a:rPr>
              <a:t>modèle</a:t>
            </a:r>
            <a:r>
              <a:rPr lang="fr-FR" sz="3200" b="1" dirty="0">
                <a:solidFill>
                  <a:schemeClr val="tx1"/>
                </a:solidFill>
              </a:rPr>
              <a:t> </a:t>
            </a:r>
            <a:r>
              <a:rPr lang="fr-FR" sz="3200" b="1" dirty="0">
                <a:solidFill>
                  <a:srgbClr val="FF0000"/>
                </a:solidFill>
              </a:rPr>
              <a:t>universel </a:t>
            </a:r>
            <a:r>
              <a:rPr lang="fr-FR" sz="3200" b="1" dirty="0">
                <a:solidFill>
                  <a:schemeClr val="tx1"/>
                </a:solidFill>
              </a:rPr>
              <a:t>avait été mis en place par le Département Américain de la Défense.</a:t>
            </a:r>
          </a:p>
          <a:p>
            <a:r>
              <a:rPr lang="fr-FR" sz="3200" b="1" dirty="0">
                <a:solidFill>
                  <a:srgbClr val="FF0000"/>
                </a:solidFill>
              </a:rPr>
              <a:t>Là</a:t>
            </a:r>
            <a:r>
              <a:rPr lang="fr-FR" sz="3200" b="1" dirty="0">
                <a:solidFill>
                  <a:schemeClr val="tx1"/>
                </a:solidFill>
              </a:rPr>
              <a:t> ce sont uniquement les </a:t>
            </a:r>
            <a:r>
              <a:rPr lang="fr-FR" sz="3200" b="1" dirty="0">
                <a:solidFill>
                  <a:srgbClr val="FF0000"/>
                </a:solidFill>
              </a:rPr>
              <a:t>chercheurs</a:t>
            </a:r>
            <a:r>
              <a:rPr lang="fr-FR" sz="3200" b="1" dirty="0">
                <a:solidFill>
                  <a:schemeClr val="tx1"/>
                </a:solidFill>
              </a:rPr>
              <a:t> américains qui ont </a:t>
            </a:r>
            <a:r>
              <a:rPr lang="fr-FR" sz="3200" b="1" dirty="0">
                <a:solidFill>
                  <a:srgbClr val="FF0000"/>
                </a:solidFill>
              </a:rPr>
              <a:t>travaillé</a:t>
            </a:r>
            <a:r>
              <a:rPr lang="fr-FR" sz="3200" b="1" dirty="0">
                <a:solidFill>
                  <a:schemeClr val="tx1"/>
                </a:solidFill>
              </a:rPr>
              <a:t> sur ce </a:t>
            </a:r>
            <a:r>
              <a:rPr lang="fr-FR" sz="3200" b="1" dirty="0">
                <a:solidFill>
                  <a:srgbClr val="FF0000"/>
                </a:solidFill>
              </a:rPr>
              <a:t>projet</a:t>
            </a:r>
            <a:r>
              <a:rPr lang="fr-FR" sz="3200" b="1" dirty="0">
                <a:solidFill>
                  <a:schemeClr val="tx1"/>
                </a:solidFill>
              </a:rPr>
              <a:t>.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Cela va </a:t>
            </a:r>
            <a:r>
              <a:rPr lang="fr-FR" sz="3200" b="1" dirty="0">
                <a:solidFill>
                  <a:srgbClr val="FF0000"/>
                </a:solidFill>
              </a:rPr>
              <a:t>aboutir</a:t>
            </a:r>
            <a:r>
              <a:rPr lang="fr-FR" sz="3200" b="1" dirty="0">
                <a:solidFill>
                  <a:schemeClr val="tx1"/>
                </a:solidFill>
              </a:rPr>
              <a:t> au Modèle </a:t>
            </a:r>
            <a:r>
              <a:rPr lang="fr-FR" sz="3200" b="1" dirty="0">
                <a:solidFill>
                  <a:srgbClr val="FF0000"/>
                </a:solidFill>
              </a:rPr>
              <a:t>TCP/IP</a:t>
            </a:r>
            <a:r>
              <a:rPr lang="fr-FR" sz="3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19328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Historique (Suite) !!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Au </a:t>
            </a:r>
            <a:r>
              <a:rPr lang="fr-FR" sz="3200" b="1" dirty="0">
                <a:solidFill>
                  <a:srgbClr val="FF0000"/>
                </a:solidFill>
              </a:rPr>
              <a:t>cours</a:t>
            </a:r>
            <a:r>
              <a:rPr lang="fr-FR" sz="3200" b="1" dirty="0">
                <a:solidFill>
                  <a:schemeClr val="tx1"/>
                </a:solidFill>
              </a:rPr>
              <a:t> des années </a:t>
            </a:r>
            <a:r>
              <a:rPr lang="fr-FR" sz="3200" b="1" dirty="0">
                <a:solidFill>
                  <a:srgbClr val="FF0000"/>
                </a:solidFill>
              </a:rPr>
              <a:t>1990</a:t>
            </a:r>
            <a:r>
              <a:rPr lang="fr-FR" sz="3200" b="1" dirty="0">
                <a:solidFill>
                  <a:schemeClr val="tx1"/>
                </a:solidFill>
              </a:rPr>
              <a:t>, les constructeurs de matériels informatiques ont </a:t>
            </a:r>
            <a:r>
              <a:rPr lang="fr-FR" sz="3200" b="1" dirty="0">
                <a:solidFill>
                  <a:srgbClr val="FF0000"/>
                </a:solidFill>
              </a:rPr>
              <a:t>commencé</a:t>
            </a:r>
            <a:r>
              <a:rPr lang="fr-FR" sz="3200" b="1" dirty="0">
                <a:solidFill>
                  <a:schemeClr val="tx1"/>
                </a:solidFill>
              </a:rPr>
              <a:t> à utiliser soit </a:t>
            </a:r>
            <a:r>
              <a:rPr lang="fr-FR" sz="3200" b="1" dirty="0">
                <a:solidFill>
                  <a:srgbClr val="FF0000"/>
                </a:solidFill>
              </a:rPr>
              <a:t>OSI</a:t>
            </a:r>
            <a:r>
              <a:rPr lang="fr-FR" sz="3200" b="1" dirty="0">
                <a:solidFill>
                  <a:schemeClr val="tx1"/>
                </a:solidFill>
              </a:rPr>
              <a:t> ou TCP/IP. </a:t>
            </a:r>
          </a:p>
          <a:p>
            <a:r>
              <a:rPr lang="fr-FR" sz="3200" b="1" dirty="0">
                <a:solidFill>
                  <a:srgbClr val="FF0000"/>
                </a:solidFill>
              </a:rPr>
              <a:t>Cependant</a:t>
            </a:r>
            <a:r>
              <a:rPr lang="fr-FR" sz="3200" b="1" dirty="0">
                <a:solidFill>
                  <a:schemeClr val="tx1"/>
                </a:solidFill>
              </a:rPr>
              <a:t>, à la fin des années </a:t>
            </a:r>
            <a:r>
              <a:rPr lang="fr-FR" sz="3200" b="1" dirty="0">
                <a:solidFill>
                  <a:srgbClr val="FF0000"/>
                </a:solidFill>
              </a:rPr>
              <a:t>1990</a:t>
            </a:r>
            <a:r>
              <a:rPr lang="fr-FR" sz="3200" b="1" dirty="0">
                <a:solidFill>
                  <a:schemeClr val="tx1"/>
                </a:solidFill>
              </a:rPr>
              <a:t>, </a:t>
            </a:r>
            <a:r>
              <a:rPr lang="fr-FR" sz="3200" b="1" dirty="0">
                <a:solidFill>
                  <a:srgbClr val="FF0000"/>
                </a:solidFill>
              </a:rPr>
              <a:t>TCP/IP</a:t>
            </a:r>
            <a:r>
              <a:rPr lang="fr-FR" sz="3200" b="1" dirty="0">
                <a:solidFill>
                  <a:schemeClr val="tx1"/>
                </a:solidFill>
              </a:rPr>
              <a:t> était devenu le </a:t>
            </a:r>
            <a:r>
              <a:rPr lang="fr-FR" sz="3200" b="1" dirty="0">
                <a:solidFill>
                  <a:srgbClr val="FF0000"/>
                </a:solidFill>
              </a:rPr>
              <a:t>choix</a:t>
            </a:r>
            <a:r>
              <a:rPr lang="fr-FR" sz="3200" b="1" dirty="0">
                <a:solidFill>
                  <a:schemeClr val="tx1"/>
                </a:solidFill>
              </a:rPr>
              <a:t> courant et </a:t>
            </a:r>
            <a:r>
              <a:rPr lang="fr-FR" sz="3200" b="1" dirty="0">
                <a:solidFill>
                  <a:srgbClr val="FF0000"/>
                </a:solidFill>
              </a:rPr>
              <a:t>OSI</a:t>
            </a:r>
            <a:r>
              <a:rPr lang="fr-FR" sz="3200" b="1" dirty="0">
                <a:solidFill>
                  <a:schemeClr val="tx1"/>
                </a:solidFill>
              </a:rPr>
              <a:t> est </a:t>
            </a:r>
            <a:r>
              <a:rPr lang="fr-FR" sz="3200" b="1" dirty="0">
                <a:solidFill>
                  <a:srgbClr val="FF0000"/>
                </a:solidFill>
              </a:rPr>
              <a:t>tombé</a:t>
            </a:r>
            <a:r>
              <a:rPr lang="fr-FR" sz="3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4469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Modèle TCP/IP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chemeClr val="tx1"/>
                </a:solidFill>
              </a:rPr>
              <a:t>Il existe en effet deux modèles TCP/IP :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Le modèle à </a:t>
            </a:r>
            <a:r>
              <a:rPr lang="fr-FR" sz="3200" b="1" dirty="0">
                <a:solidFill>
                  <a:srgbClr val="FF0000"/>
                </a:solidFill>
              </a:rPr>
              <a:t>04 couches </a:t>
            </a:r>
            <a:r>
              <a:rPr lang="fr-FR" sz="3200" b="1" dirty="0">
                <a:solidFill>
                  <a:schemeClr val="tx1"/>
                </a:solidFill>
              </a:rPr>
              <a:t>et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Le modèle à </a:t>
            </a:r>
            <a:r>
              <a:rPr lang="fr-FR" sz="3200" b="1" dirty="0">
                <a:solidFill>
                  <a:srgbClr val="FF0000"/>
                </a:solidFill>
              </a:rPr>
              <a:t>05 couches</a:t>
            </a:r>
            <a:r>
              <a:rPr lang="fr-FR" sz="3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39050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Modèle TCP/IP à 04 couches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/>
          <p:cNvPicPr/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2" y="1152908"/>
            <a:ext cx="8911687" cy="55843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3573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Modèle TCP/IP à 04 couches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Application,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Transport,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Internet et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Accès au Réseau.</a:t>
            </a:r>
          </a:p>
          <a:p>
            <a:pPr marL="0" indent="0">
              <a:buNone/>
            </a:pP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95641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Couche application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Elle est la couche de communication qui s’interface avec les utilisateurs.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Exemples de protocoles applicatifs : HTTP, DNS, DHCP, FTP, …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Elle s’exécute sur les machines hôtes.</a:t>
            </a:r>
          </a:p>
          <a:p>
            <a:pPr marL="0" indent="0">
              <a:buNone/>
            </a:pP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78005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Couche Transport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Elle est responsable du dialogue entre les hôtes terminaux d’une communication.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Les applications utiliseront TCP pour un transport fiable et UDP sans ce service.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Les routeurs NAT et les pare-feu opèrent un filtrage au niveau de la couche transport.</a:t>
            </a:r>
          </a:p>
          <a:p>
            <a:pPr marL="0" indent="0">
              <a:buNone/>
            </a:pP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54010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Couche Internet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Elle permet de déterminer les meilleurs chemins à travers les réseaux en fonction des adresses IPv4 ou IPv6 à portée globale.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Les routeurs transfèrent le trafic IP qui ne leur est pas destiné.</a:t>
            </a:r>
          </a:p>
          <a:p>
            <a:pPr marL="0" indent="0">
              <a:buNone/>
            </a:pP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93339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Couche Accès au réseau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TCP/IP ne s’occupe pas de l’Accès au Réseau.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Elle organise le flux binaire et identifie physiquement les hôtes.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Elle place le flux binaire sur les supports physiques.</a:t>
            </a:r>
          </a:p>
          <a:p>
            <a:pPr marL="0" indent="0">
              <a:buNone/>
            </a:pP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39802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Modèle TCP/IP à 05 couches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Application,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Transport,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Internet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Liaison de données et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Physique.</a:t>
            </a:r>
          </a:p>
          <a:p>
            <a:pPr marL="0" indent="0">
              <a:buNone/>
            </a:pP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12439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Modèle TCP/IP à 05 couches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63440" y="1464128"/>
            <a:ext cx="3709851" cy="444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5603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Modèle TCP/IP à 05 couches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chemeClr val="tx1"/>
                </a:solidFill>
              </a:rPr>
              <a:t>Comparativement au modèle TCP/IP à 04 couches, la différence se situe au niveau de la couche Accès au Réseau qui a été éclaté en deux couches :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Liaison de données et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Physique.</a:t>
            </a:r>
          </a:p>
          <a:p>
            <a:pPr marL="0" indent="0">
              <a:buNone/>
            </a:pP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9603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Couche liaison de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Elle définit les méthodes de transmission des données entre les périphériques d’un même réseau local et gère la détection d’erreurs de transmission. 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Les carte réseau et les switch sont des exemples parfaits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46037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Couche liaison de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 descr="C:\Users\Victor\Pictures\osi3.png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2" y="2217954"/>
            <a:ext cx="8540342" cy="20144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33541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Couche Physique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Elle est chargée de la transmission des bits de données (en binaire) sur les différents supports existants.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20319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Couche Physique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 descr="C:\Users\Victor\Pictures\osi2.png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5499" y="1596125"/>
            <a:ext cx="8915399" cy="18394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27175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Modèle OSI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 descr="C:\Users\Victor\Pictures\osi1.png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944" y="1596126"/>
            <a:ext cx="3644536" cy="43150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10350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CHAPITRE III : Principes de </a:t>
            </a:r>
            <a:r>
              <a:rPr lang="fr-FR" b="1" dirty="0">
                <a:solidFill>
                  <a:srgbClr val="FF0000"/>
                </a:solidFill>
              </a:rPr>
              <a:t>base</a:t>
            </a:r>
            <a:r>
              <a:rPr lang="fr-FR" b="1" dirty="0">
                <a:solidFill>
                  <a:schemeClr val="tx1"/>
                </a:solidFill>
              </a:rPr>
              <a:t> des </a:t>
            </a:r>
            <a:r>
              <a:rPr lang="fr-FR" b="1" dirty="0">
                <a:solidFill>
                  <a:srgbClr val="FF0000"/>
                </a:solidFill>
              </a:rPr>
              <a:t>réseaux</a:t>
            </a:r>
            <a:r>
              <a:rPr lang="fr-FR" b="1" dirty="0">
                <a:solidFill>
                  <a:schemeClr val="tx1"/>
                </a:solidFill>
              </a:rPr>
              <a:t> locaux </a:t>
            </a:r>
            <a:r>
              <a:rPr lang="fr-FR" b="1" dirty="0">
                <a:solidFill>
                  <a:srgbClr val="FF0000"/>
                </a:solidFill>
              </a:rPr>
              <a:t>Ethernet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230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chemeClr val="tx1"/>
                </a:solidFill>
              </a:rPr>
              <a:t>Dans ce </a:t>
            </a:r>
            <a:r>
              <a:rPr lang="fr-FR" sz="3200" b="1" dirty="0">
                <a:solidFill>
                  <a:srgbClr val="FF0000"/>
                </a:solidFill>
              </a:rPr>
              <a:t>troisième </a:t>
            </a:r>
            <a:r>
              <a:rPr lang="fr-FR" sz="3200" b="1" dirty="0">
                <a:solidFill>
                  <a:schemeClr val="tx1"/>
                </a:solidFill>
              </a:rPr>
              <a:t>chapitre, nous </a:t>
            </a:r>
            <a:r>
              <a:rPr lang="fr-FR" sz="3200" b="1" dirty="0">
                <a:solidFill>
                  <a:srgbClr val="FF0000"/>
                </a:solidFill>
              </a:rPr>
              <a:t>verrons</a:t>
            </a:r>
            <a:r>
              <a:rPr lang="fr-FR" sz="3200" b="1" dirty="0">
                <a:solidFill>
                  <a:schemeClr val="tx1"/>
                </a:solidFill>
              </a:rPr>
              <a:t> les différents </a:t>
            </a:r>
            <a:r>
              <a:rPr lang="fr-FR" sz="3200" b="1" dirty="0">
                <a:solidFill>
                  <a:srgbClr val="FF0000"/>
                </a:solidFill>
              </a:rPr>
              <a:t>types</a:t>
            </a:r>
            <a:r>
              <a:rPr lang="fr-FR" sz="3200" b="1" dirty="0">
                <a:solidFill>
                  <a:schemeClr val="tx1"/>
                </a:solidFill>
              </a:rPr>
              <a:t> de </a:t>
            </a:r>
            <a:r>
              <a:rPr lang="fr-FR" sz="3200" b="1" dirty="0">
                <a:solidFill>
                  <a:srgbClr val="FF0000"/>
                </a:solidFill>
              </a:rPr>
              <a:t>câbles</a:t>
            </a:r>
            <a:r>
              <a:rPr lang="fr-FR" sz="3200" b="1" dirty="0">
                <a:solidFill>
                  <a:schemeClr val="tx1"/>
                </a:solidFill>
              </a:rPr>
              <a:t> utilisés pour </a:t>
            </a:r>
            <a:r>
              <a:rPr lang="fr-FR" sz="3200" b="1" dirty="0">
                <a:solidFill>
                  <a:srgbClr val="FF0000"/>
                </a:solidFill>
              </a:rPr>
              <a:t>construire</a:t>
            </a:r>
            <a:r>
              <a:rPr lang="fr-FR" sz="3200" b="1" dirty="0">
                <a:solidFill>
                  <a:schemeClr val="tx1"/>
                </a:solidFill>
              </a:rPr>
              <a:t> les réseaux </a:t>
            </a:r>
            <a:r>
              <a:rPr lang="fr-FR" sz="3200" b="1" dirty="0">
                <a:solidFill>
                  <a:srgbClr val="FF0000"/>
                </a:solidFill>
              </a:rPr>
              <a:t>locaux</a:t>
            </a:r>
            <a:r>
              <a:rPr lang="fr-FR" sz="3200" b="1" dirty="0">
                <a:solidFill>
                  <a:schemeClr val="tx1"/>
                </a:solidFill>
              </a:rPr>
              <a:t> et avec la façon dont ces câbles sont </a:t>
            </a:r>
            <a:r>
              <a:rPr lang="fr-FR" sz="3200" b="1" dirty="0">
                <a:solidFill>
                  <a:srgbClr val="FF0000"/>
                </a:solidFill>
              </a:rPr>
              <a:t>brochés</a:t>
            </a:r>
            <a:r>
              <a:rPr lang="fr-FR" sz="3200" b="1" dirty="0">
                <a:solidFill>
                  <a:schemeClr val="tx1"/>
                </a:solidFill>
              </a:rPr>
              <a:t>. Enfin nous verrons </a:t>
            </a:r>
            <a:r>
              <a:rPr lang="fr-FR" sz="3200" b="1" dirty="0">
                <a:solidFill>
                  <a:srgbClr val="FF0000"/>
                </a:solidFill>
              </a:rPr>
              <a:t>comment</a:t>
            </a:r>
            <a:r>
              <a:rPr lang="fr-FR" sz="3200" b="1" dirty="0">
                <a:solidFill>
                  <a:schemeClr val="tx1"/>
                </a:solidFill>
              </a:rPr>
              <a:t> les </a:t>
            </a:r>
            <a:r>
              <a:rPr lang="fr-FR" sz="3200" b="1" dirty="0">
                <a:solidFill>
                  <a:srgbClr val="FF0000"/>
                </a:solidFill>
              </a:rPr>
              <a:t>données</a:t>
            </a:r>
            <a:r>
              <a:rPr lang="fr-FR" sz="3200" b="1" dirty="0">
                <a:solidFill>
                  <a:schemeClr val="tx1"/>
                </a:solidFill>
              </a:rPr>
              <a:t> sont </a:t>
            </a:r>
            <a:r>
              <a:rPr lang="fr-FR" sz="3200" b="1" dirty="0">
                <a:solidFill>
                  <a:srgbClr val="FF0000"/>
                </a:solidFill>
              </a:rPr>
              <a:t>envoyées </a:t>
            </a:r>
            <a:r>
              <a:rPr lang="fr-FR" sz="3200" b="1" dirty="0">
                <a:solidFill>
                  <a:schemeClr val="tx1"/>
                </a:solidFill>
              </a:rPr>
              <a:t>sur ces réseaux locaux Ethernet.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1464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Objectif</a:t>
            </a:r>
            <a:r>
              <a:rPr lang="fr-FR" b="1" dirty="0">
                <a:solidFill>
                  <a:schemeClr val="tx1"/>
                </a:solidFill>
              </a:rPr>
              <a:t> de ce Chapitre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L’</a:t>
            </a:r>
            <a:r>
              <a:rPr lang="fr-FR" sz="3200" b="1" dirty="0">
                <a:solidFill>
                  <a:srgbClr val="FF0000"/>
                </a:solidFill>
              </a:rPr>
              <a:t>objectif</a:t>
            </a:r>
            <a:r>
              <a:rPr lang="fr-FR" sz="3200" b="1" dirty="0">
                <a:solidFill>
                  <a:schemeClr val="tx1"/>
                </a:solidFill>
              </a:rPr>
              <a:t> de ce </a:t>
            </a:r>
            <a:r>
              <a:rPr lang="fr-FR" sz="3200" b="1" dirty="0">
                <a:solidFill>
                  <a:srgbClr val="FF0000"/>
                </a:solidFill>
              </a:rPr>
              <a:t>chapitre</a:t>
            </a:r>
            <a:r>
              <a:rPr lang="fr-FR" sz="3200" b="1" dirty="0">
                <a:solidFill>
                  <a:schemeClr val="tx1"/>
                </a:solidFill>
              </a:rPr>
              <a:t> est de </a:t>
            </a:r>
            <a:r>
              <a:rPr lang="fr-FR" sz="3200" b="1" dirty="0">
                <a:solidFill>
                  <a:srgbClr val="FF0000"/>
                </a:solidFill>
              </a:rPr>
              <a:t>maîtriser</a:t>
            </a:r>
            <a:r>
              <a:rPr lang="fr-FR" sz="3200" b="1" dirty="0">
                <a:solidFill>
                  <a:schemeClr val="tx1"/>
                </a:solidFill>
              </a:rPr>
              <a:t> ce qu’est un </a:t>
            </a:r>
            <a:r>
              <a:rPr lang="fr-FR" sz="3200" b="1" dirty="0">
                <a:solidFill>
                  <a:srgbClr val="FF0000"/>
                </a:solidFill>
              </a:rPr>
              <a:t>réseau</a:t>
            </a:r>
            <a:r>
              <a:rPr lang="fr-FR" sz="3200" b="1" dirty="0">
                <a:solidFill>
                  <a:schemeClr val="tx1"/>
                </a:solidFill>
              </a:rPr>
              <a:t> local </a:t>
            </a:r>
            <a:r>
              <a:rPr lang="fr-FR" sz="3200" b="1" dirty="0">
                <a:solidFill>
                  <a:srgbClr val="FF0000"/>
                </a:solidFill>
              </a:rPr>
              <a:t>Ethernet</a:t>
            </a:r>
            <a:r>
              <a:rPr lang="fr-FR" sz="3200" b="1" dirty="0">
                <a:solidFill>
                  <a:schemeClr val="tx1"/>
                </a:solidFill>
              </a:rPr>
              <a:t>. Le </a:t>
            </a:r>
            <a:r>
              <a:rPr lang="fr-FR" sz="3200" b="1" dirty="0">
                <a:solidFill>
                  <a:srgbClr val="FF0000"/>
                </a:solidFill>
              </a:rPr>
              <a:t>terme</a:t>
            </a:r>
            <a:r>
              <a:rPr lang="fr-FR" sz="3200" b="1" dirty="0">
                <a:solidFill>
                  <a:schemeClr val="tx1"/>
                </a:solidFill>
              </a:rPr>
              <a:t> Ethernet faisant </a:t>
            </a:r>
            <a:r>
              <a:rPr lang="fr-FR" sz="3200" b="1" dirty="0">
                <a:solidFill>
                  <a:srgbClr val="FF0000"/>
                </a:solidFill>
              </a:rPr>
              <a:t>référence</a:t>
            </a:r>
            <a:r>
              <a:rPr lang="fr-FR" sz="3200" b="1" dirty="0">
                <a:solidFill>
                  <a:schemeClr val="tx1"/>
                </a:solidFill>
              </a:rPr>
              <a:t> au </a:t>
            </a:r>
            <a:r>
              <a:rPr lang="fr-FR" sz="3200" b="1" dirty="0">
                <a:solidFill>
                  <a:srgbClr val="FF0000"/>
                </a:solidFill>
              </a:rPr>
              <a:t>câblage</a:t>
            </a:r>
            <a:r>
              <a:rPr lang="fr-FR" sz="3200" b="1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25629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Introduction</a:t>
            </a:r>
            <a:r>
              <a:rPr lang="fr-FR" b="1" dirty="0">
                <a:solidFill>
                  <a:schemeClr val="tx1"/>
                </a:solidFill>
              </a:rPr>
              <a:t> de ce Chapitre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chemeClr val="tx1"/>
                </a:solidFill>
              </a:rPr>
              <a:t>De nos jours, il existe </a:t>
            </a:r>
            <a:r>
              <a:rPr lang="fr-FR" sz="3200" b="1" dirty="0">
                <a:solidFill>
                  <a:srgbClr val="FF0000"/>
                </a:solidFill>
              </a:rPr>
              <a:t>deux</a:t>
            </a:r>
            <a:r>
              <a:rPr lang="fr-FR" sz="3200" b="1" dirty="0">
                <a:solidFill>
                  <a:schemeClr val="tx1"/>
                </a:solidFill>
              </a:rPr>
              <a:t> types de réseaux locaux : 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réseaux locaux </a:t>
            </a:r>
            <a:r>
              <a:rPr lang="fr-FR" sz="3200" b="1" dirty="0">
                <a:solidFill>
                  <a:srgbClr val="FF0000"/>
                </a:solidFill>
              </a:rPr>
              <a:t>Ethernet</a:t>
            </a:r>
            <a:r>
              <a:rPr lang="fr-FR" sz="3200" b="1" dirty="0">
                <a:solidFill>
                  <a:schemeClr val="tx1"/>
                </a:solidFill>
              </a:rPr>
              <a:t> et 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réseaux locaux </a:t>
            </a:r>
            <a:r>
              <a:rPr lang="fr-FR" sz="3200" b="1" dirty="0">
                <a:solidFill>
                  <a:srgbClr val="FF0000"/>
                </a:solidFill>
              </a:rPr>
              <a:t>sans fil</a:t>
            </a:r>
            <a:r>
              <a:rPr lang="fr-FR" sz="3200" b="1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54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64758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Introduction</a:t>
            </a:r>
            <a:r>
              <a:rPr lang="fr-FR" b="1" dirty="0">
                <a:solidFill>
                  <a:schemeClr val="tx1"/>
                </a:solidFill>
              </a:rPr>
              <a:t> de ce Chapitre (Suite)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Les </a:t>
            </a:r>
            <a:r>
              <a:rPr lang="fr-FR" sz="3200" b="1" dirty="0">
                <a:solidFill>
                  <a:srgbClr val="FF0000"/>
                </a:solidFill>
              </a:rPr>
              <a:t>réseaux</a:t>
            </a:r>
            <a:r>
              <a:rPr lang="fr-FR" sz="3200" b="1" dirty="0">
                <a:solidFill>
                  <a:schemeClr val="tx1"/>
                </a:solidFill>
              </a:rPr>
              <a:t> locaux </a:t>
            </a:r>
            <a:r>
              <a:rPr lang="fr-FR" sz="3200" b="1" dirty="0">
                <a:solidFill>
                  <a:srgbClr val="FF0000"/>
                </a:solidFill>
              </a:rPr>
              <a:t>Ethernet</a:t>
            </a:r>
            <a:r>
              <a:rPr lang="fr-FR" sz="3200" b="1" dirty="0">
                <a:solidFill>
                  <a:schemeClr val="tx1"/>
                </a:solidFill>
              </a:rPr>
              <a:t> utilisent soit les </a:t>
            </a:r>
            <a:r>
              <a:rPr lang="fr-FR" sz="3200" b="1" dirty="0">
                <a:solidFill>
                  <a:srgbClr val="FF0000"/>
                </a:solidFill>
              </a:rPr>
              <a:t>câbles</a:t>
            </a:r>
            <a:r>
              <a:rPr lang="fr-FR" sz="3200" b="1" dirty="0">
                <a:solidFill>
                  <a:schemeClr val="tx1"/>
                </a:solidFill>
              </a:rPr>
              <a:t> cuivrés (câbles à paires </a:t>
            </a:r>
            <a:r>
              <a:rPr lang="fr-FR" sz="3200" b="1" dirty="0">
                <a:solidFill>
                  <a:srgbClr val="FF0000"/>
                </a:solidFill>
              </a:rPr>
              <a:t>torsadées</a:t>
            </a:r>
            <a:r>
              <a:rPr lang="fr-FR" sz="3200" b="1" dirty="0">
                <a:solidFill>
                  <a:schemeClr val="tx1"/>
                </a:solidFill>
              </a:rPr>
              <a:t>) soit les </a:t>
            </a:r>
            <a:r>
              <a:rPr lang="fr-FR" sz="3200" b="1" dirty="0">
                <a:solidFill>
                  <a:srgbClr val="FF0000"/>
                </a:solidFill>
              </a:rPr>
              <a:t>câbles</a:t>
            </a:r>
            <a:r>
              <a:rPr lang="fr-FR" sz="3200" b="1" dirty="0">
                <a:solidFill>
                  <a:schemeClr val="tx1"/>
                </a:solidFill>
              </a:rPr>
              <a:t> en fibre </a:t>
            </a:r>
            <a:r>
              <a:rPr lang="fr-FR" sz="3200" b="1" dirty="0">
                <a:solidFill>
                  <a:srgbClr val="FF0000"/>
                </a:solidFill>
              </a:rPr>
              <a:t>optique</a:t>
            </a:r>
            <a:r>
              <a:rPr lang="fr-FR" sz="3200" b="1" dirty="0">
                <a:solidFill>
                  <a:schemeClr val="tx1"/>
                </a:solidFill>
              </a:rPr>
              <a:t>. En </a:t>
            </a:r>
            <a:r>
              <a:rPr lang="fr-FR" sz="3200" b="1" dirty="0">
                <a:solidFill>
                  <a:srgbClr val="FF0000"/>
                </a:solidFill>
              </a:rPr>
              <a:t>comparaison</a:t>
            </a:r>
            <a:r>
              <a:rPr lang="fr-FR" sz="3200" b="1" dirty="0">
                <a:solidFill>
                  <a:schemeClr val="tx1"/>
                </a:solidFill>
              </a:rPr>
              <a:t> à Ethernet, les réseaux locaux </a:t>
            </a:r>
            <a:r>
              <a:rPr lang="fr-FR" sz="3200" b="1" dirty="0">
                <a:solidFill>
                  <a:srgbClr val="FF0000"/>
                </a:solidFill>
              </a:rPr>
              <a:t>sans fil</a:t>
            </a:r>
            <a:r>
              <a:rPr lang="fr-FR" sz="3200" b="1" dirty="0">
                <a:solidFill>
                  <a:schemeClr val="tx1"/>
                </a:solidFill>
              </a:rPr>
              <a:t> n'utilisent </a:t>
            </a:r>
            <a:r>
              <a:rPr lang="fr-FR" sz="3200" b="1" dirty="0">
                <a:solidFill>
                  <a:srgbClr val="FF0000"/>
                </a:solidFill>
              </a:rPr>
              <a:t>pas</a:t>
            </a:r>
            <a:r>
              <a:rPr lang="fr-FR" sz="3200" b="1" dirty="0">
                <a:solidFill>
                  <a:schemeClr val="tx1"/>
                </a:solidFill>
              </a:rPr>
              <a:t> de fils ou de </a:t>
            </a:r>
            <a:r>
              <a:rPr lang="fr-FR" sz="3200" b="1" dirty="0">
                <a:solidFill>
                  <a:srgbClr val="FF0000"/>
                </a:solidFill>
              </a:rPr>
              <a:t>câbles</a:t>
            </a:r>
            <a:r>
              <a:rPr lang="fr-FR" sz="3200" b="1" dirty="0">
                <a:solidFill>
                  <a:schemeClr val="tx1"/>
                </a:solidFill>
              </a:rPr>
              <a:t>, mais utilisent </a:t>
            </a:r>
            <a:r>
              <a:rPr lang="fr-FR" sz="3200" b="1" dirty="0">
                <a:solidFill>
                  <a:srgbClr val="FF0000"/>
                </a:solidFill>
              </a:rPr>
              <a:t>plutôt</a:t>
            </a:r>
            <a:r>
              <a:rPr lang="fr-FR" sz="3200" b="1" dirty="0">
                <a:solidFill>
                  <a:schemeClr val="tx1"/>
                </a:solidFill>
              </a:rPr>
              <a:t> des </a:t>
            </a:r>
            <a:r>
              <a:rPr lang="fr-FR" sz="3200" b="1" dirty="0">
                <a:solidFill>
                  <a:srgbClr val="FF0000"/>
                </a:solidFill>
              </a:rPr>
              <a:t>ondes </a:t>
            </a:r>
            <a:r>
              <a:rPr lang="fr-FR" sz="3200" b="1" dirty="0">
                <a:solidFill>
                  <a:schemeClr val="tx1"/>
                </a:solidFill>
              </a:rPr>
              <a:t>radio pour les liaisons entre les nœuds.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55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8012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Introduction</a:t>
            </a:r>
            <a:r>
              <a:rPr lang="fr-FR" b="1" dirty="0">
                <a:solidFill>
                  <a:schemeClr val="tx1"/>
                </a:solidFill>
              </a:rPr>
              <a:t> de ce Chapitre (Suite)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Dans ce chapitre, notre étude portera sur les réseau locaux Ethernet.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56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20572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Aperçu</a:t>
            </a:r>
            <a:r>
              <a:rPr lang="fr-FR" b="1" dirty="0">
                <a:solidFill>
                  <a:schemeClr val="tx1"/>
                </a:solidFill>
              </a:rPr>
              <a:t> sur les réseaux locaux </a:t>
            </a:r>
            <a:r>
              <a:rPr lang="fr-FR" b="1" dirty="0">
                <a:solidFill>
                  <a:srgbClr val="FF0000"/>
                </a:solidFill>
              </a:rPr>
              <a:t>Ethernet</a:t>
            </a:r>
            <a:r>
              <a:rPr lang="fr-FR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Le terme « </a:t>
            </a:r>
            <a:r>
              <a:rPr lang="fr-FR" sz="3200" b="1" dirty="0">
                <a:solidFill>
                  <a:srgbClr val="FF0000"/>
                </a:solidFill>
              </a:rPr>
              <a:t>Ethernet</a:t>
            </a:r>
            <a:r>
              <a:rPr lang="fr-FR" sz="3200" b="1" dirty="0">
                <a:solidFill>
                  <a:schemeClr val="tx1"/>
                </a:solidFill>
              </a:rPr>
              <a:t> » fait référence à une famille de normes pour les réseaux filaires.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Cette famille de normes est défini par l’organe </a:t>
            </a:r>
            <a:r>
              <a:rPr lang="fr-FR" sz="3200" b="1" dirty="0">
                <a:solidFill>
                  <a:srgbClr val="FF0000"/>
                </a:solidFill>
              </a:rPr>
              <a:t>IEEE</a:t>
            </a:r>
            <a:r>
              <a:rPr lang="fr-FR" sz="3200" b="1" dirty="0">
                <a:solidFill>
                  <a:schemeClr val="tx1"/>
                </a:solidFill>
              </a:rPr>
              <a:t> (</a:t>
            </a:r>
            <a:r>
              <a:rPr lang="en-US" sz="3200" b="1" dirty="0">
                <a:solidFill>
                  <a:schemeClr val="tx1"/>
                </a:solidFill>
              </a:rPr>
              <a:t>Institute of Electrical and Electronics Engineers).</a:t>
            </a: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57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0082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Aperçu</a:t>
            </a:r>
            <a:r>
              <a:rPr lang="fr-FR" b="1" dirty="0">
                <a:solidFill>
                  <a:schemeClr val="tx1"/>
                </a:solidFill>
              </a:rPr>
              <a:t> sur les réseaux locaux </a:t>
            </a:r>
            <a:r>
              <a:rPr lang="fr-FR" b="1" dirty="0">
                <a:solidFill>
                  <a:srgbClr val="FF0000"/>
                </a:solidFill>
              </a:rPr>
              <a:t>Ethernet </a:t>
            </a:r>
            <a:r>
              <a:rPr lang="fr-FR" b="1" dirty="0">
                <a:solidFill>
                  <a:schemeClr val="tx1"/>
                </a:solidFill>
              </a:rPr>
              <a:t>(Suite).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Ces </a:t>
            </a:r>
            <a:r>
              <a:rPr lang="fr-FR" sz="3200" b="1" dirty="0">
                <a:solidFill>
                  <a:srgbClr val="FF0000"/>
                </a:solidFill>
              </a:rPr>
              <a:t>normes</a:t>
            </a:r>
            <a:r>
              <a:rPr lang="fr-FR" sz="3200" b="1" dirty="0">
                <a:solidFill>
                  <a:schemeClr val="tx1"/>
                </a:solidFill>
              </a:rPr>
              <a:t>, définissent le </a:t>
            </a:r>
            <a:r>
              <a:rPr lang="fr-FR" sz="3200" b="1" dirty="0">
                <a:solidFill>
                  <a:srgbClr val="FF0000"/>
                </a:solidFill>
              </a:rPr>
              <a:t>câblage</a:t>
            </a:r>
            <a:r>
              <a:rPr lang="fr-FR" sz="3200" b="1" dirty="0">
                <a:solidFill>
                  <a:schemeClr val="tx1"/>
                </a:solidFill>
              </a:rPr>
              <a:t>, les </a:t>
            </a:r>
            <a:r>
              <a:rPr lang="fr-FR" sz="3200" b="1" dirty="0">
                <a:solidFill>
                  <a:srgbClr val="FF0000"/>
                </a:solidFill>
              </a:rPr>
              <a:t>connecteurs</a:t>
            </a:r>
            <a:r>
              <a:rPr lang="fr-FR" sz="3200" b="1" dirty="0">
                <a:solidFill>
                  <a:schemeClr val="tx1"/>
                </a:solidFill>
              </a:rPr>
              <a:t> aux </a:t>
            </a:r>
            <a:r>
              <a:rPr lang="fr-FR" sz="3200" b="1" dirty="0">
                <a:solidFill>
                  <a:srgbClr val="FF0000"/>
                </a:solidFill>
              </a:rPr>
              <a:t>extrémités</a:t>
            </a:r>
            <a:r>
              <a:rPr lang="fr-FR" sz="3200" b="1" dirty="0">
                <a:solidFill>
                  <a:schemeClr val="tx1"/>
                </a:solidFill>
              </a:rPr>
              <a:t> des câbles, les règles de </a:t>
            </a:r>
            <a:r>
              <a:rPr lang="fr-FR" sz="3200" b="1" dirty="0">
                <a:solidFill>
                  <a:srgbClr val="FF0000"/>
                </a:solidFill>
              </a:rPr>
              <a:t>protocole</a:t>
            </a:r>
            <a:r>
              <a:rPr lang="fr-FR" sz="3200" b="1" dirty="0">
                <a:solidFill>
                  <a:schemeClr val="tx1"/>
                </a:solidFill>
              </a:rPr>
              <a:t> et </a:t>
            </a:r>
            <a:r>
              <a:rPr lang="fr-FR" sz="3200" b="1" dirty="0">
                <a:solidFill>
                  <a:srgbClr val="FF0000"/>
                </a:solidFill>
              </a:rPr>
              <a:t>tout</a:t>
            </a:r>
            <a:r>
              <a:rPr lang="fr-FR" sz="3200" b="1" dirty="0">
                <a:solidFill>
                  <a:schemeClr val="tx1"/>
                </a:solidFill>
              </a:rPr>
              <a:t> ce qui est nécessaire pour </a:t>
            </a:r>
            <a:r>
              <a:rPr lang="fr-FR" sz="3200" b="1" dirty="0">
                <a:solidFill>
                  <a:srgbClr val="FF0000"/>
                </a:solidFill>
              </a:rPr>
              <a:t>créer </a:t>
            </a:r>
            <a:r>
              <a:rPr lang="fr-FR" sz="3200" b="1" dirty="0">
                <a:solidFill>
                  <a:schemeClr val="tx1"/>
                </a:solidFill>
              </a:rPr>
              <a:t>un réseau local </a:t>
            </a:r>
            <a:r>
              <a:rPr lang="fr-FR" sz="3200" b="1" dirty="0">
                <a:solidFill>
                  <a:srgbClr val="FF0000"/>
                </a:solidFill>
              </a:rPr>
              <a:t>Ethernet</a:t>
            </a:r>
            <a:r>
              <a:rPr lang="fr-FR" sz="3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58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28694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Aperçu</a:t>
            </a:r>
            <a:r>
              <a:rPr lang="fr-FR" b="1" dirty="0">
                <a:solidFill>
                  <a:schemeClr val="tx1"/>
                </a:solidFill>
              </a:rPr>
              <a:t> sur les réseaux locaux </a:t>
            </a:r>
            <a:r>
              <a:rPr lang="fr-FR" b="1" dirty="0">
                <a:solidFill>
                  <a:srgbClr val="FF0000"/>
                </a:solidFill>
              </a:rPr>
              <a:t>Ethernet </a:t>
            </a:r>
            <a:r>
              <a:rPr lang="fr-FR" b="1" dirty="0">
                <a:solidFill>
                  <a:schemeClr val="tx1"/>
                </a:solidFill>
              </a:rPr>
              <a:t>(Suite).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Les </a:t>
            </a:r>
            <a:r>
              <a:rPr lang="fr-FR" sz="3200" b="1" dirty="0">
                <a:solidFill>
                  <a:srgbClr val="FF0000"/>
                </a:solidFill>
              </a:rPr>
              <a:t>normes </a:t>
            </a:r>
            <a:r>
              <a:rPr lang="fr-FR" sz="3200" b="1" dirty="0">
                <a:solidFill>
                  <a:schemeClr val="tx1"/>
                </a:solidFill>
              </a:rPr>
              <a:t>Ethernet sont </a:t>
            </a:r>
            <a:r>
              <a:rPr lang="fr-FR" sz="3200" b="1" dirty="0">
                <a:solidFill>
                  <a:srgbClr val="FF0000"/>
                </a:solidFill>
              </a:rPr>
              <a:t>utilisées</a:t>
            </a:r>
            <a:r>
              <a:rPr lang="fr-FR" sz="3200" b="1" dirty="0">
                <a:solidFill>
                  <a:schemeClr val="tx1"/>
                </a:solidFill>
              </a:rPr>
              <a:t> pour connecter des périphériques dans un </a:t>
            </a:r>
            <a:r>
              <a:rPr lang="fr-FR" sz="3200" b="1" dirty="0">
                <a:solidFill>
                  <a:srgbClr val="FF0000"/>
                </a:solidFill>
              </a:rPr>
              <a:t>réseau</a:t>
            </a:r>
            <a:r>
              <a:rPr lang="fr-FR" sz="3200" b="1" dirty="0">
                <a:solidFill>
                  <a:schemeClr val="tx1"/>
                </a:solidFill>
              </a:rPr>
              <a:t> local </a:t>
            </a:r>
            <a:r>
              <a:rPr lang="fr-FR" sz="3200" b="1" dirty="0">
                <a:solidFill>
                  <a:srgbClr val="FF0000"/>
                </a:solidFill>
              </a:rPr>
              <a:t>câblé</a:t>
            </a:r>
            <a:r>
              <a:rPr lang="fr-FR" sz="3200" b="1" dirty="0">
                <a:solidFill>
                  <a:schemeClr val="tx1"/>
                </a:solidFill>
              </a:rPr>
              <a:t> (LAN) </a:t>
            </a:r>
            <a:r>
              <a:rPr lang="fr-FR" sz="3200" b="1" dirty="0">
                <a:solidFill>
                  <a:srgbClr val="FF0000"/>
                </a:solidFill>
              </a:rPr>
              <a:t>ou</a:t>
            </a:r>
            <a:r>
              <a:rPr lang="fr-FR" sz="3200" b="1" dirty="0">
                <a:solidFill>
                  <a:schemeClr val="tx1"/>
                </a:solidFill>
              </a:rPr>
              <a:t> un réseau </a:t>
            </a:r>
            <a:r>
              <a:rPr lang="fr-FR" sz="3200" b="1" dirty="0">
                <a:solidFill>
                  <a:srgbClr val="FF0000"/>
                </a:solidFill>
              </a:rPr>
              <a:t>étendu</a:t>
            </a:r>
            <a:r>
              <a:rPr lang="fr-FR" sz="3200" b="1" dirty="0">
                <a:solidFill>
                  <a:schemeClr val="tx1"/>
                </a:solidFill>
              </a:rPr>
              <a:t> (WAN).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59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4091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Types</a:t>
            </a:r>
            <a:r>
              <a:rPr lang="fr-FR" b="1" dirty="0">
                <a:solidFill>
                  <a:schemeClr val="tx1"/>
                </a:solidFill>
              </a:rPr>
              <a:t> de réseaux locaux </a:t>
            </a:r>
            <a:r>
              <a:rPr lang="fr-FR" b="1" dirty="0">
                <a:solidFill>
                  <a:srgbClr val="FF0000"/>
                </a:solidFill>
              </a:rPr>
              <a:t>Ethernet</a:t>
            </a:r>
            <a:r>
              <a:rPr lang="fr-FR" b="1" dirty="0">
                <a:solidFill>
                  <a:schemeClr val="tx1"/>
                </a:solidFill>
              </a:rPr>
              <a:t> existants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Les </a:t>
            </a:r>
            <a:r>
              <a:rPr lang="fr-FR" sz="3200" b="1" dirty="0">
                <a:solidFill>
                  <a:srgbClr val="FF0000"/>
                </a:solidFill>
              </a:rPr>
              <a:t>normes </a:t>
            </a:r>
            <a:r>
              <a:rPr lang="fr-FR" sz="3200" b="1" dirty="0">
                <a:solidFill>
                  <a:schemeClr val="tx1"/>
                </a:solidFill>
              </a:rPr>
              <a:t>Ethernet sont </a:t>
            </a:r>
            <a:r>
              <a:rPr lang="fr-FR" sz="3200" b="1" dirty="0">
                <a:solidFill>
                  <a:srgbClr val="FF0000"/>
                </a:solidFill>
              </a:rPr>
              <a:t>utilisées</a:t>
            </a:r>
            <a:r>
              <a:rPr lang="fr-FR" sz="3200" b="1" dirty="0">
                <a:solidFill>
                  <a:schemeClr val="tx1"/>
                </a:solidFill>
              </a:rPr>
              <a:t> pour connecter des périphériques dans un </a:t>
            </a:r>
            <a:r>
              <a:rPr lang="fr-FR" sz="3200" b="1" dirty="0">
                <a:solidFill>
                  <a:srgbClr val="FF0000"/>
                </a:solidFill>
              </a:rPr>
              <a:t>réseau</a:t>
            </a:r>
            <a:r>
              <a:rPr lang="fr-FR" sz="3200" b="1" dirty="0">
                <a:solidFill>
                  <a:schemeClr val="tx1"/>
                </a:solidFill>
              </a:rPr>
              <a:t> local </a:t>
            </a:r>
            <a:r>
              <a:rPr lang="fr-FR" sz="3200" b="1" dirty="0">
                <a:solidFill>
                  <a:srgbClr val="FF0000"/>
                </a:solidFill>
              </a:rPr>
              <a:t>câblé</a:t>
            </a:r>
            <a:r>
              <a:rPr lang="fr-FR" sz="3200" b="1" dirty="0">
                <a:solidFill>
                  <a:schemeClr val="tx1"/>
                </a:solidFill>
              </a:rPr>
              <a:t> (LAN) </a:t>
            </a:r>
            <a:r>
              <a:rPr lang="fr-FR" sz="3200" b="1" dirty="0">
                <a:solidFill>
                  <a:srgbClr val="FF0000"/>
                </a:solidFill>
              </a:rPr>
              <a:t>ou</a:t>
            </a:r>
            <a:r>
              <a:rPr lang="fr-FR" sz="3200" b="1" dirty="0">
                <a:solidFill>
                  <a:schemeClr val="tx1"/>
                </a:solidFill>
              </a:rPr>
              <a:t> un réseau </a:t>
            </a:r>
            <a:r>
              <a:rPr lang="fr-FR" sz="3200" b="1" dirty="0">
                <a:solidFill>
                  <a:srgbClr val="FF0000"/>
                </a:solidFill>
              </a:rPr>
              <a:t>étendu</a:t>
            </a:r>
            <a:r>
              <a:rPr lang="fr-FR" sz="3200" b="1" dirty="0">
                <a:solidFill>
                  <a:schemeClr val="tx1"/>
                </a:solidFill>
              </a:rPr>
              <a:t> (WAN).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60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29936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Les </a:t>
            </a:r>
            <a:r>
              <a:rPr lang="fr-FR" b="1" dirty="0">
                <a:solidFill>
                  <a:srgbClr val="FF0000"/>
                </a:solidFill>
              </a:rPr>
              <a:t>formes</a:t>
            </a:r>
            <a:r>
              <a:rPr lang="fr-FR" b="1" dirty="0">
                <a:solidFill>
                  <a:schemeClr val="tx1"/>
                </a:solidFill>
              </a:rPr>
              <a:t> de réseaux </a:t>
            </a:r>
            <a:r>
              <a:rPr lang="fr-FR" b="1" dirty="0">
                <a:solidFill>
                  <a:srgbClr val="FF0000"/>
                </a:solidFill>
              </a:rPr>
              <a:t>locaux</a:t>
            </a:r>
            <a:r>
              <a:rPr lang="fr-FR" b="1" dirty="0">
                <a:solidFill>
                  <a:schemeClr val="tx1"/>
                </a:solidFill>
              </a:rPr>
              <a:t> existants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chemeClr val="tx1"/>
                </a:solidFill>
              </a:rPr>
              <a:t>Dans la réalité, nous distinguons deux </a:t>
            </a:r>
            <a:r>
              <a:rPr lang="fr-FR" sz="3200" b="1" dirty="0">
                <a:solidFill>
                  <a:srgbClr val="FF0000"/>
                </a:solidFill>
              </a:rPr>
              <a:t>formes</a:t>
            </a:r>
            <a:r>
              <a:rPr lang="fr-FR" sz="3200" b="1" dirty="0">
                <a:solidFill>
                  <a:schemeClr val="tx1"/>
                </a:solidFill>
              </a:rPr>
              <a:t> de réseaux locaux :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Réseaux locaux </a:t>
            </a:r>
            <a:r>
              <a:rPr lang="fr-FR" sz="3200" b="1" dirty="0">
                <a:solidFill>
                  <a:srgbClr val="FF0000"/>
                </a:solidFill>
              </a:rPr>
              <a:t>SOHO</a:t>
            </a:r>
            <a:r>
              <a:rPr lang="fr-FR" sz="3200" b="1" dirty="0">
                <a:solidFill>
                  <a:schemeClr val="tx1"/>
                </a:solidFill>
              </a:rPr>
              <a:t> (Small Office Home Office en Anglais) et les 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Réseaux locaux d’</a:t>
            </a:r>
            <a:r>
              <a:rPr lang="fr-FR" sz="3200" b="1" dirty="0">
                <a:solidFill>
                  <a:srgbClr val="FF0000"/>
                </a:solidFill>
              </a:rPr>
              <a:t>Entreprise</a:t>
            </a:r>
            <a:r>
              <a:rPr lang="fr-FR" sz="3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61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9297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Réseaux locaux </a:t>
            </a:r>
            <a:r>
              <a:rPr lang="fr-FR" b="1" dirty="0">
                <a:solidFill>
                  <a:srgbClr val="FF0000"/>
                </a:solidFill>
              </a:rPr>
              <a:t>SOHO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chemeClr val="tx1"/>
                </a:solidFill>
              </a:rPr>
              <a:t>Il s’agit ici d’un réseau local qu’on peut installer à domicile.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62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/>
          <p:cNvPicPr/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4970"/>
          <a:stretch/>
        </p:blipFill>
        <p:spPr bwMode="auto">
          <a:xfrm>
            <a:off x="2756263" y="2877016"/>
            <a:ext cx="8347166" cy="315802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201384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Réseaux locaux </a:t>
            </a:r>
            <a:r>
              <a:rPr lang="fr-FR" b="1" dirty="0">
                <a:solidFill>
                  <a:srgbClr val="FF0000"/>
                </a:solidFill>
              </a:rPr>
              <a:t>SOHO </a:t>
            </a:r>
            <a:r>
              <a:rPr lang="fr-FR" b="1" dirty="0">
                <a:solidFill>
                  <a:schemeClr val="tx1"/>
                </a:solidFill>
              </a:rPr>
              <a:t>(Suite)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798218" y="1610789"/>
            <a:ext cx="8915400" cy="431509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63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98217" y="1610789"/>
            <a:ext cx="8911687" cy="347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4690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Réseaux locaux </a:t>
            </a:r>
            <a:r>
              <a:rPr lang="fr-FR" b="1" dirty="0">
                <a:solidFill>
                  <a:srgbClr val="FF0000"/>
                </a:solidFill>
              </a:rPr>
              <a:t>d’Entreprise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7356" y="1321806"/>
            <a:ext cx="8915400" cy="4315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chemeClr val="tx1"/>
                </a:solidFill>
              </a:rPr>
              <a:t>Il s’agit ici d’un réseau local qu’on peut installer en Entreprise.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64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87356" y="2338251"/>
            <a:ext cx="8751204" cy="451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779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9212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Normes</a:t>
            </a:r>
            <a:r>
              <a:rPr lang="fr-FR" b="1" dirty="0">
                <a:solidFill>
                  <a:schemeClr val="tx1"/>
                </a:solidFill>
              </a:rPr>
              <a:t> des réseaux locaux </a:t>
            </a:r>
            <a:r>
              <a:rPr lang="fr-FR" b="1" dirty="0">
                <a:solidFill>
                  <a:srgbClr val="FF0000"/>
                </a:solidFill>
              </a:rPr>
              <a:t>Ethernet</a:t>
            </a:r>
            <a:r>
              <a:rPr lang="fr-FR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126"/>
            <a:ext cx="8915400" cy="431509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65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/>
          <p:cNvPicPr/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10996"/>
          <a:stretch/>
        </p:blipFill>
        <p:spPr bwMode="auto">
          <a:xfrm>
            <a:off x="2585499" y="1596126"/>
            <a:ext cx="8915400" cy="31848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25506807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25700</TotalTime>
  <Words>1677</Words>
  <Application>Microsoft Office PowerPoint</Application>
  <PresentationFormat>Grand écran</PresentationFormat>
  <Paragraphs>236</Paragraphs>
  <Slides>65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65</vt:i4>
      </vt:variant>
    </vt:vector>
  </HeadingPairs>
  <TitlesOfParts>
    <vt:vector size="70" baseType="lpstr">
      <vt:lpstr>Arial</vt:lpstr>
      <vt:lpstr>Calibri</vt:lpstr>
      <vt:lpstr>Century Gothic</vt:lpstr>
      <vt:lpstr>Wingdings 3</vt:lpstr>
      <vt:lpstr>Brin</vt:lpstr>
      <vt:lpstr>   CCNA1</vt:lpstr>
      <vt:lpstr>INTRODUCTION DU COURS</vt:lpstr>
      <vt:lpstr>INTRODUCTION DU COURS (Suite)</vt:lpstr>
      <vt:lpstr>INTRODUCTION DU COURS (Suite)</vt:lpstr>
      <vt:lpstr>OBJECTIF DU COURS</vt:lpstr>
      <vt:lpstr>PROGRAMME CCNA</vt:lpstr>
      <vt:lpstr>PLAN DE PRESENTATION DU COURS: CCNA1</vt:lpstr>
      <vt:lpstr>OBJECTIF DE CE CHAPITRE 1</vt:lpstr>
      <vt:lpstr>CHAPITRE I : Généralités sur les réseaux informatiques</vt:lpstr>
      <vt:lpstr>Historique !!!</vt:lpstr>
      <vt:lpstr>Historique !!!</vt:lpstr>
      <vt:lpstr>Historique !!!</vt:lpstr>
      <vt:lpstr>Historique !!!</vt:lpstr>
      <vt:lpstr>Qu'est-ce qu'un réseau informatique ?</vt:lpstr>
      <vt:lpstr>Différentes composantes d’un réseau informatique ?</vt:lpstr>
      <vt:lpstr>Périphérique terminal</vt:lpstr>
      <vt:lpstr>Routeur</vt:lpstr>
      <vt:lpstr>Commutateur de couche 2 ou Switch de niveau 2</vt:lpstr>
      <vt:lpstr>Commutateur de couche 3 ou Switch de niveau 3</vt:lpstr>
      <vt:lpstr>Points d’Accès Wi-Fi </vt:lpstr>
      <vt:lpstr>Contrôleur Wi-Fi</vt:lpstr>
      <vt:lpstr>Pare-Feu</vt:lpstr>
      <vt:lpstr>IDS/IPS</vt:lpstr>
      <vt:lpstr>Supports de transmission</vt:lpstr>
      <vt:lpstr>Câbles à paires torsadées</vt:lpstr>
      <vt:lpstr>Fibre Optique</vt:lpstr>
      <vt:lpstr>Ondes Radio</vt:lpstr>
      <vt:lpstr>CHAPITRE II : Introduction aux Modèles TCP/IP et OSI.</vt:lpstr>
      <vt:lpstr>CHAPITRE II : Introduction aux Modèles TCP/IP et OSI.</vt:lpstr>
      <vt:lpstr>CHAPITRE II : Introduction aux Modèles TCP/IP et OSI.</vt:lpstr>
      <vt:lpstr>Historique !!</vt:lpstr>
      <vt:lpstr>Historique (Suite) !!</vt:lpstr>
      <vt:lpstr>Historique (Suite) !!</vt:lpstr>
      <vt:lpstr>Historique (Suite) !!</vt:lpstr>
      <vt:lpstr>Historique (Suite) !!</vt:lpstr>
      <vt:lpstr>Historique (Suite) !!</vt:lpstr>
      <vt:lpstr>Modèle TCP/IP</vt:lpstr>
      <vt:lpstr>Modèle TCP/IP à 04 couches</vt:lpstr>
      <vt:lpstr>Modèle TCP/IP à 04 couches</vt:lpstr>
      <vt:lpstr>Couche application</vt:lpstr>
      <vt:lpstr>Couche Transport</vt:lpstr>
      <vt:lpstr>Couche Internet</vt:lpstr>
      <vt:lpstr>Couche Accès au réseau</vt:lpstr>
      <vt:lpstr>Modèle TCP/IP à 05 couches</vt:lpstr>
      <vt:lpstr>Modèle TCP/IP à 05 couches</vt:lpstr>
      <vt:lpstr>Modèle TCP/IP à 05 couches</vt:lpstr>
      <vt:lpstr>Couche liaison de données</vt:lpstr>
      <vt:lpstr>Couche liaison de données</vt:lpstr>
      <vt:lpstr>Couche Physique</vt:lpstr>
      <vt:lpstr>Couche Physique</vt:lpstr>
      <vt:lpstr>Modèle OSI</vt:lpstr>
      <vt:lpstr>CHAPITRE III : Principes de base des réseaux locaux Ethernet</vt:lpstr>
      <vt:lpstr>Objectif de ce Chapitre</vt:lpstr>
      <vt:lpstr>Introduction de ce Chapitre</vt:lpstr>
      <vt:lpstr>Introduction de ce Chapitre (Suite)</vt:lpstr>
      <vt:lpstr>Introduction de ce Chapitre (Suite)</vt:lpstr>
      <vt:lpstr>Aperçu sur les réseaux locaux Ethernet.</vt:lpstr>
      <vt:lpstr>Aperçu sur les réseaux locaux Ethernet (Suite).</vt:lpstr>
      <vt:lpstr>Aperçu sur les réseaux locaux Ethernet (Suite).</vt:lpstr>
      <vt:lpstr>Types de réseaux locaux Ethernet existants</vt:lpstr>
      <vt:lpstr>Les formes de réseaux locaux existants</vt:lpstr>
      <vt:lpstr>Réseaux locaux SOHO</vt:lpstr>
      <vt:lpstr>Réseaux locaux SOHO (Suite)</vt:lpstr>
      <vt:lpstr>Réseaux locaux d’Entreprise</vt:lpstr>
      <vt:lpstr>Normes des réseaux locaux Ethernet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PROTOCOLES SECURISES</dc:title>
  <dc:creator>Victor</dc:creator>
  <cp:lastModifiedBy>Essowaba AHOULOUMI</cp:lastModifiedBy>
  <cp:revision>387</cp:revision>
  <dcterms:created xsi:type="dcterms:W3CDTF">2021-05-25T16:16:57Z</dcterms:created>
  <dcterms:modified xsi:type="dcterms:W3CDTF">2025-03-31T12:39:50Z</dcterms:modified>
</cp:coreProperties>
</file>