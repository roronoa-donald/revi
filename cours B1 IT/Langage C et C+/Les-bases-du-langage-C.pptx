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Merriweather"/>
      <p:regular r:id="rId17"/>
    </p:embeddedFont>
    <p:embeddedFont>
      <p:font typeface="Merriweather"/>
      <p:regular r:id="rId18"/>
    </p:embeddedFont>
    <p:embeddedFont>
      <p:font typeface="Merriweather"/>
      <p:regular r:id="rId19"/>
    </p:embeddedFont>
    <p:embeddedFont>
      <p:font typeface="Merriweather"/>
      <p:regular r:id="rId20"/>
    </p:embeddedFont>
    <p:embeddedFont>
      <p:font typeface="Merriweather"/>
      <p:regular r:id="rId21"/>
    </p:embeddedFont>
    <p:embeddedFont>
      <p:font typeface="Merriweather"/>
      <p:regular r:id="rId22"/>
    </p:embeddedFont>
    <p:embeddedFont>
      <p:font typeface="Merriweather"/>
      <p:regular r:id="rId23"/>
    </p:embeddedFont>
    <p:embeddedFont>
      <p:font typeface="Merriweath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slideLayout" Target="../slideLayouts/slideLayout1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3346609"/>
            <a:ext cx="6724293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Les bases du langage C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863798" y="4488061"/>
            <a:ext cx="741640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Introduction et concepts essentiels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8663" y="572453"/>
            <a:ext cx="5463659" cy="650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0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L'origine du langage C</a:t>
            </a:r>
            <a:endParaRPr lang="en-US" sz="4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8663" y="1769269"/>
            <a:ext cx="6332577" cy="63325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76780" y="1743194"/>
            <a:ext cx="3697843" cy="325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Une révolution technologique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576780" y="2276594"/>
            <a:ext cx="6332577" cy="1332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Créé en 1972 par Dennis Ritchie aux Bell Laboratories, le langage C a été initialement conçu pour développer le système d'exploitation UNIX. Ce langage fondamental est devenu la pierre angulaire de l'informatique moderne.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576780" y="3796427"/>
            <a:ext cx="6332577" cy="999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Il a inspiré et influencé de nombreux langages contemporains comme C++, Java, Python, et continue d'être largement utilisé aujourd'hui.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19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494" y="561380"/>
            <a:ext cx="7715012" cy="127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Pourquoi apprendre le langage C ?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14494" y="2143482"/>
            <a:ext cx="3755469" cy="2988231"/>
          </a:xfrm>
          <a:prstGeom prst="roundRect">
            <a:avLst>
              <a:gd name="adj" fmla="val 28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26187" y="2355175"/>
            <a:ext cx="612458" cy="612458"/>
          </a:xfrm>
          <a:prstGeom prst="roundRect">
            <a:avLst>
              <a:gd name="adj" fmla="val 14928510"/>
            </a:avLst>
          </a:prstGeom>
          <a:solidFill>
            <a:srgbClr val="609DF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542" y="2523530"/>
            <a:ext cx="275630" cy="2756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6187" y="3171706"/>
            <a:ext cx="3044666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Puissance et polyvalence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926187" y="3613190"/>
            <a:ext cx="3332083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Langage très populaire utilisé dans les systèmes d'exploitation, les jeux vidéo et les logiciels embarqués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674037" y="2143482"/>
            <a:ext cx="3755469" cy="2988231"/>
          </a:xfrm>
          <a:prstGeom prst="roundRect">
            <a:avLst>
              <a:gd name="adj" fmla="val 2870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885730" y="2355175"/>
            <a:ext cx="612458" cy="612458"/>
          </a:xfrm>
          <a:prstGeom prst="roundRect">
            <a:avLst>
              <a:gd name="adj" fmla="val 14928510"/>
            </a:avLst>
          </a:prstGeom>
          <a:solidFill>
            <a:srgbClr val="609DF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54084" y="2523530"/>
            <a:ext cx="275630" cy="27563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85730" y="3171706"/>
            <a:ext cx="3120390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Compréhension profonde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4885730" y="3613190"/>
            <a:ext cx="3332083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Maîtriser C permet de comprendre la gestion de la mémoire et le fonctionnement interne des ordinateurs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714494" y="5335786"/>
            <a:ext cx="7715012" cy="2334816"/>
          </a:xfrm>
          <a:prstGeom prst="roundRect">
            <a:avLst>
              <a:gd name="adj" fmla="val 3673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26187" y="5547479"/>
            <a:ext cx="612458" cy="612458"/>
          </a:xfrm>
          <a:prstGeom prst="roundRect">
            <a:avLst>
              <a:gd name="adj" fmla="val 14928510"/>
            </a:avLst>
          </a:prstGeom>
          <a:solidFill>
            <a:srgbClr val="609DF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4542" y="5715833"/>
            <a:ext cx="275630" cy="27563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26187" y="6364010"/>
            <a:ext cx="2552105" cy="319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Proximité matérielle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926187" y="6805493"/>
            <a:ext cx="7291626" cy="653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Syntaxe simple mais proche du matériel, idéal pour apprendre la programmation système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173718"/>
            <a:ext cx="1079873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Structure de base d'un programme C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3798" y="2561987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Éléments essentiels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3798" y="3194328"/>
            <a:ext cx="547497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Inclusion des fichiers d'en-tête avec #include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3798" y="4070271"/>
            <a:ext cx="5474970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 fonction principale int main()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3798" y="4551402"/>
            <a:ext cx="547497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Instructions terminées par un point-virgule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3798" y="5427345"/>
            <a:ext cx="5474970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Accolades pour délimiter les blocs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3798" y="6044208"/>
            <a:ext cx="547497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Chaque programme C commence par la fonction main(), point d'entrée de l'exécution.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948607" y="2592824"/>
            <a:ext cx="6825496" cy="2738914"/>
          </a:xfrm>
          <a:prstGeom prst="roundRect">
            <a:avLst>
              <a:gd name="adj" fmla="val 3785"/>
            </a:avLst>
          </a:prstGeom>
          <a:solidFill>
            <a:srgbClr val="162227"/>
          </a:solidFill>
          <a:ln/>
        </p:spPr>
      </p:sp>
      <p:sp>
        <p:nvSpPr>
          <p:cNvPr id="10" name="Shape 8"/>
          <p:cNvSpPr/>
          <p:nvPr/>
        </p:nvSpPr>
        <p:spPr>
          <a:xfrm>
            <a:off x="6936343" y="2592824"/>
            <a:ext cx="6850023" cy="2738914"/>
          </a:xfrm>
          <a:prstGeom prst="roundRect">
            <a:avLst>
              <a:gd name="adj" fmla="val 1352"/>
            </a:avLst>
          </a:prstGeom>
          <a:solidFill>
            <a:srgbClr val="162227"/>
          </a:solidFill>
          <a:ln/>
        </p:spPr>
      </p:sp>
      <p:sp>
        <p:nvSpPr>
          <p:cNvPr id="11" name="Text 9"/>
          <p:cNvSpPr/>
          <p:nvPr/>
        </p:nvSpPr>
        <p:spPr>
          <a:xfrm>
            <a:off x="7183160" y="2777847"/>
            <a:ext cx="6356390" cy="2368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&lt;stdio.h&gt;int main() {    printf("Hello World");    return 0;}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948607" y="5609392"/>
            <a:ext cx="6825496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Exemple minimal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: afficher "Hello World" avec la fonction printf()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047393"/>
            <a:ext cx="1081266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Les types de données fondamentaux</a:t>
            </a:r>
            <a:endParaRPr lang="en-US" sz="4850" dirty="0"/>
          </a:p>
        </p:txBody>
      </p:sp>
      <p:sp>
        <p:nvSpPr>
          <p:cNvPr id="3" name="Shape 1"/>
          <p:cNvSpPr/>
          <p:nvPr/>
        </p:nvSpPr>
        <p:spPr>
          <a:xfrm>
            <a:off x="863798" y="2312313"/>
            <a:ext cx="4136350" cy="3407807"/>
          </a:xfrm>
          <a:prstGeom prst="roundRect">
            <a:avLst>
              <a:gd name="adj" fmla="val 3042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4278" y="2342793"/>
            <a:ext cx="4075390" cy="740450"/>
          </a:xfrm>
          <a:prstGeom prst="roundRect">
            <a:avLst>
              <a:gd name="adj" fmla="val 9061"/>
            </a:avLst>
          </a:prstGeom>
          <a:solidFill>
            <a:srgbClr val="00318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6891" y="2520315"/>
            <a:ext cx="370165" cy="370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1095" y="3330059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141095" y="3863578"/>
            <a:ext cx="3581757" cy="157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Type entier pour stocker des nombres sans décimales. Occupe généralement 4 octets en mémoire.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246965" y="2312313"/>
            <a:ext cx="4136350" cy="3407807"/>
          </a:xfrm>
          <a:prstGeom prst="roundRect">
            <a:avLst>
              <a:gd name="adj" fmla="val 3042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77445" y="2342793"/>
            <a:ext cx="4075390" cy="740450"/>
          </a:xfrm>
          <a:prstGeom prst="roundRect">
            <a:avLst>
              <a:gd name="adj" fmla="val 9061"/>
            </a:avLst>
          </a:prstGeom>
          <a:solidFill>
            <a:srgbClr val="00318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0058" y="2520315"/>
            <a:ext cx="370165" cy="3701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24262" y="3330059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float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5524262" y="3863578"/>
            <a:ext cx="3581757" cy="1579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Type pour les nombres à virgule flottante, permettant de représenter des valeurs décimales avec précision.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9630132" y="2312313"/>
            <a:ext cx="4136350" cy="3407807"/>
          </a:xfrm>
          <a:prstGeom prst="roundRect">
            <a:avLst>
              <a:gd name="adj" fmla="val 3042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660612" y="2342793"/>
            <a:ext cx="4075390" cy="740450"/>
          </a:xfrm>
          <a:prstGeom prst="roundRect">
            <a:avLst>
              <a:gd name="adj" fmla="val 9061"/>
            </a:avLst>
          </a:prstGeom>
          <a:solidFill>
            <a:srgbClr val="00318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13225" y="2520315"/>
            <a:ext cx="370165" cy="37016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907429" y="3330059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char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9907429" y="3863578"/>
            <a:ext cx="3581757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Type caractère pour stocker une seule lettre, chiffre ou symbole en utilisant 1 octet.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63798" y="5997773"/>
            <a:ext cx="12902803" cy="118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Les </a:t>
            </a:r>
            <a:pPr algn="l"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variables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sont des noms associés à des emplacements mémoire où sont stockées les valeurs. On peut aussi utiliser des </a:t>
            </a:r>
            <a:pPr algn="l"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constantes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et des modificateurs comme 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const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ou 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unsigned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pour préciser le comportement des données.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83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4028" y="3639026"/>
            <a:ext cx="7040880" cy="709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Opérateurs et expressions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4028" y="4688324"/>
            <a:ext cx="510421" cy="510421"/>
          </a:xfrm>
          <a:prstGeom prst="roundRect">
            <a:avLst>
              <a:gd name="adj" fmla="val 18668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531263" y="4766310"/>
            <a:ext cx="3421142" cy="708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Opérateurs arithmétiques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1263" y="5611297"/>
            <a:ext cx="3421142" cy="1452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Les opérateurs de base :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+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(addition),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-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(soustraction),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*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(multiplication),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/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(division),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%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(modulo)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35893" y="4688324"/>
            <a:ext cx="510421" cy="510421"/>
          </a:xfrm>
          <a:prstGeom prst="roundRect">
            <a:avLst>
              <a:gd name="adj" fmla="val 18668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73128" y="4766310"/>
            <a:ext cx="3421261" cy="708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Opérateurs logiques et relationnels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973128" y="5611297"/>
            <a:ext cx="3421261" cy="108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Pour comparer et évaluer :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==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(égalité),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!=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(différence),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&amp;&amp;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(et logique),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||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(ou logique)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77876" y="4688324"/>
            <a:ext cx="510421" cy="510421"/>
          </a:xfrm>
          <a:prstGeom prst="roundRect">
            <a:avLst>
              <a:gd name="adj" fmla="val 18668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15111" y="4766310"/>
            <a:ext cx="3421142" cy="708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Expressions dans les instructions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415111" y="5611297"/>
            <a:ext cx="3421142" cy="1815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Les expressions combinent variables, constantes et opérateurs pour effectuer des calculs et prendre des décisions dans le programme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6375" y="413623"/>
            <a:ext cx="6961227" cy="469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9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Contrôle de flux : conditions et boucles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526375" y="1259562"/>
            <a:ext cx="2559248" cy="234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Instructions conditionnelles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26375" y="1644848"/>
            <a:ext cx="6605349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Permettent d'exécuter du code selon des conditions :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26375" y="2020729"/>
            <a:ext cx="6605349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if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et 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else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: choix binaire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26375" y="2313861"/>
            <a:ext cx="6605349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switch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: choix multiples</a:t>
            </a:r>
            <a:endParaRPr lang="en-US" sz="11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375" y="2723555"/>
            <a:ext cx="6605349" cy="66053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06295" y="1259562"/>
            <a:ext cx="1931908" cy="234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Structures de boucles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506295" y="1644848"/>
            <a:ext cx="6605349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Répètent des instructions automatiquement :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506295" y="2020729"/>
            <a:ext cx="6605349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for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: nombre d'itérations connu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506295" y="2313861"/>
            <a:ext cx="6605349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while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: condition avant l'itération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506295" y="2606993"/>
            <a:ext cx="6605349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609D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do-while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: condition après l'itération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506295" y="3016687"/>
            <a:ext cx="6605349" cy="947023"/>
          </a:xfrm>
          <a:prstGeom prst="roundRect">
            <a:avLst>
              <a:gd name="adj" fmla="val 6671"/>
            </a:avLst>
          </a:prstGeom>
          <a:solidFill>
            <a:srgbClr val="162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7498794" y="3016687"/>
            <a:ext cx="6620351" cy="947023"/>
          </a:xfrm>
          <a:prstGeom prst="roundRect">
            <a:avLst>
              <a:gd name="adj" fmla="val 2382"/>
            </a:avLst>
          </a:prstGeom>
          <a:solidFill>
            <a:srgbClr val="162227"/>
          </a:solidFill>
          <a:ln/>
        </p:spPr>
      </p:sp>
      <p:sp>
        <p:nvSpPr>
          <p:cNvPr id="15" name="Text 12"/>
          <p:cNvSpPr/>
          <p:nvPr/>
        </p:nvSpPr>
        <p:spPr>
          <a:xfrm>
            <a:off x="7649170" y="3129439"/>
            <a:ext cx="6319599" cy="72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for(int i=1; i&lt;=10; i++) { printf("%d\n", i);}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1165" y="590193"/>
            <a:ext cx="9730502" cy="670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Fonctions : modularité et réutilisation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51165" y="1690092"/>
            <a:ext cx="214551" cy="268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01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51165" y="2024301"/>
            <a:ext cx="4232910" cy="3048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5" name="Text 3"/>
          <p:cNvSpPr/>
          <p:nvPr/>
        </p:nvSpPr>
        <p:spPr>
          <a:xfrm>
            <a:off x="751165" y="2192536"/>
            <a:ext cx="2682954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Déclaration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51165" y="2656523"/>
            <a:ext cx="4232910" cy="68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Spécifier le type de retour, le nom et les paramètres de la fonction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198626" y="1690092"/>
            <a:ext cx="214551" cy="268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198626" y="2024301"/>
            <a:ext cx="4233029" cy="3048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9" name="Text 7"/>
          <p:cNvSpPr/>
          <p:nvPr/>
        </p:nvSpPr>
        <p:spPr>
          <a:xfrm>
            <a:off x="5198626" y="2192536"/>
            <a:ext cx="2682954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Définition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198626" y="2656523"/>
            <a:ext cx="4233029" cy="68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Écrire le corps de la fonction entre accolades avec les instructions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646206" y="1690092"/>
            <a:ext cx="214551" cy="268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03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646206" y="2024301"/>
            <a:ext cx="4233029" cy="3048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13" name="Text 11"/>
          <p:cNvSpPr/>
          <p:nvPr/>
        </p:nvSpPr>
        <p:spPr>
          <a:xfrm>
            <a:off x="9646206" y="2192536"/>
            <a:ext cx="2682954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Appel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646206" y="2656523"/>
            <a:ext cx="4233029" cy="68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Utiliser la fonction depuis main() ou d'autres fonctions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51165" y="3960257"/>
            <a:ext cx="311277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Avantages des fonctions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51165" y="4510088"/>
            <a:ext cx="4937046" cy="343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Code réutilisable et organisé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51165" y="4928473"/>
            <a:ext cx="4937046" cy="343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Maintenance simplifiée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51165" y="5346859"/>
            <a:ext cx="4937046" cy="343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Lisibilité améliorée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6219468" y="3987165"/>
            <a:ext cx="7667387" cy="3412331"/>
          </a:xfrm>
          <a:prstGeom prst="roundRect">
            <a:avLst>
              <a:gd name="adj" fmla="val 2642"/>
            </a:avLst>
          </a:prstGeom>
          <a:solidFill>
            <a:srgbClr val="162227"/>
          </a:solidFill>
          <a:ln/>
        </p:spPr>
      </p:sp>
      <p:sp>
        <p:nvSpPr>
          <p:cNvPr id="20" name="Shape 18"/>
          <p:cNvSpPr/>
          <p:nvPr/>
        </p:nvSpPr>
        <p:spPr>
          <a:xfrm>
            <a:off x="6208752" y="3987165"/>
            <a:ext cx="7688818" cy="3412331"/>
          </a:xfrm>
          <a:prstGeom prst="roundRect">
            <a:avLst>
              <a:gd name="adj" fmla="val 944"/>
            </a:avLst>
          </a:prstGeom>
          <a:solidFill>
            <a:srgbClr val="162227"/>
          </a:solidFill>
          <a:ln/>
        </p:spPr>
      </p:sp>
      <p:sp>
        <p:nvSpPr>
          <p:cNvPr id="21" name="Text 19"/>
          <p:cNvSpPr/>
          <p:nvPr/>
        </p:nvSpPr>
        <p:spPr>
          <a:xfrm>
            <a:off x="6423303" y="4148138"/>
            <a:ext cx="7259717" cy="3090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 somme(int a, int b) { return a + b;}int main() { int resultat = somme(5, 3); printf("%d", resultat); return 0;}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1278" y="709255"/>
            <a:ext cx="7741444" cy="1252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Pointeurs : la puissance du langage C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01278" y="2261830"/>
            <a:ext cx="7741444" cy="961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Les pointeurs sont des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highlight>
                  <a:srgbClr val="609DFF"/>
                </a:highlight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variables spéciales qui stockent des adresses mémoire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plutôt que des valeurs directes. Ils permettent une manipulation directe de la mémoire pour optimiser les performances et gérer efficacement les ressources.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01278" y="3649028"/>
            <a:ext cx="2582585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Concept fondamental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01278" y="4162425"/>
            <a:ext cx="3626287" cy="1282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Un pointeur "pointe" vers l'emplacement mémoire d'une autre variable, permettant d'y accéder et de la modifier indirectement.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4824055" y="3674150"/>
            <a:ext cx="3626287" cy="1903095"/>
          </a:xfrm>
          <a:prstGeom prst="roundRect">
            <a:avLst>
              <a:gd name="adj" fmla="val 4422"/>
            </a:avLst>
          </a:prstGeom>
          <a:solidFill>
            <a:srgbClr val="162227"/>
          </a:solidFill>
          <a:ln/>
        </p:spPr>
      </p:sp>
      <p:sp>
        <p:nvSpPr>
          <p:cNvPr id="8" name="Shape 5"/>
          <p:cNvSpPr/>
          <p:nvPr/>
        </p:nvSpPr>
        <p:spPr>
          <a:xfrm>
            <a:off x="4814054" y="3674150"/>
            <a:ext cx="3646289" cy="1903095"/>
          </a:xfrm>
          <a:prstGeom prst="roundRect">
            <a:avLst>
              <a:gd name="adj" fmla="val 1579"/>
            </a:avLst>
          </a:prstGeom>
          <a:solidFill>
            <a:srgbClr val="162227"/>
          </a:solidFill>
          <a:ln/>
        </p:spPr>
      </p:sp>
      <p:sp>
        <p:nvSpPr>
          <p:cNvPr id="9" name="Text 6"/>
          <p:cNvSpPr/>
          <p:nvPr/>
        </p:nvSpPr>
        <p:spPr>
          <a:xfrm>
            <a:off x="5014317" y="3824407"/>
            <a:ext cx="3245763" cy="160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E2E6E9"/>
                </a:solidFill>
                <a:highlight>
                  <a:srgbClr val="16222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 nombre = 42;int *ptr = &amp;nombre;*ptr = 100;// nombre vaut maintenant 100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01278" y="6028015"/>
            <a:ext cx="7741444" cy="1492210"/>
          </a:xfrm>
          <a:prstGeom prst="roundRect">
            <a:avLst>
              <a:gd name="adj" fmla="val 5640"/>
            </a:avLst>
          </a:prstGeom>
          <a:solidFill>
            <a:srgbClr val="001D4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541" y="6331625"/>
            <a:ext cx="250388" cy="20026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52193" y="6278285"/>
            <a:ext cx="6890266" cy="961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Les pointeurs sont l'une des caractéristiques les plus puissantes du C, mais nécessitent une attention particulière pour éviter les erreurs de segmentation.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1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8523" y="446723"/>
            <a:ext cx="4774287" cy="507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Pourquoi maîtriser le C ?</a:t>
            </a:r>
            <a:endParaRPr lang="en-US" sz="31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8523" y="1197888"/>
            <a:ext cx="487323" cy="48732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68523" y="1888212"/>
            <a:ext cx="2030730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Fondation solide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568523" y="2239447"/>
            <a:ext cx="8006953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Base essentielle pour apprendre d'autres langages modernes et comprendre les concepts fondamentaux de la programmation</a:t>
            </a:r>
            <a:endParaRPr lang="en-US" sz="12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8523" y="3083838"/>
            <a:ext cx="487323" cy="48732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68523" y="3774162"/>
            <a:ext cx="2030730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Contrôle total</a:t>
            </a:r>
            <a:endParaRPr lang="en-US" sz="1550" dirty="0"/>
          </a:p>
        </p:txBody>
      </p:sp>
      <p:sp>
        <p:nvSpPr>
          <p:cNvPr id="9" name="Text 4"/>
          <p:cNvSpPr/>
          <p:nvPr/>
        </p:nvSpPr>
        <p:spPr>
          <a:xfrm>
            <a:off x="568523" y="4125397"/>
            <a:ext cx="8006953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Maîtrise précise du matériel et des ressources système pour créer des applications performantes et optimisées</a:t>
            </a:r>
            <a:endParaRPr lang="en-US" sz="12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8523" y="4969788"/>
            <a:ext cx="487323" cy="48732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68523" y="5660112"/>
            <a:ext cx="2068592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Carrière prometteuse</a:t>
            </a:r>
            <a:endParaRPr lang="en-US" sz="1550" dirty="0"/>
          </a:p>
        </p:txBody>
      </p:sp>
      <p:sp>
        <p:nvSpPr>
          <p:cNvPr id="12" name="Text 6"/>
          <p:cNvSpPr/>
          <p:nvPr/>
        </p:nvSpPr>
        <p:spPr>
          <a:xfrm>
            <a:off x="568523" y="6011347"/>
            <a:ext cx="8006953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Langage incontournable pour les développeurs systèmes, embarqués et tous ceux qui recherchent les performances maximales</a:t>
            </a:r>
            <a:endParaRPr lang="en-US" sz="1250" dirty="0"/>
          </a:p>
        </p:txBody>
      </p:sp>
      <p:sp>
        <p:nvSpPr>
          <p:cNvPr id="13" name="Shape 7"/>
          <p:cNvSpPr/>
          <p:nvPr/>
        </p:nvSpPr>
        <p:spPr>
          <a:xfrm>
            <a:off x="568523" y="6794912"/>
            <a:ext cx="8006953" cy="27861"/>
          </a:xfrm>
          <a:prstGeom prst="rect">
            <a:avLst/>
          </a:prstGeom>
          <a:solidFill>
            <a:srgbClr val="E2E6E9">
              <a:alpha val="50000"/>
            </a:srgbClr>
          </a:solidFill>
          <a:ln/>
        </p:spPr>
      </p:sp>
      <p:sp>
        <p:nvSpPr>
          <p:cNvPr id="14" name="Text 8"/>
          <p:cNvSpPr/>
          <p:nvPr/>
        </p:nvSpPr>
        <p:spPr>
          <a:xfrm>
            <a:off x="568523" y="7005518"/>
            <a:ext cx="8006953" cy="779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Prochaines étapes :</a:t>
            </a:r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Pratiquez avec des exemples concrets, écrivez vos propres programmes et expérimentez avec les concepts présentés. La maîtrise du C s'acquiert par la pratique régulière et la résolution de problèmes réels.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2025-11-29T21:48:22Z</dcterms:created>
  <dcterms:modified xsi:type="dcterms:W3CDTF">2025-11-29T21:48:22Z</dcterms:modified>
</cp:coreProperties>
</file>