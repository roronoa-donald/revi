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4630400" cy="8229600"/>
  <p:notesSz cx="8229600" cy="14630400"/>
  <p:embeddedFontLst>
    <p:embeddedFont>
      <p:font typeface="Instrument Sans Medium"/>
      <p:regular r:id="rId13"/>
    </p:embeddedFont>
    <p:embeddedFont>
      <p:font typeface="Instrument Sans Medium"/>
      <p:regular r:id="rId14"/>
    </p:embeddedFont>
    <p:embeddedFont>
      <p:font typeface="Instrument Sans Medium"/>
      <p:regular r:id="rId15"/>
    </p:embeddedFont>
    <p:embeddedFont>
      <p:font typeface="Instrument Sans Medium"/>
      <p:regular r:id="rId16"/>
    </p:embeddedFont>
    <p:embeddedFont>
      <p:font typeface="Inter"/>
      <p:regular r:id="rId17"/>
    </p:embeddedFont>
    <p:embeddedFont>
      <p:font typeface="Inter"/>
      <p:regular r:id="rId18"/>
    </p:embeddedFont>
    <p:embeddedFont>
      <p:font typeface="Inter"/>
      <p:regular r:id="rId19"/>
    </p:embeddedFont>
    <p:embeddedFont>
      <p:font typeface="Inter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font" Target="fonts/font3.fntdata"/><Relationship Id="rId16" Type="http://schemas.openxmlformats.org/officeDocument/2006/relationships/font" Target="fonts/font4.fntdata"/><Relationship Id="rId17" Type="http://schemas.openxmlformats.org/officeDocument/2006/relationships/font" Target="fonts/font5.fntdata"/><Relationship Id="rId18" Type="http://schemas.openxmlformats.org/officeDocument/2006/relationships/font" Target="fonts/font6.fntdata"/><Relationship Id="rId19" Type="http://schemas.openxmlformats.org/officeDocument/2006/relationships/font" Target="fonts/font7.fntdata"/><Relationship Id="rId20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Manipulation de la mémoire dynamique en C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Maîtrisez malloc, calloc et free pour une gestion efficace de la mémoire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28254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Pourquoi la mémoire dynamique ?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267075"/>
            <a:ext cx="292155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Les limites du statique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848219"/>
            <a:ext cx="3501509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tableaux statiques ont une taille fixe définie à la compilation. Cette contrainte pose problème : soit vous allouez trop d'espace (gaspillage), soit pas assez (limitations fonctionnelles).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4856321" y="3267075"/>
            <a:ext cx="350150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La flexibilité du dynamique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856321" y="4202549"/>
            <a:ext cx="3501509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mémoire dynamique permet d'allouer et de libérer de la mémoire pendant l'exécution du programme. Cette approche est essentielle pour gérer des données de taille variable comme les saisies utilisateur.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3889" y="501134"/>
            <a:ext cx="9105186" cy="566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malloc() : allocation mémoire non initialisée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633889" y="1429464"/>
            <a:ext cx="4333399" cy="2347317"/>
          </a:xfrm>
          <a:prstGeom prst="roundRect">
            <a:avLst>
              <a:gd name="adj" fmla="val 1158"/>
            </a:avLst>
          </a:prstGeom>
          <a:solidFill>
            <a:srgbClr val="434348"/>
          </a:solidFill>
          <a:ln/>
        </p:spPr>
      </p:sp>
      <p:sp>
        <p:nvSpPr>
          <p:cNvPr id="4" name="Shape 2"/>
          <p:cNvSpPr/>
          <p:nvPr/>
        </p:nvSpPr>
        <p:spPr>
          <a:xfrm>
            <a:off x="814983" y="1610558"/>
            <a:ext cx="543401" cy="543401"/>
          </a:xfrm>
          <a:prstGeom prst="roundRect">
            <a:avLst>
              <a:gd name="adj" fmla="val 16825669"/>
            </a:avLst>
          </a:prstGeom>
          <a:solidFill>
            <a:srgbClr val="FDC4C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4406" y="1759982"/>
            <a:ext cx="244435" cy="24443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4983" y="2335054"/>
            <a:ext cx="2264212" cy="28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Fonction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814983" y="2726650"/>
            <a:ext cx="3971211" cy="8690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Alloue un bloc contigu de mémoire sur le tas (heap) et retourne un pointeur vers cette zone.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148382" y="1429464"/>
            <a:ext cx="4333518" cy="2347317"/>
          </a:xfrm>
          <a:prstGeom prst="roundRect">
            <a:avLst>
              <a:gd name="adj" fmla="val 1158"/>
            </a:avLst>
          </a:prstGeom>
          <a:solidFill>
            <a:srgbClr val="434348"/>
          </a:solidFill>
          <a:ln/>
        </p:spPr>
      </p:sp>
      <p:sp>
        <p:nvSpPr>
          <p:cNvPr id="9" name="Shape 6"/>
          <p:cNvSpPr/>
          <p:nvPr/>
        </p:nvSpPr>
        <p:spPr>
          <a:xfrm>
            <a:off x="5329476" y="1610558"/>
            <a:ext cx="543401" cy="543401"/>
          </a:xfrm>
          <a:prstGeom prst="roundRect">
            <a:avLst>
              <a:gd name="adj" fmla="val 16825669"/>
            </a:avLst>
          </a:prstGeom>
          <a:solidFill>
            <a:srgbClr val="FDC4C4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78899" y="1759982"/>
            <a:ext cx="244435" cy="24443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29476" y="2335054"/>
            <a:ext cx="2264212" cy="28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Syntaxe</a:t>
            </a:r>
            <a:endParaRPr lang="en-US" sz="1750" dirty="0"/>
          </a:p>
        </p:txBody>
      </p:sp>
      <p:sp>
        <p:nvSpPr>
          <p:cNvPr id="12" name="Text 8"/>
          <p:cNvSpPr/>
          <p:nvPr/>
        </p:nvSpPr>
        <p:spPr>
          <a:xfrm>
            <a:off x="5329476" y="2726650"/>
            <a:ext cx="3971330" cy="297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ptr = (type*) malloc(taille_en_octets);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9662993" y="1429464"/>
            <a:ext cx="4333518" cy="2347317"/>
          </a:xfrm>
          <a:prstGeom prst="roundRect">
            <a:avLst>
              <a:gd name="adj" fmla="val 1158"/>
            </a:avLst>
          </a:prstGeom>
          <a:solidFill>
            <a:srgbClr val="434348"/>
          </a:solidFill>
          <a:ln/>
        </p:spPr>
      </p:sp>
      <p:sp>
        <p:nvSpPr>
          <p:cNvPr id="14" name="Shape 10"/>
          <p:cNvSpPr/>
          <p:nvPr/>
        </p:nvSpPr>
        <p:spPr>
          <a:xfrm>
            <a:off x="9844088" y="1610558"/>
            <a:ext cx="543401" cy="543401"/>
          </a:xfrm>
          <a:prstGeom prst="roundRect">
            <a:avLst>
              <a:gd name="adj" fmla="val 16825669"/>
            </a:avLst>
          </a:prstGeom>
          <a:solidFill>
            <a:srgbClr val="FDC4C4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93511" y="1759982"/>
            <a:ext cx="244435" cy="24443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44088" y="2335054"/>
            <a:ext cx="2264212" cy="28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Attention</a:t>
            </a:r>
            <a:endParaRPr lang="en-US" sz="1750" dirty="0"/>
          </a:p>
        </p:txBody>
      </p:sp>
      <p:sp>
        <p:nvSpPr>
          <p:cNvPr id="17" name="Text 12"/>
          <p:cNvSpPr/>
          <p:nvPr/>
        </p:nvSpPr>
        <p:spPr>
          <a:xfrm>
            <a:off x="9844088" y="2726650"/>
            <a:ext cx="3971330" cy="8690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mémoire allouée contient des valeurs indéfinies (garbage). Il faut initialiser avant utilisation.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633889" y="3980498"/>
            <a:ext cx="13362623" cy="3747849"/>
          </a:xfrm>
          <a:prstGeom prst="roundRect">
            <a:avLst>
              <a:gd name="adj" fmla="val 725"/>
            </a:avLst>
          </a:prstGeom>
          <a:solidFill>
            <a:srgbClr val="313136"/>
          </a:solidFill>
          <a:ln/>
        </p:spPr>
      </p:sp>
      <p:sp>
        <p:nvSpPr>
          <p:cNvPr id="19" name="Shape 14"/>
          <p:cNvSpPr/>
          <p:nvPr/>
        </p:nvSpPr>
        <p:spPr>
          <a:xfrm>
            <a:off x="624840" y="3980498"/>
            <a:ext cx="13380720" cy="3747849"/>
          </a:xfrm>
          <a:prstGeom prst="roundRect">
            <a:avLst>
              <a:gd name="adj" fmla="val 725"/>
            </a:avLst>
          </a:prstGeom>
          <a:solidFill>
            <a:srgbClr val="313136"/>
          </a:solidFill>
          <a:ln/>
        </p:spPr>
      </p:sp>
      <p:sp>
        <p:nvSpPr>
          <p:cNvPr id="20" name="Text 15"/>
          <p:cNvSpPr/>
          <p:nvPr/>
        </p:nvSpPr>
        <p:spPr>
          <a:xfrm>
            <a:off x="805934" y="4116348"/>
            <a:ext cx="13018532" cy="34761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// Exemple pratique d'allocation avec malloc</a:t>
            </a:r>
            <a:endParaRPr lang="en-US" sz="14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int* tableau = (int*) malloc(5 * sizeof(int));</a:t>
            </a:r>
            <a:endParaRPr lang="en-US" sz="1400" dirty="0"/>
          </a:p>
          <a:p>
            <a:pPr algn="l" indent="0" marL="0">
              <a:lnSpc>
                <a:spcPts val="2250"/>
              </a:lnSpc>
              <a:buNone/>
            </a:pPr>
            <a:endParaRPr lang="en-US" sz="14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 (tableau == NULL) {</a:t>
            </a:r>
            <a:endParaRPr lang="en-US" sz="14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printf("Erreur d'allocation mémoire\n");</a:t>
            </a:r>
            <a:endParaRPr lang="en-US" sz="14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return -1;</a:t>
            </a:r>
            <a:endParaRPr lang="en-US" sz="14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algn="l" indent="0" marL="0">
              <a:lnSpc>
                <a:spcPts val="2250"/>
              </a:lnSpc>
              <a:buNone/>
            </a:pPr>
            <a:endParaRPr lang="en-US" sz="14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// Initialisation manuelle nécessaire</a:t>
            </a:r>
            <a:endParaRPr lang="en-US" sz="14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 = 0; i &lt; 5; i++) {</a:t>
            </a:r>
            <a:endParaRPr lang="en-US" sz="14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tableau[i] = i * 10;</a:t>
            </a:r>
            <a:endParaRPr lang="en-US" sz="14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4494" y="564594"/>
            <a:ext cx="10557153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0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calloc() : allocation mémoire initialisée à zéro</a:t>
            </a:r>
            <a:endParaRPr lang="en-US" sz="4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4494" y="1738193"/>
            <a:ext cx="4981813" cy="49818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01847" y="1712714"/>
            <a:ext cx="2905839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Une alternative plus sûre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6201847" y="2235637"/>
            <a:ext cx="7721679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fonction 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calloc()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alloue un bloc mémoire pour un nombre spécifique d'éléments et initialise automatiquement tous les octets à zéro.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201847" y="3093125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Syntaxe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201847" y="3641527"/>
            <a:ext cx="7721679" cy="632698"/>
          </a:xfrm>
          <a:prstGeom prst="roundRect">
            <a:avLst>
              <a:gd name="adj" fmla="val 4840"/>
            </a:avLst>
          </a:prstGeom>
          <a:solidFill>
            <a:srgbClr val="313136"/>
          </a:solidFill>
          <a:ln/>
        </p:spPr>
      </p:sp>
      <p:sp>
        <p:nvSpPr>
          <p:cNvPr id="8" name="Shape 5"/>
          <p:cNvSpPr/>
          <p:nvPr/>
        </p:nvSpPr>
        <p:spPr>
          <a:xfrm>
            <a:off x="6191726" y="3641527"/>
            <a:ext cx="7741920" cy="632698"/>
          </a:xfrm>
          <a:prstGeom prst="roundRect">
            <a:avLst>
              <a:gd name="adj" fmla="val 4840"/>
            </a:avLst>
          </a:prstGeom>
          <a:solidFill>
            <a:srgbClr val="313136"/>
          </a:solidFill>
          <a:ln/>
        </p:spPr>
      </p:sp>
      <p:sp>
        <p:nvSpPr>
          <p:cNvPr id="9" name="Text 6"/>
          <p:cNvSpPr/>
          <p:nvPr/>
        </p:nvSpPr>
        <p:spPr>
          <a:xfrm>
            <a:off x="6395799" y="3794522"/>
            <a:ext cx="7333774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ptr = (type*) calloc(nombre, taille_element);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201847" y="4503777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Exemple pratique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6201847" y="5052179"/>
            <a:ext cx="7721679" cy="959406"/>
          </a:xfrm>
          <a:prstGeom prst="roundRect">
            <a:avLst>
              <a:gd name="adj" fmla="val 3192"/>
            </a:avLst>
          </a:prstGeom>
          <a:solidFill>
            <a:srgbClr val="313136"/>
          </a:solidFill>
          <a:ln/>
        </p:spPr>
      </p:sp>
      <p:sp>
        <p:nvSpPr>
          <p:cNvPr id="12" name="Shape 9"/>
          <p:cNvSpPr/>
          <p:nvPr/>
        </p:nvSpPr>
        <p:spPr>
          <a:xfrm>
            <a:off x="6191726" y="5052179"/>
            <a:ext cx="7741920" cy="959406"/>
          </a:xfrm>
          <a:prstGeom prst="roundRect">
            <a:avLst>
              <a:gd name="adj" fmla="val 3192"/>
            </a:avLst>
          </a:prstGeom>
          <a:solidFill>
            <a:srgbClr val="313136"/>
          </a:solidFill>
          <a:ln/>
        </p:spPr>
      </p:sp>
      <p:sp>
        <p:nvSpPr>
          <p:cNvPr id="13" name="Text 10"/>
          <p:cNvSpPr/>
          <p:nvPr/>
        </p:nvSpPr>
        <p:spPr>
          <a:xfrm>
            <a:off x="6395799" y="5205174"/>
            <a:ext cx="7333774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int* tab = (int*) calloc(5, sizeof(int));</a:t>
            </a:r>
            <a:endParaRPr lang="en-US" sz="1600" dirty="0"/>
          </a:p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// Tous les éléments valent 0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201847" y="6241137"/>
            <a:ext cx="7721679" cy="1194197"/>
          </a:xfrm>
          <a:prstGeom prst="roundRect">
            <a:avLst>
              <a:gd name="adj" fmla="val 2564"/>
            </a:avLst>
          </a:prstGeom>
          <a:solidFill>
            <a:srgbClr val="4A0303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5920" y="6553795"/>
            <a:ext cx="255151" cy="204073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865144" y="6496169"/>
            <a:ext cx="6854309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DC4C4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Avantage :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Pas besoin d'initialisation manuelle. 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C8C7FF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Inconvénient :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Légèrement plus lent que malloc en raison de l'initialisation.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21016" y="757714"/>
            <a:ext cx="7674769" cy="1312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150"/>
              </a:lnSpc>
              <a:buNone/>
            </a:pPr>
            <a:r>
              <a:rPr lang="en-US" sz="41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free() : libération de la mémoire allouée</a:t>
            </a:r>
            <a:endParaRPr lang="en-US" sz="4100" dirty="0"/>
          </a:p>
        </p:txBody>
      </p:sp>
      <p:sp>
        <p:nvSpPr>
          <p:cNvPr id="4" name="Text 1"/>
          <p:cNvSpPr/>
          <p:nvPr/>
        </p:nvSpPr>
        <p:spPr>
          <a:xfrm>
            <a:off x="6221016" y="2384584"/>
            <a:ext cx="209907" cy="262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C7CDD6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01</a:t>
            </a:r>
            <a:endParaRPr lang="en-US" sz="1650" dirty="0"/>
          </a:p>
        </p:txBody>
      </p:sp>
      <p:sp>
        <p:nvSpPr>
          <p:cNvPr id="5" name="Shape 2"/>
          <p:cNvSpPr/>
          <p:nvPr/>
        </p:nvSpPr>
        <p:spPr>
          <a:xfrm>
            <a:off x="6221016" y="2718316"/>
            <a:ext cx="3732371" cy="22860"/>
          </a:xfrm>
          <a:prstGeom prst="rect">
            <a:avLst/>
          </a:prstGeom>
          <a:solidFill>
            <a:srgbClr val="FDC4C4"/>
          </a:solidFill>
          <a:ln/>
        </p:spPr>
      </p:sp>
      <p:sp>
        <p:nvSpPr>
          <p:cNvPr id="6" name="Text 3"/>
          <p:cNvSpPr/>
          <p:nvPr/>
        </p:nvSpPr>
        <p:spPr>
          <a:xfrm>
            <a:off x="6221016" y="2868930"/>
            <a:ext cx="3065740" cy="328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Comprendre le problème</a:t>
            </a:r>
            <a:endParaRPr lang="en-US" sz="2050" dirty="0"/>
          </a:p>
        </p:txBody>
      </p:sp>
      <p:sp>
        <p:nvSpPr>
          <p:cNvPr id="7" name="Text 4"/>
          <p:cNvSpPr/>
          <p:nvPr/>
        </p:nvSpPr>
        <p:spPr>
          <a:xfrm>
            <a:off x="6221016" y="3322796"/>
            <a:ext cx="3732371" cy="1678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mémoire allouée par malloc ou calloc n'est jamais libérée automatiquement par le système. Sans libération explicite, vous créez des fuites mémoire (memory leaks).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0163294" y="2384584"/>
            <a:ext cx="209907" cy="262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C7CDD6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02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10163294" y="2718316"/>
            <a:ext cx="3732490" cy="22860"/>
          </a:xfrm>
          <a:prstGeom prst="rect">
            <a:avLst/>
          </a:prstGeom>
          <a:solidFill>
            <a:srgbClr val="FDC4C4"/>
          </a:solidFill>
          <a:ln/>
        </p:spPr>
      </p:sp>
      <p:sp>
        <p:nvSpPr>
          <p:cNvPr id="10" name="Text 7"/>
          <p:cNvSpPr/>
          <p:nvPr/>
        </p:nvSpPr>
        <p:spPr>
          <a:xfrm>
            <a:off x="10163294" y="2868930"/>
            <a:ext cx="2623899" cy="328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Utiliser free()</a:t>
            </a:r>
            <a:endParaRPr lang="en-US" sz="2050" dirty="0"/>
          </a:p>
        </p:txBody>
      </p:sp>
      <p:sp>
        <p:nvSpPr>
          <p:cNvPr id="11" name="Text 8"/>
          <p:cNvSpPr/>
          <p:nvPr/>
        </p:nvSpPr>
        <p:spPr>
          <a:xfrm>
            <a:off x="10163294" y="3322796"/>
            <a:ext cx="3732490" cy="1343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fonction </a:t>
            </a:r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free(ptr);</a:t>
            </a:r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restitue la mémoire au système. Elle doit être appelée pour chaque bloc alloué dynamiquement.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6221016" y="5368885"/>
            <a:ext cx="209907" cy="262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C7CDD6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03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6221016" y="5702618"/>
            <a:ext cx="7674769" cy="22860"/>
          </a:xfrm>
          <a:prstGeom prst="rect">
            <a:avLst/>
          </a:prstGeom>
          <a:solidFill>
            <a:srgbClr val="FDC4C4"/>
          </a:solidFill>
          <a:ln/>
        </p:spPr>
      </p:sp>
      <p:sp>
        <p:nvSpPr>
          <p:cNvPr id="14" name="Text 11"/>
          <p:cNvSpPr/>
          <p:nvPr/>
        </p:nvSpPr>
        <p:spPr>
          <a:xfrm>
            <a:off x="6221016" y="5853232"/>
            <a:ext cx="2623899" cy="328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Bonne pratique</a:t>
            </a:r>
            <a:endParaRPr lang="en-US" sz="2050" dirty="0"/>
          </a:p>
        </p:txBody>
      </p:sp>
      <p:sp>
        <p:nvSpPr>
          <p:cNvPr id="15" name="Text 12"/>
          <p:cNvSpPr/>
          <p:nvPr/>
        </p:nvSpPr>
        <p:spPr>
          <a:xfrm>
            <a:off x="6221016" y="6307098"/>
            <a:ext cx="7674769" cy="1007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Après avoir libéré la mémoire, mettez toujours le pointeur à NULL : </a:t>
            </a:r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ptr = NULL;</a:t>
            </a:r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Cela évite les pointeurs pendants (dangling pointers) qui peuvent causer des erreurs graves.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7201" y="367070"/>
            <a:ext cx="5005268" cy="417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6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Exemple concret : cycle complet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67201" y="1051084"/>
            <a:ext cx="13695998" cy="213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Voici un exemple pratique illustrant l'allocation, l'utilisation et la libération de mémoire dynamique en C.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67201" y="1414701"/>
            <a:ext cx="13695998" cy="5537002"/>
          </a:xfrm>
          <a:prstGeom prst="roundRect">
            <a:avLst>
              <a:gd name="adj" fmla="val 362"/>
            </a:avLst>
          </a:prstGeom>
          <a:solidFill>
            <a:srgbClr val="313136"/>
          </a:solidFill>
          <a:ln/>
        </p:spPr>
      </p:sp>
      <p:sp>
        <p:nvSpPr>
          <p:cNvPr id="5" name="Shape 3"/>
          <p:cNvSpPr/>
          <p:nvPr/>
        </p:nvSpPr>
        <p:spPr>
          <a:xfrm>
            <a:off x="460534" y="1414701"/>
            <a:ext cx="13709333" cy="5537002"/>
          </a:xfrm>
          <a:prstGeom prst="roundRect">
            <a:avLst>
              <a:gd name="adj" fmla="val 362"/>
            </a:avLst>
          </a:prstGeom>
          <a:solidFill>
            <a:srgbClr val="313136"/>
          </a:solidFill>
          <a:ln/>
        </p:spPr>
      </p:sp>
      <p:sp>
        <p:nvSpPr>
          <p:cNvPr id="6" name="Text 4"/>
          <p:cNvSpPr/>
          <p:nvPr/>
        </p:nvSpPr>
        <p:spPr>
          <a:xfrm>
            <a:off x="594003" y="1514713"/>
            <a:ext cx="13442394" cy="5336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</a:t>
            </a:r>
            <a:endParaRPr lang="en-US" sz="10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</a:t>
            </a:r>
            <a:endParaRPr lang="en-US" sz="1050" dirty="0"/>
          </a:p>
          <a:p>
            <a:pPr algn="l" indent="0" marL="0">
              <a:lnSpc>
                <a:spcPts val="1650"/>
              </a:lnSpc>
              <a:buNone/>
            </a:pPr>
            <a:endParaRPr lang="en-US" sz="10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10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// 1. Allocation avec malloc</a:t>
            </a:r>
            <a:endParaRPr lang="en-US" sz="10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int* nombres = (int*) malloc(5 * sizeof(int));</a:t>
            </a:r>
            <a:endParaRPr lang="en-US" sz="10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// 2. Vérification de l'allocation</a:t>
            </a:r>
            <a:endParaRPr lang="en-US" sz="10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(nombres == NULL) {</a:t>
            </a:r>
            <a:endParaRPr lang="en-US" sz="10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fprintf(stderr, "Échec d'allocation\n");</a:t>
            </a:r>
            <a:endParaRPr lang="en-US" sz="10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1;</a:t>
            </a:r>
            <a:endParaRPr lang="en-US" sz="10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// 3. Utilisation de la mémoire</a:t>
            </a:r>
            <a:endParaRPr lang="en-US" sz="10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i = 0; i &lt; 5; i++) {</a:t>
            </a:r>
            <a:endParaRPr lang="en-US" sz="10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nombres[i] = (i + 1) * 10;</a:t>
            </a:r>
            <a:endParaRPr lang="en-US" sz="10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printf("nombres[%d] = %d\n", i, nombres[i]);</a:t>
            </a:r>
            <a:endParaRPr lang="en-US" sz="10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// 4. Libération de la mémoire</a:t>
            </a:r>
            <a:endParaRPr lang="en-US" sz="10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free(nombres);</a:t>
            </a:r>
            <a:endParaRPr lang="en-US" sz="10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nombres = NULL;  // Bonne pratique</a:t>
            </a:r>
            <a:endParaRPr lang="en-US" sz="10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05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C7CDD6"/>
                </a:solidFill>
                <a:highlight>
                  <a:srgbClr val="3131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7201" y="7101840"/>
            <a:ext cx="300276" cy="300276"/>
          </a:xfrm>
          <a:prstGeom prst="roundRect">
            <a:avLst>
              <a:gd name="adj" fmla="val 6669"/>
            </a:avLst>
          </a:prstGeom>
          <a:solidFill>
            <a:srgbClr val="434348"/>
          </a:solidFill>
          <a:ln/>
        </p:spPr>
      </p:sp>
      <p:sp>
        <p:nvSpPr>
          <p:cNvPr id="8" name="Text 6"/>
          <p:cNvSpPr/>
          <p:nvPr/>
        </p:nvSpPr>
        <p:spPr>
          <a:xfrm>
            <a:off x="900946" y="7147679"/>
            <a:ext cx="1668661" cy="208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Allocation sécurisée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00946" y="7436287"/>
            <a:ext cx="4020383" cy="213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Toujours vérifier si le pointeur retourné n'est pas NULL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88136" y="7101840"/>
            <a:ext cx="300276" cy="300276"/>
          </a:xfrm>
          <a:prstGeom prst="roundRect">
            <a:avLst>
              <a:gd name="adj" fmla="val 6669"/>
            </a:avLst>
          </a:prstGeom>
          <a:solidFill>
            <a:srgbClr val="434348"/>
          </a:solidFill>
          <a:ln/>
        </p:spPr>
      </p:sp>
      <p:sp>
        <p:nvSpPr>
          <p:cNvPr id="11" name="Text 9"/>
          <p:cNvSpPr/>
          <p:nvPr/>
        </p:nvSpPr>
        <p:spPr>
          <a:xfrm>
            <a:off x="5521881" y="7147679"/>
            <a:ext cx="1668661" cy="208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Utilisation prudente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521881" y="7436287"/>
            <a:ext cx="4020383" cy="426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Respecter les limites de la zone allouée pour éviter les dépassements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709071" y="7101840"/>
            <a:ext cx="300276" cy="300276"/>
          </a:xfrm>
          <a:prstGeom prst="roundRect">
            <a:avLst>
              <a:gd name="adj" fmla="val 6669"/>
            </a:avLst>
          </a:prstGeom>
          <a:solidFill>
            <a:srgbClr val="434348"/>
          </a:solidFill>
          <a:ln/>
        </p:spPr>
      </p:sp>
      <p:sp>
        <p:nvSpPr>
          <p:cNvPr id="14" name="Text 12"/>
          <p:cNvSpPr/>
          <p:nvPr/>
        </p:nvSpPr>
        <p:spPr>
          <a:xfrm>
            <a:off x="10142815" y="7147679"/>
            <a:ext cx="1867495" cy="208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Libération systématique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142815" y="7436287"/>
            <a:ext cx="4020383" cy="213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Chaque malloc/calloc doit avoir son free correspondant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2025-12-08T02:54:37Z</dcterms:created>
  <dcterms:modified xsi:type="dcterms:W3CDTF">2025-12-08T02:54:37Z</dcterms:modified>
</cp:coreProperties>
</file>