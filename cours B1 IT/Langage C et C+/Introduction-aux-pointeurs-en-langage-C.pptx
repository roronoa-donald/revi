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Lst>
  <p:notesMasterIdLst>
    <p:notesMasterId r:id="rId6"/>
  </p:notesMasterIdLst>
  <p:sldSz cx="14630400" cy="8229600"/>
  <p:notesSz cx="8229600" cy="14630400"/>
  <p:embeddedFontLst>
    <p:embeddedFont>
      <p:font typeface="Instrument Sans Medium"/>
      <p:regular r:id="rId11"/>
    </p:embeddedFont>
    <p:embeddedFont>
      <p:font typeface="Instrument Sans Medium"/>
      <p:regular r:id="rId12"/>
    </p:embeddedFont>
    <p:embeddedFont>
      <p:font typeface="Instrument Sans Medium"/>
      <p:regular r:id="rId13"/>
    </p:embeddedFont>
    <p:embeddedFont>
      <p:font typeface="Instrument Sans Medium"/>
      <p:regular r:id="rId14"/>
    </p:embeddedFont>
    <p:embeddedFont>
      <p:font typeface="Inter"/>
      <p:regular r:id="rId15"/>
    </p:embeddedFont>
    <p:embeddedFont>
      <p:font typeface="Inter"/>
      <p:regular r:id="rId16"/>
    </p:embeddedFont>
    <p:embeddedFont>
      <p:font typeface="Inter"/>
      <p:regular r:id="rId17"/>
    </p:embeddedFont>
    <p:embeddedFont>
      <p:font typeface="Inter"/>
      <p:regular r:id="rId18"/>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 Id="rId11" Type="http://schemas.openxmlformats.org/officeDocument/2006/relationships/font" Target="fonts/font1.fntdata"/><Relationship Id="rId12" Type="http://schemas.openxmlformats.org/officeDocument/2006/relationships/font" Target="fonts/font2.fntdata"/><Relationship Id="rId13" Type="http://schemas.openxmlformats.org/officeDocument/2006/relationships/font" Target="fonts/font3.fntdata"/><Relationship Id="rId14" Type="http://schemas.openxmlformats.org/officeDocument/2006/relationships/font" Target="fonts/font4.fntdata"/><Relationship Id="rId15" Type="http://schemas.openxmlformats.org/officeDocument/2006/relationships/font" Target="fonts/font5.fntdata"/><Relationship Id="rId16" Type="http://schemas.openxmlformats.org/officeDocument/2006/relationships/font" Target="fonts/font6.fntdata"/><Relationship Id="rId17" Type="http://schemas.openxmlformats.org/officeDocument/2006/relationships/font" Target="fonts/font7.fntdata"/><Relationship Id="rId18" Type="http://schemas.openxmlformats.org/officeDocument/2006/relationships/font" Target="fonts/font8.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719"/>
          </a:solidFill>
          <a:ln/>
        </p:spPr>
      </p:sp>
      <p:sp>
        <p:nvSpPr>
          <p:cNvPr id="3" name="Shape 1"/>
          <p:cNvSpPr/>
          <p:nvPr/>
        </p:nvSpPr>
        <p:spPr>
          <a:xfrm>
            <a:off x="0" y="0"/>
            <a:ext cx="14630400" cy="8229600"/>
          </a:xfrm>
          <a:prstGeom prst="rect">
            <a:avLst/>
          </a:prstGeom>
          <a:solidFill>
            <a:srgbClr val="242429"/>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719"/>
          </a:solidFill>
          <a:ln/>
        </p:spPr>
      </p:sp>
      <p:sp>
        <p:nvSpPr>
          <p:cNvPr id="3" name="Shape 1"/>
          <p:cNvSpPr/>
          <p:nvPr/>
        </p:nvSpPr>
        <p:spPr>
          <a:xfrm>
            <a:off x="0" y="0"/>
            <a:ext cx="14630400" cy="8229600"/>
          </a:xfrm>
          <a:prstGeom prst="rect">
            <a:avLst/>
          </a:prstGeom>
          <a:solidFill>
            <a:srgbClr val="242429"/>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719"/>
          </a:solidFill>
          <a:ln/>
        </p:spPr>
      </p:sp>
      <p:sp>
        <p:nvSpPr>
          <p:cNvPr id="3" name="Shape 1"/>
          <p:cNvSpPr/>
          <p:nvPr/>
        </p:nvSpPr>
        <p:spPr>
          <a:xfrm>
            <a:off x="0" y="0"/>
            <a:ext cx="14630400" cy="8229600"/>
          </a:xfrm>
          <a:prstGeom prst="rect">
            <a:avLst/>
          </a:prstGeom>
          <a:solidFill>
            <a:srgbClr val="242429"/>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719"/>
          </a:solidFill>
          <a:ln/>
        </p:spPr>
      </p:sp>
      <p:sp>
        <p:nvSpPr>
          <p:cNvPr id="3" name="Shape 1"/>
          <p:cNvSpPr/>
          <p:nvPr/>
        </p:nvSpPr>
        <p:spPr>
          <a:xfrm>
            <a:off x="0" y="0"/>
            <a:ext cx="14630400" cy="8229600"/>
          </a:xfrm>
          <a:prstGeom prst="rect">
            <a:avLst/>
          </a:prstGeom>
          <a:solidFill>
            <a:srgbClr val="242429"/>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5.xml"/><Relationship Id="rId6"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2691527"/>
            <a:ext cx="7556421" cy="1417558"/>
          </a:xfrm>
          <a:prstGeom prst="rect">
            <a:avLst/>
          </a:prstGeom>
          <a:noFill/>
          <a:ln/>
        </p:spPr>
        <p:txBody>
          <a:bodyPr wrap="square" lIns="0" tIns="0" rIns="0" bIns="0" rtlCol="0" anchor="t"/>
          <a:lstStyle/>
          <a:p>
            <a:pPr algn="l" indent="0" marL="0">
              <a:lnSpc>
                <a:spcPts val="5550"/>
              </a:lnSpc>
              <a:buNone/>
            </a:pPr>
            <a:r>
              <a:rPr lang="en-US" sz="4450" dirty="0">
                <a:solidFill>
                  <a:srgbClr val="EFD5FA"/>
                </a:solidFill>
                <a:latin typeface="Instrument Sans Medium" pitchFamily="34" charset="0"/>
                <a:ea typeface="Instrument Sans Medium" pitchFamily="34" charset="-122"/>
                <a:cs typeface="Instrument Sans Medium" pitchFamily="34" charset="-120"/>
              </a:rPr>
              <a:t>Introduction aux pointeurs en langage C</a:t>
            </a:r>
            <a:endParaRPr lang="en-US" sz="4450" dirty="0"/>
          </a:p>
        </p:txBody>
      </p:sp>
      <p:sp>
        <p:nvSpPr>
          <p:cNvPr id="4" name="Text 1"/>
          <p:cNvSpPr/>
          <p:nvPr/>
        </p:nvSpPr>
        <p:spPr>
          <a:xfrm>
            <a:off x="793790" y="4449247"/>
            <a:ext cx="7556421" cy="1088708"/>
          </a:xfrm>
          <a:prstGeom prst="rect">
            <a:avLst/>
          </a:prstGeom>
          <a:noFill/>
          <a:ln/>
        </p:spPr>
        <p:txBody>
          <a:bodyPr wrap="square" lIns="0" tIns="0" rIns="0" bIns="0" rtlCol="0" anchor="t"/>
          <a:lstStyle/>
          <a:p>
            <a:pPr algn="l" indent="0" marL="0">
              <a:lnSpc>
                <a:spcPts val="2850"/>
              </a:lnSpc>
              <a:buNone/>
            </a:pPr>
            <a:r>
              <a:rPr lang="en-US" sz="1750" dirty="0">
                <a:solidFill>
                  <a:srgbClr val="C7CDD6"/>
                </a:solidFill>
                <a:latin typeface="Inter" pitchFamily="34" charset="0"/>
                <a:ea typeface="Inter" pitchFamily="34" charset="-122"/>
                <a:cs typeface="Inter" pitchFamily="34" charset="-120"/>
              </a:rPr>
              <a:t>Les pointeurs sont l'un des concepts les plus puissants et essentiels du langage C. Ils permettent une manipulation directe et efficace de la mémoire, offrant un contrôle précis sur les données.</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93038" y="387310"/>
            <a:ext cx="7991951" cy="440174"/>
          </a:xfrm>
          <a:prstGeom prst="rect">
            <a:avLst/>
          </a:prstGeom>
          <a:noFill/>
          <a:ln/>
        </p:spPr>
        <p:txBody>
          <a:bodyPr wrap="none" lIns="0" tIns="0" rIns="0" bIns="0" rtlCol="0" anchor="t"/>
          <a:lstStyle/>
          <a:p>
            <a:pPr algn="l" indent="0" marL="0">
              <a:lnSpc>
                <a:spcPts val="3450"/>
              </a:lnSpc>
              <a:buNone/>
            </a:pPr>
            <a:r>
              <a:rPr lang="en-US" sz="2750" dirty="0">
                <a:solidFill>
                  <a:srgbClr val="EFD5FA"/>
                </a:solidFill>
                <a:latin typeface="Instrument Sans Medium" pitchFamily="34" charset="0"/>
                <a:ea typeface="Instrument Sans Medium" pitchFamily="34" charset="-122"/>
                <a:cs typeface="Instrument Sans Medium" pitchFamily="34" charset="-120"/>
              </a:rPr>
              <a:t>Pourquoi les pointeurs ? Comprendre la mémoire</a:t>
            </a:r>
            <a:endParaRPr lang="en-US" sz="2750" dirty="0"/>
          </a:p>
        </p:txBody>
      </p:sp>
      <p:sp>
        <p:nvSpPr>
          <p:cNvPr id="3" name="Text 1"/>
          <p:cNvSpPr/>
          <p:nvPr/>
        </p:nvSpPr>
        <p:spPr>
          <a:xfrm>
            <a:off x="493038" y="1179552"/>
            <a:ext cx="1796772" cy="220028"/>
          </a:xfrm>
          <a:prstGeom prst="rect">
            <a:avLst/>
          </a:prstGeom>
          <a:noFill/>
          <a:ln/>
        </p:spPr>
        <p:txBody>
          <a:bodyPr wrap="none" lIns="0" tIns="0" rIns="0" bIns="0" rtlCol="0" anchor="t"/>
          <a:lstStyle/>
          <a:p>
            <a:pPr algn="l" indent="0" marL="0">
              <a:lnSpc>
                <a:spcPts val="1700"/>
              </a:lnSpc>
              <a:buNone/>
            </a:pPr>
            <a:r>
              <a:rPr lang="en-US" sz="1350" dirty="0">
                <a:solidFill>
                  <a:srgbClr val="EFD5FA"/>
                </a:solidFill>
                <a:latin typeface="Instrument Sans Medium" pitchFamily="34" charset="0"/>
                <a:ea typeface="Instrument Sans Medium" pitchFamily="34" charset="-122"/>
                <a:cs typeface="Instrument Sans Medium" pitchFamily="34" charset="-120"/>
              </a:rPr>
              <a:t>Concept fondamental</a:t>
            </a:r>
            <a:endParaRPr lang="en-US" sz="1350" dirty="0"/>
          </a:p>
        </p:txBody>
      </p:sp>
      <p:sp>
        <p:nvSpPr>
          <p:cNvPr id="4" name="Text 2"/>
          <p:cNvSpPr/>
          <p:nvPr/>
        </p:nvSpPr>
        <p:spPr>
          <a:xfrm>
            <a:off x="493038" y="1540431"/>
            <a:ext cx="5950863" cy="450533"/>
          </a:xfrm>
          <a:prstGeom prst="rect">
            <a:avLst/>
          </a:prstGeom>
          <a:noFill/>
          <a:ln/>
        </p:spPr>
        <p:txBody>
          <a:bodyPr wrap="square" lIns="0" tIns="0" rIns="0" bIns="0" rtlCol="0" anchor="t"/>
          <a:lstStyle/>
          <a:p>
            <a:pPr algn="l" indent="0" marL="0">
              <a:lnSpc>
                <a:spcPts val="1750"/>
              </a:lnSpc>
              <a:buNone/>
            </a:pPr>
            <a:r>
              <a:rPr lang="en-US" sz="1100" dirty="0">
                <a:solidFill>
                  <a:srgbClr val="C7CDD6"/>
                </a:solidFill>
                <a:latin typeface="Inter" pitchFamily="34" charset="0"/>
                <a:ea typeface="Inter" pitchFamily="34" charset="-122"/>
                <a:cs typeface="Inter" pitchFamily="34" charset="-120"/>
              </a:rPr>
              <a:t>Toute variable est stockée en mémoire à une adresse unique, comme une maison dans une rue.</a:t>
            </a:r>
            <a:endParaRPr lang="en-US" sz="1100" dirty="0"/>
          </a:p>
        </p:txBody>
      </p:sp>
      <p:sp>
        <p:nvSpPr>
          <p:cNvPr id="5" name="Text 3"/>
          <p:cNvSpPr/>
          <p:nvPr/>
        </p:nvSpPr>
        <p:spPr>
          <a:xfrm>
            <a:off x="493038" y="2117646"/>
            <a:ext cx="5950863" cy="450533"/>
          </a:xfrm>
          <a:prstGeom prst="rect">
            <a:avLst/>
          </a:prstGeom>
          <a:noFill/>
          <a:ln/>
        </p:spPr>
        <p:txBody>
          <a:bodyPr wrap="square" lIns="0" tIns="0" rIns="0" bIns="0" rtlCol="0" anchor="t"/>
          <a:lstStyle/>
          <a:p>
            <a:pPr algn="l" indent="0" marL="0">
              <a:lnSpc>
                <a:spcPts val="1750"/>
              </a:lnSpc>
              <a:buNone/>
            </a:pPr>
            <a:r>
              <a:rPr lang="en-US" sz="1100" dirty="0">
                <a:solidFill>
                  <a:srgbClr val="C7CDD6"/>
                </a:solidFill>
                <a:latin typeface="Inter" pitchFamily="34" charset="0"/>
                <a:ea typeface="Inter" pitchFamily="34" charset="-122"/>
                <a:cs typeface="Inter" pitchFamily="34" charset="-120"/>
              </a:rPr>
              <a:t>Un pointeur est une variable spéciale qui contient l'adresse mémoire d'une autre variable plutôt que sa valeur directe.</a:t>
            </a:r>
            <a:endParaRPr lang="en-US" sz="1100" dirty="0"/>
          </a:p>
        </p:txBody>
      </p:sp>
      <p:sp>
        <p:nvSpPr>
          <p:cNvPr id="6" name="Text 4"/>
          <p:cNvSpPr/>
          <p:nvPr/>
        </p:nvSpPr>
        <p:spPr>
          <a:xfrm>
            <a:off x="493038" y="2694861"/>
            <a:ext cx="5950863" cy="225266"/>
          </a:xfrm>
          <a:prstGeom prst="rect">
            <a:avLst/>
          </a:prstGeom>
          <a:noFill/>
          <a:ln/>
        </p:spPr>
        <p:txBody>
          <a:bodyPr wrap="none" lIns="0" tIns="0" rIns="0" bIns="0" rtlCol="0" anchor="t"/>
          <a:lstStyle/>
          <a:p>
            <a:pPr algn="l" indent="0" marL="0">
              <a:lnSpc>
                <a:spcPts val="1750"/>
              </a:lnSpc>
              <a:buNone/>
            </a:pPr>
            <a:r>
              <a:rPr lang="en-US" sz="1100" dirty="0">
                <a:solidFill>
                  <a:srgbClr val="C7CDD6"/>
                </a:solidFill>
                <a:latin typeface="Inter" pitchFamily="34" charset="0"/>
                <a:ea typeface="Inter" pitchFamily="34" charset="-122"/>
                <a:cs typeface="Inter" pitchFamily="34" charset="-120"/>
              </a:rPr>
              <a:t>Manipuler des pointeurs, c'est manipuler directement la mémoire vive de l'ordinateur.</a:t>
            </a:r>
            <a:endParaRPr lang="en-US" sz="1100" dirty="0"/>
          </a:p>
        </p:txBody>
      </p:sp>
      <p:pic>
        <p:nvPicPr>
          <p:cNvPr id="7" name="Image 0" descr="preencoded.png">    </p:cNvPr>
          <p:cNvPicPr>
            <a:picLocks noChangeAspect="1"/>
          </p:cNvPicPr>
          <p:nvPr/>
        </p:nvPicPr>
        <p:blipFill>
          <a:blip r:embed="rId1"/>
          <a:stretch>
            <a:fillRect/>
          </a:stretch>
        </p:blipFill>
        <p:spPr>
          <a:xfrm>
            <a:off x="6795135" y="1197173"/>
            <a:ext cx="7349728" cy="7349728"/>
          </a:xfrm>
          <a:prstGeom prst="rect">
            <a:avLst/>
          </a:prstGeom>
        </p:spPr>
      </p:pic>
      <p:sp>
        <p:nvSpPr>
          <p:cNvPr id="8" name="Shape 5"/>
          <p:cNvSpPr/>
          <p:nvPr/>
        </p:nvSpPr>
        <p:spPr>
          <a:xfrm>
            <a:off x="493038" y="8863846"/>
            <a:ext cx="4454128" cy="811411"/>
          </a:xfrm>
          <a:prstGeom prst="roundRect">
            <a:avLst>
              <a:gd name="adj" fmla="val 2604"/>
            </a:avLst>
          </a:prstGeom>
          <a:solidFill>
            <a:srgbClr val="434348"/>
          </a:solidFill>
          <a:ln/>
        </p:spPr>
      </p:sp>
      <p:sp>
        <p:nvSpPr>
          <p:cNvPr id="9" name="Text 6"/>
          <p:cNvSpPr/>
          <p:nvPr/>
        </p:nvSpPr>
        <p:spPr>
          <a:xfrm>
            <a:off x="633889" y="9004697"/>
            <a:ext cx="1760815" cy="220028"/>
          </a:xfrm>
          <a:prstGeom prst="rect">
            <a:avLst/>
          </a:prstGeom>
          <a:noFill/>
          <a:ln/>
        </p:spPr>
        <p:txBody>
          <a:bodyPr wrap="none" lIns="0" tIns="0" rIns="0" bIns="0" rtlCol="0" anchor="t"/>
          <a:lstStyle/>
          <a:p>
            <a:pPr algn="l" indent="0" marL="0">
              <a:lnSpc>
                <a:spcPts val="1700"/>
              </a:lnSpc>
              <a:buNone/>
            </a:pPr>
            <a:r>
              <a:rPr lang="en-US" sz="1350" dirty="0">
                <a:solidFill>
                  <a:srgbClr val="C7CDD6"/>
                </a:solidFill>
                <a:latin typeface="Instrument Sans Medium" pitchFamily="34" charset="0"/>
                <a:ea typeface="Instrument Sans Medium" pitchFamily="34" charset="-122"/>
                <a:cs typeface="Instrument Sans Medium" pitchFamily="34" charset="-120"/>
              </a:rPr>
              <a:t>Accès efficace</a:t>
            </a:r>
            <a:endParaRPr lang="en-US" sz="1350" dirty="0"/>
          </a:p>
        </p:txBody>
      </p:sp>
      <p:sp>
        <p:nvSpPr>
          <p:cNvPr id="10" name="Text 7"/>
          <p:cNvSpPr/>
          <p:nvPr/>
        </p:nvSpPr>
        <p:spPr>
          <a:xfrm>
            <a:off x="633889" y="9309140"/>
            <a:ext cx="4172426" cy="225266"/>
          </a:xfrm>
          <a:prstGeom prst="rect">
            <a:avLst/>
          </a:prstGeom>
          <a:noFill/>
          <a:ln/>
        </p:spPr>
        <p:txBody>
          <a:bodyPr wrap="none" lIns="0" tIns="0" rIns="0" bIns="0" rtlCol="0" anchor="t"/>
          <a:lstStyle/>
          <a:p>
            <a:pPr algn="l" indent="0" marL="0">
              <a:lnSpc>
                <a:spcPts val="1750"/>
              </a:lnSpc>
              <a:buNone/>
            </a:pPr>
            <a:r>
              <a:rPr lang="en-US" sz="1100" dirty="0">
                <a:solidFill>
                  <a:srgbClr val="C7CDD6"/>
                </a:solidFill>
                <a:latin typeface="Inter" pitchFamily="34" charset="0"/>
                <a:ea typeface="Inter" pitchFamily="34" charset="-122"/>
                <a:cs typeface="Inter" pitchFamily="34" charset="-120"/>
              </a:rPr>
              <a:t>Manipulation directe des données sans copie</a:t>
            </a:r>
            <a:endParaRPr lang="en-US" sz="1100" dirty="0"/>
          </a:p>
        </p:txBody>
      </p:sp>
      <p:sp>
        <p:nvSpPr>
          <p:cNvPr id="11" name="Shape 8"/>
          <p:cNvSpPr/>
          <p:nvPr/>
        </p:nvSpPr>
        <p:spPr>
          <a:xfrm>
            <a:off x="5088017" y="8863846"/>
            <a:ext cx="4454247" cy="811411"/>
          </a:xfrm>
          <a:prstGeom prst="roundRect">
            <a:avLst>
              <a:gd name="adj" fmla="val 2604"/>
            </a:avLst>
          </a:prstGeom>
          <a:solidFill>
            <a:srgbClr val="434348"/>
          </a:solidFill>
          <a:ln/>
        </p:spPr>
      </p:sp>
      <p:sp>
        <p:nvSpPr>
          <p:cNvPr id="12" name="Text 9"/>
          <p:cNvSpPr/>
          <p:nvPr/>
        </p:nvSpPr>
        <p:spPr>
          <a:xfrm>
            <a:off x="5228868" y="9004697"/>
            <a:ext cx="1760815" cy="220028"/>
          </a:xfrm>
          <a:prstGeom prst="rect">
            <a:avLst/>
          </a:prstGeom>
          <a:noFill/>
          <a:ln/>
        </p:spPr>
        <p:txBody>
          <a:bodyPr wrap="none" lIns="0" tIns="0" rIns="0" bIns="0" rtlCol="0" anchor="t"/>
          <a:lstStyle/>
          <a:p>
            <a:pPr algn="l" indent="0" marL="0">
              <a:lnSpc>
                <a:spcPts val="1700"/>
              </a:lnSpc>
              <a:buNone/>
            </a:pPr>
            <a:r>
              <a:rPr lang="en-US" sz="1350" dirty="0">
                <a:solidFill>
                  <a:srgbClr val="C7CDD6"/>
                </a:solidFill>
                <a:latin typeface="Instrument Sans Medium" pitchFamily="34" charset="0"/>
                <a:ea typeface="Instrument Sans Medium" pitchFamily="34" charset="-122"/>
                <a:cs typeface="Instrument Sans Medium" pitchFamily="34" charset="-120"/>
              </a:rPr>
              <a:t>Flexibilité</a:t>
            </a:r>
            <a:endParaRPr lang="en-US" sz="1350" dirty="0"/>
          </a:p>
        </p:txBody>
      </p:sp>
      <p:sp>
        <p:nvSpPr>
          <p:cNvPr id="13" name="Text 10"/>
          <p:cNvSpPr/>
          <p:nvPr/>
        </p:nvSpPr>
        <p:spPr>
          <a:xfrm>
            <a:off x="5228868" y="9309140"/>
            <a:ext cx="4172545" cy="225266"/>
          </a:xfrm>
          <a:prstGeom prst="rect">
            <a:avLst/>
          </a:prstGeom>
          <a:noFill/>
          <a:ln/>
        </p:spPr>
        <p:txBody>
          <a:bodyPr wrap="none" lIns="0" tIns="0" rIns="0" bIns="0" rtlCol="0" anchor="t"/>
          <a:lstStyle/>
          <a:p>
            <a:pPr algn="l" indent="0" marL="0">
              <a:lnSpc>
                <a:spcPts val="1750"/>
              </a:lnSpc>
              <a:buNone/>
            </a:pPr>
            <a:r>
              <a:rPr lang="en-US" sz="1100" dirty="0">
                <a:solidFill>
                  <a:srgbClr val="C7CDD6"/>
                </a:solidFill>
                <a:latin typeface="Inter" pitchFamily="34" charset="0"/>
                <a:ea typeface="Inter" pitchFamily="34" charset="-122"/>
                <a:cs typeface="Inter" pitchFamily="34" charset="-120"/>
              </a:rPr>
              <a:t>Allocation dynamique de mémoire</a:t>
            </a:r>
            <a:endParaRPr lang="en-US" sz="1100" dirty="0"/>
          </a:p>
        </p:txBody>
      </p:sp>
      <p:sp>
        <p:nvSpPr>
          <p:cNvPr id="14" name="Shape 11"/>
          <p:cNvSpPr/>
          <p:nvPr/>
        </p:nvSpPr>
        <p:spPr>
          <a:xfrm>
            <a:off x="9683115" y="8863846"/>
            <a:ext cx="4454247" cy="811411"/>
          </a:xfrm>
          <a:prstGeom prst="roundRect">
            <a:avLst>
              <a:gd name="adj" fmla="val 2604"/>
            </a:avLst>
          </a:prstGeom>
          <a:solidFill>
            <a:srgbClr val="434348"/>
          </a:solidFill>
          <a:ln/>
        </p:spPr>
      </p:sp>
      <p:sp>
        <p:nvSpPr>
          <p:cNvPr id="15" name="Text 12"/>
          <p:cNvSpPr/>
          <p:nvPr/>
        </p:nvSpPr>
        <p:spPr>
          <a:xfrm>
            <a:off x="9823966" y="9004697"/>
            <a:ext cx="1760815" cy="220028"/>
          </a:xfrm>
          <a:prstGeom prst="rect">
            <a:avLst/>
          </a:prstGeom>
          <a:noFill/>
          <a:ln/>
        </p:spPr>
        <p:txBody>
          <a:bodyPr wrap="none" lIns="0" tIns="0" rIns="0" bIns="0" rtlCol="0" anchor="t"/>
          <a:lstStyle/>
          <a:p>
            <a:pPr algn="l" indent="0" marL="0">
              <a:lnSpc>
                <a:spcPts val="1700"/>
              </a:lnSpc>
              <a:buNone/>
            </a:pPr>
            <a:r>
              <a:rPr lang="en-US" sz="1350" dirty="0">
                <a:solidFill>
                  <a:srgbClr val="C7CDD6"/>
                </a:solidFill>
                <a:latin typeface="Instrument Sans Medium" pitchFamily="34" charset="0"/>
                <a:ea typeface="Instrument Sans Medium" pitchFamily="34" charset="-122"/>
                <a:cs typeface="Instrument Sans Medium" pitchFamily="34" charset="-120"/>
              </a:rPr>
              <a:t>Performance</a:t>
            </a:r>
            <a:endParaRPr lang="en-US" sz="1350" dirty="0"/>
          </a:p>
        </p:txBody>
      </p:sp>
      <p:sp>
        <p:nvSpPr>
          <p:cNvPr id="16" name="Text 13"/>
          <p:cNvSpPr/>
          <p:nvPr/>
        </p:nvSpPr>
        <p:spPr>
          <a:xfrm>
            <a:off x="9823966" y="9309140"/>
            <a:ext cx="4172545" cy="225266"/>
          </a:xfrm>
          <a:prstGeom prst="rect">
            <a:avLst/>
          </a:prstGeom>
          <a:noFill/>
          <a:ln/>
        </p:spPr>
        <p:txBody>
          <a:bodyPr wrap="none" lIns="0" tIns="0" rIns="0" bIns="0" rtlCol="0" anchor="t"/>
          <a:lstStyle/>
          <a:p>
            <a:pPr algn="l" indent="0" marL="0">
              <a:lnSpc>
                <a:spcPts val="1750"/>
              </a:lnSpc>
              <a:buNone/>
            </a:pPr>
            <a:r>
              <a:rPr lang="en-US" sz="1100" dirty="0">
                <a:solidFill>
                  <a:srgbClr val="C7CDD6"/>
                </a:solidFill>
                <a:latin typeface="Inter" pitchFamily="34" charset="0"/>
                <a:ea typeface="Inter" pitchFamily="34" charset="-122"/>
                <a:cs typeface="Inter" pitchFamily="34" charset="-120"/>
              </a:rPr>
              <a:t>Passage par référence aux fonctions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31148"/>
          </a:xfrm>
          <a:prstGeom prst="rect">
            <a:avLst/>
          </a:prstGeom>
        </p:spPr>
      </p:pic>
      <p:sp>
        <p:nvSpPr>
          <p:cNvPr id="3" name="Text 0"/>
          <p:cNvSpPr/>
          <p:nvPr/>
        </p:nvSpPr>
        <p:spPr>
          <a:xfrm>
            <a:off x="730568" y="574000"/>
            <a:ext cx="7682865" cy="1304449"/>
          </a:xfrm>
          <a:prstGeom prst="rect">
            <a:avLst/>
          </a:prstGeom>
          <a:noFill/>
          <a:ln/>
        </p:spPr>
        <p:txBody>
          <a:bodyPr wrap="square" lIns="0" tIns="0" rIns="0" bIns="0" rtlCol="0" anchor="t"/>
          <a:lstStyle/>
          <a:p>
            <a:pPr algn="l" indent="0" marL="0">
              <a:lnSpc>
                <a:spcPts val="5100"/>
              </a:lnSpc>
              <a:buNone/>
            </a:pPr>
            <a:r>
              <a:rPr lang="en-US" sz="4100" dirty="0">
                <a:solidFill>
                  <a:srgbClr val="EFD5FA"/>
                </a:solidFill>
                <a:latin typeface="Instrument Sans Medium" pitchFamily="34" charset="0"/>
                <a:ea typeface="Instrument Sans Medium" pitchFamily="34" charset="-122"/>
                <a:cs typeface="Instrument Sans Medium" pitchFamily="34" charset="-120"/>
              </a:rPr>
              <a:t>Déclaration d'un pointeur : la syntaxe clé</a:t>
            </a:r>
            <a:endParaRPr lang="en-US" sz="4100" dirty="0"/>
          </a:p>
        </p:txBody>
      </p:sp>
      <p:sp>
        <p:nvSpPr>
          <p:cNvPr id="4" name="Text 1"/>
          <p:cNvSpPr/>
          <p:nvPr/>
        </p:nvSpPr>
        <p:spPr>
          <a:xfrm>
            <a:off x="730568" y="2191583"/>
            <a:ext cx="208717" cy="260866"/>
          </a:xfrm>
          <a:prstGeom prst="rect">
            <a:avLst/>
          </a:prstGeom>
          <a:noFill/>
          <a:ln/>
        </p:spPr>
        <p:txBody>
          <a:bodyPr wrap="none" lIns="0" tIns="0" rIns="0" bIns="0" rtlCol="0" anchor="t"/>
          <a:lstStyle/>
          <a:p>
            <a:pPr algn="l" indent="0" marL="0">
              <a:lnSpc>
                <a:spcPts val="2600"/>
              </a:lnSpc>
              <a:buNone/>
            </a:pPr>
            <a:r>
              <a:rPr lang="en-US" sz="1600" dirty="0">
                <a:solidFill>
                  <a:srgbClr val="C7CDD6"/>
                </a:solidFill>
                <a:latin typeface="Instrument Sans Light" pitchFamily="34" charset="0"/>
                <a:ea typeface="Instrument Sans Light" pitchFamily="34" charset="-122"/>
                <a:cs typeface="Instrument Sans Light" pitchFamily="34" charset="-120"/>
              </a:rPr>
              <a:t>01</a:t>
            </a:r>
            <a:endParaRPr lang="en-US" sz="1600" dirty="0"/>
          </a:p>
        </p:txBody>
      </p:sp>
      <p:sp>
        <p:nvSpPr>
          <p:cNvPr id="5" name="Shape 2"/>
          <p:cNvSpPr/>
          <p:nvPr/>
        </p:nvSpPr>
        <p:spPr>
          <a:xfrm>
            <a:off x="730568" y="2523411"/>
            <a:ext cx="3737015" cy="22860"/>
          </a:xfrm>
          <a:prstGeom prst="rect">
            <a:avLst/>
          </a:prstGeom>
          <a:solidFill>
            <a:srgbClr val="FDC4C4"/>
          </a:solidFill>
          <a:ln/>
        </p:spPr>
      </p:sp>
      <p:sp>
        <p:nvSpPr>
          <p:cNvPr id="6" name="Text 3"/>
          <p:cNvSpPr/>
          <p:nvPr/>
        </p:nvSpPr>
        <p:spPr>
          <a:xfrm>
            <a:off x="730568" y="2673429"/>
            <a:ext cx="2609493" cy="326231"/>
          </a:xfrm>
          <a:prstGeom prst="rect">
            <a:avLst/>
          </a:prstGeom>
          <a:noFill/>
          <a:ln/>
        </p:spPr>
        <p:txBody>
          <a:bodyPr wrap="none" lIns="0" tIns="0" rIns="0" bIns="0" rtlCol="0" anchor="t"/>
          <a:lstStyle/>
          <a:p>
            <a:pPr algn="l" indent="0" marL="0">
              <a:lnSpc>
                <a:spcPts val="2550"/>
              </a:lnSpc>
              <a:buNone/>
            </a:pPr>
            <a:r>
              <a:rPr lang="en-US" sz="2050" dirty="0">
                <a:solidFill>
                  <a:srgbClr val="C7CDD6"/>
                </a:solidFill>
                <a:latin typeface="Instrument Sans Medium" pitchFamily="34" charset="0"/>
                <a:ea typeface="Instrument Sans Medium" pitchFamily="34" charset="-122"/>
                <a:cs typeface="Instrument Sans Medium" pitchFamily="34" charset="-120"/>
              </a:rPr>
              <a:t>Syntaxe générale</a:t>
            </a:r>
            <a:endParaRPr lang="en-US" sz="2050" dirty="0"/>
          </a:p>
        </p:txBody>
      </p:sp>
      <p:sp>
        <p:nvSpPr>
          <p:cNvPr id="7" name="Text 4"/>
          <p:cNvSpPr/>
          <p:nvPr/>
        </p:nvSpPr>
        <p:spPr>
          <a:xfrm>
            <a:off x="730568" y="3124914"/>
            <a:ext cx="3737015" cy="682943"/>
          </a:xfrm>
          <a:prstGeom prst="rect">
            <a:avLst/>
          </a:prstGeom>
          <a:noFill/>
          <a:ln/>
        </p:spPr>
        <p:txBody>
          <a:bodyPr wrap="square" lIns="0" tIns="0" rIns="0" bIns="0" rtlCol="0" anchor="t"/>
          <a:lstStyle/>
          <a:p>
            <a:pPr algn="l" indent="0" marL="0">
              <a:lnSpc>
                <a:spcPts val="2600"/>
              </a:lnSpc>
              <a:buNone/>
            </a:pPr>
            <a:r>
              <a:rPr lang="en-US" sz="1600" dirty="0">
                <a:solidFill>
                  <a:srgbClr val="C7CDD6"/>
                </a:solidFill>
                <a:latin typeface="Inter" pitchFamily="34" charset="0"/>
                <a:ea typeface="Inter" pitchFamily="34" charset="-122"/>
                <a:cs typeface="Inter" pitchFamily="34" charset="-120"/>
              </a:rPr>
              <a:t>La forme de base est : </a:t>
            </a:r>
            <a:pPr algn="l" indent="0" marL="0">
              <a:lnSpc>
                <a:spcPts val="2600"/>
              </a:lnSpc>
              <a:buNone/>
            </a:pPr>
            <a:r>
              <a:rPr lang="en-US" sz="1600" dirty="0">
                <a:solidFill>
                  <a:srgbClr val="C7CDD6"/>
                </a:solidFill>
                <a:highlight>
                  <a:srgbClr val="313136"/>
                </a:highlight>
                <a:latin typeface="Consolas" pitchFamily="34" charset="0"/>
                <a:ea typeface="Consolas" pitchFamily="34" charset="-122"/>
                <a:cs typeface="Consolas" pitchFamily="34" charset="-120"/>
              </a:rPr>
              <a:t>type *nom_du_pointeur;</a:t>
            </a:r>
            <a:endParaRPr lang="en-US" sz="1600" dirty="0"/>
          </a:p>
        </p:txBody>
      </p:sp>
      <p:sp>
        <p:nvSpPr>
          <p:cNvPr id="8" name="Text 5"/>
          <p:cNvSpPr/>
          <p:nvPr/>
        </p:nvSpPr>
        <p:spPr>
          <a:xfrm>
            <a:off x="730568" y="3933111"/>
            <a:ext cx="3737015" cy="667703"/>
          </a:xfrm>
          <a:prstGeom prst="rect">
            <a:avLst/>
          </a:prstGeom>
          <a:noFill/>
          <a:ln/>
        </p:spPr>
        <p:txBody>
          <a:bodyPr wrap="square" lIns="0" tIns="0" rIns="0" bIns="0" rtlCol="0" anchor="t"/>
          <a:lstStyle/>
          <a:p>
            <a:pPr algn="l" indent="0" marL="0">
              <a:lnSpc>
                <a:spcPts val="2600"/>
              </a:lnSpc>
              <a:buNone/>
            </a:pPr>
            <a:r>
              <a:rPr lang="en-US" sz="1600" dirty="0">
                <a:solidFill>
                  <a:srgbClr val="C7CDD6"/>
                </a:solidFill>
                <a:latin typeface="Inter" pitchFamily="34" charset="0"/>
                <a:ea typeface="Inter" pitchFamily="34" charset="-122"/>
                <a:cs typeface="Inter" pitchFamily="34" charset="-120"/>
              </a:rPr>
              <a:t>Le type indique quel genre de données le pointeur va référencer.</a:t>
            </a:r>
            <a:endParaRPr lang="en-US" sz="1600" dirty="0"/>
          </a:p>
        </p:txBody>
      </p:sp>
      <p:sp>
        <p:nvSpPr>
          <p:cNvPr id="9" name="Text 6"/>
          <p:cNvSpPr/>
          <p:nvPr/>
        </p:nvSpPr>
        <p:spPr>
          <a:xfrm>
            <a:off x="4676299" y="2191583"/>
            <a:ext cx="208717" cy="260866"/>
          </a:xfrm>
          <a:prstGeom prst="rect">
            <a:avLst/>
          </a:prstGeom>
          <a:noFill/>
          <a:ln/>
        </p:spPr>
        <p:txBody>
          <a:bodyPr wrap="none" lIns="0" tIns="0" rIns="0" bIns="0" rtlCol="0" anchor="t"/>
          <a:lstStyle/>
          <a:p>
            <a:pPr algn="l" indent="0" marL="0">
              <a:lnSpc>
                <a:spcPts val="2600"/>
              </a:lnSpc>
              <a:buNone/>
            </a:pPr>
            <a:r>
              <a:rPr lang="en-US" sz="1600" dirty="0">
                <a:solidFill>
                  <a:srgbClr val="C7CDD6"/>
                </a:solidFill>
                <a:latin typeface="Instrument Sans Light" pitchFamily="34" charset="0"/>
                <a:ea typeface="Instrument Sans Light" pitchFamily="34" charset="-122"/>
                <a:cs typeface="Instrument Sans Light" pitchFamily="34" charset="-120"/>
              </a:rPr>
              <a:t>02</a:t>
            </a:r>
            <a:endParaRPr lang="en-US" sz="1600" dirty="0"/>
          </a:p>
        </p:txBody>
      </p:sp>
      <p:sp>
        <p:nvSpPr>
          <p:cNvPr id="10" name="Shape 7"/>
          <p:cNvSpPr/>
          <p:nvPr/>
        </p:nvSpPr>
        <p:spPr>
          <a:xfrm>
            <a:off x="4676299" y="2523411"/>
            <a:ext cx="3737134" cy="22860"/>
          </a:xfrm>
          <a:prstGeom prst="rect">
            <a:avLst/>
          </a:prstGeom>
          <a:solidFill>
            <a:srgbClr val="FDC4C4"/>
          </a:solidFill>
          <a:ln/>
        </p:spPr>
      </p:sp>
      <p:sp>
        <p:nvSpPr>
          <p:cNvPr id="11" name="Text 8"/>
          <p:cNvSpPr/>
          <p:nvPr/>
        </p:nvSpPr>
        <p:spPr>
          <a:xfrm>
            <a:off x="4676299" y="2673429"/>
            <a:ext cx="2609493" cy="326231"/>
          </a:xfrm>
          <a:prstGeom prst="rect">
            <a:avLst/>
          </a:prstGeom>
          <a:noFill/>
          <a:ln/>
        </p:spPr>
        <p:txBody>
          <a:bodyPr wrap="none" lIns="0" tIns="0" rIns="0" bIns="0" rtlCol="0" anchor="t"/>
          <a:lstStyle/>
          <a:p>
            <a:pPr algn="l" indent="0" marL="0">
              <a:lnSpc>
                <a:spcPts val="2550"/>
              </a:lnSpc>
              <a:buNone/>
            </a:pPr>
            <a:r>
              <a:rPr lang="en-US" sz="2050" dirty="0">
                <a:solidFill>
                  <a:srgbClr val="C7CDD6"/>
                </a:solidFill>
                <a:latin typeface="Instrument Sans Medium" pitchFamily="34" charset="0"/>
                <a:ea typeface="Instrument Sans Medium" pitchFamily="34" charset="-122"/>
                <a:cs typeface="Instrument Sans Medium" pitchFamily="34" charset="-120"/>
              </a:rPr>
              <a:t>Exemples pratiques</a:t>
            </a:r>
            <a:endParaRPr lang="en-US" sz="2050" dirty="0"/>
          </a:p>
        </p:txBody>
      </p:sp>
      <p:sp>
        <p:nvSpPr>
          <p:cNvPr id="12" name="Text 9"/>
          <p:cNvSpPr/>
          <p:nvPr/>
        </p:nvSpPr>
        <p:spPr>
          <a:xfrm>
            <a:off x="4676299" y="3124914"/>
            <a:ext cx="3737134" cy="675323"/>
          </a:xfrm>
          <a:prstGeom prst="rect">
            <a:avLst/>
          </a:prstGeom>
          <a:noFill/>
          <a:ln/>
        </p:spPr>
        <p:txBody>
          <a:bodyPr wrap="square" lIns="0" tIns="0" rIns="0" bIns="0" rtlCol="0" anchor="t"/>
          <a:lstStyle/>
          <a:p>
            <a:pPr algn="l" indent="0" marL="0">
              <a:lnSpc>
                <a:spcPts val="2600"/>
              </a:lnSpc>
              <a:buNone/>
            </a:pPr>
            <a:r>
              <a:rPr lang="en-US" sz="1600" dirty="0">
                <a:solidFill>
                  <a:srgbClr val="C7CDD6"/>
                </a:solidFill>
                <a:highlight>
                  <a:srgbClr val="313136"/>
                </a:highlight>
                <a:latin typeface="Consolas" pitchFamily="34" charset="0"/>
                <a:ea typeface="Consolas" pitchFamily="34" charset="-122"/>
                <a:cs typeface="Consolas" pitchFamily="34" charset="-120"/>
              </a:rPr>
              <a:t>int *p;</a:t>
            </a:r>
            <a:pPr algn="l" indent="0" marL="0">
              <a:lnSpc>
                <a:spcPts val="2600"/>
              </a:lnSpc>
              <a:buNone/>
            </a:pPr>
            <a:r>
              <a:rPr lang="en-US" sz="1600" dirty="0">
                <a:solidFill>
                  <a:srgbClr val="C7CDD6"/>
                </a:solidFill>
                <a:latin typeface="Inter" pitchFamily="34" charset="0"/>
                <a:ea typeface="Inter" pitchFamily="34" charset="-122"/>
                <a:cs typeface="Inter" pitchFamily="34" charset="-120"/>
              </a:rPr>
              <a:t> déclare un pointeur vers un entier</a:t>
            </a:r>
            <a:endParaRPr lang="en-US" sz="1600" dirty="0"/>
          </a:p>
        </p:txBody>
      </p:sp>
      <p:sp>
        <p:nvSpPr>
          <p:cNvPr id="13" name="Text 10"/>
          <p:cNvSpPr/>
          <p:nvPr/>
        </p:nvSpPr>
        <p:spPr>
          <a:xfrm>
            <a:off x="4676299" y="3925491"/>
            <a:ext cx="3737134" cy="675323"/>
          </a:xfrm>
          <a:prstGeom prst="rect">
            <a:avLst/>
          </a:prstGeom>
          <a:noFill/>
          <a:ln/>
        </p:spPr>
        <p:txBody>
          <a:bodyPr wrap="square" lIns="0" tIns="0" rIns="0" bIns="0" rtlCol="0" anchor="t"/>
          <a:lstStyle/>
          <a:p>
            <a:pPr algn="l" indent="0" marL="0">
              <a:lnSpc>
                <a:spcPts val="2600"/>
              </a:lnSpc>
              <a:buNone/>
            </a:pPr>
            <a:r>
              <a:rPr lang="en-US" sz="1600" dirty="0">
                <a:solidFill>
                  <a:srgbClr val="C7CDD6"/>
                </a:solidFill>
                <a:highlight>
                  <a:srgbClr val="313136"/>
                </a:highlight>
                <a:latin typeface="Consolas" pitchFamily="34" charset="0"/>
                <a:ea typeface="Consolas" pitchFamily="34" charset="-122"/>
                <a:cs typeface="Consolas" pitchFamily="34" charset="-120"/>
              </a:rPr>
              <a:t>char *c;</a:t>
            </a:r>
            <a:pPr algn="l" indent="0" marL="0">
              <a:lnSpc>
                <a:spcPts val="2600"/>
              </a:lnSpc>
              <a:buNone/>
            </a:pPr>
            <a:r>
              <a:rPr lang="en-US" sz="1600" dirty="0">
                <a:solidFill>
                  <a:srgbClr val="C7CDD6"/>
                </a:solidFill>
                <a:latin typeface="Inter" pitchFamily="34" charset="0"/>
                <a:ea typeface="Inter" pitchFamily="34" charset="-122"/>
                <a:cs typeface="Inter" pitchFamily="34" charset="-120"/>
              </a:rPr>
              <a:t> déclare un pointeur vers un caractère</a:t>
            </a:r>
            <a:endParaRPr lang="en-US" sz="1600" dirty="0"/>
          </a:p>
        </p:txBody>
      </p:sp>
      <p:sp>
        <p:nvSpPr>
          <p:cNvPr id="14" name="Text 11"/>
          <p:cNvSpPr/>
          <p:nvPr/>
        </p:nvSpPr>
        <p:spPr>
          <a:xfrm>
            <a:off x="4676299" y="4726067"/>
            <a:ext cx="3737134" cy="675323"/>
          </a:xfrm>
          <a:prstGeom prst="rect">
            <a:avLst/>
          </a:prstGeom>
          <a:noFill/>
          <a:ln/>
        </p:spPr>
        <p:txBody>
          <a:bodyPr wrap="square" lIns="0" tIns="0" rIns="0" bIns="0" rtlCol="0" anchor="t"/>
          <a:lstStyle/>
          <a:p>
            <a:pPr algn="l" indent="0" marL="0">
              <a:lnSpc>
                <a:spcPts val="2600"/>
              </a:lnSpc>
              <a:buNone/>
            </a:pPr>
            <a:r>
              <a:rPr lang="en-US" sz="1600" dirty="0">
                <a:solidFill>
                  <a:srgbClr val="C7CDD6"/>
                </a:solidFill>
                <a:highlight>
                  <a:srgbClr val="313136"/>
                </a:highlight>
                <a:latin typeface="Consolas" pitchFamily="34" charset="0"/>
                <a:ea typeface="Consolas" pitchFamily="34" charset="-122"/>
                <a:cs typeface="Consolas" pitchFamily="34" charset="-120"/>
              </a:rPr>
              <a:t>float *f;</a:t>
            </a:r>
            <a:pPr algn="l" indent="0" marL="0">
              <a:lnSpc>
                <a:spcPts val="2600"/>
              </a:lnSpc>
              <a:buNone/>
            </a:pPr>
            <a:r>
              <a:rPr lang="en-US" sz="1600" dirty="0">
                <a:solidFill>
                  <a:srgbClr val="C7CDD6"/>
                </a:solidFill>
                <a:latin typeface="Inter" pitchFamily="34" charset="0"/>
                <a:ea typeface="Inter" pitchFamily="34" charset="-122"/>
                <a:cs typeface="Inter" pitchFamily="34" charset="-120"/>
              </a:rPr>
              <a:t> déclare un pointeur vers un nombre flottant</a:t>
            </a:r>
            <a:endParaRPr lang="en-US" sz="1600" dirty="0"/>
          </a:p>
        </p:txBody>
      </p:sp>
      <p:sp>
        <p:nvSpPr>
          <p:cNvPr id="15" name="Text 12"/>
          <p:cNvSpPr/>
          <p:nvPr/>
        </p:nvSpPr>
        <p:spPr>
          <a:xfrm>
            <a:off x="730568" y="5766673"/>
            <a:ext cx="208717" cy="260866"/>
          </a:xfrm>
          <a:prstGeom prst="rect">
            <a:avLst/>
          </a:prstGeom>
          <a:noFill/>
          <a:ln/>
        </p:spPr>
        <p:txBody>
          <a:bodyPr wrap="none" lIns="0" tIns="0" rIns="0" bIns="0" rtlCol="0" anchor="t"/>
          <a:lstStyle/>
          <a:p>
            <a:pPr algn="l" indent="0" marL="0">
              <a:lnSpc>
                <a:spcPts val="2600"/>
              </a:lnSpc>
              <a:buNone/>
            </a:pPr>
            <a:r>
              <a:rPr lang="en-US" sz="1600" dirty="0">
                <a:solidFill>
                  <a:srgbClr val="C7CDD6"/>
                </a:solidFill>
                <a:latin typeface="Instrument Sans Light" pitchFamily="34" charset="0"/>
                <a:ea typeface="Instrument Sans Light" pitchFamily="34" charset="-122"/>
                <a:cs typeface="Instrument Sans Light" pitchFamily="34" charset="-120"/>
              </a:rPr>
              <a:t>03</a:t>
            </a:r>
            <a:endParaRPr lang="en-US" sz="1600" dirty="0"/>
          </a:p>
        </p:txBody>
      </p:sp>
      <p:sp>
        <p:nvSpPr>
          <p:cNvPr id="16" name="Shape 13"/>
          <p:cNvSpPr/>
          <p:nvPr/>
        </p:nvSpPr>
        <p:spPr>
          <a:xfrm>
            <a:off x="730568" y="6098500"/>
            <a:ext cx="7682865" cy="22860"/>
          </a:xfrm>
          <a:prstGeom prst="rect">
            <a:avLst/>
          </a:prstGeom>
          <a:solidFill>
            <a:srgbClr val="FDC4C4"/>
          </a:solidFill>
          <a:ln/>
        </p:spPr>
      </p:sp>
      <p:sp>
        <p:nvSpPr>
          <p:cNvPr id="17" name="Text 14"/>
          <p:cNvSpPr/>
          <p:nvPr/>
        </p:nvSpPr>
        <p:spPr>
          <a:xfrm>
            <a:off x="730568" y="6248519"/>
            <a:ext cx="3311009" cy="326231"/>
          </a:xfrm>
          <a:prstGeom prst="rect">
            <a:avLst/>
          </a:prstGeom>
          <a:noFill/>
          <a:ln/>
        </p:spPr>
        <p:txBody>
          <a:bodyPr wrap="none" lIns="0" tIns="0" rIns="0" bIns="0" rtlCol="0" anchor="t"/>
          <a:lstStyle/>
          <a:p>
            <a:pPr algn="l" indent="0" marL="0">
              <a:lnSpc>
                <a:spcPts val="2550"/>
              </a:lnSpc>
              <a:buNone/>
            </a:pPr>
            <a:r>
              <a:rPr lang="en-US" sz="2050" dirty="0">
                <a:solidFill>
                  <a:srgbClr val="C7CDD6"/>
                </a:solidFill>
                <a:latin typeface="Instrument Sans Medium" pitchFamily="34" charset="0"/>
                <a:ea typeface="Instrument Sans Medium" pitchFamily="34" charset="-122"/>
                <a:cs typeface="Instrument Sans Medium" pitchFamily="34" charset="-120"/>
              </a:rPr>
              <a:t>Signification de l'astérisque</a:t>
            </a:r>
            <a:endParaRPr lang="en-US" sz="2050" dirty="0"/>
          </a:p>
        </p:txBody>
      </p:sp>
      <p:sp>
        <p:nvSpPr>
          <p:cNvPr id="18" name="Text 15"/>
          <p:cNvSpPr/>
          <p:nvPr/>
        </p:nvSpPr>
        <p:spPr>
          <a:xfrm>
            <a:off x="730568" y="6700004"/>
            <a:ext cx="7682865" cy="341471"/>
          </a:xfrm>
          <a:prstGeom prst="rect">
            <a:avLst/>
          </a:prstGeom>
          <a:noFill/>
          <a:ln/>
        </p:spPr>
        <p:txBody>
          <a:bodyPr wrap="none" lIns="0" tIns="0" rIns="0" bIns="0" rtlCol="0" anchor="t"/>
          <a:lstStyle/>
          <a:p>
            <a:pPr algn="l" indent="0" marL="0">
              <a:lnSpc>
                <a:spcPts val="2600"/>
              </a:lnSpc>
              <a:buNone/>
            </a:pPr>
            <a:r>
              <a:rPr lang="en-US" sz="1600" dirty="0">
                <a:solidFill>
                  <a:srgbClr val="C7CDD6"/>
                </a:solidFill>
                <a:latin typeface="Inter" pitchFamily="34" charset="0"/>
                <a:ea typeface="Inter" pitchFamily="34" charset="-122"/>
                <a:cs typeface="Inter" pitchFamily="34" charset="-120"/>
              </a:rPr>
              <a:t>Le symbole </a:t>
            </a:r>
            <a:pPr algn="l" indent="0" marL="0">
              <a:lnSpc>
                <a:spcPts val="2600"/>
              </a:lnSpc>
              <a:buNone/>
            </a:pPr>
            <a:r>
              <a:rPr lang="en-US" sz="1600" dirty="0">
                <a:solidFill>
                  <a:srgbClr val="C7CDD6"/>
                </a:solidFill>
                <a:highlight>
                  <a:srgbClr val="313136"/>
                </a:highlight>
                <a:latin typeface="Consolas" pitchFamily="34" charset="0"/>
                <a:ea typeface="Consolas" pitchFamily="34" charset="-122"/>
                <a:cs typeface="Consolas" pitchFamily="34" charset="-120"/>
              </a:rPr>
              <a:t>*</a:t>
            </a:r>
            <a:pPr algn="l" indent="0" marL="0">
              <a:lnSpc>
                <a:spcPts val="2600"/>
              </a:lnSpc>
              <a:buNone/>
            </a:pPr>
            <a:r>
              <a:rPr lang="en-US" sz="1600" dirty="0">
                <a:solidFill>
                  <a:srgbClr val="C7CDD6"/>
                </a:solidFill>
                <a:latin typeface="Inter" pitchFamily="34" charset="0"/>
                <a:ea typeface="Inter" pitchFamily="34" charset="-122"/>
                <a:cs typeface="Inter" pitchFamily="34" charset="-120"/>
              </a:rPr>
              <a:t> indique que la variable est un pointeur, pas une valeur directe.</a:t>
            </a:r>
            <a:endParaRPr lang="en-US" sz="1600" dirty="0"/>
          </a:p>
        </p:txBody>
      </p:sp>
      <p:sp>
        <p:nvSpPr>
          <p:cNvPr id="19" name="Text 16"/>
          <p:cNvSpPr/>
          <p:nvPr/>
        </p:nvSpPr>
        <p:spPr>
          <a:xfrm>
            <a:off x="730568" y="7166729"/>
            <a:ext cx="7682865" cy="333851"/>
          </a:xfrm>
          <a:prstGeom prst="rect">
            <a:avLst/>
          </a:prstGeom>
          <a:noFill/>
          <a:ln/>
        </p:spPr>
        <p:txBody>
          <a:bodyPr wrap="none" lIns="0" tIns="0" rIns="0" bIns="0" rtlCol="0" anchor="t"/>
          <a:lstStyle/>
          <a:p>
            <a:pPr algn="l" indent="0" marL="0">
              <a:lnSpc>
                <a:spcPts val="2600"/>
              </a:lnSpc>
              <a:buNone/>
            </a:pPr>
            <a:r>
              <a:rPr lang="en-US" sz="1600" dirty="0">
                <a:solidFill>
                  <a:srgbClr val="C7CDD6"/>
                </a:solidFill>
                <a:latin typeface="Inter" pitchFamily="34" charset="0"/>
                <a:ea typeface="Inter" pitchFamily="34" charset="-122"/>
                <a:cs typeface="Inter" pitchFamily="34" charset="-120"/>
              </a:rPr>
              <a:t>Il se lit "pointeur vers" dans la déclaration.</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29615" y="874871"/>
            <a:ext cx="12063293" cy="651510"/>
          </a:xfrm>
          <a:prstGeom prst="rect">
            <a:avLst/>
          </a:prstGeom>
          <a:noFill/>
          <a:ln/>
        </p:spPr>
        <p:txBody>
          <a:bodyPr wrap="none" lIns="0" tIns="0" rIns="0" bIns="0" rtlCol="0" anchor="t"/>
          <a:lstStyle/>
          <a:p>
            <a:pPr algn="l" indent="0" marL="0">
              <a:lnSpc>
                <a:spcPts val="5100"/>
              </a:lnSpc>
              <a:buNone/>
            </a:pPr>
            <a:r>
              <a:rPr lang="en-US" sz="4100" dirty="0">
                <a:solidFill>
                  <a:srgbClr val="EFD5FA"/>
                </a:solidFill>
                <a:latin typeface="Instrument Sans Medium" pitchFamily="34" charset="0"/>
                <a:ea typeface="Instrument Sans Medium" pitchFamily="34" charset="-122"/>
                <a:cs typeface="Instrument Sans Medium" pitchFamily="34" charset="-120"/>
              </a:rPr>
              <a:t>Initialisation d'un pointeur : l'opérateur &amp; (adresse)</a:t>
            </a:r>
            <a:endParaRPr lang="en-US" sz="4100" dirty="0"/>
          </a:p>
        </p:txBody>
      </p:sp>
      <p:sp>
        <p:nvSpPr>
          <p:cNvPr id="3" name="Text 1"/>
          <p:cNvSpPr/>
          <p:nvPr/>
        </p:nvSpPr>
        <p:spPr>
          <a:xfrm>
            <a:off x="729615" y="1943338"/>
            <a:ext cx="13171170" cy="341114"/>
          </a:xfrm>
          <a:prstGeom prst="rect">
            <a:avLst/>
          </a:prstGeom>
          <a:noFill/>
          <a:ln/>
        </p:spPr>
        <p:txBody>
          <a:bodyPr wrap="none" lIns="0" tIns="0" rIns="0" bIns="0" rtlCol="0" anchor="t"/>
          <a:lstStyle/>
          <a:p>
            <a:pPr algn="l" indent="0" marL="0">
              <a:lnSpc>
                <a:spcPts val="2600"/>
              </a:lnSpc>
              <a:buNone/>
            </a:pPr>
            <a:r>
              <a:rPr lang="en-US" sz="1600" dirty="0">
                <a:solidFill>
                  <a:srgbClr val="C7CDD6"/>
                </a:solidFill>
                <a:latin typeface="Inter" pitchFamily="34" charset="0"/>
                <a:ea typeface="Inter" pitchFamily="34" charset="-122"/>
                <a:cs typeface="Inter" pitchFamily="34" charset="-120"/>
              </a:rPr>
              <a:t>Pour initialiser un pointeur, on lui affecte l'adresse d'une variable existante en utilisant l'opérateur </a:t>
            </a:r>
            <a:pPr algn="l" indent="0" marL="0">
              <a:lnSpc>
                <a:spcPts val="2600"/>
              </a:lnSpc>
              <a:buNone/>
            </a:pPr>
            <a:r>
              <a:rPr lang="en-US" sz="1600" dirty="0">
                <a:solidFill>
                  <a:srgbClr val="C7CDD6"/>
                </a:solidFill>
                <a:highlight>
                  <a:srgbClr val="313136"/>
                </a:highlight>
                <a:latin typeface="Consolas" pitchFamily="34" charset="0"/>
                <a:ea typeface="Consolas" pitchFamily="34" charset="-122"/>
                <a:cs typeface="Consolas" pitchFamily="34" charset="-120"/>
              </a:rPr>
              <a:t>&amp;</a:t>
            </a:r>
            <a:pPr algn="l" indent="0" marL="0">
              <a:lnSpc>
                <a:spcPts val="2600"/>
              </a:lnSpc>
              <a:buNone/>
            </a:pPr>
            <a:r>
              <a:rPr lang="en-US" sz="1600" dirty="0">
                <a:solidFill>
                  <a:srgbClr val="C7CDD6"/>
                </a:solidFill>
                <a:latin typeface="Inter" pitchFamily="34" charset="0"/>
                <a:ea typeface="Inter" pitchFamily="34" charset="-122"/>
                <a:cs typeface="Inter" pitchFamily="34" charset="-120"/>
              </a:rPr>
              <a:t> (adresse de).</a:t>
            </a:r>
            <a:endParaRPr lang="en-US" sz="1600" dirty="0"/>
          </a:p>
        </p:txBody>
      </p:sp>
      <p:pic>
        <p:nvPicPr>
          <p:cNvPr id="4" name="Image 0" descr="preencoded.png">    </p:cNvPr>
          <p:cNvPicPr>
            <a:picLocks noChangeAspect="1"/>
          </p:cNvPicPr>
          <p:nvPr/>
        </p:nvPicPr>
        <p:blipFill>
          <a:blip r:embed="rId1"/>
          <a:stretch>
            <a:fillRect/>
          </a:stretch>
        </p:blipFill>
        <p:spPr>
          <a:xfrm>
            <a:off x="729615" y="2519005"/>
            <a:ext cx="4390311" cy="833914"/>
          </a:xfrm>
          <a:prstGeom prst="rect">
            <a:avLst/>
          </a:prstGeom>
        </p:spPr>
      </p:pic>
      <p:sp>
        <p:nvSpPr>
          <p:cNvPr id="5" name="Text 2"/>
          <p:cNvSpPr/>
          <p:nvPr/>
        </p:nvSpPr>
        <p:spPr>
          <a:xfrm>
            <a:off x="938093" y="3561398"/>
            <a:ext cx="2606159" cy="325755"/>
          </a:xfrm>
          <a:prstGeom prst="rect">
            <a:avLst/>
          </a:prstGeom>
          <a:noFill/>
          <a:ln/>
        </p:spPr>
        <p:txBody>
          <a:bodyPr wrap="none" lIns="0" tIns="0" rIns="0" bIns="0" rtlCol="0" anchor="t"/>
          <a:lstStyle/>
          <a:p>
            <a:pPr algn="l" indent="0" marL="0">
              <a:lnSpc>
                <a:spcPts val="2550"/>
              </a:lnSpc>
              <a:buNone/>
            </a:pPr>
            <a:r>
              <a:rPr lang="en-US" sz="2050" dirty="0">
                <a:solidFill>
                  <a:srgbClr val="C7CDD6"/>
                </a:solidFill>
                <a:latin typeface="Instrument Sans Medium" pitchFamily="34" charset="0"/>
                <a:ea typeface="Instrument Sans Medium" pitchFamily="34" charset="-122"/>
                <a:cs typeface="Instrument Sans Medium" pitchFamily="34" charset="-120"/>
              </a:rPr>
              <a:t>Déclaration</a:t>
            </a:r>
            <a:endParaRPr lang="en-US" sz="2050" dirty="0"/>
          </a:p>
        </p:txBody>
      </p:sp>
      <p:sp>
        <p:nvSpPr>
          <p:cNvPr id="6" name="Shape 3"/>
          <p:cNvSpPr/>
          <p:nvPr/>
        </p:nvSpPr>
        <p:spPr>
          <a:xfrm>
            <a:off x="938093" y="4121706"/>
            <a:ext cx="3973354" cy="979646"/>
          </a:xfrm>
          <a:prstGeom prst="roundRect">
            <a:avLst>
              <a:gd name="adj" fmla="val 3192"/>
            </a:avLst>
          </a:prstGeom>
          <a:solidFill>
            <a:srgbClr val="313136"/>
          </a:solidFill>
          <a:ln/>
        </p:spPr>
      </p:sp>
      <p:sp>
        <p:nvSpPr>
          <p:cNvPr id="7" name="Shape 4"/>
          <p:cNvSpPr/>
          <p:nvPr/>
        </p:nvSpPr>
        <p:spPr>
          <a:xfrm>
            <a:off x="927735" y="4121706"/>
            <a:ext cx="3994071" cy="979646"/>
          </a:xfrm>
          <a:prstGeom prst="roundRect">
            <a:avLst>
              <a:gd name="adj" fmla="val 3192"/>
            </a:avLst>
          </a:prstGeom>
          <a:solidFill>
            <a:srgbClr val="313136"/>
          </a:solidFill>
          <a:ln/>
        </p:spPr>
      </p:sp>
      <p:sp>
        <p:nvSpPr>
          <p:cNvPr id="8" name="Text 5"/>
          <p:cNvSpPr/>
          <p:nvPr/>
        </p:nvSpPr>
        <p:spPr>
          <a:xfrm>
            <a:off x="1136213" y="4278035"/>
            <a:ext cx="3577114" cy="666988"/>
          </a:xfrm>
          <a:prstGeom prst="rect">
            <a:avLst/>
          </a:prstGeom>
          <a:noFill/>
          <a:ln/>
        </p:spPr>
        <p:txBody>
          <a:bodyPr wrap="square" lIns="0" tIns="0" rIns="0" bIns="0" rtlCol="0" anchor="t"/>
          <a:lstStyle/>
          <a:p>
            <a:pPr algn="l" indent="0" marL="0">
              <a:lnSpc>
                <a:spcPts val="2600"/>
              </a:lnSpc>
              <a:buNone/>
            </a:pPr>
            <a:r>
              <a:rPr lang="en-US" sz="1600" dirty="0">
                <a:solidFill>
                  <a:srgbClr val="C7CDD6"/>
                </a:solidFill>
                <a:highlight>
                  <a:srgbClr val="313136"/>
                </a:highlight>
                <a:latin typeface="Consolas" pitchFamily="34" charset="0"/>
                <a:ea typeface="Consolas" pitchFamily="34" charset="-122"/>
                <a:cs typeface="Consolas" pitchFamily="34" charset="-120"/>
              </a:rPr>
              <a:t>int a = 42;</a:t>
            </a:r>
            <a:endParaRPr lang="en-US" sz="1600" dirty="0"/>
          </a:p>
          <a:p>
            <a:pPr algn="l" indent="0" marL="0">
              <a:lnSpc>
                <a:spcPts val="2600"/>
              </a:lnSpc>
              <a:buNone/>
            </a:pPr>
            <a:r>
              <a:rPr lang="en-US" sz="1600" dirty="0">
                <a:solidFill>
                  <a:srgbClr val="C7CDD6"/>
                </a:solidFill>
                <a:highlight>
                  <a:srgbClr val="313136"/>
                </a:highlight>
                <a:latin typeface="Consolas" pitchFamily="34" charset="0"/>
                <a:ea typeface="Consolas" pitchFamily="34" charset="-122"/>
                <a:cs typeface="Consolas" pitchFamily="34" charset="-120"/>
              </a:rPr>
              <a:t>int *p;</a:t>
            </a:r>
            <a:endParaRPr lang="en-US" sz="1600" dirty="0"/>
          </a:p>
        </p:txBody>
      </p:sp>
      <p:sp>
        <p:nvSpPr>
          <p:cNvPr id="9" name="Text 6"/>
          <p:cNvSpPr/>
          <p:nvPr/>
        </p:nvSpPr>
        <p:spPr>
          <a:xfrm>
            <a:off x="938093" y="5335905"/>
            <a:ext cx="3973354" cy="341114"/>
          </a:xfrm>
          <a:prstGeom prst="rect">
            <a:avLst/>
          </a:prstGeom>
          <a:noFill/>
          <a:ln/>
        </p:spPr>
        <p:txBody>
          <a:bodyPr wrap="none" lIns="0" tIns="0" rIns="0" bIns="0" rtlCol="0" anchor="t"/>
          <a:lstStyle/>
          <a:p>
            <a:pPr algn="l" indent="0" marL="0">
              <a:lnSpc>
                <a:spcPts val="2600"/>
              </a:lnSpc>
              <a:buNone/>
            </a:pPr>
            <a:r>
              <a:rPr lang="en-US" sz="1600" dirty="0">
                <a:solidFill>
                  <a:srgbClr val="C7CDD6"/>
                </a:solidFill>
                <a:latin typeface="Inter" pitchFamily="34" charset="0"/>
                <a:ea typeface="Inter" pitchFamily="34" charset="-122"/>
                <a:cs typeface="Inter" pitchFamily="34" charset="-120"/>
              </a:rPr>
              <a:t>On crée une variable </a:t>
            </a:r>
            <a:pPr algn="l" indent="0" marL="0">
              <a:lnSpc>
                <a:spcPts val="2600"/>
              </a:lnSpc>
              <a:buNone/>
            </a:pPr>
            <a:r>
              <a:rPr lang="en-US" sz="1600" dirty="0">
                <a:solidFill>
                  <a:srgbClr val="C7CDD6"/>
                </a:solidFill>
                <a:highlight>
                  <a:srgbClr val="313136"/>
                </a:highlight>
                <a:latin typeface="Consolas" pitchFamily="34" charset="0"/>
                <a:ea typeface="Consolas" pitchFamily="34" charset="-122"/>
                <a:cs typeface="Consolas" pitchFamily="34" charset="-120"/>
              </a:rPr>
              <a:t>a</a:t>
            </a:r>
            <a:pPr algn="l" indent="0" marL="0">
              <a:lnSpc>
                <a:spcPts val="2600"/>
              </a:lnSpc>
              <a:buNone/>
            </a:pPr>
            <a:r>
              <a:rPr lang="en-US" sz="1600" dirty="0">
                <a:solidFill>
                  <a:srgbClr val="C7CDD6"/>
                </a:solidFill>
                <a:latin typeface="Inter" pitchFamily="34" charset="0"/>
                <a:ea typeface="Inter" pitchFamily="34" charset="-122"/>
                <a:cs typeface="Inter" pitchFamily="34" charset="-120"/>
              </a:rPr>
              <a:t> et un pointeur </a:t>
            </a:r>
            <a:pPr algn="l" indent="0" marL="0">
              <a:lnSpc>
                <a:spcPts val="2600"/>
              </a:lnSpc>
              <a:buNone/>
            </a:pPr>
            <a:r>
              <a:rPr lang="en-US" sz="1600" dirty="0">
                <a:solidFill>
                  <a:srgbClr val="C7CDD6"/>
                </a:solidFill>
                <a:highlight>
                  <a:srgbClr val="313136"/>
                </a:highlight>
                <a:latin typeface="Consolas" pitchFamily="34" charset="0"/>
                <a:ea typeface="Consolas" pitchFamily="34" charset="-122"/>
                <a:cs typeface="Consolas" pitchFamily="34" charset="-120"/>
              </a:rPr>
              <a:t>p</a:t>
            </a:r>
            <a:endParaRPr lang="en-US" sz="1600" dirty="0"/>
          </a:p>
        </p:txBody>
      </p:sp>
      <p:pic>
        <p:nvPicPr>
          <p:cNvPr id="10" name="Image 1" descr="preencoded.png">    </p:cNvPr>
          <p:cNvPicPr>
            <a:picLocks noChangeAspect="1"/>
          </p:cNvPicPr>
          <p:nvPr/>
        </p:nvPicPr>
        <p:blipFill>
          <a:blip r:embed="rId2"/>
          <a:stretch>
            <a:fillRect/>
          </a:stretch>
        </p:blipFill>
        <p:spPr>
          <a:xfrm>
            <a:off x="5119926" y="2519005"/>
            <a:ext cx="4390430" cy="833914"/>
          </a:xfrm>
          <a:prstGeom prst="rect">
            <a:avLst/>
          </a:prstGeom>
        </p:spPr>
      </p:pic>
      <p:sp>
        <p:nvSpPr>
          <p:cNvPr id="11" name="Text 7"/>
          <p:cNvSpPr/>
          <p:nvPr/>
        </p:nvSpPr>
        <p:spPr>
          <a:xfrm>
            <a:off x="5328404" y="3561398"/>
            <a:ext cx="2606159" cy="325755"/>
          </a:xfrm>
          <a:prstGeom prst="rect">
            <a:avLst/>
          </a:prstGeom>
          <a:noFill/>
          <a:ln/>
        </p:spPr>
        <p:txBody>
          <a:bodyPr wrap="none" lIns="0" tIns="0" rIns="0" bIns="0" rtlCol="0" anchor="t"/>
          <a:lstStyle/>
          <a:p>
            <a:pPr algn="l" indent="0" marL="0">
              <a:lnSpc>
                <a:spcPts val="2550"/>
              </a:lnSpc>
              <a:buNone/>
            </a:pPr>
            <a:r>
              <a:rPr lang="en-US" sz="2050" dirty="0">
                <a:solidFill>
                  <a:srgbClr val="C7CDD6"/>
                </a:solidFill>
                <a:latin typeface="Instrument Sans Medium" pitchFamily="34" charset="0"/>
                <a:ea typeface="Instrument Sans Medium" pitchFamily="34" charset="-122"/>
                <a:cs typeface="Instrument Sans Medium" pitchFamily="34" charset="-120"/>
              </a:rPr>
              <a:t>Affectation</a:t>
            </a:r>
            <a:endParaRPr lang="en-US" sz="2050" dirty="0"/>
          </a:p>
        </p:txBody>
      </p:sp>
      <p:sp>
        <p:nvSpPr>
          <p:cNvPr id="12" name="Shape 8"/>
          <p:cNvSpPr/>
          <p:nvPr/>
        </p:nvSpPr>
        <p:spPr>
          <a:xfrm>
            <a:off x="5328404" y="4121706"/>
            <a:ext cx="3973473" cy="646152"/>
          </a:xfrm>
          <a:prstGeom prst="roundRect">
            <a:avLst>
              <a:gd name="adj" fmla="val 4840"/>
            </a:avLst>
          </a:prstGeom>
          <a:solidFill>
            <a:srgbClr val="313136"/>
          </a:solidFill>
          <a:ln/>
        </p:spPr>
      </p:sp>
      <p:sp>
        <p:nvSpPr>
          <p:cNvPr id="13" name="Shape 9"/>
          <p:cNvSpPr/>
          <p:nvPr/>
        </p:nvSpPr>
        <p:spPr>
          <a:xfrm>
            <a:off x="5318046" y="4121706"/>
            <a:ext cx="3994190" cy="646152"/>
          </a:xfrm>
          <a:prstGeom prst="roundRect">
            <a:avLst>
              <a:gd name="adj" fmla="val 4840"/>
            </a:avLst>
          </a:prstGeom>
          <a:solidFill>
            <a:srgbClr val="313136"/>
          </a:solidFill>
          <a:ln/>
        </p:spPr>
      </p:sp>
      <p:sp>
        <p:nvSpPr>
          <p:cNvPr id="14" name="Text 10"/>
          <p:cNvSpPr/>
          <p:nvPr/>
        </p:nvSpPr>
        <p:spPr>
          <a:xfrm>
            <a:off x="5526524" y="4278035"/>
            <a:ext cx="3577233" cy="333494"/>
          </a:xfrm>
          <a:prstGeom prst="rect">
            <a:avLst/>
          </a:prstGeom>
          <a:noFill/>
          <a:ln/>
        </p:spPr>
        <p:txBody>
          <a:bodyPr wrap="none" lIns="0" tIns="0" rIns="0" bIns="0" rtlCol="0" anchor="t"/>
          <a:lstStyle/>
          <a:p>
            <a:pPr algn="l" indent="0" marL="0">
              <a:lnSpc>
                <a:spcPts val="2600"/>
              </a:lnSpc>
              <a:buNone/>
            </a:pPr>
            <a:r>
              <a:rPr lang="en-US" sz="1600" dirty="0">
                <a:solidFill>
                  <a:srgbClr val="C7CDD6"/>
                </a:solidFill>
                <a:highlight>
                  <a:srgbClr val="313136"/>
                </a:highlight>
                <a:latin typeface="Consolas" pitchFamily="34" charset="0"/>
                <a:ea typeface="Consolas" pitchFamily="34" charset="-122"/>
                <a:cs typeface="Consolas" pitchFamily="34" charset="-120"/>
              </a:rPr>
              <a:t>p = &amp;a;</a:t>
            </a:r>
            <a:endParaRPr lang="en-US" sz="1600" dirty="0"/>
          </a:p>
        </p:txBody>
      </p:sp>
      <p:sp>
        <p:nvSpPr>
          <p:cNvPr id="15" name="Text 11"/>
          <p:cNvSpPr/>
          <p:nvPr/>
        </p:nvSpPr>
        <p:spPr>
          <a:xfrm>
            <a:off x="5328404" y="5002411"/>
            <a:ext cx="3973473" cy="682228"/>
          </a:xfrm>
          <a:prstGeom prst="rect">
            <a:avLst/>
          </a:prstGeom>
          <a:noFill/>
          <a:ln/>
        </p:spPr>
        <p:txBody>
          <a:bodyPr wrap="square" lIns="0" tIns="0" rIns="0" bIns="0" rtlCol="0" anchor="t"/>
          <a:lstStyle/>
          <a:p>
            <a:pPr algn="l" indent="0" marL="0">
              <a:lnSpc>
                <a:spcPts val="2600"/>
              </a:lnSpc>
              <a:buNone/>
            </a:pPr>
            <a:r>
              <a:rPr lang="en-US" sz="1600" dirty="0">
                <a:solidFill>
                  <a:srgbClr val="C7CDD6"/>
                </a:solidFill>
                <a:latin typeface="Inter" pitchFamily="34" charset="0"/>
                <a:ea typeface="Inter" pitchFamily="34" charset="-122"/>
                <a:cs typeface="Inter" pitchFamily="34" charset="-120"/>
              </a:rPr>
              <a:t>Le pointeur </a:t>
            </a:r>
            <a:pPr algn="l" indent="0" marL="0">
              <a:lnSpc>
                <a:spcPts val="2600"/>
              </a:lnSpc>
              <a:buNone/>
            </a:pPr>
            <a:r>
              <a:rPr lang="en-US" sz="1600" dirty="0">
                <a:solidFill>
                  <a:srgbClr val="C7CDD6"/>
                </a:solidFill>
                <a:highlight>
                  <a:srgbClr val="313136"/>
                </a:highlight>
                <a:latin typeface="Consolas" pitchFamily="34" charset="0"/>
                <a:ea typeface="Consolas" pitchFamily="34" charset="-122"/>
                <a:cs typeface="Consolas" pitchFamily="34" charset="-120"/>
              </a:rPr>
              <a:t>p</a:t>
            </a:r>
            <a:pPr algn="l" indent="0" marL="0">
              <a:lnSpc>
                <a:spcPts val="2600"/>
              </a:lnSpc>
              <a:buNone/>
            </a:pPr>
            <a:r>
              <a:rPr lang="en-US" sz="1600" dirty="0">
                <a:solidFill>
                  <a:srgbClr val="C7CDD6"/>
                </a:solidFill>
                <a:latin typeface="Inter" pitchFamily="34" charset="0"/>
                <a:ea typeface="Inter" pitchFamily="34" charset="-122"/>
                <a:cs typeface="Inter" pitchFamily="34" charset="-120"/>
              </a:rPr>
              <a:t> contient maintenant l'adresse de </a:t>
            </a:r>
            <a:pPr algn="l" indent="0" marL="0">
              <a:lnSpc>
                <a:spcPts val="2600"/>
              </a:lnSpc>
              <a:buNone/>
            </a:pPr>
            <a:r>
              <a:rPr lang="en-US" sz="1600" dirty="0">
                <a:solidFill>
                  <a:srgbClr val="C7CDD6"/>
                </a:solidFill>
                <a:highlight>
                  <a:srgbClr val="313136"/>
                </a:highlight>
                <a:latin typeface="Consolas" pitchFamily="34" charset="0"/>
                <a:ea typeface="Consolas" pitchFamily="34" charset="-122"/>
                <a:cs typeface="Consolas" pitchFamily="34" charset="-120"/>
              </a:rPr>
              <a:t>a</a:t>
            </a:r>
            <a:endParaRPr lang="en-US" sz="1600" dirty="0"/>
          </a:p>
        </p:txBody>
      </p:sp>
      <p:pic>
        <p:nvPicPr>
          <p:cNvPr id="16" name="Image 2" descr="preencoded.png">    </p:cNvPr>
          <p:cNvPicPr>
            <a:picLocks noChangeAspect="1"/>
          </p:cNvPicPr>
          <p:nvPr/>
        </p:nvPicPr>
        <p:blipFill>
          <a:blip r:embed="rId3"/>
          <a:stretch>
            <a:fillRect/>
          </a:stretch>
        </p:blipFill>
        <p:spPr>
          <a:xfrm>
            <a:off x="9510355" y="2519005"/>
            <a:ext cx="4390430" cy="833914"/>
          </a:xfrm>
          <a:prstGeom prst="rect">
            <a:avLst/>
          </a:prstGeom>
        </p:spPr>
      </p:pic>
      <p:sp>
        <p:nvSpPr>
          <p:cNvPr id="17" name="Text 12"/>
          <p:cNvSpPr/>
          <p:nvPr/>
        </p:nvSpPr>
        <p:spPr>
          <a:xfrm>
            <a:off x="9718834" y="3561398"/>
            <a:ext cx="2606159" cy="325755"/>
          </a:xfrm>
          <a:prstGeom prst="rect">
            <a:avLst/>
          </a:prstGeom>
          <a:noFill/>
          <a:ln/>
        </p:spPr>
        <p:txBody>
          <a:bodyPr wrap="none" lIns="0" tIns="0" rIns="0" bIns="0" rtlCol="0" anchor="t"/>
          <a:lstStyle/>
          <a:p>
            <a:pPr algn="l" indent="0" marL="0">
              <a:lnSpc>
                <a:spcPts val="2550"/>
              </a:lnSpc>
              <a:buNone/>
            </a:pPr>
            <a:r>
              <a:rPr lang="en-US" sz="2050" dirty="0">
                <a:solidFill>
                  <a:srgbClr val="C7CDD6"/>
                </a:solidFill>
                <a:latin typeface="Instrument Sans Medium" pitchFamily="34" charset="0"/>
                <a:ea typeface="Instrument Sans Medium" pitchFamily="34" charset="-122"/>
                <a:cs typeface="Instrument Sans Medium" pitchFamily="34" charset="-120"/>
              </a:rPr>
              <a:t>Utilisation</a:t>
            </a:r>
            <a:endParaRPr lang="en-US" sz="2050" dirty="0"/>
          </a:p>
        </p:txBody>
      </p:sp>
      <p:sp>
        <p:nvSpPr>
          <p:cNvPr id="18" name="Shape 13"/>
          <p:cNvSpPr/>
          <p:nvPr/>
        </p:nvSpPr>
        <p:spPr>
          <a:xfrm>
            <a:off x="9718834" y="4121706"/>
            <a:ext cx="3973473" cy="646152"/>
          </a:xfrm>
          <a:prstGeom prst="roundRect">
            <a:avLst>
              <a:gd name="adj" fmla="val 4840"/>
            </a:avLst>
          </a:prstGeom>
          <a:solidFill>
            <a:srgbClr val="313136"/>
          </a:solidFill>
          <a:ln/>
        </p:spPr>
      </p:sp>
      <p:sp>
        <p:nvSpPr>
          <p:cNvPr id="19" name="Shape 14"/>
          <p:cNvSpPr/>
          <p:nvPr/>
        </p:nvSpPr>
        <p:spPr>
          <a:xfrm>
            <a:off x="9708475" y="4121706"/>
            <a:ext cx="3994190" cy="646152"/>
          </a:xfrm>
          <a:prstGeom prst="roundRect">
            <a:avLst>
              <a:gd name="adj" fmla="val 4840"/>
            </a:avLst>
          </a:prstGeom>
          <a:solidFill>
            <a:srgbClr val="313136"/>
          </a:solidFill>
          <a:ln/>
        </p:spPr>
      </p:sp>
      <p:sp>
        <p:nvSpPr>
          <p:cNvPr id="20" name="Text 15"/>
          <p:cNvSpPr/>
          <p:nvPr/>
        </p:nvSpPr>
        <p:spPr>
          <a:xfrm>
            <a:off x="9916954" y="4278035"/>
            <a:ext cx="3577233" cy="333494"/>
          </a:xfrm>
          <a:prstGeom prst="rect">
            <a:avLst/>
          </a:prstGeom>
          <a:noFill/>
          <a:ln/>
        </p:spPr>
        <p:txBody>
          <a:bodyPr wrap="none" lIns="0" tIns="0" rIns="0" bIns="0" rtlCol="0" anchor="t"/>
          <a:lstStyle/>
          <a:p>
            <a:pPr algn="l" indent="0" marL="0">
              <a:lnSpc>
                <a:spcPts val="2600"/>
              </a:lnSpc>
              <a:buNone/>
            </a:pPr>
            <a:r>
              <a:rPr lang="en-US" sz="1600" dirty="0">
                <a:solidFill>
                  <a:srgbClr val="C7CDD6"/>
                </a:solidFill>
                <a:highlight>
                  <a:srgbClr val="313136"/>
                </a:highlight>
                <a:latin typeface="Consolas" pitchFamily="34" charset="0"/>
                <a:ea typeface="Consolas" pitchFamily="34" charset="-122"/>
                <a:cs typeface="Consolas" pitchFamily="34" charset="-120"/>
              </a:rPr>
              <a:t>printf("%d", *p);</a:t>
            </a:r>
            <a:endParaRPr lang="en-US" sz="1600" dirty="0"/>
          </a:p>
        </p:txBody>
      </p:sp>
      <p:sp>
        <p:nvSpPr>
          <p:cNvPr id="21" name="Text 16"/>
          <p:cNvSpPr/>
          <p:nvPr/>
        </p:nvSpPr>
        <p:spPr>
          <a:xfrm>
            <a:off x="9718834" y="5002411"/>
            <a:ext cx="3973473" cy="674608"/>
          </a:xfrm>
          <a:prstGeom prst="rect">
            <a:avLst/>
          </a:prstGeom>
          <a:noFill/>
          <a:ln/>
        </p:spPr>
        <p:txBody>
          <a:bodyPr wrap="square" lIns="0" tIns="0" rIns="0" bIns="0" rtlCol="0" anchor="t"/>
          <a:lstStyle/>
          <a:p>
            <a:pPr algn="l" indent="0" marL="0">
              <a:lnSpc>
                <a:spcPts val="2600"/>
              </a:lnSpc>
              <a:buNone/>
            </a:pPr>
            <a:r>
              <a:rPr lang="en-US" sz="1600" dirty="0">
                <a:solidFill>
                  <a:srgbClr val="C7CDD6"/>
                </a:solidFill>
                <a:latin typeface="Inter" pitchFamily="34" charset="0"/>
                <a:ea typeface="Inter" pitchFamily="34" charset="-122"/>
                <a:cs typeface="Inter" pitchFamily="34" charset="-120"/>
              </a:rPr>
              <a:t>L'opérateur </a:t>
            </a:r>
            <a:pPr algn="l" indent="0" marL="0">
              <a:lnSpc>
                <a:spcPts val="2600"/>
              </a:lnSpc>
              <a:buNone/>
            </a:pPr>
            <a:r>
              <a:rPr lang="en-US" sz="1600" dirty="0">
                <a:solidFill>
                  <a:srgbClr val="C7CDD6"/>
                </a:solidFill>
                <a:highlight>
                  <a:srgbClr val="313136"/>
                </a:highlight>
                <a:latin typeface="Consolas" pitchFamily="34" charset="0"/>
                <a:ea typeface="Consolas" pitchFamily="34" charset="-122"/>
                <a:cs typeface="Consolas" pitchFamily="34" charset="-120"/>
              </a:rPr>
              <a:t>*</a:t>
            </a:r>
            <a:pPr algn="l" indent="0" marL="0">
              <a:lnSpc>
                <a:spcPts val="2600"/>
              </a:lnSpc>
              <a:buNone/>
            </a:pPr>
            <a:r>
              <a:rPr lang="en-US" sz="1600" dirty="0">
                <a:solidFill>
                  <a:srgbClr val="C7CDD6"/>
                </a:solidFill>
                <a:latin typeface="Inter" pitchFamily="34" charset="0"/>
                <a:ea typeface="Inter" pitchFamily="34" charset="-122"/>
                <a:cs typeface="Inter" pitchFamily="34" charset="-120"/>
              </a:rPr>
              <a:t> déréférence : accède à la valeur (42)</a:t>
            </a:r>
            <a:endParaRPr lang="en-US" sz="1600" dirty="0"/>
          </a:p>
        </p:txBody>
      </p:sp>
      <p:sp>
        <p:nvSpPr>
          <p:cNvPr id="22" name="Shape 17"/>
          <p:cNvSpPr/>
          <p:nvPr/>
        </p:nvSpPr>
        <p:spPr>
          <a:xfrm>
            <a:off x="729615" y="6127671"/>
            <a:ext cx="13171170" cy="1226939"/>
          </a:xfrm>
          <a:prstGeom prst="roundRect">
            <a:avLst>
              <a:gd name="adj" fmla="val 2549"/>
            </a:avLst>
          </a:prstGeom>
          <a:solidFill>
            <a:srgbClr val="4A0303"/>
          </a:solidFill>
          <a:ln/>
        </p:spPr>
      </p:sp>
      <p:pic>
        <p:nvPicPr>
          <p:cNvPr id="23" name="Image 3" descr="preencoded.png">    </p:cNvPr>
          <p:cNvPicPr>
            <a:picLocks noChangeAspect="1"/>
          </p:cNvPicPr>
          <p:nvPr/>
        </p:nvPicPr>
        <p:blipFill>
          <a:blip r:embed="rId4"/>
          <a:stretch>
            <a:fillRect/>
          </a:stretch>
        </p:blipFill>
        <p:spPr>
          <a:xfrm>
            <a:off x="938093" y="6441877"/>
            <a:ext cx="260509" cy="208478"/>
          </a:xfrm>
          <a:prstGeom prst="rect">
            <a:avLst/>
          </a:prstGeom>
        </p:spPr>
      </p:pic>
      <p:sp>
        <p:nvSpPr>
          <p:cNvPr id="24" name="Text 18"/>
          <p:cNvSpPr/>
          <p:nvPr/>
        </p:nvSpPr>
        <p:spPr>
          <a:xfrm>
            <a:off x="1407081" y="6388179"/>
            <a:ext cx="12285226" cy="674608"/>
          </a:xfrm>
          <a:prstGeom prst="rect">
            <a:avLst/>
          </a:prstGeom>
          <a:noFill/>
          <a:ln/>
        </p:spPr>
        <p:txBody>
          <a:bodyPr wrap="square" lIns="0" tIns="0" rIns="0" bIns="0" rtlCol="0" anchor="t"/>
          <a:lstStyle/>
          <a:p>
            <a:pPr algn="l" indent="0" marL="0">
              <a:lnSpc>
                <a:spcPts val="2600"/>
              </a:lnSpc>
              <a:buNone/>
            </a:pPr>
            <a:r>
              <a:rPr lang="en-US" sz="1600" b="1" dirty="0">
                <a:solidFill>
                  <a:srgbClr val="FFFFFF"/>
                </a:solidFill>
                <a:latin typeface="Inter" pitchFamily="34" charset="0"/>
                <a:ea typeface="Inter" pitchFamily="34" charset="-122"/>
                <a:cs typeface="Inter" pitchFamily="34" charset="-120"/>
              </a:rPr>
              <a:t>Important :</a:t>
            </a:r>
            <a:pPr algn="l" indent="0" marL="0">
              <a:lnSpc>
                <a:spcPts val="2600"/>
              </a:lnSpc>
              <a:buNone/>
            </a:pPr>
            <a:r>
              <a:rPr lang="en-US" sz="1600" dirty="0">
                <a:solidFill>
                  <a:srgbClr val="FFFFFF"/>
                </a:solidFill>
                <a:latin typeface="Inter" pitchFamily="34" charset="0"/>
                <a:ea typeface="Inter" pitchFamily="34" charset="-122"/>
                <a:cs typeface="Inter" pitchFamily="34" charset="-120"/>
              </a:rPr>
              <a:t> L'opérateur </a:t>
            </a:r>
            <a:pPr algn="l" indent="0" marL="0">
              <a:lnSpc>
                <a:spcPts val="2600"/>
              </a:lnSpc>
              <a:buNone/>
            </a:pPr>
            <a:r>
              <a:rPr lang="en-US" sz="1600" dirty="0">
                <a:solidFill>
                  <a:srgbClr val="FFFFFF"/>
                </a:solidFill>
                <a:highlight>
                  <a:srgbClr val="313136"/>
                </a:highlight>
                <a:latin typeface="Consolas" pitchFamily="34" charset="0"/>
                <a:ea typeface="Consolas" pitchFamily="34" charset="-122"/>
                <a:cs typeface="Consolas" pitchFamily="34" charset="-120"/>
              </a:rPr>
              <a:t>&amp;</a:t>
            </a:r>
            <a:pPr algn="l" indent="0" marL="0">
              <a:lnSpc>
                <a:spcPts val="2600"/>
              </a:lnSpc>
              <a:buNone/>
            </a:pPr>
            <a:r>
              <a:rPr lang="en-US" sz="1600" dirty="0">
                <a:solidFill>
                  <a:srgbClr val="FFFFFF"/>
                </a:solidFill>
                <a:latin typeface="Inter" pitchFamily="34" charset="0"/>
                <a:ea typeface="Inter" pitchFamily="34" charset="-122"/>
                <a:cs typeface="Inter" pitchFamily="34" charset="-120"/>
              </a:rPr>
              <a:t> donne l'adresse d'une variable, tandis que </a:t>
            </a:r>
            <a:pPr algn="l" indent="0" marL="0">
              <a:lnSpc>
                <a:spcPts val="2600"/>
              </a:lnSpc>
              <a:buNone/>
            </a:pPr>
            <a:r>
              <a:rPr lang="en-US" sz="1600" dirty="0">
                <a:solidFill>
                  <a:srgbClr val="FFFFFF"/>
                </a:solidFill>
                <a:highlight>
                  <a:srgbClr val="313136"/>
                </a:highlight>
                <a:latin typeface="Consolas" pitchFamily="34" charset="0"/>
                <a:ea typeface="Consolas" pitchFamily="34" charset="-122"/>
                <a:cs typeface="Consolas" pitchFamily="34" charset="-120"/>
              </a:rPr>
              <a:t>*</a:t>
            </a:r>
            <a:pPr algn="l" indent="0" marL="0">
              <a:lnSpc>
                <a:spcPts val="2600"/>
              </a:lnSpc>
              <a:buNone/>
            </a:pPr>
            <a:r>
              <a:rPr lang="en-US" sz="1600" dirty="0">
                <a:solidFill>
                  <a:srgbClr val="FFFFFF"/>
                </a:solidFill>
                <a:latin typeface="Inter" pitchFamily="34" charset="0"/>
                <a:ea typeface="Inter" pitchFamily="34" charset="-122"/>
                <a:cs typeface="Inter" pitchFamily="34" charset="-120"/>
              </a:rPr>
              <a:t> permet d'accéder à la valeur stockée à cette adresse (déréférencement).</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2025-12-08T02:52:31Z</dcterms:created>
  <dcterms:modified xsi:type="dcterms:W3CDTF">2025-12-08T02:52:31Z</dcterms:modified>
</cp:coreProperties>
</file>