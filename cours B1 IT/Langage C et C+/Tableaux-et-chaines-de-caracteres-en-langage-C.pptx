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Instrument Sans Medium"/>
      <p:regular r:id="rId12"/>
    </p:embeddedFont>
    <p:embeddedFont>
      <p:font typeface="Instrument Sans Medium"/>
      <p:regular r:id="rId13"/>
    </p:embeddedFont>
    <p:embeddedFont>
      <p:font typeface="Instrument Sans Medium"/>
      <p:regular r:id="rId14"/>
    </p:embeddedFont>
    <p:embeddedFont>
      <p:font typeface="Instrument Sans Medium"/>
      <p:regular r:id="rId15"/>
    </p:embeddedFont>
    <p:embeddedFont>
      <p:font typeface="Inter"/>
      <p:regular r:id="rId16"/>
    </p:embeddedFont>
    <p:embeddedFont>
      <p:font typeface="Inter"/>
      <p:regular r:id="rId17"/>
    </p:embeddedFont>
    <p:embeddedFont>
      <p:font typeface="Inter"/>
      <p:regular r:id="rId18"/>
    </p:embeddedFont>
    <p:embeddedFont>
      <p:font typeface="Inter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Tableaux et chaînes de caractères en langage C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Découvrez les fondamentaux des structures de données essentielles en langage C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2612"/>
            <a:ext cx="814923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Introduction aux Tableaux en C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45625"/>
            <a:ext cx="760428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tableau est une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collection contiguë d'éléments du même type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stockés en mémoire de manière séquentielle. Cette structure permet un accès rapide et efficace aux données.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4611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Déclaration de base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042291"/>
            <a:ext cx="7604284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: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 tab[5];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déclare un tableau de 5 entiers consécutifs en mémoire.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0025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Indexation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5583674"/>
            <a:ext cx="7604284" cy="741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indices commencent toujours à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FDC4C4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donc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tab[0]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représente le premier élément, et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tab[4]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 dernier.</a:t>
            </a:r>
            <a:endParaRPr lang="en-US" sz="17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9096" y="2196703"/>
            <a:ext cx="4885015" cy="48850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5685" y="733782"/>
            <a:ext cx="7712631" cy="1278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Les chaînes de caractères : un tableau spécial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15685" y="2318504"/>
            <a:ext cx="3754041" cy="2649974"/>
          </a:xfrm>
          <a:prstGeom prst="roundRect">
            <a:avLst>
              <a:gd name="adj" fmla="val 1157"/>
            </a:avLst>
          </a:prstGeom>
          <a:solidFill>
            <a:srgbClr val="434348"/>
          </a:solidFill>
          <a:ln/>
        </p:spPr>
      </p:sp>
      <p:sp>
        <p:nvSpPr>
          <p:cNvPr id="5" name="Shape 2"/>
          <p:cNvSpPr/>
          <p:nvPr/>
        </p:nvSpPr>
        <p:spPr>
          <a:xfrm>
            <a:off x="920115" y="2522934"/>
            <a:ext cx="613410" cy="613410"/>
          </a:xfrm>
          <a:prstGeom prst="roundRect">
            <a:avLst>
              <a:gd name="adj" fmla="val 14905342"/>
            </a:avLst>
          </a:prstGeom>
          <a:solidFill>
            <a:srgbClr val="FDC4C4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8827" y="2691646"/>
            <a:ext cx="275987" cy="27598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20115" y="3340775"/>
            <a:ext cx="2556034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Définition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920115" y="3782854"/>
            <a:ext cx="3345180" cy="981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C, une chaîne est un </a:t>
            </a:r>
            <a:pPr algn="l" indent="0" marL="0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tableau de caractères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terminé par le caractère nul 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\0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674156" y="2318504"/>
            <a:ext cx="3754160" cy="2649974"/>
          </a:xfrm>
          <a:prstGeom prst="roundRect">
            <a:avLst>
              <a:gd name="adj" fmla="val 1157"/>
            </a:avLst>
          </a:prstGeom>
          <a:solidFill>
            <a:srgbClr val="434348"/>
          </a:solidFill>
          <a:ln/>
        </p:spPr>
      </p:sp>
      <p:sp>
        <p:nvSpPr>
          <p:cNvPr id="10" name="Shape 6"/>
          <p:cNvSpPr/>
          <p:nvPr/>
        </p:nvSpPr>
        <p:spPr>
          <a:xfrm>
            <a:off x="4878586" y="2522934"/>
            <a:ext cx="613410" cy="613410"/>
          </a:xfrm>
          <a:prstGeom prst="roundRect">
            <a:avLst>
              <a:gd name="adj" fmla="val 14905342"/>
            </a:avLst>
          </a:prstGeom>
          <a:solidFill>
            <a:srgbClr val="FDC4C4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47298" y="2691646"/>
            <a:ext cx="275987" cy="27598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78586" y="3340775"/>
            <a:ext cx="2556034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Exemple pratique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4878586" y="3782854"/>
            <a:ext cx="3345299" cy="981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char str[] = "Bonjour";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crée un tableau de 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8C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caractères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(7 lettres + 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\0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).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715685" y="5172908"/>
            <a:ext cx="7712631" cy="2322909"/>
          </a:xfrm>
          <a:prstGeom prst="roundRect">
            <a:avLst>
              <a:gd name="adj" fmla="val 1320"/>
            </a:avLst>
          </a:prstGeom>
          <a:solidFill>
            <a:srgbClr val="434348"/>
          </a:solidFill>
          <a:ln/>
        </p:spPr>
      </p:sp>
      <p:sp>
        <p:nvSpPr>
          <p:cNvPr id="15" name="Shape 10"/>
          <p:cNvSpPr/>
          <p:nvPr/>
        </p:nvSpPr>
        <p:spPr>
          <a:xfrm>
            <a:off x="920115" y="5377339"/>
            <a:ext cx="613410" cy="613410"/>
          </a:xfrm>
          <a:prstGeom prst="roundRect">
            <a:avLst>
              <a:gd name="adj" fmla="val 14905342"/>
            </a:avLst>
          </a:prstGeom>
          <a:solidFill>
            <a:srgbClr val="FDC4C4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8827" y="5546050"/>
            <a:ext cx="275987" cy="27598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20115" y="6195179"/>
            <a:ext cx="2556034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Importance du \0</a:t>
            </a:r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920115" y="6637258"/>
            <a:ext cx="7303770" cy="65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caractère 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\0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est </a:t>
            </a:r>
            <a:pPr algn="l" indent="0" marL="0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indispensable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pour marquer la fin de la chaîne et éviter les erreurs.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33462"/>
            <a:ext cx="102129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Déclaration et initialisation des chaînes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9587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existe plusieurs méthodes pour déclarer et initialiser une chaîne de caractères en C. Chacune présente ses avantages selon le contexte d'utilisation.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17682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3531870"/>
            <a:ext cx="6407944" cy="30480"/>
          </a:xfrm>
          <a:prstGeom prst="rect">
            <a:avLst/>
          </a:prstGeom>
          <a:solidFill>
            <a:srgbClr val="FDC4C4"/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37061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Littéral de chaîne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4196596"/>
            <a:ext cx="6407944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char s[] = "texte";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4703207"/>
            <a:ext cx="6407944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compilateur ajoute automatiquement le caractère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\0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à la fin. C'est la méthode la plus simple et la plus courante.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428548" y="317682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428548" y="3531870"/>
            <a:ext cx="6408063" cy="30480"/>
          </a:xfrm>
          <a:prstGeom prst="rect">
            <a:avLst/>
          </a:prstGeom>
          <a:solidFill>
            <a:srgbClr val="FDC4C4"/>
          </a:solidFill>
          <a:ln/>
        </p:spPr>
      </p:sp>
      <p:sp>
        <p:nvSpPr>
          <p:cNvPr id="11" name="Text 9"/>
          <p:cNvSpPr/>
          <p:nvPr/>
        </p:nvSpPr>
        <p:spPr>
          <a:xfrm>
            <a:off x="7428548" y="37061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Tableau explicite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28548" y="4196596"/>
            <a:ext cx="6408063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char s[] = {'t','e','x','t','e','\0'};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428548" y="4703207"/>
            <a:ext cx="6408063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Initialisation caractère par caractère. Vous devez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DC4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explicitement inclure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\0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final.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93790" y="5861804"/>
            <a:ext cx="13042821" cy="1334333"/>
          </a:xfrm>
          <a:prstGeom prst="roundRect">
            <a:avLst>
              <a:gd name="adj" fmla="val 2550"/>
            </a:avLst>
          </a:prstGeom>
          <a:solidFill>
            <a:srgbClr val="4A0303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6205895"/>
            <a:ext cx="283488" cy="22681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530906" y="6145292"/>
            <a:ext cx="12078891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Attention à la taille 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 chaîne doit toujours pouvoir contenir le caractère nul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\0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Une erreur fréquente est d'oublier cet espace supplémentaire lors de l'allocation.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8775621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Accès et modification des caractères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1638" y="1726644"/>
            <a:ext cx="2577584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Accès par indice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21638" y="2254925"/>
            <a:ext cx="6342102" cy="667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chaînes étant des tableaux, on accède aux caractères individuels par leur indice : 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str[0]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str[1]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str[2]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etc.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21638" y="3128486"/>
            <a:ext cx="2909768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Modification dynamique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21638" y="3656767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Vous pouvez modifier n'importe quel caractère de la chaîne en utilisant l'opérateur d'affectation.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21638" y="4548545"/>
            <a:ext cx="6342102" cy="968931"/>
          </a:xfrm>
          <a:prstGeom prst="roundRect">
            <a:avLst>
              <a:gd name="adj" fmla="val 3192"/>
            </a:avLst>
          </a:prstGeom>
          <a:solidFill>
            <a:srgbClr val="313136"/>
          </a:solidFill>
          <a:ln/>
        </p:spPr>
      </p:sp>
      <p:sp>
        <p:nvSpPr>
          <p:cNvPr id="8" name="Shape 6"/>
          <p:cNvSpPr/>
          <p:nvPr/>
        </p:nvSpPr>
        <p:spPr>
          <a:xfrm>
            <a:off x="711398" y="4548545"/>
            <a:ext cx="6362581" cy="968931"/>
          </a:xfrm>
          <a:prstGeom prst="roundRect">
            <a:avLst>
              <a:gd name="adj" fmla="val 3192"/>
            </a:avLst>
          </a:prstGeom>
          <a:solidFill>
            <a:srgbClr val="313136"/>
          </a:solidFill>
          <a:ln/>
        </p:spPr>
      </p:sp>
      <p:sp>
        <p:nvSpPr>
          <p:cNvPr id="9" name="Text 7"/>
          <p:cNvSpPr/>
          <p:nvPr/>
        </p:nvSpPr>
        <p:spPr>
          <a:xfrm>
            <a:off x="917496" y="4703088"/>
            <a:ext cx="5950387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char str[] = "bonjour";</a:t>
            </a:r>
            <a:endParaRPr lang="en-US" sz="16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str[0] = 'B';  // Résultat: "Bonjour"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1638" y="5749409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Cette flexibilité permet de </a:t>
            </a:r>
            <a:pPr algn="l" indent="0" marL="0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C8C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manipuler facilement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 contenu des chaînes en mémoire.</a:t>
            </a:r>
            <a:endParaRPr lang="en-US" sz="1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4280" y="1752481"/>
            <a:ext cx="6342102" cy="63421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2025-12-08T02:59:31Z</dcterms:created>
  <dcterms:modified xsi:type="dcterms:W3CDTF">2025-12-08T02:59:31Z</dcterms:modified>
</cp:coreProperties>
</file>