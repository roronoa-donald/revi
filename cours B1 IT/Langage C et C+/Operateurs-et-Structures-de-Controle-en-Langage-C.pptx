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Spline Sans"/>
      <p:regular r:id="rId17"/>
    </p:embeddedFont>
    <p:embeddedFont>
      <p:font typeface="Spline Sans"/>
      <p:regular r:id="rId18"/>
    </p:embeddedFont>
    <p:embeddedFont>
      <p:font typeface="Barlow"/>
      <p:regular r:id="rId19"/>
    </p:embeddedFont>
    <p:embeddedFont>
      <p:font typeface="Barlow"/>
      <p:regular r:id="rId20"/>
    </p:embeddedFont>
    <p:embeddedFont>
      <p:font typeface="Barlow"/>
      <p:regular r:id="rId21"/>
    </p:embeddedFont>
    <p:embeddedFont>
      <p:font typeface="Barlow"/>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slideLayout" Target="../slideLayouts/slideLayout5.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8.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svg"/><Relationship Id="rId14" Type="http://schemas.openxmlformats.org/officeDocument/2006/relationships/image" Target="../media/image-8-14.png"/><Relationship Id="rId15" Type="http://schemas.openxmlformats.org/officeDocument/2006/relationships/image" Target="../media/image-8-15.svg"/><Relationship Id="rId16" Type="http://schemas.openxmlformats.org/officeDocument/2006/relationships/image" Target="../media/image-8-16.png"/><Relationship Id="rId17" Type="http://schemas.openxmlformats.org/officeDocument/2006/relationships/slideLayout" Target="../slideLayouts/slideLayout9.xml"/><Relationship Id="rId1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67462" y="2632710"/>
            <a:ext cx="7381875" cy="1223963"/>
          </a:xfrm>
          <a:prstGeom prst="rect">
            <a:avLst/>
          </a:prstGeom>
          <a:noFill/>
          <a:ln/>
        </p:spPr>
        <p:txBody>
          <a:bodyPr wrap="square" lIns="0" tIns="0" rIns="0" bIns="0" rtlCol="0" anchor="t"/>
          <a:lstStyle/>
          <a:p>
            <a:pPr algn="l" indent="0" marL="0">
              <a:lnSpc>
                <a:spcPts val="4800"/>
              </a:lnSpc>
              <a:buNone/>
            </a:pPr>
            <a:r>
              <a:rPr lang="en-US" sz="3850" b="1" dirty="0">
                <a:solidFill>
                  <a:srgbClr val="F0FCFF"/>
                </a:solidFill>
                <a:latin typeface="Spline Sans Bold" pitchFamily="34" charset="0"/>
                <a:ea typeface="Spline Sans Bold" pitchFamily="34" charset="-122"/>
                <a:cs typeface="Spline Sans Bold" pitchFamily="34" charset="-120"/>
              </a:rPr>
              <a:t>Opérateurs et Structures de Contrôle en Langage C</a:t>
            </a:r>
            <a:endParaRPr lang="en-US" sz="3850" dirty="0"/>
          </a:p>
        </p:txBody>
      </p:sp>
      <p:sp>
        <p:nvSpPr>
          <p:cNvPr id="4" name="Text 1"/>
          <p:cNvSpPr/>
          <p:nvPr/>
        </p:nvSpPr>
        <p:spPr>
          <a:xfrm>
            <a:off x="6367462" y="4187071"/>
            <a:ext cx="7381875" cy="1409700"/>
          </a:xfrm>
          <a:prstGeom prst="rect">
            <a:avLst/>
          </a:prstGeom>
          <a:noFill/>
          <a:ln/>
        </p:spPr>
        <p:txBody>
          <a:bodyPr wrap="square" lIns="0" tIns="0" rIns="0" bIns="0" rtlCol="0" anchor="t"/>
          <a:lstStyle/>
          <a:p>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Une exploration complète des fondamentaux de la programmation en C : découvrez comment manipuler les données avec les opérateurs et contrôler le flux d'exécution de vos programmes grâce aux structures conditionnelles et itératives.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96873" y="479108"/>
            <a:ext cx="8362355" cy="483989"/>
          </a:xfrm>
          <a:prstGeom prst="rect">
            <a:avLst/>
          </a:prstGeom>
          <a:noFill/>
          <a:ln/>
        </p:spPr>
        <p:txBody>
          <a:bodyPr wrap="none" lIns="0" tIns="0" rIns="0" bIns="0" rtlCol="0" anchor="t"/>
          <a:lstStyle/>
          <a:p>
            <a:pPr algn="l" indent="0" marL="0">
              <a:lnSpc>
                <a:spcPts val="3800"/>
              </a:lnSpc>
              <a:buNone/>
            </a:pPr>
            <a:r>
              <a:rPr lang="en-US" sz="3000" b="1" dirty="0">
                <a:solidFill>
                  <a:srgbClr val="F0FCFF"/>
                </a:solidFill>
                <a:latin typeface="Spline Sans Bold" pitchFamily="34" charset="0"/>
                <a:ea typeface="Spline Sans Bold" pitchFamily="34" charset="-122"/>
                <a:cs typeface="Spline Sans Bold" pitchFamily="34" charset="-120"/>
              </a:rPr>
              <a:t>Les opérateurs arithmétiques : calculs de base</a:t>
            </a:r>
            <a:endParaRPr lang="en-US" sz="3000" dirty="0"/>
          </a:p>
        </p:txBody>
      </p:sp>
      <p:sp>
        <p:nvSpPr>
          <p:cNvPr id="3" name="Text 1"/>
          <p:cNvSpPr/>
          <p:nvPr/>
        </p:nvSpPr>
        <p:spPr>
          <a:xfrm>
            <a:off x="696873" y="1381006"/>
            <a:ext cx="6405801" cy="1114425"/>
          </a:xfrm>
          <a:prstGeom prst="rect">
            <a:avLst/>
          </a:prstGeom>
          <a:noFill/>
          <a:ln/>
        </p:spPr>
        <p:txBody>
          <a:bodyPr wrap="square" lIns="0" tIns="0" rIns="0" bIns="0" rtlCol="0" anchor="t"/>
          <a:lstStyle/>
          <a:p>
            <a:pPr algn="l" indent="0" marL="0">
              <a:lnSpc>
                <a:spcPts val="2150"/>
              </a:lnSpc>
              <a:buNone/>
            </a:pPr>
            <a:r>
              <a:rPr lang="en-US" sz="1350" dirty="0">
                <a:solidFill>
                  <a:srgbClr val="E0E4E6"/>
                </a:solidFill>
                <a:latin typeface="Barlow" pitchFamily="34" charset="0"/>
                <a:ea typeface="Barlow" pitchFamily="34" charset="-122"/>
                <a:cs typeface="Barlow" pitchFamily="34" charset="-120"/>
              </a:rPr>
              <a:t>Le langage C propose </a:t>
            </a:r>
            <a:pPr algn="l" indent="0" marL="0">
              <a:lnSpc>
                <a:spcPts val="2150"/>
              </a:lnSpc>
              <a:buNone/>
            </a:pPr>
            <a:r>
              <a:rPr lang="en-US" sz="1350" b="1" dirty="0">
                <a:solidFill>
                  <a:srgbClr val="E0E4E6"/>
                </a:solidFill>
                <a:latin typeface="Barlow" pitchFamily="34" charset="0"/>
                <a:ea typeface="Barlow" pitchFamily="34" charset="-122"/>
                <a:cs typeface="Barlow" pitchFamily="34" charset="-120"/>
              </a:rPr>
              <a:t>5 opérateurs arithmétiques principaux</a:t>
            </a:r>
            <a:pPr algn="l" indent="0" marL="0">
              <a:lnSpc>
                <a:spcPts val="2150"/>
              </a:lnSpc>
              <a:buNone/>
            </a:pPr>
            <a:r>
              <a:rPr lang="en-US" sz="1350" dirty="0">
                <a:solidFill>
                  <a:srgbClr val="E0E4E6"/>
                </a:solidFill>
                <a:latin typeface="Barlow" pitchFamily="34" charset="0"/>
                <a:ea typeface="Barlow" pitchFamily="34" charset="-122"/>
                <a:cs typeface="Barlow" pitchFamily="34" charset="-120"/>
              </a:rPr>
              <a:t> qui constituent la base de tous les calculs mathématiques dans vos programmes. Ces opérateurs fonctionnent de manière similaire aux opérations mathématiques classiques, avec quelques particularités importantes à connaître.</a:t>
            </a:r>
            <a:endParaRPr lang="en-US" sz="1350" dirty="0"/>
          </a:p>
        </p:txBody>
      </p:sp>
      <p:sp>
        <p:nvSpPr>
          <p:cNvPr id="4" name="Text 2"/>
          <p:cNvSpPr/>
          <p:nvPr/>
        </p:nvSpPr>
        <p:spPr>
          <a:xfrm>
            <a:off x="696873" y="2652117"/>
            <a:ext cx="6405801" cy="835819"/>
          </a:xfrm>
          <a:prstGeom prst="rect">
            <a:avLst/>
          </a:prstGeom>
          <a:noFill/>
          <a:ln/>
        </p:spPr>
        <p:txBody>
          <a:bodyPr wrap="square" lIns="0" tIns="0" rIns="0" bIns="0" rtlCol="0" anchor="t"/>
          <a:lstStyle/>
          <a:p>
            <a:pPr algn="l" indent="0" marL="0">
              <a:lnSpc>
                <a:spcPts val="2150"/>
              </a:lnSpc>
              <a:buNone/>
            </a:pPr>
            <a:r>
              <a:rPr lang="en-US" sz="1350" dirty="0">
                <a:solidFill>
                  <a:srgbClr val="E0E4E6"/>
                </a:solidFill>
                <a:latin typeface="Barlow" pitchFamily="34" charset="0"/>
                <a:ea typeface="Barlow" pitchFamily="34" charset="-122"/>
                <a:cs typeface="Barlow" pitchFamily="34" charset="-120"/>
              </a:rPr>
              <a:t>L'addition (+), la soustraction (-), la multiplication (*) et la division (/) fonctionnent comme attendu. Cependant, </a:t>
            </a:r>
            <a:pPr algn="l" indent="0" marL="0">
              <a:lnSpc>
                <a:spcPts val="2150"/>
              </a:lnSpc>
              <a:buNone/>
            </a:pPr>
            <a:r>
              <a:rPr lang="en-US" sz="1350" dirty="0">
                <a:solidFill>
                  <a:srgbClr val="000000"/>
                </a:solidFill>
                <a:highlight>
                  <a:srgbClr val="16FFBB"/>
                </a:highlight>
                <a:latin typeface="Barlow" pitchFamily="34" charset="0"/>
                <a:ea typeface="Barlow" pitchFamily="34" charset="-122"/>
                <a:cs typeface="Barlow" pitchFamily="34" charset="-120"/>
              </a:rPr>
              <a:t>le modulo (%) retourne le reste d'une division entière</a:t>
            </a:r>
            <a:pPr algn="l" indent="0" marL="0">
              <a:lnSpc>
                <a:spcPts val="2150"/>
              </a:lnSpc>
              <a:buNone/>
            </a:pPr>
            <a:r>
              <a:rPr lang="en-US" sz="1350" dirty="0">
                <a:solidFill>
                  <a:srgbClr val="E0E4E6"/>
                </a:solidFill>
                <a:latin typeface="Barlow" pitchFamily="34" charset="0"/>
                <a:ea typeface="Barlow" pitchFamily="34" charset="-122"/>
                <a:cs typeface="Barlow" pitchFamily="34" charset="-120"/>
              </a:rPr>
              <a:t>, un outil très utile pour vérifier la parité d'un nombre ou effectuer des calculs cycliques.</a:t>
            </a:r>
            <a:endParaRPr lang="en-US" sz="1350" dirty="0"/>
          </a:p>
        </p:txBody>
      </p:sp>
      <p:sp>
        <p:nvSpPr>
          <p:cNvPr id="5" name="Shape 3"/>
          <p:cNvSpPr/>
          <p:nvPr/>
        </p:nvSpPr>
        <p:spPr>
          <a:xfrm>
            <a:off x="7535347" y="1420297"/>
            <a:ext cx="6405801" cy="1524119"/>
          </a:xfrm>
          <a:prstGeom prst="roundRect">
            <a:avLst>
              <a:gd name="adj" fmla="val 17147"/>
            </a:avLst>
          </a:prstGeom>
          <a:solidFill>
            <a:srgbClr val="0A081B"/>
          </a:solidFill>
          <a:ln w="15240">
            <a:solidFill>
              <a:srgbClr val="16FFBB"/>
            </a:solidFill>
            <a:prstDash val="solid"/>
          </a:ln>
        </p:spPr>
      </p:sp>
      <p:sp>
        <p:nvSpPr>
          <p:cNvPr id="6" name="Text 4"/>
          <p:cNvSpPr/>
          <p:nvPr/>
        </p:nvSpPr>
        <p:spPr>
          <a:xfrm>
            <a:off x="7724775" y="1609725"/>
            <a:ext cx="2171700" cy="241935"/>
          </a:xfrm>
          <a:prstGeom prst="rect">
            <a:avLst/>
          </a:prstGeom>
          <a:noFill/>
          <a:ln/>
        </p:spPr>
        <p:txBody>
          <a:bodyPr wrap="none" lIns="0" tIns="0" rIns="0" bIns="0" rtlCol="0" anchor="t"/>
          <a:lstStyle/>
          <a:p>
            <a:pPr algn="l" indent="0" marL="0">
              <a:lnSpc>
                <a:spcPts val="1900"/>
              </a:lnSpc>
              <a:buNone/>
            </a:pPr>
            <a:r>
              <a:rPr lang="en-US" sz="1500" b="1" dirty="0">
                <a:solidFill>
                  <a:srgbClr val="E0E4E6"/>
                </a:solidFill>
                <a:latin typeface="Spline Sans Bold" pitchFamily="34" charset="0"/>
                <a:ea typeface="Spline Sans Bold" pitchFamily="34" charset="-122"/>
                <a:cs typeface="Spline Sans Bold" pitchFamily="34" charset="-120"/>
              </a:rPr>
              <a:t>Addition &amp; Soustraction</a:t>
            </a:r>
            <a:endParaRPr lang="en-US" sz="1500" dirty="0"/>
          </a:p>
        </p:txBody>
      </p:sp>
      <p:sp>
        <p:nvSpPr>
          <p:cNvPr id="7" name="Text 5"/>
          <p:cNvSpPr/>
          <p:nvPr/>
        </p:nvSpPr>
        <p:spPr>
          <a:xfrm>
            <a:off x="7724775" y="2025848"/>
            <a:ext cx="6026944" cy="286226"/>
          </a:xfrm>
          <a:prstGeom prst="rect">
            <a:avLst/>
          </a:prstGeom>
          <a:noFill/>
          <a:ln/>
        </p:spPr>
        <p:txBody>
          <a:bodyPr wrap="none" lIns="0" tIns="0" rIns="0" bIns="0" rtlCol="0" anchor="t"/>
          <a:lstStyle/>
          <a:p>
            <a:pPr algn="l" indent="0" marL="0">
              <a:lnSpc>
                <a:spcPts val="2150"/>
              </a:lnSpc>
              <a:buNone/>
            </a:pPr>
            <a:r>
              <a:rPr lang="en-US" sz="1350" dirty="0">
                <a:solidFill>
                  <a:srgbClr val="E0E4E6"/>
                </a:solidFill>
                <a:highlight>
                  <a:srgbClr val="171528"/>
                </a:highlight>
                <a:latin typeface="Consolas" pitchFamily="34" charset="0"/>
                <a:ea typeface="Consolas" pitchFamily="34" charset="-122"/>
                <a:cs typeface="Consolas" pitchFamily="34" charset="-120"/>
              </a:rPr>
              <a:t>5 + 3 = 8</a:t>
            </a:r>
            <a:endParaRPr lang="en-US" sz="1350" dirty="0"/>
          </a:p>
        </p:txBody>
      </p:sp>
      <p:sp>
        <p:nvSpPr>
          <p:cNvPr id="8" name="Text 6"/>
          <p:cNvSpPr/>
          <p:nvPr/>
        </p:nvSpPr>
        <p:spPr>
          <a:xfrm>
            <a:off x="7724775" y="2468761"/>
            <a:ext cx="6026944" cy="286226"/>
          </a:xfrm>
          <a:prstGeom prst="rect">
            <a:avLst/>
          </a:prstGeom>
          <a:noFill/>
          <a:ln/>
        </p:spPr>
        <p:txBody>
          <a:bodyPr wrap="none" lIns="0" tIns="0" rIns="0" bIns="0" rtlCol="0" anchor="t"/>
          <a:lstStyle/>
          <a:p>
            <a:pPr algn="l" indent="0" marL="0">
              <a:lnSpc>
                <a:spcPts val="2150"/>
              </a:lnSpc>
              <a:buNone/>
            </a:pPr>
            <a:r>
              <a:rPr lang="en-US" sz="1350" dirty="0">
                <a:solidFill>
                  <a:srgbClr val="E0E4E6"/>
                </a:solidFill>
                <a:highlight>
                  <a:srgbClr val="171528"/>
                </a:highlight>
                <a:latin typeface="Consolas" pitchFamily="34" charset="0"/>
                <a:ea typeface="Consolas" pitchFamily="34" charset="-122"/>
                <a:cs typeface="Consolas" pitchFamily="34" charset="-120"/>
              </a:rPr>
              <a:t>7 - 2 = 5</a:t>
            </a:r>
            <a:endParaRPr lang="en-US" sz="1350" dirty="0"/>
          </a:p>
        </p:txBody>
      </p:sp>
      <p:sp>
        <p:nvSpPr>
          <p:cNvPr id="9" name="Shape 7"/>
          <p:cNvSpPr/>
          <p:nvPr/>
        </p:nvSpPr>
        <p:spPr>
          <a:xfrm>
            <a:off x="7535347" y="3118604"/>
            <a:ext cx="6405801" cy="1524119"/>
          </a:xfrm>
          <a:prstGeom prst="roundRect">
            <a:avLst>
              <a:gd name="adj" fmla="val 17147"/>
            </a:avLst>
          </a:prstGeom>
          <a:solidFill>
            <a:srgbClr val="0A081B"/>
          </a:solidFill>
          <a:ln w="15240">
            <a:solidFill>
              <a:srgbClr val="29DDDA"/>
            </a:solidFill>
            <a:prstDash val="solid"/>
          </a:ln>
        </p:spPr>
      </p:sp>
      <p:sp>
        <p:nvSpPr>
          <p:cNvPr id="10" name="Text 8"/>
          <p:cNvSpPr/>
          <p:nvPr/>
        </p:nvSpPr>
        <p:spPr>
          <a:xfrm>
            <a:off x="7724775" y="3308033"/>
            <a:ext cx="2218492" cy="241935"/>
          </a:xfrm>
          <a:prstGeom prst="rect">
            <a:avLst/>
          </a:prstGeom>
          <a:noFill/>
          <a:ln/>
        </p:spPr>
        <p:txBody>
          <a:bodyPr wrap="none" lIns="0" tIns="0" rIns="0" bIns="0" rtlCol="0" anchor="t"/>
          <a:lstStyle/>
          <a:p>
            <a:pPr algn="l" indent="0" marL="0">
              <a:lnSpc>
                <a:spcPts val="1900"/>
              </a:lnSpc>
              <a:buNone/>
            </a:pPr>
            <a:r>
              <a:rPr lang="en-US" sz="1500" b="1" dirty="0">
                <a:solidFill>
                  <a:srgbClr val="E0E4E6"/>
                </a:solidFill>
                <a:latin typeface="Spline Sans Bold" pitchFamily="34" charset="0"/>
                <a:ea typeface="Spline Sans Bold" pitchFamily="34" charset="-122"/>
                <a:cs typeface="Spline Sans Bold" pitchFamily="34" charset="-120"/>
              </a:rPr>
              <a:t>Multiplication &amp; Division</a:t>
            </a:r>
            <a:endParaRPr lang="en-US" sz="1500" dirty="0"/>
          </a:p>
        </p:txBody>
      </p:sp>
      <p:sp>
        <p:nvSpPr>
          <p:cNvPr id="11" name="Text 9"/>
          <p:cNvSpPr/>
          <p:nvPr/>
        </p:nvSpPr>
        <p:spPr>
          <a:xfrm>
            <a:off x="7724775" y="3724156"/>
            <a:ext cx="6026944" cy="286226"/>
          </a:xfrm>
          <a:prstGeom prst="rect">
            <a:avLst/>
          </a:prstGeom>
          <a:noFill/>
          <a:ln/>
        </p:spPr>
        <p:txBody>
          <a:bodyPr wrap="none" lIns="0" tIns="0" rIns="0" bIns="0" rtlCol="0" anchor="t"/>
          <a:lstStyle/>
          <a:p>
            <a:pPr algn="l" indent="0" marL="0">
              <a:lnSpc>
                <a:spcPts val="2150"/>
              </a:lnSpc>
              <a:buNone/>
            </a:pPr>
            <a:r>
              <a:rPr lang="en-US" sz="1350" dirty="0">
                <a:solidFill>
                  <a:srgbClr val="E0E4E6"/>
                </a:solidFill>
                <a:highlight>
                  <a:srgbClr val="171528"/>
                </a:highlight>
                <a:latin typeface="Consolas" pitchFamily="34" charset="0"/>
                <a:ea typeface="Consolas" pitchFamily="34" charset="-122"/>
                <a:cs typeface="Consolas" pitchFamily="34" charset="-120"/>
              </a:rPr>
              <a:t>4 * 6 = 24</a:t>
            </a:r>
            <a:endParaRPr lang="en-US" sz="1350" dirty="0"/>
          </a:p>
        </p:txBody>
      </p:sp>
      <p:sp>
        <p:nvSpPr>
          <p:cNvPr id="12" name="Text 10"/>
          <p:cNvSpPr/>
          <p:nvPr/>
        </p:nvSpPr>
        <p:spPr>
          <a:xfrm>
            <a:off x="7724775" y="4167068"/>
            <a:ext cx="6026944" cy="286226"/>
          </a:xfrm>
          <a:prstGeom prst="rect">
            <a:avLst/>
          </a:prstGeom>
          <a:noFill/>
          <a:ln/>
        </p:spPr>
        <p:txBody>
          <a:bodyPr wrap="none" lIns="0" tIns="0" rIns="0" bIns="0" rtlCol="0" anchor="t"/>
          <a:lstStyle/>
          <a:p>
            <a:pPr algn="l" indent="0" marL="0">
              <a:lnSpc>
                <a:spcPts val="2150"/>
              </a:lnSpc>
              <a:buNone/>
            </a:pPr>
            <a:r>
              <a:rPr lang="en-US" sz="1350" dirty="0">
                <a:solidFill>
                  <a:srgbClr val="E0E4E6"/>
                </a:solidFill>
                <a:highlight>
                  <a:srgbClr val="171528"/>
                </a:highlight>
                <a:latin typeface="Consolas" pitchFamily="34" charset="0"/>
                <a:ea typeface="Consolas" pitchFamily="34" charset="-122"/>
                <a:cs typeface="Consolas" pitchFamily="34" charset="-120"/>
              </a:rPr>
              <a:t>5 / 3 = 1</a:t>
            </a:r>
            <a:pPr algn="l" indent="0" marL="0">
              <a:lnSpc>
                <a:spcPts val="2150"/>
              </a:lnSpc>
              <a:buNone/>
            </a:pPr>
            <a:r>
              <a:rPr lang="en-US" sz="1350" dirty="0">
                <a:solidFill>
                  <a:srgbClr val="E0E4E6"/>
                </a:solidFill>
                <a:latin typeface="Barlow" pitchFamily="34" charset="0"/>
                <a:ea typeface="Barlow" pitchFamily="34" charset="-122"/>
                <a:cs typeface="Barlow" pitchFamily="34" charset="-120"/>
              </a:rPr>
              <a:t> (entiers)</a:t>
            </a:r>
            <a:endParaRPr lang="en-US" sz="1350" dirty="0"/>
          </a:p>
        </p:txBody>
      </p:sp>
      <p:sp>
        <p:nvSpPr>
          <p:cNvPr id="13" name="Shape 11"/>
          <p:cNvSpPr/>
          <p:nvPr/>
        </p:nvSpPr>
        <p:spPr>
          <a:xfrm>
            <a:off x="7535347" y="4816912"/>
            <a:ext cx="6405801" cy="1524119"/>
          </a:xfrm>
          <a:prstGeom prst="roundRect">
            <a:avLst>
              <a:gd name="adj" fmla="val 17147"/>
            </a:avLst>
          </a:prstGeom>
          <a:solidFill>
            <a:srgbClr val="0A081B"/>
          </a:solidFill>
          <a:ln w="15240">
            <a:solidFill>
              <a:srgbClr val="37A7E7"/>
            </a:solidFill>
            <a:prstDash val="solid"/>
          </a:ln>
        </p:spPr>
      </p:sp>
      <p:sp>
        <p:nvSpPr>
          <p:cNvPr id="14" name="Text 12"/>
          <p:cNvSpPr/>
          <p:nvPr/>
        </p:nvSpPr>
        <p:spPr>
          <a:xfrm>
            <a:off x="7724775" y="5006340"/>
            <a:ext cx="1935837" cy="241935"/>
          </a:xfrm>
          <a:prstGeom prst="rect">
            <a:avLst/>
          </a:prstGeom>
          <a:noFill/>
          <a:ln/>
        </p:spPr>
        <p:txBody>
          <a:bodyPr wrap="none" lIns="0" tIns="0" rIns="0" bIns="0" rtlCol="0" anchor="t"/>
          <a:lstStyle/>
          <a:p>
            <a:pPr algn="l" indent="0" marL="0">
              <a:lnSpc>
                <a:spcPts val="1900"/>
              </a:lnSpc>
              <a:buNone/>
            </a:pPr>
            <a:r>
              <a:rPr lang="en-US" sz="1500" b="1" dirty="0">
                <a:solidFill>
                  <a:srgbClr val="E0E4E6"/>
                </a:solidFill>
                <a:latin typeface="Spline Sans Bold" pitchFamily="34" charset="0"/>
                <a:ea typeface="Spline Sans Bold" pitchFamily="34" charset="-122"/>
                <a:cs typeface="Spline Sans Bold" pitchFamily="34" charset="-120"/>
              </a:rPr>
              <a:t>Modulo</a:t>
            </a:r>
            <a:endParaRPr lang="en-US" sz="1500" dirty="0"/>
          </a:p>
        </p:txBody>
      </p:sp>
      <p:sp>
        <p:nvSpPr>
          <p:cNvPr id="15" name="Text 13"/>
          <p:cNvSpPr/>
          <p:nvPr/>
        </p:nvSpPr>
        <p:spPr>
          <a:xfrm>
            <a:off x="7724775" y="5422463"/>
            <a:ext cx="6026944" cy="286226"/>
          </a:xfrm>
          <a:prstGeom prst="rect">
            <a:avLst/>
          </a:prstGeom>
          <a:noFill/>
          <a:ln/>
        </p:spPr>
        <p:txBody>
          <a:bodyPr wrap="none" lIns="0" tIns="0" rIns="0" bIns="0" rtlCol="0" anchor="t"/>
          <a:lstStyle/>
          <a:p>
            <a:pPr algn="l" indent="0" marL="0">
              <a:lnSpc>
                <a:spcPts val="2150"/>
              </a:lnSpc>
              <a:buNone/>
            </a:pPr>
            <a:r>
              <a:rPr lang="en-US" sz="1350" dirty="0">
                <a:solidFill>
                  <a:srgbClr val="E0E4E6"/>
                </a:solidFill>
                <a:highlight>
                  <a:srgbClr val="171528"/>
                </a:highlight>
                <a:latin typeface="Consolas" pitchFamily="34" charset="0"/>
                <a:ea typeface="Consolas" pitchFamily="34" charset="-122"/>
                <a:cs typeface="Consolas" pitchFamily="34" charset="-120"/>
              </a:rPr>
              <a:t>7 % 3 = 1</a:t>
            </a:r>
            <a:endParaRPr lang="en-US" sz="1350" dirty="0"/>
          </a:p>
        </p:txBody>
      </p:sp>
      <p:sp>
        <p:nvSpPr>
          <p:cNvPr id="16" name="Text 14"/>
          <p:cNvSpPr/>
          <p:nvPr/>
        </p:nvSpPr>
        <p:spPr>
          <a:xfrm>
            <a:off x="7724775" y="5865376"/>
            <a:ext cx="6026944" cy="286226"/>
          </a:xfrm>
          <a:prstGeom prst="rect">
            <a:avLst/>
          </a:prstGeom>
          <a:noFill/>
          <a:ln/>
        </p:spPr>
        <p:txBody>
          <a:bodyPr wrap="none" lIns="0" tIns="0" rIns="0" bIns="0" rtlCol="0" anchor="t"/>
          <a:lstStyle/>
          <a:p>
            <a:pPr algn="l" indent="0" marL="0">
              <a:lnSpc>
                <a:spcPts val="2150"/>
              </a:lnSpc>
              <a:buNone/>
            </a:pPr>
            <a:r>
              <a:rPr lang="en-US" sz="1350" dirty="0">
                <a:solidFill>
                  <a:srgbClr val="E0E4E6"/>
                </a:solidFill>
                <a:highlight>
                  <a:srgbClr val="171528"/>
                </a:highlight>
                <a:latin typeface="Consolas" pitchFamily="34" charset="0"/>
                <a:ea typeface="Consolas" pitchFamily="34" charset="-122"/>
                <a:cs typeface="Consolas" pitchFamily="34" charset="-120"/>
              </a:rPr>
              <a:t>10 % 2 = 0</a:t>
            </a:r>
            <a:endParaRPr lang="en-US" sz="1350" dirty="0"/>
          </a:p>
        </p:txBody>
      </p:sp>
      <p:sp>
        <p:nvSpPr>
          <p:cNvPr id="17" name="Shape 15"/>
          <p:cNvSpPr/>
          <p:nvPr/>
        </p:nvSpPr>
        <p:spPr>
          <a:xfrm>
            <a:off x="696873" y="6732984"/>
            <a:ext cx="13236654" cy="1033820"/>
          </a:xfrm>
          <a:prstGeom prst="roundRect">
            <a:avLst>
              <a:gd name="adj" fmla="val 25279"/>
            </a:avLst>
          </a:prstGeom>
          <a:solidFill>
            <a:srgbClr val="004D36"/>
          </a:solidFill>
          <a:ln/>
        </p:spPr>
      </p:sp>
      <p:pic>
        <p:nvPicPr>
          <p:cNvPr id="18" name="Image 0" descr="preencoded.png">    </p:cNvPr>
          <p:cNvPicPr>
            <a:picLocks noChangeAspect="1"/>
          </p:cNvPicPr>
          <p:nvPr/>
        </p:nvPicPr>
        <p:blipFill>
          <a:blip r:embed="rId1"/>
          <a:stretch>
            <a:fillRect/>
          </a:stretch>
        </p:blipFill>
        <p:spPr>
          <a:xfrm>
            <a:off x="871061" y="7003852"/>
            <a:ext cx="217765" cy="174188"/>
          </a:xfrm>
          <a:prstGeom prst="rect">
            <a:avLst/>
          </a:prstGeom>
        </p:spPr>
      </p:pic>
      <p:sp>
        <p:nvSpPr>
          <p:cNvPr id="19" name="Text 16"/>
          <p:cNvSpPr/>
          <p:nvPr/>
        </p:nvSpPr>
        <p:spPr>
          <a:xfrm>
            <a:off x="1263015" y="6950631"/>
            <a:ext cx="12496324" cy="572453"/>
          </a:xfrm>
          <a:prstGeom prst="rect">
            <a:avLst/>
          </a:prstGeom>
          <a:noFill/>
          <a:ln/>
        </p:spPr>
        <p:txBody>
          <a:bodyPr wrap="square" lIns="0" tIns="0" rIns="0" bIns="0" rtlCol="0" anchor="t"/>
          <a:lstStyle/>
          <a:p>
            <a:pPr algn="l" indent="0" marL="0">
              <a:lnSpc>
                <a:spcPts val="2150"/>
              </a:lnSpc>
              <a:buNone/>
            </a:pPr>
            <a:r>
              <a:rPr lang="en-US" sz="1350" dirty="0">
                <a:solidFill>
                  <a:srgbClr val="000000"/>
                </a:solidFill>
                <a:latin typeface="Barlow" pitchFamily="34" charset="0"/>
                <a:ea typeface="Barlow" pitchFamily="34" charset="-122"/>
                <a:cs typeface="Barlow" pitchFamily="34" charset="-120"/>
              </a:rPr>
              <a:t>⚠️</a:t>
            </a:r>
            <a:pPr algn="l" indent="0" marL="0">
              <a:lnSpc>
                <a:spcPts val="2150"/>
              </a:lnSpc>
              <a:buNone/>
            </a:pPr>
            <a:r>
              <a:rPr lang="en-US" sz="1350" dirty="0">
                <a:solidFill>
                  <a:srgbClr val="FFFFFF"/>
                </a:solidFill>
                <a:latin typeface="Barlow" pitchFamily="34" charset="0"/>
                <a:ea typeface="Barlow" pitchFamily="34" charset="-122"/>
                <a:cs typeface="Barlow" pitchFamily="34" charset="-120"/>
              </a:rPr>
              <a:t> Attention particulière : la division (/) entre deux entiers effectue une division entière et retourne uniquement le quotient, sans partie décimale. Par exemple, 5/3 donne 1, et non 1.666... Pour obtenir un résultat décimal, au moins un des opérandes doit être de type float ou double.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88908" y="542330"/>
            <a:ext cx="10717054" cy="547807"/>
          </a:xfrm>
          <a:prstGeom prst="rect">
            <a:avLst/>
          </a:prstGeom>
          <a:noFill/>
          <a:ln/>
        </p:spPr>
        <p:txBody>
          <a:bodyPr wrap="none" lIns="0" tIns="0" rIns="0" bIns="0" rtlCol="0" anchor="t"/>
          <a:lstStyle/>
          <a:p>
            <a:pPr algn="l" indent="0" marL="0">
              <a:lnSpc>
                <a:spcPts val="4300"/>
              </a:lnSpc>
              <a:buNone/>
            </a:pPr>
            <a:r>
              <a:rPr lang="en-US" sz="3450" b="1" dirty="0">
                <a:solidFill>
                  <a:srgbClr val="F0FCFF"/>
                </a:solidFill>
                <a:latin typeface="Spline Sans Bold" pitchFamily="34" charset="0"/>
                <a:ea typeface="Spline Sans Bold" pitchFamily="34" charset="-122"/>
                <a:cs typeface="Spline Sans Bold" pitchFamily="34" charset="-120"/>
              </a:rPr>
              <a:t>Les opérateurs de comparaison : tester des relations</a:t>
            </a:r>
            <a:endParaRPr lang="en-US" sz="3450" dirty="0"/>
          </a:p>
        </p:txBody>
      </p:sp>
      <p:sp>
        <p:nvSpPr>
          <p:cNvPr id="3" name="Text 1"/>
          <p:cNvSpPr/>
          <p:nvPr/>
        </p:nvSpPr>
        <p:spPr>
          <a:xfrm>
            <a:off x="788908" y="1484590"/>
            <a:ext cx="13052584" cy="631269"/>
          </a:xfrm>
          <a:prstGeom prst="rect">
            <a:avLst/>
          </a:prstGeom>
          <a:noFill/>
          <a:ln/>
        </p:spPr>
        <p:txBody>
          <a:bodyPr wrap="square" lIns="0" tIns="0" rIns="0" bIns="0" rtlCol="0" anchor="t"/>
          <a:lstStyle/>
          <a:p>
            <a:pPr algn="l" indent="0" marL="0">
              <a:lnSpc>
                <a:spcPts val="2450"/>
              </a:lnSpc>
              <a:buNone/>
            </a:pPr>
            <a:r>
              <a:rPr lang="en-US" sz="1550" dirty="0">
                <a:solidFill>
                  <a:srgbClr val="E0E4E6"/>
                </a:solidFill>
                <a:latin typeface="Barlow" pitchFamily="34" charset="0"/>
                <a:ea typeface="Barlow" pitchFamily="34" charset="-122"/>
                <a:cs typeface="Barlow" pitchFamily="34" charset="-120"/>
              </a:rPr>
              <a:t>Les opérateurs de comparaison sont essentiels pour </a:t>
            </a:r>
            <a:pPr algn="l" indent="0" marL="0">
              <a:lnSpc>
                <a:spcPts val="2450"/>
              </a:lnSpc>
              <a:buNone/>
            </a:pPr>
            <a:r>
              <a:rPr lang="en-US" sz="1550" b="1" dirty="0">
                <a:solidFill>
                  <a:srgbClr val="E0E4E6"/>
                </a:solidFill>
                <a:latin typeface="Barlow" pitchFamily="34" charset="0"/>
                <a:ea typeface="Barlow" pitchFamily="34" charset="-122"/>
                <a:cs typeface="Barlow" pitchFamily="34" charset="-120"/>
              </a:rPr>
              <a:t>évaluer des relations</a:t>
            </a:r>
            <a:pPr algn="l" indent="0" marL="0">
              <a:lnSpc>
                <a:spcPts val="2450"/>
              </a:lnSpc>
              <a:buNone/>
            </a:pPr>
            <a:r>
              <a:rPr lang="en-US" sz="1550" dirty="0">
                <a:solidFill>
                  <a:srgbClr val="E0E4E6"/>
                </a:solidFill>
                <a:latin typeface="Barlow" pitchFamily="34" charset="0"/>
                <a:ea typeface="Barlow" pitchFamily="34" charset="-122"/>
                <a:cs typeface="Barlow" pitchFamily="34" charset="-120"/>
              </a:rPr>
              <a:t> entre variables et valeurs. Ils retournent toujours une valeur booléenne : </a:t>
            </a:r>
            <a:pPr algn="l" indent="0" marL="0">
              <a:lnSpc>
                <a:spcPts val="2450"/>
              </a:lnSpc>
              <a:buNone/>
            </a:pPr>
            <a:r>
              <a:rPr lang="en-US" sz="1550" dirty="0">
                <a:solidFill>
                  <a:srgbClr val="37A7E7"/>
                </a:solidFill>
                <a:latin typeface="Barlow" pitchFamily="34" charset="0"/>
                <a:ea typeface="Barlow" pitchFamily="34" charset="-122"/>
                <a:cs typeface="Barlow" pitchFamily="34" charset="-120"/>
              </a:rPr>
              <a:t>0 pour faux (false)</a:t>
            </a:r>
            <a:pPr algn="l" indent="0" marL="0">
              <a:lnSpc>
                <a:spcPts val="2450"/>
              </a:lnSpc>
              <a:buNone/>
            </a:pPr>
            <a:r>
              <a:rPr lang="en-US" sz="1550" dirty="0">
                <a:solidFill>
                  <a:srgbClr val="E0E4E6"/>
                </a:solidFill>
                <a:latin typeface="Barlow" pitchFamily="34" charset="0"/>
                <a:ea typeface="Barlow" pitchFamily="34" charset="-122"/>
                <a:cs typeface="Barlow" pitchFamily="34" charset="-120"/>
              </a:rPr>
              <a:t> et </a:t>
            </a:r>
            <a:pPr algn="l" indent="0" marL="0">
              <a:lnSpc>
                <a:spcPts val="2450"/>
              </a:lnSpc>
              <a:buNone/>
            </a:pPr>
            <a:r>
              <a:rPr lang="en-US" sz="1550" dirty="0">
                <a:solidFill>
                  <a:srgbClr val="16FFBB"/>
                </a:solidFill>
                <a:latin typeface="Barlow" pitchFamily="34" charset="0"/>
                <a:ea typeface="Barlow" pitchFamily="34" charset="-122"/>
                <a:cs typeface="Barlow" pitchFamily="34" charset="-120"/>
              </a:rPr>
              <a:t>toute valeur non nulle pour vrai (true)</a:t>
            </a:r>
            <a:pPr algn="l" indent="0" marL="0">
              <a:lnSpc>
                <a:spcPts val="2450"/>
              </a:lnSpc>
              <a:buNone/>
            </a:pPr>
            <a:r>
              <a:rPr lang="en-US" sz="1550" dirty="0">
                <a:solidFill>
                  <a:srgbClr val="E0E4E6"/>
                </a:solidFill>
                <a:latin typeface="Barlow" pitchFamily="34" charset="0"/>
                <a:ea typeface="Barlow" pitchFamily="34" charset="-122"/>
                <a:cs typeface="Barlow" pitchFamily="34" charset="-120"/>
              </a:rPr>
              <a:t>.</a:t>
            </a:r>
            <a:endParaRPr lang="en-US" sz="1550" dirty="0"/>
          </a:p>
        </p:txBody>
      </p:sp>
      <p:sp>
        <p:nvSpPr>
          <p:cNvPr id="4" name="Shape 2"/>
          <p:cNvSpPr/>
          <p:nvPr/>
        </p:nvSpPr>
        <p:spPr>
          <a:xfrm>
            <a:off x="788908" y="2633424"/>
            <a:ext cx="6427708" cy="1862376"/>
          </a:xfrm>
          <a:prstGeom prst="roundRect">
            <a:avLst>
              <a:gd name="adj" fmla="val 5892"/>
            </a:avLst>
          </a:prstGeom>
          <a:solidFill>
            <a:srgbClr val="0A081B">
              <a:alpha val="75000"/>
            </a:srgbClr>
          </a:solidFill>
          <a:ln/>
        </p:spPr>
      </p:sp>
      <p:sp>
        <p:nvSpPr>
          <p:cNvPr id="5" name="Shape 3"/>
          <p:cNvSpPr/>
          <p:nvPr/>
        </p:nvSpPr>
        <p:spPr>
          <a:xfrm>
            <a:off x="788908" y="2610564"/>
            <a:ext cx="6427708" cy="91440"/>
          </a:xfrm>
          <a:prstGeom prst="roundRect">
            <a:avLst>
              <a:gd name="adj" fmla="val 323565"/>
            </a:avLst>
          </a:prstGeom>
          <a:solidFill>
            <a:srgbClr val="16FFBB"/>
          </a:solidFill>
          <a:ln/>
        </p:spPr>
      </p:sp>
      <p:sp>
        <p:nvSpPr>
          <p:cNvPr id="6" name="Shape 4"/>
          <p:cNvSpPr/>
          <p:nvPr/>
        </p:nvSpPr>
        <p:spPr>
          <a:xfrm>
            <a:off x="3706951" y="2337673"/>
            <a:ext cx="591622" cy="591622"/>
          </a:xfrm>
          <a:prstGeom prst="roundRect">
            <a:avLst>
              <a:gd name="adj" fmla="val 154558"/>
            </a:avLst>
          </a:prstGeom>
          <a:solidFill>
            <a:srgbClr val="16FFBB"/>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84474" y="2515076"/>
            <a:ext cx="236577" cy="236577"/>
          </a:xfrm>
          <a:prstGeom prst="rect">
            <a:avLst/>
          </a:prstGeom>
        </p:spPr>
      </p:pic>
      <p:sp>
        <p:nvSpPr>
          <p:cNvPr id="8" name="Text 5"/>
          <p:cNvSpPr/>
          <p:nvPr/>
        </p:nvSpPr>
        <p:spPr>
          <a:xfrm>
            <a:off x="1008936" y="3126462"/>
            <a:ext cx="2191583" cy="273963"/>
          </a:xfrm>
          <a:prstGeom prst="rect">
            <a:avLst/>
          </a:prstGeom>
          <a:noFill/>
          <a:ln/>
        </p:spPr>
        <p:txBody>
          <a:bodyPr wrap="none" lIns="0" tIns="0" rIns="0" bIns="0" rtlCol="0" anchor="t"/>
          <a:lstStyle/>
          <a:p>
            <a:pPr algn="l" indent="0" marL="0">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Égalité ==</a:t>
            </a:r>
            <a:endParaRPr lang="en-US" sz="1700" dirty="0"/>
          </a:p>
        </p:txBody>
      </p:sp>
      <p:sp>
        <p:nvSpPr>
          <p:cNvPr id="9" name="Text 6"/>
          <p:cNvSpPr/>
          <p:nvPr/>
        </p:nvSpPr>
        <p:spPr>
          <a:xfrm>
            <a:off x="1008936" y="3518654"/>
            <a:ext cx="5987653" cy="315635"/>
          </a:xfrm>
          <a:prstGeom prst="rect">
            <a:avLst/>
          </a:prstGeom>
          <a:noFill/>
          <a:ln/>
        </p:spPr>
        <p:txBody>
          <a:bodyPr wrap="none" lIns="0" tIns="0" rIns="0" bIns="0" rtlCol="0" anchor="t"/>
          <a:lstStyle/>
          <a:p>
            <a:pPr algn="l" indent="0" marL="0">
              <a:lnSpc>
                <a:spcPts val="2450"/>
              </a:lnSpc>
              <a:buNone/>
            </a:pPr>
            <a:r>
              <a:rPr lang="en-US" sz="1550" dirty="0">
                <a:solidFill>
                  <a:srgbClr val="E0E4E6"/>
                </a:solidFill>
                <a:latin typeface="Barlow" pitchFamily="34" charset="0"/>
                <a:ea typeface="Barlow" pitchFamily="34" charset="-122"/>
                <a:cs typeface="Barlow" pitchFamily="34" charset="-120"/>
              </a:rPr>
              <a:t>Teste si deux valeurs sont égales</a:t>
            </a:r>
            <a:endParaRPr lang="en-US" sz="1550" dirty="0"/>
          </a:p>
        </p:txBody>
      </p:sp>
      <p:sp>
        <p:nvSpPr>
          <p:cNvPr id="10" name="Text 7"/>
          <p:cNvSpPr/>
          <p:nvPr/>
        </p:nvSpPr>
        <p:spPr>
          <a:xfrm>
            <a:off x="1008936" y="3952518"/>
            <a:ext cx="5987653" cy="323255"/>
          </a:xfrm>
          <a:prstGeom prst="rect">
            <a:avLst/>
          </a:prstGeom>
          <a:noFill/>
          <a:ln/>
        </p:spPr>
        <p:txBody>
          <a:bodyPr wrap="none" lIns="0" tIns="0" rIns="0" bIns="0" rtlCol="0" anchor="t"/>
          <a:lstStyle/>
          <a:p>
            <a:pPr algn="l" indent="0" marL="0">
              <a:lnSpc>
                <a:spcPts val="2450"/>
              </a:lnSpc>
              <a:buNone/>
            </a:pPr>
            <a:r>
              <a:rPr lang="en-US" sz="1550" dirty="0">
                <a:solidFill>
                  <a:srgbClr val="E0E4E6"/>
                </a:solidFill>
                <a:highlight>
                  <a:srgbClr val="171528"/>
                </a:highlight>
                <a:latin typeface="Consolas" pitchFamily="34" charset="0"/>
                <a:ea typeface="Consolas" pitchFamily="34" charset="-122"/>
                <a:cs typeface="Consolas" pitchFamily="34" charset="-120"/>
              </a:rPr>
              <a:t>(a == b)</a:t>
            </a:r>
            <a:pPr algn="l" indent="0" marL="0">
              <a:lnSpc>
                <a:spcPts val="2450"/>
              </a:lnSpc>
              <a:buNone/>
            </a:pPr>
            <a:r>
              <a:rPr lang="en-US" sz="1550" dirty="0">
                <a:solidFill>
                  <a:srgbClr val="E0E4E6"/>
                </a:solidFill>
                <a:latin typeface="Barlow" pitchFamily="34" charset="0"/>
                <a:ea typeface="Barlow" pitchFamily="34" charset="-122"/>
                <a:cs typeface="Barlow" pitchFamily="34" charset="-120"/>
              </a:rPr>
              <a:t> est vrai si a et b ont la même valeur</a:t>
            </a:r>
            <a:endParaRPr lang="en-US" sz="1550" dirty="0"/>
          </a:p>
        </p:txBody>
      </p:sp>
      <p:sp>
        <p:nvSpPr>
          <p:cNvPr id="11" name="Shape 8"/>
          <p:cNvSpPr/>
          <p:nvPr/>
        </p:nvSpPr>
        <p:spPr>
          <a:xfrm>
            <a:off x="7413784" y="2633424"/>
            <a:ext cx="6427708" cy="1862376"/>
          </a:xfrm>
          <a:prstGeom prst="roundRect">
            <a:avLst>
              <a:gd name="adj" fmla="val 5892"/>
            </a:avLst>
          </a:prstGeom>
          <a:solidFill>
            <a:srgbClr val="0A081B">
              <a:alpha val="75000"/>
            </a:srgbClr>
          </a:solidFill>
          <a:ln/>
        </p:spPr>
      </p:sp>
      <p:sp>
        <p:nvSpPr>
          <p:cNvPr id="12" name="Shape 9"/>
          <p:cNvSpPr/>
          <p:nvPr/>
        </p:nvSpPr>
        <p:spPr>
          <a:xfrm>
            <a:off x="7413784" y="2610564"/>
            <a:ext cx="6427708" cy="91440"/>
          </a:xfrm>
          <a:prstGeom prst="roundRect">
            <a:avLst>
              <a:gd name="adj" fmla="val 323565"/>
            </a:avLst>
          </a:prstGeom>
          <a:solidFill>
            <a:srgbClr val="29DDDA"/>
          </a:solidFill>
          <a:ln/>
        </p:spPr>
      </p:sp>
      <p:sp>
        <p:nvSpPr>
          <p:cNvPr id="13" name="Shape 10"/>
          <p:cNvSpPr/>
          <p:nvPr/>
        </p:nvSpPr>
        <p:spPr>
          <a:xfrm>
            <a:off x="10331827" y="2337673"/>
            <a:ext cx="591622" cy="591622"/>
          </a:xfrm>
          <a:prstGeom prst="roundRect">
            <a:avLst>
              <a:gd name="adj" fmla="val 154558"/>
            </a:avLst>
          </a:prstGeom>
          <a:solidFill>
            <a:srgbClr val="16FFBB"/>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09349" y="2515076"/>
            <a:ext cx="236577" cy="236577"/>
          </a:xfrm>
          <a:prstGeom prst="rect">
            <a:avLst/>
          </a:prstGeom>
        </p:spPr>
      </p:pic>
      <p:sp>
        <p:nvSpPr>
          <p:cNvPr id="15" name="Text 11"/>
          <p:cNvSpPr/>
          <p:nvPr/>
        </p:nvSpPr>
        <p:spPr>
          <a:xfrm>
            <a:off x="7633811" y="3126462"/>
            <a:ext cx="2191583" cy="273963"/>
          </a:xfrm>
          <a:prstGeom prst="rect">
            <a:avLst/>
          </a:prstGeom>
          <a:noFill/>
          <a:ln/>
        </p:spPr>
        <p:txBody>
          <a:bodyPr wrap="none" lIns="0" tIns="0" rIns="0" bIns="0" rtlCol="0" anchor="t"/>
          <a:lstStyle/>
          <a:p>
            <a:pPr algn="l" indent="0" marL="0">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Différence !=</a:t>
            </a:r>
            <a:endParaRPr lang="en-US" sz="1700" dirty="0"/>
          </a:p>
        </p:txBody>
      </p:sp>
      <p:sp>
        <p:nvSpPr>
          <p:cNvPr id="16" name="Text 12"/>
          <p:cNvSpPr/>
          <p:nvPr/>
        </p:nvSpPr>
        <p:spPr>
          <a:xfrm>
            <a:off x="7633811" y="3518654"/>
            <a:ext cx="5987653" cy="315635"/>
          </a:xfrm>
          <a:prstGeom prst="rect">
            <a:avLst/>
          </a:prstGeom>
          <a:noFill/>
          <a:ln/>
        </p:spPr>
        <p:txBody>
          <a:bodyPr wrap="none" lIns="0" tIns="0" rIns="0" bIns="0" rtlCol="0" anchor="t"/>
          <a:lstStyle/>
          <a:p>
            <a:pPr algn="l" indent="0" marL="0">
              <a:lnSpc>
                <a:spcPts val="2450"/>
              </a:lnSpc>
              <a:buNone/>
            </a:pPr>
            <a:r>
              <a:rPr lang="en-US" sz="1550" dirty="0">
                <a:solidFill>
                  <a:srgbClr val="E0E4E6"/>
                </a:solidFill>
                <a:latin typeface="Barlow" pitchFamily="34" charset="0"/>
                <a:ea typeface="Barlow" pitchFamily="34" charset="-122"/>
                <a:cs typeface="Barlow" pitchFamily="34" charset="-120"/>
              </a:rPr>
              <a:t>Vérifie si deux valeurs sont différentes</a:t>
            </a:r>
            <a:endParaRPr lang="en-US" sz="1550" dirty="0"/>
          </a:p>
        </p:txBody>
      </p:sp>
      <p:sp>
        <p:nvSpPr>
          <p:cNvPr id="17" name="Text 13"/>
          <p:cNvSpPr/>
          <p:nvPr/>
        </p:nvSpPr>
        <p:spPr>
          <a:xfrm>
            <a:off x="7633811" y="3952518"/>
            <a:ext cx="5987653" cy="323255"/>
          </a:xfrm>
          <a:prstGeom prst="rect">
            <a:avLst/>
          </a:prstGeom>
          <a:noFill/>
          <a:ln/>
        </p:spPr>
        <p:txBody>
          <a:bodyPr wrap="none" lIns="0" tIns="0" rIns="0" bIns="0" rtlCol="0" anchor="t"/>
          <a:lstStyle/>
          <a:p>
            <a:pPr algn="l" indent="0" marL="0">
              <a:lnSpc>
                <a:spcPts val="2450"/>
              </a:lnSpc>
              <a:buNone/>
            </a:pPr>
            <a:r>
              <a:rPr lang="en-US" sz="1550" dirty="0">
                <a:solidFill>
                  <a:srgbClr val="E0E4E6"/>
                </a:solidFill>
                <a:highlight>
                  <a:srgbClr val="171528"/>
                </a:highlight>
                <a:latin typeface="Consolas" pitchFamily="34" charset="0"/>
                <a:ea typeface="Consolas" pitchFamily="34" charset="-122"/>
                <a:cs typeface="Consolas" pitchFamily="34" charset="-120"/>
              </a:rPr>
              <a:t>(x != 0)</a:t>
            </a:r>
            <a:pPr algn="l" indent="0" marL="0">
              <a:lnSpc>
                <a:spcPts val="2450"/>
              </a:lnSpc>
              <a:buNone/>
            </a:pPr>
            <a:r>
              <a:rPr lang="en-US" sz="1550" dirty="0">
                <a:solidFill>
                  <a:srgbClr val="E0E4E6"/>
                </a:solidFill>
                <a:latin typeface="Barlow" pitchFamily="34" charset="0"/>
                <a:ea typeface="Barlow" pitchFamily="34" charset="-122"/>
                <a:cs typeface="Barlow" pitchFamily="34" charset="-120"/>
              </a:rPr>
              <a:t> est vrai si x n'est pas zéro</a:t>
            </a:r>
            <a:endParaRPr lang="en-US" sz="1550" dirty="0"/>
          </a:p>
        </p:txBody>
      </p:sp>
      <p:sp>
        <p:nvSpPr>
          <p:cNvPr id="18" name="Shape 14"/>
          <p:cNvSpPr/>
          <p:nvPr/>
        </p:nvSpPr>
        <p:spPr>
          <a:xfrm>
            <a:off x="788908" y="4988719"/>
            <a:ext cx="6427708" cy="1862376"/>
          </a:xfrm>
          <a:prstGeom prst="roundRect">
            <a:avLst>
              <a:gd name="adj" fmla="val 5892"/>
            </a:avLst>
          </a:prstGeom>
          <a:solidFill>
            <a:srgbClr val="0A081B">
              <a:alpha val="75000"/>
            </a:srgbClr>
          </a:solidFill>
          <a:ln/>
        </p:spPr>
      </p:sp>
      <p:sp>
        <p:nvSpPr>
          <p:cNvPr id="19" name="Shape 15"/>
          <p:cNvSpPr/>
          <p:nvPr/>
        </p:nvSpPr>
        <p:spPr>
          <a:xfrm>
            <a:off x="788908" y="4965859"/>
            <a:ext cx="6427708" cy="91440"/>
          </a:xfrm>
          <a:prstGeom prst="roundRect">
            <a:avLst>
              <a:gd name="adj" fmla="val 323565"/>
            </a:avLst>
          </a:prstGeom>
          <a:solidFill>
            <a:srgbClr val="37A7E7"/>
          </a:solidFill>
          <a:ln/>
        </p:spPr>
      </p:sp>
      <p:sp>
        <p:nvSpPr>
          <p:cNvPr id="20" name="Shape 16"/>
          <p:cNvSpPr/>
          <p:nvPr/>
        </p:nvSpPr>
        <p:spPr>
          <a:xfrm>
            <a:off x="3706951" y="4692968"/>
            <a:ext cx="591622" cy="591622"/>
          </a:xfrm>
          <a:prstGeom prst="roundRect">
            <a:avLst>
              <a:gd name="adj" fmla="val 154558"/>
            </a:avLst>
          </a:prstGeom>
          <a:solidFill>
            <a:srgbClr val="16FFBB"/>
          </a:solidFill>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84474" y="4870371"/>
            <a:ext cx="236577" cy="236577"/>
          </a:xfrm>
          <a:prstGeom prst="rect">
            <a:avLst/>
          </a:prstGeom>
        </p:spPr>
      </p:pic>
      <p:sp>
        <p:nvSpPr>
          <p:cNvPr id="22" name="Text 17"/>
          <p:cNvSpPr/>
          <p:nvPr/>
        </p:nvSpPr>
        <p:spPr>
          <a:xfrm>
            <a:off x="1008936" y="5481757"/>
            <a:ext cx="2191583" cy="273963"/>
          </a:xfrm>
          <a:prstGeom prst="rect">
            <a:avLst/>
          </a:prstGeom>
          <a:noFill/>
          <a:ln/>
        </p:spPr>
        <p:txBody>
          <a:bodyPr wrap="none" lIns="0" tIns="0" rIns="0" bIns="0" rtlCol="0" anchor="t"/>
          <a:lstStyle/>
          <a:p>
            <a:pPr algn="l" indent="0" marL="0">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Inférieur &lt; et ≤</a:t>
            </a:r>
            <a:endParaRPr lang="en-US" sz="1700" dirty="0"/>
          </a:p>
        </p:txBody>
      </p:sp>
      <p:sp>
        <p:nvSpPr>
          <p:cNvPr id="23" name="Text 18"/>
          <p:cNvSpPr/>
          <p:nvPr/>
        </p:nvSpPr>
        <p:spPr>
          <a:xfrm>
            <a:off x="1008936" y="5873948"/>
            <a:ext cx="5987653" cy="315635"/>
          </a:xfrm>
          <a:prstGeom prst="rect">
            <a:avLst/>
          </a:prstGeom>
          <a:noFill/>
          <a:ln/>
        </p:spPr>
        <p:txBody>
          <a:bodyPr wrap="none" lIns="0" tIns="0" rIns="0" bIns="0" rtlCol="0" anchor="t"/>
          <a:lstStyle/>
          <a:p>
            <a:pPr algn="l" indent="0" marL="0">
              <a:lnSpc>
                <a:spcPts val="2450"/>
              </a:lnSpc>
              <a:buNone/>
            </a:pPr>
            <a:r>
              <a:rPr lang="en-US" sz="1550" dirty="0">
                <a:solidFill>
                  <a:srgbClr val="E0E4E6"/>
                </a:solidFill>
                <a:latin typeface="Barlow" pitchFamily="34" charset="0"/>
                <a:ea typeface="Barlow" pitchFamily="34" charset="-122"/>
                <a:cs typeface="Barlow" pitchFamily="34" charset="-120"/>
              </a:rPr>
              <a:t>Compare si une valeur est plus petite</a:t>
            </a:r>
            <a:endParaRPr lang="en-US" sz="1550" dirty="0"/>
          </a:p>
        </p:txBody>
      </p:sp>
      <p:sp>
        <p:nvSpPr>
          <p:cNvPr id="24" name="Text 19"/>
          <p:cNvSpPr/>
          <p:nvPr/>
        </p:nvSpPr>
        <p:spPr>
          <a:xfrm>
            <a:off x="1008936" y="6307812"/>
            <a:ext cx="5987653" cy="323255"/>
          </a:xfrm>
          <a:prstGeom prst="rect">
            <a:avLst/>
          </a:prstGeom>
          <a:noFill/>
          <a:ln/>
        </p:spPr>
        <p:txBody>
          <a:bodyPr wrap="none" lIns="0" tIns="0" rIns="0" bIns="0" rtlCol="0" anchor="t"/>
          <a:lstStyle/>
          <a:p>
            <a:pPr algn="l" indent="0" marL="0">
              <a:lnSpc>
                <a:spcPts val="2450"/>
              </a:lnSpc>
              <a:buNone/>
            </a:pPr>
            <a:r>
              <a:rPr lang="en-US" sz="1550" dirty="0">
                <a:solidFill>
                  <a:srgbClr val="E0E4E6"/>
                </a:solidFill>
                <a:highlight>
                  <a:srgbClr val="171528"/>
                </a:highlight>
                <a:latin typeface="Consolas" pitchFamily="34" charset="0"/>
                <a:ea typeface="Consolas" pitchFamily="34" charset="-122"/>
                <a:cs typeface="Consolas" pitchFamily="34" charset="-120"/>
              </a:rPr>
              <a:t>(age &lt; 18)</a:t>
            </a:r>
            <a:pPr algn="l" indent="0" marL="0">
              <a:lnSpc>
                <a:spcPts val="2450"/>
              </a:lnSpc>
              <a:buNone/>
            </a:pPr>
            <a:r>
              <a:rPr lang="en-US" sz="1550" dirty="0">
                <a:solidFill>
                  <a:srgbClr val="E0E4E6"/>
                </a:solidFill>
                <a:latin typeface="Barlow" pitchFamily="34" charset="0"/>
                <a:ea typeface="Barlow" pitchFamily="34" charset="-122"/>
                <a:cs typeface="Barlow" pitchFamily="34" charset="-120"/>
              </a:rPr>
              <a:t> ou </a:t>
            </a:r>
            <a:pPr algn="l" indent="0" marL="0">
              <a:lnSpc>
                <a:spcPts val="2450"/>
              </a:lnSpc>
              <a:buNone/>
            </a:pPr>
            <a:r>
              <a:rPr lang="en-US" sz="1550" dirty="0">
                <a:solidFill>
                  <a:srgbClr val="E0E4E6"/>
                </a:solidFill>
                <a:highlight>
                  <a:srgbClr val="171528"/>
                </a:highlight>
                <a:latin typeface="Consolas" pitchFamily="34" charset="0"/>
                <a:ea typeface="Consolas" pitchFamily="34" charset="-122"/>
                <a:cs typeface="Consolas" pitchFamily="34" charset="-120"/>
              </a:rPr>
              <a:t>(score &lt;= 100)</a:t>
            </a:r>
            <a:endParaRPr lang="en-US" sz="1550" dirty="0"/>
          </a:p>
        </p:txBody>
      </p:sp>
      <p:sp>
        <p:nvSpPr>
          <p:cNvPr id="25" name="Shape 20"/>
          <p:cNvSpPr/>
          <p:nvPr/>
        </p:nvSpPr>
        <p:spPr>
          <a:xfrm>
            <a:off x="7413784" y="4988719"/>
            <a:ext cx="6427708" cy="1862376"/>
          </a:xfrm>
          <a:prstGeom prst="roundRect">
            <a:avLst>
              <a:gd name="adj" fmla="val 5892"/>
            </a:avLst>
          </a:prstGeom>
          <a:solidFill>
            <a:srgbClr val="0A081B">
              <a:alpha val="75000"/>
            </a:srgbClr>
          </a:solidFill>
          <a:ln/>
        </p:spPr>
      </p:sp>
      <p:sp>
        <p:nvSpPr>
          <p:cNvPr id="26" name="Shape 21"/>
          <p:cNvSpPr/>
          <p:nvPr/>
        </p:nvSpPr>
        <p:spPr>
          <a:xfrm>
            <a:off x="7413784" y="4965859"/>
            <a:ext cx="6427708" cy="91440"/>
          </a:xfrm>
          <a:prstGeom prst="roundRect">
            <a:avLst>
              <a:gd name="adj" fmla="val 323565"/>
            </a:avLst>
          </a:prstGeom>
          <a:solidFill>
            <a:srgbClr val="091231"/>
          </a:solidFill>
          <a:ln/>
        </p:spPr>
      </p:sp>
      <p:sp>
        <p:nvSpPr>
          <p:cNvPr id="27" name="Shape 22"/>
          <p:cNvSpPr/>
          <p:nvPr/>
        </p:nvSpPr>
        <p:spPr>
          <a:xfrm>
            <a:off x="10331827" y="4692968"/>
            <a:ext cx="591622" cy="591622"/>
          </a:xfrm>
          <a:prstGeom prst="roundRect">
            <a:avLst>
              <a:gd name="adj" fmla="val 154558"/>
            </a:avLst>
          </a:prstGeom>
          <a:solidFill>
            <a:srgbClr val="16FFBB"/>
          </a:solidFill>
          <a:ln/>
        </p:spPr>
      </p:sp>
      <p:pic>
        <p:nvPicPr>
          <p:cNvPr id="2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09349" y="4870371"/>
            <a:ext cx="236577" cy="236577"/>
          </a:xfrm>
          <a:prstGeom prst="rect">
            <a:avLst/>
          </a:prstGeom>
        </p:spPr>
      </p:pic>
      <p:sp>
        <p:nvSpPr>
          <p:cNvPr id="29" name="Text 23"/>
          <p:cNvSpPr/>
          <p:nvPr/>
        </p:nvSpPr>
        <p:spPr>
          <a:xfrm>
            <a:off x="7633811" y="5481757"/>
            <a:ext cx="2191583" cy="273963"/>
          </a:xfrm>
          <a:prstGeom prst="rect">
            <a:avLst/>
          </a:prstGeom>
          <a:noFill/>
          <a:ln/>
        </p:spPr>
        <p:txBody>
          <a:bodyPr wrap="none" lIns="0" tIns="0" rIns="0" bIns="0" rtlCol="0" anchor="t"/>
          <a:lstStyle/>
          <a:p>
            <a:pPr algn="l" indent="0" marL="0">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Supérieur &gt; et ≥</a:t>
            </a:r>
            <a:endParaRPr lang="en-US" sz="1700" dirty="0"/>
          </a:p>
        </p:txBody>
      </p:sp>
      <p:sp>
        <p:nvSpPr>
          <p:cNvPr id="30" name="Text 24"/>
          <p:cNvSpPr/>
          <p:nvPr/>
        </p:nvSpPr>
        <p:spPr>
          <a:xfrm>
            <a:off x="7633811" y="5873948"/>
            <a:ext cx="5987653" cy="315635"/>
          </a:xfrm>
          <a:prstGeom prst="rect">
            <a:avLst/>
          </a:prstGeom>
          <a:noFill/>
          <a:ln/>
        </p:spPr>
        <p:txBody>
          <a:bodyPr wrap="none" lIns="0" tIns="0" rIns="0" bIns="0" rtlCol="0" anchor="t"/>
          <a:lstStyle/>
          <a:p>
            <a:pPr algn="l" indent="0" marL="0">
              <a:lnSpc>
                <a:spcPts val="2450"/>
              </a:lnSpc>
              <a:buNone/>
            </a:pPr>
            <a:r>
              <a:rPr lang="en-US" sz="1550" dirty="0">
                <a:solidFill>
                  <a:srgbClr val="E0E4E6"/>
                </a:solidFill>
                <a:latin typeface="Barlow" pitchFamily="34" charset="0"/>
                <a:ea typeface="Barlow" pitchFamily="34" charset="-122"/>
                <a:cs typeface="Barlow" pitchFamily="34" charset="-120"/>
              </a:rPr>
              <a:t>Compare si une valeur est plus grande</a:t>
            </a:r>
            <a:endParaRPr lang="en-US" sz="1550" dirty="0"/>
          </a:p>
        </p:txBody>
      </p:sp>
      <p:sp>
        <p:nvSpPr>
          <p:cNvPr id="31" name="Text 25"/>
          <p:cNvSpPr/>
          <p:nvPr/>
        </p:nvSpPr>
        <p:spPr>
          <a:xfrm>
            <a:off x="7633811" y="6307812"/>
            <a:ext cx="5987653" cy="323255"/>
          </a:xfrm>
          <a:prstGeom prst="rect">
            <a:avLst/>
          </a:prstGeom>
          <a:noFill/>
          <a:ln/>
        </p:spPr>
        <p:txBody>
          <a:bodyPr wrap="none" lIns="0" tIns="0" rIns="0" bIns="0" rtlCol="0" anchor="t"/>
          <a:lstStyle/>
          <a:p>
            <a:pPr algn="l" indent="0" marL="0">
              <a:lnSpc>
                <a:spcPts val="2450"/>
              </a:lnSpc>
              <a:buNone/>
            </a:pPr>
            <a:r>
              <a:rPr lang="en-US" sz="1550" dirty="0">
                <a:solidFill>
                  <a:srgbClr val="E0E4E6"/>
                </a:solidFill>
                <a:highlight>
                  <a:srgbClr val="171528"/>
                </a:highlight>
                <a:latin typeface="Consolas" pitchFamily="34" charset="0"/>
                <a:ea typeface="Consolas" pitchFamily="34" charset="-122"/>
                <a:cs typeface="Consolas" pitchFamily="34" charset="-120"/>
              </a:rPr>
              <a:t>(temp &gt; 25)</a:t>
            </a:r>
            <a:pPr algn="l" indent="0" marL="0">
              <a:lnSpc>
                <a:spcPts val="2450"/>
              </a:lnSpc>
              <a:buNone/>
            </a:pPr>
            <a:r>
              <a:rPr lang="en-US" sz="1550" dirty="0">
                <a:solidFill>
                  <a:srgbClr val="E0E4E6"/>
                </a:solidFill>
                <a:latin typeface="Barlow" pitchFamily="34" charset="0"/>
                <a:ea typeface="Barlow" pitchFamily="34" charset="-122"/>
                <a:cs typeface="Barlow" pitchFamily="34" charset="-120"/>
              </a:rPr>
              <a:t> ou </a:t>
            </a:r>
            <a:pPr algn="l" indent="0" marL="0">
              <a:lnSpc>
                <a:spcPts val="2450"/>
              </a:lnSpc>
              <a:buNone/>
            </a:pPr>
            <a:r>
              <a:rPr lang="en-US" sz="1550" dirty="0">
                <a:solidFill>
                  <a:srgbClr val="E0E4E6"/>
                </a:solidFill>
                <a:highlight>
                  <a:srgbClr val="171528"/>
                </a:highlight>
                <a:latin typeface="Consolas" pitchFamily="34" charset="0"/>
                <a:ea typeface="Consolas" pitchFamily="34" charset="-122"/>
                <a:cs typeface="Consolas" pitchFamily="34" charset="-120"/>
              </a:rPr>
              <a:t>(note &gt;= 10)</a:t>
            </a:r>
            <a:endParaRPr lang="en-US" sz="1550" dirty="0"/>
          </a:p>
        </p:txBody>
      </p:sp>
      <p:sp>
        <p:nvSpPr>
          <p:cNvPr id="32" name="Text 26"/>
          <p:cNvSpPr/>
          <p:nvPr/>
        </p:nvSpPr>
        <p:spPr>
          <a:xfrm>
            <a:off x="788908" y="7072908"/>
            <a:ext cx="13052584" cy="631269"/>
          </a:xfrm>
          <a:prstGeom prst="rect">
            <a:avLst/>
          </a:prstGeom>
          <a:noFill/>
          <a:ln/>
        </p:spPr>
        <p:txBody>
          <a:bodyPr wrap="square" lIns="0" tIns="0" rIns="0" bIns="0" rtlCol="0" anchor="t"/>
          <a:lstStyle/>
          <a:p>
            <a:pPr algn="l" indent="0" marL="0">
              <a:lnSpc>
                <a:spcPts val="2450"/>
              </a:lnSpc>
              <a:buNone/>
            </a:pPr>
            <a:r>
              <a:rPr lang="en-US" sz="1550" dirty="0">
                <a:solidFill>
                  <a:srgbClr val="E0E4E6"/>
                </a:solidFill>
                <a:latin typeface="Barlow" pitchFamily="34" charset="0"/>
                <a:ea typeface="Barlow" pitchFamily="34" charset="-122"/>
                <a:cs typeface="Barlow" pitchFamily="34" charset="-120"/>
              </a:rPr>
              <a:t>Ces opérateurs sont fondamentaux pour construire des conditions dans les structures de contrôle comme if, while et for. Ils permettent à vos programmes de prendre des décisions intelligentes basées sur l'état des données.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81063" y="728662"/>
            <a:ext cx="11480483" cy="611981"/>
          </a:xfrm>
          <a:prstGeom prst="rect">
            <a:avLst/>
          </a:prstGeom>
          <a:noFill/>
          <a:ln/>
        </p:spPr>
        <p:txBody>
          <a:bodyPr wrap="none" lIns="0" tIns="0" rIns="0" bIns="0" rtlCol="0" anchor="t"/>
          <a:lstStyle/>
          <a:p>
            <a:pPr algn="l" indent="0" marL="0">
              <a:lnSpc>
                <a:spcPts val="4800"/>
              </a:lnSpc>
              <a:buNone/>
            </a:pPr>
            <a:r>
              <a:rPr lang="en-US" sz="3850" b="1" dirty="0">
                <a:solidFill>
                  <a:srgbClr val="F0FCFF"/>
                </a:solidFill>
                <a:latin typeface="Spline Sans Bold" pitchFamily="34" charset="0"/>
                <a:ea typeface="Spline Sans Bold" pitchFamily="34" charset="-122"/>
                <a:cs typeface="Spline Sans Bold" pitchFamily="34" charset="-120"/>
              </a:rPr>
              <a:t>Les opérateurs logiques : combiner des conditions</a:t>
            </a:r>
            <a:endParaRPr lang="en-US" sz="3850" dirty="0"/>
          </a:p>
        </p:txBody>
      </p:sp>
      <p:sp>
        <p:nvSpPr>
          <p:cNvPr id="3" name="Text 1"/>
          <p:cNvSpPr/>
          <p:nvPr/>
        </p:nvSpPr>
        <p:spPr>
          <a:xfrm>
            <a:off x="881063" y="1781175"/>
            <a:ext cx="12868275" cy="1057275"/>
          </a:xfrm>
          <a:prstGeom prst="rect">
            <a:avLst/>
          </a:prstGeom>
          <a:noFill/>
          <a:ln/>
        </p:spPr>
        <p:txBody>
          <a:bodyPr wrap="square" lIns="0" tIns="0" rIns="0" bIns="0" rtlCol="0" anchor="t"/>
          <a:lstStyle/>
          <a:p>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Les opérateurs logiques permettent de </a:t>
            </a:r>
            <a:pPr algn="l" indent="0" marL="0">
              <a:lnSpc>
                <a:spcPts val="2750"/>
              </a:lnSpc>
              <a:buNone/>
            </a:pPr>
            <a:r>
              <a:rPr lang="en-US" sz="1700" b="1" dirty="0">
                <a:solidFill>
                  <a:srgbClr val="E0E4E6"/>
                </a:solidFill>
                <a:latin typeface="Barlow" pitchFamily="34" charset="0"/>
                <a:ea typeface="Barlow" pitchFamily="34" charset="-122"/>
                <a:cs typeface="Barlow" pitchFamily="34" charset="-120"/>
              </a:rPr>
              <a:t>construire des expressions conditionnelles complexes</a:t>
            </a:r>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 en combinant plusieurs tests simples. Ils sont indispensables pour exprimer des logiques métier sophistiquées et prendre des décisions basées sur plusieurs critères simultanés.</a:t>
            </a:r>
            <a:endParaRPr lang="en-US" sz="17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1063" y="3086219"/>
            <a:ext cx="660797" cy="660797"/>
          </a:xfrm>
          <a:prstGeom prst="rect">
            <a:avLst/>
          </a:prstGeom>
        </p:spPr>
      </p:pic>
      <p:sp>
        <p:nvSpPr>
          <p:cNvPr id="5" name="Text 2"/>
          <p:cNvSpPr/>
          <p:nvPr/>
        </p:nvSpPr>
        <p:spPr>
          <a:xfrm>
            <a:off x="1817132" y="3272076"/>
            <a:ext cx="2447687" cy="305991"/>
          </a:xfrm>
          <a:prstGeom prst="rect">
            <a:avLst/>
          </a:prstGeom>
          <a:noFill/>
          <a:ln/>
        </p:spPr>
        <p:txBody>
          <a:bodyPr wrap="none" lIns="0" tIns="0" rIns="0" bIns="0" rtlCol="0" anchor="t"/>
          <a:lstStyle/>
          <a:p>
            <a:pPr algn="l" indent="0" marL="0">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ET logique (&amp;&amp;)</a:t>
            </a:r>
            <a:endParaRPr lang="en-US" sz="1900" dirty="0"/>
          </a:p>
        </p:txBody>
      </p:sp>
      <p:sp>
        <p:nvSpPr>
          <p:cNvPr id="6" name="Text 3"/>
          <p:cNvSpPr/>
          <p:nvPr/>
        </p:nvSpPr>
        <p:spPr>
          <a:xfrm>
            <a:off x="1817132" y="3710226"/>
            <a:ext cx="3169801" cy="1409700"/>
          </a:xfrm>
          <a:prstGeom prst="rect">
            <a:avLst/>
          </a:prstGeom>
          <a:noFill/>
          <a:ln/>
        </p:spPr>
        <p:txBody>
          <a:bodyPr wrap="square" lIns="0" tIns="0" rIns="0" bIns="0" rtlCol="0" anchor="t"/>
          <a:lstStyle/>
          <a:p>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Retourne vrai uniquement si </a:t>
            </a:r>
            <a:pPr algn="l" indent="0" marL="0">
              <a:lnSpc>
                <a:spcPts val="2750"/>
              </a:lnSpc>
              <a:buNone/>
            </a:pPr>
            <a:r>
              <a:rPr lang="en-US" sz="1700" b="1" dirty="0">
                <a:solidFill>
                  <a:srgbClr val="E0E4E6"/>
                </a:solidFill>
                <a:latin typeface="Barlow" pitchFamily="34" charset="0"/>
                <a:ea typeface="Barlow" pitchFamily="34" charset="-122"/>
                <a:cs typeface="Barlow" pitchFamily="34" charset="-120"/>
              </a:rPr>
              <a:t>toutes</a:t>
            </a:r>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 les conditions sont vraies. Très utile pour vérifier plusieurs prérequis simultanément.</a:t>
            </a:r>
            <a:endParaRPr lang="en-US" sz="1700" dirty="0"/>
          </a:p>
        </p:txBody>
      </p:sp>
      <p:sp>
        <p:nvSpPr>
          <p:cNvPr id="7" name="Text 4"/>
          <p:cNvSpPr/>
          <p:nvPr/>
        </p:nvSpPr>
        <p:spPr>
          <a:xfrm>
            <a:off x="1817132" y="5252085"/>
            <a:ext cx="3169801" cy="704850"/>
          </a:xfrm>
          <a:prstGeom prst="rect">
            <a:avLst/>
          </a:prstGeom>
          <a:noFill/>
          <a:ln/>
        </p:spPr>
        <p:txBody>
          <a:bodyPr wrap="square" lIns="0" tIns="0" rIns="0" bIns="0" rtlCol="0" anchor="t"/>
          <a:lstStyle/>
          <a:p>
            <a:pPr algn="l" indent="0" marL="0">
              <a:lnSpc>
                <a:spcPts val="2750"/>
              </a:lnSpc>
              <a:buNone/>
            </a:pPr>
            <a:r>
              <a:rPr lang="en-US" sz="1700" dirty="0">
                <a:solidFill>
                  <a:srgbClr val="E0E4E6"/>
                </a:solidFill>
                <a:highlight>
                  <a:srgbClr val="171528"/>
                </a:highlight>
                <a:latin typeface="Consolas" pitchFamily="34" charset="0"/>
                <a:ea typeface="Consolas" pitchFamily="34" charset="-122"/>
                <a:cs typeface="Consolas" pitchFamily="34" charset="-120"/>
              </a:rPr>
              <a:t>(a &gt; 0 &amp;&amp; b &lt; 10)</a:t>
            </a:r>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 est vrai si a est positif </a:t>
            </a:r>
            <a:pPr algn="l" indent="0" marL="0">
              <a:lnSpc>
                <a:spcPts val="2750"/>
              </a:lnSpc>
              <a:buNone/>
            </a:pPr>
            <a:r>
              <a:rPr lang="en-US" sz="1700" u="sng" dirty="0">
                <a:solidFill>
                  <a:srgbClr val="E0E4E6"/>
                </a:solidFill>
                <a:latin typeface="Barlow" pitchFamily="34" charset="0"/>
                <a:ea typeface="Barlow" pitchFamily="34" charset="-122"/>
                <a:cs typeface="Barlow" pitchFamily="34" charset="-120"/>
              </a:rPr>
              <a:t>ET</a:t>
            </a:r>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 b est inférieur à 10.</a:t>
            </a:r>
            <a:endParaRPr lang="en-US" sz="17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62205" y="3086219"/>
            <a:ext cx="660797" cy="660797"/>
          </a:xfrm>
          <a:prstGeom prst="rect">
            <a:avLst/>
          </a:prstGeom>
        </p:spPr>
      </p:pic>
      <p:sp>
        <p:nvSpPr>
          <p:cNvPr id="9" name="Text 5"/>
          <p:cNvSpPr/>
          <p:nvPr/>
        </p:nvSpPr>
        <p:spPr>
          <a:xfrm>
            <a:off x="6198275" y="3272076"/>
            <a:ext cx="2447687" cy="305991"/>
          </a:xfrm>
          <a:prstGeom prst="rect">
            <a:avLst/>
          </a:prstGeom>
          <a:noFill/>
          <a:ln/>
        </p:spPr>
        <p:txBody>
          <a:bodyPr wrap="none" lIns="0" tIns="0" rIns="0" bIns="0" rtlCol="0" anchor="t"/>
          <a:lstStyle/>
          <a:p>
            <a:pPr algn="l" indent="0" marL="0">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OU logique (||)</a:t>
            </a:r>
            <a:endParaRPr lang="en-US" sz="1900" dirty="0"/>
          </a:p>
        </p:txBody>
      </p:sp>
      <p:sp>
        <p:nvSpPr>
          <p:cNvPr id="10" name="Text 6"/>
          <p:cNvSpPr/>
          <p:nvPr/>
        </p:nvSpPr>
        <p:spPr>
          <a:xfrm>
            <a:off x="6198275" y="3710226"/>
            <a:ext cx="3169801" cy="1409700"/>
          </a:xfrm>
          <a:prstGeom prst="rect">
            <a:avLst/>
          </a:prstGeom>
          <a:noFill/>
          <a:ln/>
        </p:spPr>
        <p:txBody>
          <a:bodyPr wrap="square" lIns="0" tIns="0" rIns="0" bIns="0" rtlCol="0" anchor="t"/>
          <a:lstStyle/>
          <a:p>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Retourne vrai si </a:t>
            </a:r>
            <a:pPr algn="l" indent="0" marL="0">
              <a:lnSpc>
                <a:spcPts val="2750"/>
              </a:lnSpc>
              <a:buNone/>
            </a:pPr>
            <a:r>
              <a:rPr lang="en-US" sz="1700" b="1" dirty="0">
                <a:solidFill>
                  <a:srgbClr val="E0E4E6"/>
                </a:solidFill>
                <a:latin typeface="Barlow" pitchFamily="34" charset="0"/>
                <a:ea typeface="Barlow" pitchFamily="34" charset="-122"/>
                <a:cs typeface="Barlow" pitchFamily="34" charset="-120"/>
              </a:rPr>
              <a:t>au moins une</a:t>
            </a:r>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 des conditions est vraie. Permet d'accepter plusieurs scénarios alternatifs.</a:t>
            </a:r>
            <a:endParaRPr lang="en-US" sz="1700" dirty="0"/>
          </a:p>
        </p:txBody>
      </p:sp>
      <p:sp>
        <p:nvSpPr>
          <p:cNvPr id="11" name="Text 7"/>
          <p:cNvSpPr/>
          <p:nvPr/>
        </p:nvSpPr>
        <p:spPr>
          <a:xfrm>
            <a:off x="6198275" y="5252085"/>
            <a:ext cx="3169801" cy="704850"/>
          </a:xfrm>
          <a:prstGeom prst="rect">
            <a:avLst/>
          </a:prstGeom>
          <a:noFill/>
          <a:ln/>
        </p:spPr>
        <p:txBody>
          <a:bodyPr wrap="square" lIns="0" tIns="0" rIns="0" bIns="0" rtlCol="0" anchor="t"/>
          <a:lstStyle/>
          <a:p>
            <a:pPr algn="l" indent="0" marL="0">
              <a:lnSpc>
                <a:spcPts val="2750"/>
              </a:lnSpc>
              <a:buNone/>
            </a:pPr>
            <a:r>
              <a:rPr lang="en-US" sz="1700" dirty="0">
                <a:solidFill>
                  <a:srgbClr val="E0E4E6"/>
                </a:solidFill>
                <a:highlight>
                  <a:srgbClr val="171528"/>
                </a:highlight>
                <a:latin typeface="Consolas" pitchFamily="34" charset="0"/>
                <a:ea typeface="Consolas" pitchFamily="34" charset="-122"/>
                <a:cs typeface="Consolas" pitchFamily="34" charset="-120"/>
              </a:rPr>
              <a:t>(x == 0 || y == 0)</a:t>
            </a:r>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 est vrai si x </a:t>
            </a:r>
            <a:pPr algn="l" indent="0" marL="0">
              <a:lnSpc>
                <a:spcPts val="2750"/>
              </a:lnSpc>
              <a:buNone/>
            </a:pPr>
            <a:r>
              <a:rPr lang="en-US" sz="1700" u="sng" dirty="0">
                <a:solidFill>
                  <a:srgbClr val="E0E4E6"/>
                </a:solidFill>
                <a:latin typeface="Barlow" pitchFamily="34" charset="0"/>
                <a:ea typeface="Barlow" pitchFamily="34" charset="-122"/>
                <a:cs typeface="Barlow" pitchFamily="34" charset="-120"/>
              </a:rPr>
              <a:t>OU</a:t>
            </a:r>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 y vaut zéro.</a:t>
            </a:r>
            <a:endParaRPr lang="en-US" sz="17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43348" y="3086219"/>
            <a:ext cx="660797" cy="660797"/>
          </a:xfrm>
          <a:prstGeom prst="rect">
            <a:avLst/>
          </a:prstGeom>
        </p:spPr>
      </p:pic>
      <p:sp>
        <p:nvSpPr>
          <p:cNvPr id="13" name="Text 8"/>
          <p:cNvSpPr/>
          <p:nvPr/>
        </p:nvSpPr>
        <p:spPr>
          <a:xfrm>
            <a:off x="10579418" y="3272076"/>
            <a:ext cx="2447687" cy="305991"/>
          </a:xfrm>
          <a:prstGeom prst="rect">
            <a:avLst/>
          </a:prstGeom>
          <a:noFill/>
          <a:ln/>
        </p:spPr>
        <p:txBody>
          <a:bodyPr wrap="none" lIns="0" tIns="0" rIns="0" bIns="0" rtlCol="0" anchor="t"/>
          <a:lstStyle/>
          <a:p>
            <a:pPr algn="l" indent="0" marL="0">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NON logique (!)</a:t>
            </a:r>
            <a:endParaRPr lang="en-US" sz="1900" dirty="0"/>
          </a:p>
        </p:txBody>
      </p:sp>
      <p:sp>
        <p:nvSpPr>
          <p:cNvPr id="14" name="Text 9"/>
          <p:cNvSpPr/>
          <p:nvPr/>
        </p:nvSpPr>
        <p:spPr>
          <a:xfrm>
            <a:off x="10579418" y="3710226"/>
            <a:ext cx="3169920" cy="1057275"/>
          </a:xfrm>
          <a:prstGeom prst="rect">
            <a:avLst/>
          </a:prstGeom>
          <a:noFill/>
          <a:ln/>
        </p:spPr>
        <p:txBody>
          <a:bodyPr wrap="square" lIns="0" tIns="0" rIns="0" bIns="0" rtlCol="0" anchor="t"/>
          <a:lstStyle/>
          <a:p>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Inverse la valeur logique d'une expression. Transforme vrai en faux et vice-versa.</a:t>
            </a:r>
            <a:endParaRPr lang="en-US" sz="1700" dirty="0"/>
          </a:p>
        </p:txBody>
      </p:sp>
      <p:sp>
        <p:nvSpPr>
          <p:cNvPr id="15" name="Text 10"/>
          <p:cNvSpPr/>
          <p:nvPr/>
        </p:nvSpPr>
        <p:spPr>
          <a:xfrm>
            <a:off x="10579418" y="4899660"/>
            <a:ext cx="3169920" cy="704850"/>
          </a:xfrm>
          <a:prstGeom prst="rect">
            <a:avLst/>
          </a:prstGeom>
          <a:noFill/>
          <a:ln/>
        </p:spPr>
        <p:txBody>
          <a:bodyPr wrap="square" lIns="0" tIns="0" rIns="0" bIns="0" rtlCol="0" anchor="t"/>
          <a:lstStyle/>
          <a:p>
            <a:pPr algn="l" indent="0" marL="0">
              <a:lnSpc>
                <a:spcPts val="2750"/>
              </a:lnSpc>
              <a:buNone/>
            </a:pPr>
            <a:r>
              <a:rPr lang="en-US" sz="1700" dirty="0">
                <a:solidFill>
                  <a:srgbClr val="E0E4E6"/>
                </a:solidFill>
                <a:highlight>
                  <a:srgbClr val="171528"/>
                </a:highlight>
                <a:latin typeface="Consolas" pitchFamily="34" charset="0"/>
                <a:ea typeface="Consolas" pitchFamily="34" charset="-122"/>
                <a:cs typeface="Consolas" pitchFamily="34" charset="-120"/>
              </a:rPr>
              <a:t>!(age &gt;= 18)</a:t>
            </a:r>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 est équivalent à </a:t>
            </a:r>
            <a:pPr algn="l" indent="0" marL="0">
              <a:lnSpc>
                <a:spcPts val="2750"/>
              </a:lnSpc>
              <a:buNone/>
            </a:pPr>
            <a:r>
              <a:rPr lang="en-US" sz="1700" dirty="0">
                <a:solidFill>
                  <a:srgbClr val="E0E4E6"/>
                </a:solidFill>
                <a:highlight>
                  <a:srgbClr val="171528"/>
                </a:highlight>
                <a:latin typeface="Consolas" pitchFamily="34" charset="0"/>
                <a:ea typeface="Consolas" pitchFamily="34" charset="-122"/>
                <a:cs typeface="Consolas" pitchFamily="34" charset="-120"/>
              </a:rPr>
              <a:t>(age &lt; 18)</a:t>
            </a:r>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a:t>
            </a:r>
            <a:endParaRPr lang="en-US" sz="1700" dirty="0"/>
          </a:p>
        </p:txBody>
      </p:sp>
      <p:sp>
        <p:nvSpPr>
          <p:cNvPr id="16" name="Shape 11"/>
          <p:cNvSpPr/>
          <p:nvPr/>
        </p:nvSpPr>
        <p:spPr>
          <a:xfrm>
            <a:off x="881063" y="6204704"/>
            <a:ext cx="12868275" cy="1296114"/>
          </a:xfrm>
          <a:prstGeom prst="roundRect">
            <a:avLst>
              <a:gd name="adj" fmla="val 25495"/>
            </a:avLst>
          </a:prstGeom>
          <a:solidFill>
            <a:srgbClr val="004D36"/>
          </a:solidFill>
          <a:ln/>
        </p:spPr>
      </p:sp>
      <p:pic>
        <p:nvPicPr>
          <p:cNvPr id="17" name="Image 3" descr="preencoded.png">    </p:cNvPr>
          <p:cNvPicPr>
            <a:picLocks noChangeAspect="1"/>
          </p:cNvPicPr>
          <p:nvPr/>
        </p:nvPicPr>
        <p:blipFill>
          <a:blip r:embed="rId7"/>
          <a:stretch>
            <a:fillRect/>
          </a:stretch>
        </p:blipFill>
        <p:spPr>
          <a:xfrm>
            <a:off x="1101328" y="6546294"/>
            <a:ext cx="275273" cy="220266"/>
          </a:xfrm>
          <a:prstGeom prst="rect">
            <a:avLst/>
          </a:prstGeom>
        </p:spPr>
      </p:pic>
      <p:sp>
        <p:nvSpPr>
          <p:cNvPr id="18" name="Text 12"/>
          <p:cNvSpPr/>
          <p:nvPr/>
        </p:nvSpPr>
        <p:spPr>
          <a:xfrm>
            <a:off x="1596866" y="6479977"/>
            <a:ext cx="11932206" cy="712470"/>
          </a:xfrm>
          <a:prstGeom prst="rect">
            <a:avLst/>
          </a:prstGeom>
          <a:noFill/>
          <a:ln/>
        </p:spPr>
        <p:txBody>
          <a:bodyPr wrap="square" lIns="0" tIns="0" rIns="0" bIns="0" rtlCol="0" anchor="t"/>
          <a:lstStyle/>
          <a:p>
            <a:pPr algn="l" indent="0" marL="0">
              <a:lnSpc>
                <a:spcPts val="2750"/>
              </a:lnSpc>
              <a:buNone/>
            </a:pPr>
            <a:r>
              <a:rPr lang="en-US" sz="1700" dirty="0">
                <a:solidFill>
                  <a:srgbClr val="000000"/>
                </a:solidFill>
                <a:latin typeface="Barlow" pitchFamily="34" charset="0"/>
                <a:ea typeface="Barlow" pitchFamily="34" charset="-122"/>
                <a:cs typeface="Barlow" pitchFamily="34" charset="-120"/>
              </a:rPr>
              <a:t>💡</a:t>
            </a:r>
            <a:pPr algn="l" indent="0" marL="0">
              <a:lnSpc>
                <a:spcPts val="2750"/>
              </a:lnSpc>
              <a:buNone/>
            </a:pPr>
            <a:r>
              <a:rPr lang="en-US" sz="1700" dirty="0">
                <a:solidFill>
                  <a:srgbClr val="FFFFFF"/>
                </a:solidFill>
                <a:latin typeface="Barlow" pitchFamily="34" charset="0"/>
                <a:ea typeface="Barlow" pitchFamily="34" charset="-122"/>
                <a:cs typeface="Barlow" pitchFamily="34" charset="-120"/>
              </a:rPr>
              <a:t> Les opérateurs &amp;&amp; et || utilisent l'évaluation en court-circuit : si le résultat peut être déterminé avec la première condition, la seconde n'est pas évaluée. Cela permet d'optimiser les performances et d'éviter certaines erreurs.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7448" y="369451"/>
            <a:ext cx="7564041" cy="373261"/>
          </a:xfrm>
          <a:prstGeom prst="rect">
            <a:avLst/>
          </a:prstGeom>
          <a:noFill/>
          <a:ln/>
        </p:spPr>
        <p:txBody>
          <a:bodyPr wrap="none" lIns="0" tIns="0" rIns="0" bIns="0" rtlCol="0" anchor="t"/>
          <a:lstStyle/>
          <a:p>
            <a:pPr algn="l" indent="0" marL="0">
              <a:lnSpc>
                <a:spcPts val="2900"/>
              </a:lnSpc>
              <a:buNone/>
            </a:pPr>
            <a:r>
              <a:rPr lang="en-US" sz="2350" b="1" dirty="0">
                <a:solidFill>
                  <a:srgbClr val="F0FCFF"/>
                </a:solidFill>
                <a:latin typeface="Spline Sans Bold" pitchFamily="34" charset="0"/>
                <a:ea typeface="Spline Sans Bold" pitchFamily="34" charset="-122"/>
                <a:cs typeface="Spline Sans Bold" pitchFamily="34" charset="-120"/>
              </a:rPr>
              <a:t>Structure de contrôle if / else : prise de décision simple</a:t>
            </a:r>
            <a:endParaRPr lang="en-US" sz="2350" dirty="0"/>
          </a:p>
        </p:txBody>
      </p:sp>
      <p:pic>
        <p:nvPicPr>
          <p:cNvPr id="3" name="Image 0" descr="preencoded.png">    </p:cNvPr>
          <p:cNvPicPr>
            <a:picLocks noChangeAspect="1"/>
          </p:cNvPicPr>
          <p:nvPr/>
        </p:nvPicPr>
        <p:blipFill>
          <a:blip r:embed="rId1"/>
          <a:stretch>
            <a:fillRect/>
          </a:stretch>
        </p:blipFill>
        <p:spPr>
          <a:xfrm>
            <a:off x="537448" y="1095256"/>
            <a:ext cx="5919668" cy="5919668"/>
          </a:xfrm>
          <a:prstGeom prst="rect">
            <a:avLst/>
          </a:prstGeom>
        </p:spPr>
      </p:pic>
      <p:sp>
        <p:nvSpPr>
          <p:cNvPr id="4" name="Text 1"/>
          <p:cNvSpPr/>
          <p:nvPr/>
        </p:nvSpPr>
        <p:spPr>
          <a:xfrm>
            <a:off x="6792397" y="1065014"/>
            <a:ext cx="7308056" cy="430054"/>
          </a:xfrm>
          <a:prstGeom prst="rect">
            <a:avLst/>
          </a:prstGeom>
          <a:noFill/>
          <a:ln/>
        </p:spPr>
        <p:txBody>
          <a:bodyPr wrap="square" lIns="0" tIns="0" rIns="0" bIns="0" rtlCol="0" anchor="t"/>
          <a:lstStyle/>
          <a:p>
            <a:pPr algn="l" indent="0" marL="0">
              <a:lnSpc>
                <a:spcPts val="1650"/>
              </a:lnSpc>
              <a:buNone/>
            </a:pPr>
            <a:r>
              <a:rPr lang="en-US" sz="1050" dirty="0">
                <a:solidFill>
                  <a:srgbClr val="E0E4E6"/>
                </a:solidFill>
                <a:latin typeface="Barlow" pitchFamily="34" charset="0"/>
                <a:ea typeface="Barlow" pitchFamily="34" charset="-122"/>
                <a:cs typeface="Barlow" pitchFamily="34" charset="-120"/>
              </a:rPr>
              <a:t>La structure </a:t>
            </a:r>
            <a:pPr algn="l" indent="0" marL="0">
              <a:lnSpc>
                <a:spcPts val="1650"/>
              </a:lnSpc>
              <a:buNone/>
            </a:pPr>
            <a:r>
              <a:rPr lang="en-US" sz="1050" dirty="0">
                <a:solidFill>
                  <a:srgbClr val="E0E4E6"/>
                </a:solidFill>
                <a:highlight>
                  <a:srgbClr val="171528"/>
                </a:highlight>
                <a:latin typeface="Consolas" pitchFamily="34" charset="0"/>
                <a:ea typeface="Consolas" pitchFamily="34" charset="-122"/>
                <a:cs typeface="Consolas" pitchFamily="34" charset="-120"/>
              </a:rPr>
              <a:t>if/else</a:t>
            </a:r>
            <a:pPr algn="l" indent="0" marL="0">
              <a:lnSpc>
                <a:spcPts val="1650"/>
              </a:lnSpc>
              <a:buNone/>
            </a:pPr>
            <a:r>
              <a:rPr lang="en-US" sz="1050" dirty="0">
                <a:solidFill>
                  <a:srgbClr val="E0E4E6"/>
                </a:solidFill>
                <a:latin typeface="Barlow" pitchFamily="34" charset="0"/>
                <a:ea typeface="Barlow" pitchFamily="34" charset="-122"/>
                <a:cs typeface="Barlow" pitchFamily="34" charset="-120"/>
              </a:rPr>
              <a:t> est la </a:t>
            </a:r>
            <a:pPr algn="l" indent="0" marL="0">
              <a:lnSpc>
                <a:spcPts val="1650"/>
              </a:lnSpc>
              <a:buNone/>
            </a:pPr>
            <a:r>
              <a:rPr lang="en-US" sz="1050" b="1" dirty="0">
                <a:solidFill>
                  <a:srgbClr val="E0E4E6"/>
                </a:solidFill>
                <a:latin typeface="Barlow" pitchFamily="34" charset="0"/>
                <a:ea typeface="Barlow" pitchFamily="34" charset="-122"/>
                <a:cs typeface="Barlow" pitchFamily="34" charset="-120"/>
              </a:rPr>
              <a:t>pierre angulaire de la programmation conditionnelle</a:t>
            </a:r>
            <a:pPr algn="l" indent="0" marL="0">
              <a:lnSpc>
                <a:spcPts val="1650"/>
              </a:lnSpc>
              <a:buNone/>
            </a:pPr>
            <a:r>
              <a:rPr lang="en-US" sz="1050" dirty="0">
                <a:solidFill>
                  <a:srgbClr val="E0E4E6"/>
                </a:solidFill>
                <a:latin typeface="Barlow" pitchFamily="34" charset="0"/>
                <a:ea typeface="Barlow" pitchFamily="34" charset="-122"/>
                <a:cs typeface="Barlow" pitchFamily="34" charset="-120"/>
              </a:rPr>
              <a:t>. Elle permet à votre programme d'exécuter différents blocs de code selon qu'une condition est vraie ou fausse, rendant vos applications dynamiques et réactives.</a:t>
            </a:r>
            <a:endParaRPr lang="en-US" sz="1050" dirty="0"/>
          </a:p>
        </p:txBody>
      </p:sp>
      <p:sp>
        <p:nvSpPr>
          <p:cNvPr id="5" name="Text 2"/>
          <p:cNvSpPr/>
          <p:nvPr/>
        </p:nvSpPr>
        <p:spPr>
          <a:xfrm>
            <a:off x="6792397" y="1629370"/>
            <a:ext cx="1493044" cy="186571"/>
          </a:xfrm>
          <a:prstGeom prst="rect">
            <a:avLst/>
          </a:prstGeom>
          <a:noFill/>
          <a:ln/>
        </p:spPr>
        <p:txBody>
          <a:bodyPr wrap="none" lIns="0" tIns="0" rIns="0" bIns="0" rtlCol="0" anchor="t"/>
          <a:lstStyle/>
          <a:p>
            <a:pPr algn="l" indent="0" marL="0">
              <a:lnSpc>
                <a:spcPts val="1450"/>
              </a:lnSpc>
              <a:buNone/>
            </a:pPr>
            <a:r>
              <a:rPr lang="en-US" sz="1150" b="1" dirty="0">
                <a:solidFill>
                  <a:srgbClr val="F0FCFF"/>
                </a:solidFill>
                <a:latin typeface="Spline Sans Bold" pitchFamily="34" charset="0"/>
                <a:ea typeface="Spline Sans Bold" pitchFamily="34" charset="-122"/>
                <a:cs typeface="Spline Sans Bold" pitchFamily="34" charset="-120"/>
              </a:rPr>
              <a:t>Syntaxe de base</a:t>
            </a:r>
            <a:endParaRPr lang="en-US" sz="1150" dirty="0"/>
          </a:p>
        </p:txBody>
      </p:sp>
      <p:sp>
        <p:nvSpPr>
          <p:cNvPr id="6" name="Shape 3"/>
          <p:cNvSpPr/>
          <p:nvPr/>
        </p:nvSpPr>
        <p:spPr>
          <a:xfrm>
            <a:off x="6792397" y="1967032"/>
            <a:ext cx="7308056" cy="1276588"/>
          </a:xfrm>
          <a:prstGeom prst="roundRect">
            <a:avLst>
              <a:gd name="adj" fmla="val 15789"/>
            </a:avLst>
          </a:prstGeom>
          <a:solidFill>
            <a:srgbClr val="171528"/>
          </a:solidFill>
          <a:ln/>
        </p:spPr>
      </p:sp>
      <p:sp>
        <p:nvSpPr>
          <p:cNvPr id="7" name="Shape 4"/>
          <p:cNvSpPr/>
          <p:nvPr/>
        </p:nvSpPr>
        <p:spPr>
          <a:xfrm>
            <a:off x="6785729" y="1967032"/>
            <a:ext cx="7321391" cy="1276588"/>
          </a:xfrm>
          <a:prstGeom prst="roundRect">
            <a:avLst>
              <a:gd name="adj" fmla="val 1579"/>
            </a:avLst>
          </a:prstGeom>
          <a:solidFill>
            <a:srgbClr val="171528"/>
          </a:solidFill>
          <a:ln/>
        </p:spPr>
      </p:sp>
      <p:sp>
        <p:nvSpPr>
          <p:cNvPr id="8" name="Text 5"/>
          <p:cNvSpPr/>
          <p:nvPr/>
        </p:nvSpPr>
        <p:spPr>
          <a:xfrm>
            <a:off x="6920032" y="2067758"/>
            <a:ext cx="7052786" cy="1075134"/>
          </a:xfrm>
          <a:prstGeom prst="rect">
            <a:avLst/>
          </a:prstGeom>
          <a:noFill/>
          <a:ln/>
        </p:spPr>
        <p:txBody>
          <a:bodyPr wrap="square" lIns="0" tIns="0" rIns="0" bIns="0" rtlCol="0" anchor="t"/>
          <a:lstStyle/>
          <a:p>
            <a:pPr algn="l" indent="0" marL="0">
              <a:lnSpc>
                <a:spcPts val="1650"/>
              </a:lnSpc>
              <a:buNone/>
            </a:pPr>
            <a:r>
              <a:rPr lang="en-US" sz="1050" dirty="0">
                <a:solidFill>
                  <a:srgbClr val="E0E4E6"/>
                </a:solidFill>
                <a:highlight>
                  <a:srgbClr val="171528"/>
                </a:highlight>
                <a:latin typeface="Consolas" pitchFamily="34" charset="0"/>
                <a:ea typeface="Consolas" pitchFamily="34" charset="-122"/>
                <a:cs typeface="Consolas" pitchFamily="34" charset="-120"/>
              </a:rPr>
              <a:t>if (condition) {    // Instructions si vrai} else {    // Instructions si faux}</a:t>
            </a:r>
            <a:endParaRPr lang="en-US" sz="1050" dirty="0"/>
          </a:p>
        </p:txBody>
      </p:sp>
      <p:pic>
        <p:nvPicPr>
          <p:cNvPr id="9" name="Image 1" descr="preencoded.png">    </p:cNvPr>
          <p:cNvPicPr>
            <a:picLocks noChangeAspect="1"/>
          </p:cNvPicPr>
          <p:nvPr/>
        </p:nvPicPr>
        <p:blipFill>
          <a:blip r:embed="rId2"/>
          <a:stretch>
            <a:fillRect/>
          </a:stretch>
        </p:blipFill>
        <p:spPr>
          <a:xfrm>
            <a:off x="537448" y="7317105"/>
            <a:ext cx="4518422" cy="537448"/>
          </a:xfrm>
          <a:prstGeom prst="rect">
            <a:avLst/>
          </a:prstGeom>
        </p:spPr>
      </p:pic>
      <p:sp>
        <p:nvSpPr>
          <p:cNvPr id="10" name="Text 6"/>
          <p:cNvSpPr/>
          <p:nvPr/>
        </p:nvSpPr>
        <p:spPr>
          <a:xfrm>
            <a:off x="671751" y="7988856"/>
            <a:ext cx="1493044" cy="186571"/>
          </a:xfrm>
          <a:prstGeom prst="rect">
            <a:avLst/>
          </a:prstGeom>
          <a:noFill/>
          <a:ln/>
        </p:spPr>
        <p:txBody>
          <a:bodyPr wrap="none" lIns="0" tIns="0" rIns="0" bIns="0" rtlCol="0" anchor="t"/>
          <a:lstStyle/>
          <a:p>
            <a:pPr algn="l" indent="0" marL="0">
              <a:lnSpc>
                <a:spcPts val="1450"/>
              </a:lnSpc>
              <a:buNone/>
            </a:pPr>
            <a:r>
              <a:rPr lang="en-US" sz="1150" b="1" dirty="0">
                <a:solidFill>
                  <a:srgbClr val="E0E4E6"/>
                </a:solidFill>
                <a:latin typeface="Spline Sans Bold" pitchFamily="34" charset="0"/>
                <a:ea typeface="Spline Sans Bold" pitchFamily="34" charset="-122"/>
                <a:cs typeface="Spline Sans Bold" pitchFamily="34" charset="-120"/>
              </a:rPr>
              <a:t>Évaluation</a:t>
            </a:r>
            <a:endParaRPr lang="en-US" sz="1150" dirty="0"/>
          </a:p>
        </p:txBody>
      </p:sp>
      <p:sp>
        <p:nvSpPr>
          <p:cNvPr id="11" name="Text 7"/>
          <p:cNvSpPr/>
          <p:nvPr/>
        </p:nvSpPr>
        <p:spPr>
          <a:xfrm>
            <a:off x="671751" y="8256032"/>
            <a:ext cx="4249817" cy="215027"/>
          </a:xfrm>
          <a:prstGeom prst="rect">
            <a:avLst/>
          </a:prstGeom>
          <a:noFill/>
          <a:ln/>
        </p:spPr>
        <p:txBody>
          <a:bodyPr wrap="none" lIns="0" tIns="0" rIns="0" bIns="0" rtlCol="0" anchor="t"/>
          <a:lstStyle/>
          <a:p>
            <a:pPr algn="l" indent="0" marL="0">
              <a:lnSpc>
                <a:spcPts val="1650"/>
              </a:lnSpc>
              <a:buNone/>
            </a:pPr>
            <a:r>
              <a:rPr lang="en-US" sz="1050" dirty="0">
                <a:solidFill>
                  <a:srgbClr val="E0E4E6"/>
                </a:solidFill>
                <a:latin typeface="Barlow" pitchFamily="34" charset="0"/>
                <a:ea typeface="Barlow" pitchFamily="34" charset="-122"/>
                <a:cs typeface="Barlow" pitchFamily="34" charset="-120"/>
              </a:rPr>
              <a:t>La condition est testée</a:t>
            </a:r>
            <a:endParaRPr lang="en-US" sz="1050" dirty="0"/>
          </a:p>
        </p:txBody>
      </p:sp>
      <p:pic>
        <p:nvPicPr>
          <p:cNvPr id="12" name="Image 2" descr="preencoded.png">    </p:cNvPr>
          <p:cNvPicPr>
            <a:picLocks noChangeAspect="1"/>
          </p:cNvPicPr>
          <p:nvPr/>
        </p:nvPicPr>
        <p:blipFill>
          <a:blip r:embed="rId3"/>
          <a:stretch>
            <a:fillRect/>
          </a:stretch>
        </p:blipFill>
        <p:spPr>
          <a:xfrm>
            <a:off x="5055870" y="7317105"/>
            <a:ext cx="4518541" cy="537448"/>
          </a:xfrm>
          <a:prstGeom prst="rect">
            <a:avLst/>
          </a:prstGeom>
        </p:spPr>
      </p:pic>
      <p:sp>
        <p:nvSpPr>
          <p:cNvPr id="13" name="Text 8"/>
          <p:cNvSpPr/>
          <p:nvPr/>
        </p:nvSpPr>
        <p:spPr>
          <a:xfrm>
            <a:off x="5190173" y="7988856"/>
            <a:ext cx="1493044" cy="186571"/>
          </a:xfrm>
          <a:prstGeom prst="rect">
            <a:avLst/>
          </a:prstGeom>
          <a:noFill/>
          <a:ln/>
        </p:spPr>
        <p:txBody>
          <a:bodyPr wrap="none" lIns="0" tIns="0" rIns="0" bIns="0" rtlCol="0" anchor="t"/>
          <a:lstStyle/>
          <a:p>
            <a:pPr algn="l" indent="0" marL="0">
              <a:lnSpc>
                <a:spcPts val="1450"/>
              </a:lnSpc>
              <a:buNone/>
            </a:pPr>
            <a:r>
              <a:rPr lang="en-US" sz="1150" b="1" dirty="0">
                <a:solidFill>
                  <a:srgbClr val="E0E4E6"/>
                </a:solidFill>
                <a:latin typeface="Spline Sans Bold" pitchFamily="34" charset="0"/>
                <a:ea typeface="Spline Sans Bold" pitchFamily="34" charset="-122"/>
                <a:cs typeface="Spline Sans Bold" pitchFamily="34" charset="-120"/>
              </a:rPr>
              <a:t>Décision</a:t>
            </a:r>
            <a:endParaRPr lang="en-US" sz="1150" dirty="0"/>
          </a:p>
        </p:txBody>
      </p:sp>
      <p:sp>
        <p:nvSpPr>
          <p:cNvPr id="14" name="Text 9"/>
          <p:cNvSpPr/>
          <p:nvPr/>
        </p:nvSpPr>
        <p:spPr>
          <a:xfrm>
            <a:off x="5190173" y="8256032"/>
            <a:ext cx="4249936" cy="215027"/>
          </a:xfrm>
          <a:prstGeom prst="rect">
            <a:avLst/>
          </a:prstGeom>
          <a:noFill/>
          <a:ln/>
        </p:spPr>
        <p:txBody>
          <a:bodyPr wrap="none" lIns="0" tIns="0" rIns="0" bIns="0" rtlCol="0" anchor="t"/>
          <a:lstStyle/>
          <a:p>
            <a:pPr algn="l" indent="0" marL="0">
              <a:lnSpc>
                <a:spcPts val="1650"/>
              </a:lnSpc>
              <a:buNone/>
            </a:pPr>
            <a:r>
              <a:rPr lang="en-US" sz="1050" dirty="0">
                <a:solidFill>
                  <a:srgbClr val="E0E4E6"/>
                </a:solidFill>
                <a:latin typeface="Barlow" pitchFamily="34" charset="0"/>
                <a:ea typeface="Barlow" pitchFamily="34" charset="-122"/>
                <a:cs typeface="Barlow" pitchFamily="34" charset="-120"/>
              </a:rPr>
              <a:t>Choix du bloc à exécuter</a:t>
            </a:r>
            <a:endParaRPr lang="en-US" sz="1050" dirty="0"/>
          </a:p>
        </p:txBody>
      </p:sp>
      <p:pic>
        <p:nvPicPr>
          <p:cNvPr id="15" name="Image 3" descr="preencoded.png">    </p:cNvPr>
          <p:cNvPicPr>
            <a:picLocks noChangeAspect="1"/>
          </p:cNvPicPr>
          <p:nvPr/>
        </p:nvPicPr>
        <p:blipFill>
          <a:blip r:embed="rId4"/>
          <a:stretch>
            <a:fillRect/>
          </a:stretch>
        </p:blipFill>
        <p:spPr>
          <a:xfrm>
            <a:off x="9574411" y="7317105"/>
            <a:ext cx="4518541" cy="537448"/>
          </a:xfrm>
          <a:prstGeom prst="rect">
            <a:avLst/>
          </a:prstGeom>
        </p:spPr>
      </p:pic>
      <p:sp>
        <p:nvSpPr>
          <p:cNvPr id="16" name="Text 10"/>
          <p:cNvSpPr/>
          <p:nvPr/>
        </p:nvSpPr>
        <p:spPr>
          <a:xfrm>
            <a:off x="9708713" y="7988856"/>
            <a:ext cx="1493044" cy="186571"/>
          </a:xfrm>
          <a:prstGeom prst="rect">
            <a:avLst/>
          </a:prstGeom>
          <a:noFill/>
          <a:ln/>
        </p:spPr>
        <p:txBody>
          <a:bodyPr wrap="none" lIns="0" tIns="0" rIns="0" bIns="0" rtlCol="0" anchor="t"/>
          <a:lstStyle/>
          <a:p>
            <a:pPr algn="l" indent="0" marL="0">
              <a:lnSpc>
                <a:spcPts val="1450"/>
              </a:lnSpc>
              <a:buNone/>
            </a:pPr>
            <a:r>
              <a:rPr lang="en-US" sz="1150" b="1" dirty="0">
                <a:solidFill>
                  <a:srgbClr val="E0E4E6"/>
                </a:solidFill>
                <a:latin typeface="Spline Sans Bold" pitchFamily="34" charset="0"/>
                <a:ea typeface="Spline Sans Bold" pitchFamily="34" charset="-122"/>
                <a:cs typeface="Spline Sans Bold" pitchFamily="34" charset="-120"/>
              </a:rPr>
              <a:t>Exécution</a:t>
            </a:r>
            <a:endParaRPr lang="en-US" sz="1150" dirty="0"/>
          </a:p>
        </p:txBody>
      </p:sp>
      <p:sp>
        <p:nvSpPr>
          <p:cNvPr id="17" name="Text 11"/>
          <p:cNvSpPr/>
          <p:nvPr/>
        </p:nvSpPr>
        <p:spPr>
          <a:xfrm>
            <a:off x="9708713" y="8256032"/>
            <a:ext cx="4249936" cy="215027"/>
          </a:xfrm>
          <a:prstGeom prst="rect">
            <a:avLst/>
          </a:prstGeom>
          <a:noFill/>
          <a:ln/>
        </p:spPr>
        <p:txBody>
          <a:bodyPr wrap="none" lIns="0" tIns="0" rIns="0" bIns="0" rtlCol="0" anchor="t"/>
          <a:lstStyle/>
          <a:p>
            <a:pPr algn="l" indent="0" marL="0">
              <a:lnSpc>
                <a:spcPts val="1650"/>
              </a:lnSpc>
              <a:buNone/>
            </a:pPr>
            <a:r>
              <a:rPr lang="en-US" sz="1050" dirty="0">
                <a:solidFill>
                  <a:srgbClr val="E0E4E6"/>
                </a:solidFill>
                <a:latin typeface="Barlow" pitchFamily="34" charset="0"/>
                <a:ea typeface="Barlow" pitchFamily="34" charset="-122"/>
                <a:cs typeface="Barlow" pitchFamily="34" charset="-120"/>
              </a:rPr>
              <a:t>Le code approprié s'exécute</a:t>
            </a:r>
            <a:endParaRPr lang="en-US" sz="1050" dirty="0"/>
          </a:p>
        </p:txBody>
      </p:sp>
      <p:sp>
        <p:nvSpPr>
          <p:cNvPr id="18" name="Text 12"/>
          <p:cNvSpPr/>
          <p:nvPr/>
        </p:nvSpPr>
        <p:spPr>
          <a:xfrm>
            <a:off x="537448" y="8756452"/>
            <a:ext cx="13555504" cy="215027"/>
          </a:xfrm>
          <a:prstGeom prst="rect">
            <a:avLst/>
          </a:prstGeom>
          <a:noFill/>
          <a:ln/>
        </p:spPr>
        <p:txBody>
          <a:bodyPr wrap="none" lIns="0" tIns="0" rIns="0" bIns="0" rtlCol="0" anchor="t"/>
          <a:lstStyle/>
          <a:p>
            <a:pPr algn="l" indent="0" marL="0">
              <a:lnSpc>
                <a:spcPts val="1650"/>
              </a:lnSpc>
              <a:buNone/>
            </a:pPr>
            <a:r>
              <a:rPr lang="en-US" sz="1050" b="1" dirty="0">
                <a:solidFill>
                  <a:srgbClr val="E0E4E6"/>
                </a:solidFill>
                <a:latin typeface="Barlow" pitchFamily="34" charset="0"/>
                <a:ea typeface="Barlow" pitchFamily="34" charset="-122"/>
                <a:cs typeface="Barlow" pitchFamily="34" charset="-120"/>
              </a:rPr>
              <a:t>Exemple pratique :</a:t>
            </a:r>
            <a:pPr algn="l" indent="0" marL="0">
              <a:lnSpc>
                <a:spcPts val="1650"/>
              </a:lnSpc>
              <a:buNone/>
            </a:pPr>
            <a:r>
              <a:rPr lang="en-US" sz="1050" dirty="0">
                <a:solidFill>
                  <a:srgbClr val="E0E4E6"/>
                </a:solidFill>
                <a:latin typeface="Barlow" pitchFamily="34" charset="0"/>
                <a:ea typeface="Barlow" pitchFamily="34" charset="-122"/>
                <a:cs typeface="Barlow" pitchFamily="34" charset="-120"/>
              </a:rPr>
              <a:t> </a:t>
            </a:r>
            <a:pPr algn="l" indent="0" marL="0">
              <a:lnSpc>
                <a:spcPts val="1650"/>
              </a:lnSpc>
              <a:buNone/>
            </a:pPr>
            <a:r>
              <a:rPr lang="en-US" sz="1050" dirty="0">
                <a:solidFill>
                  <a:srgbClr val="E0E4E6"/>
                </a:solidFill>
                <a:highlight>
                  <a:srgbClr val="171528"/>
                </a:highlight>
                <a:latin typeface="Consolas" pitchFamily="34" charset="0"/>
                <a:ea typeface="Consolas" pitchFamily="34" charset="-122"/>
                <a:cs typeface="Consolas" pitchFamily="34" charset="-120"/>
              </a:rPr>
              <a:t>if (age &gt;= 18) printf("Majeur"); else printf("Mineur");</a:t>
            </a:r>
            <a:endParaRPr lang="en-US" sz="1050" dirty="0"/>
          </a:p>
        </p:txBody>
      </p:sp>
      <p:sp>
        <p:nvSpPr>
          <p:cNvPr id="19" name="Text 13"/>
          <p:cNvSpPr/>
          <p:nvPr/>
        </p:nvSpPr>
        <p:spPr>
          <a:xfrm>
            <a:off x="537448" y="9122569"/>
            <a:ext cx="13555504" cy="215027"/>
          </a:xfrm>
          <a:prstGeom prst="rect">
            <a:avLst/>
          </a:prstGeom>
          <a:noFill/>
          <a:ln/>
        </p:spPr>
        <p:txBody>
          <a:bodyPr wrap="none" lIns="0" tIns="0" rIns="0" bIns="0" rtlCol="0" anchor="t"/>
          <a:lstStyle/>
          <a:p>
            <a:pPr algn="l" indent="0" marL="0">
              <a:lnSpc>
                <a:spcPts val="1650"/>
              </a:lnSpc>
              <a:buNone/>
            </a:pPr>
            <a:r>
              <a:rPr lang="en-US" sz="1050" dirty="0">
                <a:solidFill>
                  <a:srgbClr val="E0E4E6"/>
                </a:solidFill>
                <a:latin typeface="Barlow" pitchFamily="34" charset="0"/>
                <a:ea typeface="Barlow" pitchFamily="34" charset="-122"/>
                <a:cs typeface="Barlow" pitchFamily="34" charset="-120"/>
              </a:rPr>
              <a:t>Vous pouvez également imbriquer des if/else ou utiliser </a:t>
            </a:r>
            <a:pPr algn="l" indent="0" marL="0">
              <a:lnSpc>
                <a:spcPts val="1650"/>
              </a:lnSpc>
              <a:buNone/>
            </a:pPr>
            <a:r>
              <a:rPr lang="en-US" sz="1050" dirty="0">
                <a:solidFill>
                  <a:srgbClr val="E0E4E6"/>
                </a:solidFill>
                <a:highlight>
                  <a:srgbClr val="171528"/>
                </a:highlight>
                <a:latin typeface="Consolas" pitchFamily="34" charset="0"/>
                <a:ea typeface="Consolas" pitchFamily="34" charset="-122"/>
                <a:cs typeface="Consolas" pitchFamily="34" charset="-120"/>
              </a:rPr>
              <a:t>else if</a:t>
            </a:r>
            <a:pPr algn="l" indent="0" marL="0">
              <a:lnSpc>
                <a:spcPts val="1650"/>
              </a:lnSpc>
              <a:buNone/>
            </a:pPr>
            <a:r>
              <a:rPr lang="en-US" sz="1050" dirty="0">
                <a:solidFill>
                  <a:srgbClr val="E0E4E6"/>
                </a:solidFill>
                <a:latin typeface="Barlow" pitchFamily="34" charset="0"/>
                <a:ea typeface="Barlow" pitchFamily="34" charset="-122"/>
                <a:cs typeface="Barlow" pitchFamily="34" charset="-120"/>
              </a:rPr>
              <a:t> pour tester plusieurs conditions successives et créer des arbres de décision complexes adaptés à vos besoins.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27578" y="431483"/>
            <a:ext cx="6766560" cy="435888"/>
          </a:xfrm>
          <a:prstGeom prst="rect">
            <a:avLst/>
          </a:prstGeom>
          <a:noFill/>
          <a:ln/>
        </p:spPr>
        <p:txBody>
          <a:bodyPr wrap="none" lIns="0" tIns="0" rIns="0" bIns="0" rtlCol="0" anchor="t"/>
          <a:lstStyle/>
          <a:p>
            <a:pPr algn="l" indent="0" marL="0">
              <a:lnSpc>
                <a:spcPts val="3400"/>
              </a:lnSpc>
              <a:buNone/>
            </a:pPr>
            <a:r>
              <a:rPr lang="en-US" sz="2700" b="1" dirty="0">
                <a:solidFill>
                  <a:srgbClr val="F0FCFF"/>
                </a:solidFill>
                <a:latin typeface="Spline Sans Bold" pitchFamily="34" charset="0"/>
                <a:ea typeface="Spline Sans Bold" pitchFamily="34" charset="-122"/>
                <a:cs typeface="Spline Sans Bold" pitchFamily="34" charset="-120"/>
              </a:rPr>
              <a:t>Structure switch : choix multiple simplifié</a:t>
            </a:r>
            <a:endParaRPr lang="en-US" sz="2700" dirty="0"/>
          </a:p>
        </p:txBody>
      </p:sp>
      <p:sp>
        <p:nvSpPr>
          <p:cNvPr id="3" name="Text 1"/>
          <p:cNvSpPr/>
          <p:nvPr/>
        </p:nvSpPr>
        <p:spPr>
          <a:xfrm>
            <a:off x="627578" y="1181100"/>
            <a:ext cx="13375243" cy="501968"/>
          </a:xfrm>
          <a:prstGeom prst="rect">
            <a:avLst/>
          </a:prstGeom>
          <a:noFill/>
          <a:ln/>
        </p:spPr>
        <p:txBody>
          <a:bodyPr wrap="square" lIns="0" tIns="0" rIns="0" bIns="0" rtlCol="0" anchor="t"/>
          <a:lstStyle/>
          <a:p>
            <a:pPr algn="l" indent="0" marL="0">
              <a:lnSpc>
                <a:spcPts val="1950"/>
              </a:lnSpc>
              <a:buNone/>
            </a:pPr>
            <a:r>
              <a:rPr lang="en-US" sz="1200" dirty="0">
                <a:solidFill>
                  <a:srgbClr val="E0E4E6"/>
                </a:solidFill>
                <a:latin typeface="Barlow" pitchFamily="34" charset="0"/>
                <a:ea typeface="Barlow" pitchFamily="34" charset="-122"/>
                <a:cs typeface="Barlow" pitchFamily="34" charset="-120"/>
              </a:rPr>
              <a:t>La structure </a:t>
            </a:r>
            <a:pPr algn="l" indent="0" marL="0">
              <a:lnSpc>
                <a:spcPts val="1950"/>
              </a:lnSpc>
              <a:buNone/>
            </a:pPr>
            <a:r>
              <a:rPr lang="en-US" sz="1200" dirty="0">
                <a:solidFill>
                  <a:srgbClr val="E0E4E6"/>
                </a:solidFill>
                <a:highlight>
                  <a:srgbClr val="171528"/>
                </a:highlight>
                <a:latin typeface="Consolas" pitchFamily="34" charset="0"/>
                <a:ea typeface="Consolas" pitchFamily="34" charset="-122"/>
                <a:cs typeface="Consolas" pitchFamily="34" charset="-120"/>
              </a:rPr>
              <a:t>switch</a:t>
            </a:r>
            <a:pPr algn="l" indent="0" marL="0">
              <a:lnSpc>
                <a:spcPts val="1950"/>
              </a:lnSpc>
              <a:buNone/>
            </a:pPr>
            <a:r>
              <a:rPr lang="en-US" sz="1200" dirty="0">
                <a:solidFill>
                  <a:srgbClr val="E0E4E6"/>
                </a:solidFill>
                <a:latin typeface="Barlow" pitchFamily="34" charset="0"/>
                <a:ea typeface="Barlow" pitchFamily="34" charset="-122"/>
                <a:cs typeface="Barlow" pitchFamily="34" charset="-120"/>
              </a:rPr>
              <a:t> offre une </a:t>
            </a:r>
            <a:pPr algn="l" indent="0" marL="0">
              <a:lnSpc>
                <a:spcPts val="1950"/>
              </a:lnSpc>
              <a:buNone/>
            </a:pPr>
            <a:r>
              <a:rPr lang="en-US" sz="1200" b="1" dirty="0">
                <a:solidFill>
                  <a:srgbClr val="E0E4E6"/>
                </a:solidFill>
                <a:latin typeface="Barlow" pitchFamily="34" charset="0"/>
                <a:ea typeface="Barlow" pitchFamily="34" charset="-122"/>
                <a:cs typeface="Barlow" pitchFamily="34" charset="-120"/>
              </a:rPr>
              <a:t>alternative élégante aux longues chaînes de if/else</a:t>
            </a:r>
            <a:pPr algn="l" indent="0" marL="0">
              <a:lnSpc>
                <a:spcPts val="1950"/>
              </a:lnSpc>
              <a:buNone/>
            </a:pPr>
            <a:r>
              <a:rPr lang="en-US" sz="1200" dirty="0">
                <a:solidFill>
                  <a:srgbClr val="E0E4E6"/>
                </a:solidFill>
                <a:latin typeface="Barlow" pitchFamily="34" charset="0"/>
                <a:ea typeface="Barlow" pitchFamily="34" charset="-122"/>
                <a:cs typeface="Barlow" pitchFamily="34" charset="-120"/>
              </a:rPr>
              <a:t> lorsque vous devez tester une variable contre plusieurs valeurs constantes. Elle améliore la lisibilité du code et peut être plus efficace en termes de performance.</a:t>
            </a:r>
            <a:endParaRPr lang="en-US" sz="1200" dirty="0"/>
          </a:p>
        </p:txBody>
      </p:sp>
      <p:sp>
        <p:nvSpPr>
          <p:cNvPr id="4" name="Text 2"/>
          <p:cNvSpPr/>
          <p:nvPr/>
        </p:nvSpPr>
        <p:spPr>
          <a:xfrm>
            <a:off x="627578" y="2016323"/>
            <a:ext cx="2214324" cy="217884"/>
          </a:xfrm>
          <a:prstGeom prst="rect">
            <a:avLst/>
          </a:prstGeom>
          <a:noFill/>
          <a:ln/>
        </p:spPr>
        <p:txBody>
          <a:bodyPr wrap="none" lIns="0" tIns="0" rIns="0" bIns="0" rtlCol="0" anchor="t"/>
          <a:lstStyle/>
          <a:p>
            <a:pPr algn="l" indent="0" marL="0">
              <a:lnSpc>
                <a:spcPts val="1700"/>
              </a:lnSpc>
              <a:buNone/>
            </a:pPr>
            <a:r>
              <a:rPr lang="en-US" sz="1350" b="1" dirty="0">
                <a:solidFill>
                  <a:srgbClr val="F0FCFF"/>
                </a:solidFill>
                <a:latin typeface="Spline Sans Bold" pitchFamily="34" charset="0"/>
                <a:ea typeface="Spline Sans Bold" pitchFamily="34" charset="-122"/>
                <a:cs typeface="Spline Sans Bold" pitchFamily="34" charset="-120"/>
              </a:rPr>
              <a:t>Syntaxe et fonctionnement</a:t>
            </a:r>
            <a:endParaRPr lang="en-US" sz="1350" dirty="0"/>
          </a:p>
        </p:txBody>
      </p:sp>
      <p:sp>
        <p:nvSpPr>
          <p:cNvPr id="5" name="Shape 3"/>
          <p:cNvSpPr/>
          <p:nvPr/>
        </p:nvSpPr>
        <p:spPr>
          <a:xfrm>
            <a:off x="627578" y="2410658"/>
            <a:ext cx="6496288" cy="2745105"/>
          </a:xfrm>
          <a:prstGeom prst="roundRect">
            <a:avLst>
              <a:gd name="adj" fmla="val 8575"/>
            </a:avLst>
          </a:prstGeom>
          <a:solidFill>
            <a:srgbClr val="171528"/>
          </a:solidFill>
          <a:ln/>
        </p:spPr>
      </p:sp>
      <p:sp>
        <p:nvSpPr>
          <p:cNvPr id="6" name="Shape 4"/>
          <p:cNvSpPr/>
          <p:nvPr/>
        </p:nvSpPr>
        <p:spPr>
          <a:xfrm>
            <a:off x="619839" y="2410658"/>
            <a:ext cx="6511766" cy="2745105"/>
          </a:xfrm>
          <a:prstGeom prst="roundRect">
            <a:avLst>
              <a:gd name="adj" fmla="val 857"/>
            </a:avLst>
          </a:prstGeom>
          <a:solidFill>
            <a:srgbClr val="171528"/>
          </a:solidFill>
          <a:ln/>
        </p:spPr>
      </p:sp>
      <p:sp>
        <p:nvSpPr>
          <p:cNvPr id="7" name="Text 5"/>
          <p:cNvSpPr/>
          <p:nvPr/>
        </p:nvSpPr>
        <p:spPr>
          <a:xfrm>
            <a:off x="776645" y="2528292"/>
            <a:ext cx="6198156" cy="2509838"/>
          </a:xfrm>
          <a:prstGeom prst="rect">
            <a:avLst/>
          </a:prstGeom>
          <a:noFill/>
          <a:ln/>
        </p:spPr>
        <p:txBody>
          <a:bodyPr wrap="square" lIns="0" tIns="0" rIns="0" bIns="0" rtlCol="0" anchor="t"/>
          <a:lstStyle/>
          <a:p>
            <a:pPr algn="l" indent="0" marL="0">
              <a:lnSpc>
                <a:spcPts val="1950"/>
              </a:lnSpc>
              <a:buNone/>
            </a:pPr>
            <a:r>
              <a:rPr lang="en-US" sz="1200" dirty="0">
                <a:solidFill>
                  <a:srgbClr val="E0E4E6"/>
                </a:solidFill>
                <a:highlight>
                  <a:srgbClr val="171528"/>
                </a:highlight>
                <a:latin typeface="Consolas" pitchFamily="34" charset="0"/>
                <a:ea typeface="Consolas" pitchFamily="34" charset="-122"/>
                <a:cs typeface="Consolas" pitchFamily="34" charset="-120"/>
              </a:rPr>
              <a:t>switch (variable) {    case valeur1:        // Instructions        break;    case valeur2:        // Instructions        break;    default:        // Instructions par défaut}</a:t>
            </a:r>
            <a:endParaRPr lang="en-US" sz="1200" dirty="0"/>
          </a:p>
        </p:txBody>
      </p:sp>
      <p:sp>
        <p:nvSpPr>
          <p:cNvPr id="8" name="Shape 6"/>
          <p:cNvSpPr/>
          <p:nvPr/>
        </p:nvSpPr>
        <p:spPr>
          <a:xfrm>
            <a:off x="627578" y="5332214"/>
            <a:ext cx="6496288" cy="925116"/>
          </a:xfrm>
          <a:prstGeom prst="roundRect">
            <a:avLst>
              <a:gd name="adj" fmla="val 25443"/>
            </a:avLst>
          </a:prstGeom>
          <a:solidFill>
            <a:srgbClr val="004D36"/>
          </a:solidFill>
          <a:ln/>
        </p:spPr>
      </p:sp>
      <p:pic>
        <p:nvPicPr>
          <p:cNvPr id="9" name="Image 0" descr="preencoded.png">    </p:cNvPr>
          <p:cNvPicPr>
            <a:picLocks noChangeAspect="1"/>
          </p:cNvPicPr>
          <p:nvPr/>
        </p:nvPicPr>
        <p:blipFill>
          <a:blip r:embed="rId1"/>
          <a:stretch>
            <a:fillRect/>
          </a:stretch>
        </p:blipFill>
        <p:spPr>
          <a:xfrm>
            <a:off x="784384" y="5573792"/>
            <a:ext cx="196096" cy="156805"/>
          </a:xfrm>
          <a:prstGeom prst="rect">
            <a:avLst/>
          </a:prstGeom>
        </p:spPr>
      </p:pic>
      <p:sp>
        <p:nvSpPr>
          <p:cNvPr id="10" name="Text 7"/>
          <p:cNvSpPr/>
          <p:nvPr/>
        </p:nvSpPr>
        <p:spPr>
          <a:xfrm>
            <a:off x="1137285" y="5528191"/>
            <a:ext cx="5829776" cy="509588"/>
          </a:xfrm>
          <a:prstGeom prst="rect">
            <a:avLst/>
          </a:prstGeom>
          <a:noFill/>
          <a:ln/>
        </p:spPr>
        <p:txBody>
          <a:bodyPr wrap="square" lIns="0" tIns="0" rIns="0" bIns="0" rtlCol="0" anchor="t"/>
          <a:lstStyle/>
          <a:p>
            <a:pPr algn="l" indent="0" marL="0">
              <a:lnSpc>
                <a:spcPts val="1950"/>
              </a:lnSpc>
              <a:buNone/>
            </a:pPr>
            <a:r>
              <a:rPr lang="en-US" sz="1200" dirty="0">
                <a:solidFill>
                  <a:srgbClr val="000000"/>
                </a:solidFill>
                <a:latin typeface="Barlow" pitchFamily="34" charset="0"/>
                <a:ea typeface="Barlow" pitchFamily="34" charset="-122"/>
                <a:cs typeface="Barlow" pitchFamily="34" charset="-120"/>
              </a:rPr>
              <a:t>⚠️</a:t>
            </a:r>
            <a:pPr algn="l" indent="0" marL="0">
              <a:lnSpc>
                <a:spcPts val="1950"/>
              </a:lnSpc>
              <a:buNone/>
            </a:pPr>
            <a:r>
              <a:rPr lang="en-US" sz="1200" dirty="0">
                <a:solidFill>
                  <a:srgbClr val="FFFFFF"/>
                </a:solidFill>
                <a:latin typeface="Barlow" pitchFamily="34" charset="0"/>
                <a:ea typeface="Barlow" pitchFamily="34" charset="-122"/>
                <a:cs typeface="Barlow" pitchFamily="34" charset="-120"/>
              </a:rPr>
              <a:t> Le mot-clé </a:t>
            </a:r>
            <a:pPr algn="l" indent="0" marL="0">
              <a:lnSpc>
                <a:spcPts val="1950"/>
              </a:lnSpc>
              <a:buNone/>
            </a:pPr>
            <a:r>
              <a:rPr lang="en-US" sz="1200" dirty="0">
                <a:solidFill>
                  <a:srgbClr val="FFFFFF"/>
                </a:solidFill>
                <a:highlight>
                  <a:srgbClr val="171528"/>
                </a:highlight>
                <a:latin typeface="Consolas" pitchFamily="34" charset="0"/>
                <a:ea typeface="Consolas" pitchFamily="34" charset="-122"/>
                <a:cs typeface="Consolas" pitchFamily="34" charset="-120"/>
              </a:rPr>
              <a:t>break</a:t>
            </a:r>
            <a:pPr algn="l" indent="0" marL="0">
              <a:lnSpc>
                <a:spcPts val="1950"/>
              </a:lnSpc>
              <a:buNone/>
            </a:pPr>
            <a:r>
              <a:rPr lang="en-US" sz="1200" dirty="0">
                <a:solidFill>
                  <a:srgbClr val="FFFFFF"/>
                </a:solidFill>
                <a:latin typeface="Barlow" pitchFamily="34" charset="0"/>
                <a:ea typeface="Barlow" pitchFamily="34" charset="-122"/>
                <a:cs typeface="Barlow" pitchFamily="34" charset="-120"/>
              </a:rPr>
              <a:t> est crucial : sans lui, l'exécution continue dans les cas suivants (effet de "fall-through").</a:t>
            </a:r>
            <a:endParaRPr lang="en-US" sz="1200" dirty="0"/>
          </a:p>
        </p:txBody>
      </p:sp>
      <p:sp>
        <p:nvSpPr>
          <p:cNvPr id="11" name="Text 8"/>
          <p:cNvSpPr/>
          <p:nvPr/>
        </p:nvSpPr>
        <p:spPr>
          <a:xfrm>
            <a:off x="7514153" y="2035969"/>
            <a:ext cx="156805" cy="196096"/>
          </a:xfrm>
          <a:prstGeom prst="rect">
            <a:avLst/>
          </a:prstGeom>
          <a:noFill/>
          <a:ln/>
        </p:spPr>
        <p:txBody>
          <a:bodyPr wrap="none" lIns="0" tIns="0" rIns="0" bIns="0" rtlCol="0" anchor="t"/>
          <a:lstStyle/>
          <a:p>
            <a:pPr algn="l" indent="0" marL="0">
              <a:lnSpc>
                <a:spcPts val="1950"/>
              </a:lnSpc>
              <a:buNone/>
            </a:pPr>
            <a:r>
              <a:rPr lang="en-US" sz="1200" dirty="0">
                <a:solidFill>
                  <a:srgbClr val="E0E4E6"/>
                </a:solidFill>
                <a:latin typeface="Spline Sans Light" pitchFamily="34" charset="0"/>
                <a:ea typeface="Spline Sans Light" pitchFamily="34" charset="-122"/>
                <a:cs typeface="Spline Sans Light" pitchFamily="34" charset="-120"/>
              </a:rPr>
              <a:t>01</a:t>
            </a:r>
            <a:endParaRPr lang="en-US" sz="1200" dirty="0"/>
          </a:p>
        </p:txBody>
      </p:sp>
      <p:sp>
        <p:nvSpPr>
          <p:cNvPr id="12" name="Shape 9"/>
          <p:cNvSpPr/>
          <p:nvPr/>
        </p:nvSpPr>
        <p:spPr>
          <a:xfrm>
            <a:off x="7514153" y="2279690"/>
            <a:ext cx="6496288" cy="22860"/>
          </a:xfrm>
          <a:prstGeom prst="rect">
            <a:avLst/>
          </a:prstGeom>
          <a:solidFill>
            <a:srgbClr val="16FFBB"/>
          </a:solidFill>
          <a:ln/>
        </p:spPr>
      </p:sp>
      <p:sp>
        <p:nvSpPr>
          <p:cNvPr id="13" name="Text 10"/>
          <p:cNvSpPr/>
          <p:nvPr/>
        </p:nvSpPr>
        <p:spPr>
          <a:xfrm>
            <a:off x="7514153" y="2403753"/>
            <a:ext cx="1976795" cy="217884"/>
          </a:xfrm>
          <a:prstGeom prst="rect">
            <a:avLst/>
          </a:prstGeom>
          <a:noFill/>
          <a:ln/>
        </p:spPr>
        <p:txBody>
          <a:bodyPr wrap="none" lIns="0" tIns="0" rIns="0" bIns="0" rtlCol="0" anchor="t"/>
          <a:lstStyle/>
          <a:p>
            <a:pPr algn="l" indent="0" marL="0">
              <a:lnSpc>
                <a:spcPts val="1700"/>
              </a:lnSpc>
              <a:buNone/>
            </a:pPr>
            <a:r>
              <a:rPr lang="en-US" sz="1350" b="1" dirty="0">
                <a:solidFill>
                  <a:srgbClr val="E0E4E6"/>
                </a:solidFill>
                <a:latin typeface="Spline Sans Bold" pitchFamily="34" charset="0"/>
                <a:ea typeface="Spline Sans Bold" pitchFamily="34" charset="-122"/>
                <a:cs typeface="Spline Sans Bold" pitchFamily="34" charset="-120"/>
              </a:rPr>
              <a:t>Évaluation de la variable</a:t>
            </a:r>
            <a:endParaRPr lang="en-US" sz="1350" dirty="0"/>
          </a:p>
        </p:txBody>
      </p:sp>
      <p:sp>
        <p:nvSpPr>
          <p:cNvPr id="14" name="Text 11"/>
          <p:cNvSpPr/>
          <p:nvPr/>
        </p:nvSpPr>
        <p:spPr>
          <a:xfrm>
            <a:off x="7514153" y="2778443"/>
            <a:ext cx="6496288" cy="250984"/>
          </a:xfrm>
          <a:prstGeom prst="rect">
            <a:avLst/>
          </a:prstGeom>
          <a:noFill/>
          <a:ln/>
        </p:spPr>
        <p:txBody>
          <a:bodyPr wrap="none" lIns="0" tIns="0" rIns="0" bIns="0" rtlCol="0" anchor="t"/>
          <a:lstStyle/>
          <a:p>
            <a:pPr algn="l" indent="0" marL="0">
              <a:lnSpc>
                <a:spcPts val="1950"/>
              </a:lnSpc>
              <a:buNone/>
            </a:pPr>
            <a:r>
              <a:rPr lang="en-US" sz="1200" dirty="0">
                <a:solidFill>
                  <a:srgbClr val="E0E4E6"/>
                </a:solidFill>
                <a:latin typeface="Barlow" pitchFamily="34" charset="0"/>
                <a:ea typeface="Barlow" pitchFamily="34" charset="-122"/>
                <a:cs typeface="Barlow" pitchFamily="34" charset="-120"/>
              </a:rPr>
              <a:t>La valeur de la variable est déterminée</a:t>
            </a:r>
            <a:endParaRPr lang="en-US" sz="1200" dirty="0"/>
          </a:p>
        </p:txBody>
      </p:sp>
      <p:sp>
        <p:nvSpPr>
          <p:cNvPr id="15" name="Text 12"/>
          <p:cNvSpPr/>
          <p:nvPr/>
        </p:nvSpPr>
        <p:spPr>
          <a:xfrm>
            <a:off x="7514153" y="3303865"/>
            <a:ext cx="156805" cy="196096"/>
          </a:xfrm>
          <a:prstGeom prst="rect">
            <a:avLst/>
          </a:prstGeom>
          <a:noFill/>
          <a:ln/>
        </p:spPr>
        <p:txBody>
          <a:bodyPr wrap="none" lIns="0" tIns="0" rIns="0" bIns="0" rtlCol="0" anchor="t"/>
          <a:lstStyle/>
          <a:p>
            <a:pPr algn="l" indent="0" marL="0">
              <a:lnSpc>
                <a:spcPts val="1950"/>
              </a:lnSpc>
              <a:buNone/>
            </a:pPr>
            <a:r>
              <a:rPr lang="en-US" sz="1200" dirty="0">
                <a:solidFill>
                  <a:srgbClr val="E0E4E6"/>
                </a:solidFill>
                <a:latin typeface="Spline Sans Light" pitchFamily="34" charset="0"/>
                <a:ea typeface="Spline Sans Light" pitchFamily="34" charset="-122"/>
                <a:cs typeface="Spline Sans Light" pitchFamily="34" charset="-120"/>
              </a:rPr>
              <a:t>02</a:t>
            </a:r>
            <a:endParaRPr lang="en-US" sz="1200" dirty="0"/>
          </a:p>
        </p:txBody>
      </p:sp>
      <p:sp>
        <p:nvSpPr>
          <p:cNvPr id="16" name="Shape 13"/>
          <p:cNvSpPr/>
          <p:nvPr/>
        </p:nvSpPr>
        <p:spPr>
          <a:xfrm>
            <a:off x="7514153" y="3547586"/>
            <a:ext cx="6496288" cy="22860"/>
          </a:xfrm>
          <a:prstGeom prst="rect">
            <a:avLst/>
          </a:prstGeom>
          <a:solidFill>
            <a:srgbClr val="29DDDA"/>
          </a:solidFill>
          <a:ln/>
        </p:spPr>
      </p:sp>
      <p:sp>
        <p:nvSpPr>
          <p:cNvPr id="17" name="Text 14"/>
          <p:cNvSpPr/>
          <p:nvPr/>
        </p:nvSpPr>
        <p:spPr>
          <a:xfrm>
            <a:off x="7514153" y="3671649"/>
            <a:ext cx="1749981" cy="217884"/>
          </a:xfrm>
          <a:prstGeom prst="rect">
            <a:avLst/>
          </a:prstGeom>
          <a:noFill/>
          <a:ln/>
        </p:spPr>
        <p:txBody>
          <a:bodyPr wrap="none" lIns="0" tIns="0" rIns="0" bIns="0" rtlCol="0" anchor="t"/>
          <a:lstStyle/>
          <a:p>
            <a:pPr algn="l" indent="0" marL="0">
              <a:lnSpc>
                <a:spcPts val="1700"/>
              </a:lnSpc>
              <a:buNone/>
            </a:pPr>
            <a:r>
              <a:rPr lang="en-US" sz="1350" b="1" dirty="0">
                <a:solidFill>
                  <a:srgbClr val="E0E4E6"/>
                </a:solidFill>
                <a:latin typeface="Spline Sans Bold" pitchFamily="34" charset="0"/>
                <a:ea typeface="Spline Sans Bold" pitchFamily="34" charset="-122"/>
                <a:cs typeface="Spline Sans Bold" pitchFamily="34" charset="-120"/>
              </a:rPr>
              <a:t>Comparaison aux cas</a:t>
            </a:r>
            <a:endParaRPr lang="en-US" sz="1350" dirty="0"/>
          </a:p>
        </p:txBody>
      </p:sp>
      <p:sp>
        <p:nvSpPr>
          <p:cNvPr id="18" name="Text 15"/>
          <p:cNvSpPr/>
          <p:nvPr/>
        </p:nvSpPr>
        <p:spPr>
          <a:xfrm>
            <a:off x="7514153" y="4046339"/>
            <a:ext cx="6496288" cy="250984"/>
          </a:xfrm>
          <a:prstGeom prst="rect">
            <a:avLst/>
          </a:prstGeom>
          <a:noFill/>
          <a:ln/>
        </p:spPr>
        <p:txBody>
          <a:bodyPr wrap="none" lIns="0" tIns="0" rIns="0" bIns="0" rtlCol="0" anchor="t"/>
          <a:lstStyle/>
          <a:p>
            <a:pPr algn="l" indent="0" marL="0">
              <a:lnSpc>
                <a:spcPts val="1950"/>
              </a:lnSpc>
              <a:buNone/>
            </a:pPr>
            <a:r>
              <a:rPr lang="en-US" sz="1200" dirty="0">
                <a:solidFill>
                  <a:srgbClr val="E0E4E6"/>
                </a:solidFill>
                <a:latin typeface="Barlow" pitchFamily="34" charset="0"/>
                <a:ea typeface="Barlow" pitchFamily="34" charset="-122"/>
                <a:cs typeface="Barlow" pitchFamily="34" charset="-120"/>
              </a:rPr>
              <a:t>Recherche d'une correspondance avec les valeurs case</a:t>
            </a:r>
            <a:endParaRPr lang="en-US" sz="1200" dirty="0"/>
          </a:p>
        </p:txBody>
      </p:sp>
      <p:sp>
        <p:nvSpPr>
          <p:cNvPr id="19" name="Text 16"/>
          <p:cNvSpPr/>
          <p:nvPr/>
        </p:nvSpPr>
        <p:spPr>
          <a:xfrm>
            <a:off x="7514153" y="4571762"/>
            <a:ext cx="156805" cy="196096"/>
          </a:xfrm>
          <a:prstGeom prst="rect">
            <a:avLst/>
          </a:prstGeom>
          <a:noFill/>
          <a:ln/>
        </p:spPr>
        <p:txBody>
          <a:bodyPr wrap="none" lIns="0" tIns="0" rIns="0" bIns="0" rtlCol="0" anchor="t"/>
          <a:lstStyle/>
          <a:p>
            <a:pPr algn="l" indent="0" marL="0">
              <a:lnSpc>
                <a:spcPts val="1950"/>
              </a:lnSpc>
              <a:buNone/>
            </a:pPr>
            <a:r>
              <a:rPr lang="en-US" sz="1200" dirty="0">
                <a:solidFill>
                  <a:srgbClr val="E0E4E6"/>
                </a:solidFill>
                <a:latin typeface="Spline Sans Light" pitchFamily="34" charset="0"/>
                <a:ea typeface="Spline Sans Light" pitchFamily="34" charset="-122"/>
                <a:cs typeface="Spline Sans Light" pitchFamily="34" charset="-120"/>
              </a:rPr>
              <a:t>03</a:t>
            </a:r>
            <a:endParaRPr lang="en-US" sz="1200" dirty="0"/>
          </a:p>
        </p:txBody>
      </p:sp>
      <p:sp>
        <p:nvSpPr>
          <p:cNvPr id="20" name="Shape 17"/>
          <p:cNvSpPr/>
          <p:nvPr/>
        </p:nvSpPr>
        <p:spPr>
          <a:xfrm>
            <a:off x="7514153" y="4815483"/>
            <a:ext cx="6496288" cy="22860"/>
          </a:xfrm>
          <a:prstGeom prst="rect">
            <a:avLst/>
          </a:prstGeom>
          <a:solidFill>
            <a:srgbClr val="37A7E7"/>
          </a:solidFill>
          <a:ln/>
        </p:spPr>
      </p:sp>
      <p:sp>
        <p:nvSpPr>
          <p:cNvPr id="21" name="Text 18"/>
          <p:cNvSpPr/>
          <p:nvPr/>
        </p:nvSpPr>
        <p:spPr>
          <a:xfrm>
            <a:off x="7514153" y="4939546"/>
            <a:ext cx="1743551" cy="217884"/>
          </a:xfrm>
          <a:prstGeom prst="rect">
            <a:avLst/>
          </a:prstGeom>
          <a:noFill/>
          <a:ln/>
        </p:spPr>
        <p:txBody>
          <a:bodyPr wrap="none" lIns="0" tIns="0" rIns="0" bIns="0" rtlCol="0" anchor="t"/>
          <a:lstStyle/>
          <a:p>
            <a:pPr algn="l" indent="0" marL="0">
              <a:lnSpc>
                <a:spcPts val="1700"/>
              </a:lnSpc>
              <a:buNone/>
            </a:pPr>
            <a:r>
              <a:rPr lang="en-US" sz="1350" b="1" dirty="0">
                <a:solidFill>
                  <a:srgbClr val="E0E4E6"/>
                </a:solidFill>
                <a:latin typeface="Spline Sans Bold" pitchFamily="34" charset="0"/>
                <a:ea typeface="Spline Sans Bold" pitchFamily="34" charset="-122"/>
                <a:cs typeface="Spline Sans Bold" pitchFamily="34" charset="-120"/>
              </a:rPr>
              <a:t>Exécution du bloc</a:t>
            </a:r>
            <a:endParaRPr lang="en-US" sz="1350" dirty="0"/>
          </a:p>
        </p:txBody>
      </p:sp>
      <p:sp>
        <p:nvSpPr>
          <p:cNvPr id="22" name="Text 19"/>
          <p:cNvSpPr/>
          <p:nvPr/>
        </p:nvSpPr>
        <p:spPr>
          <a:xfrm>
            <a:off x="7514153" y="5314236"/>
            <a:ext cx="6496288" cy="250984"/>
          </a:xfrm>
          <a:prstGeom prst="rect">
            <a:avLst/>
          </a:prstGeom>
          <a:noFill/>
          <a:ln/>
        </p:spPr>
        <p:txBody>
          <a:bodyPr wrap="none" lIns="0" tIns="0" rIns="0" bIns="0" rtlCol="0" anchor="t"/>
          <a:lstStyle/>
          <a:p>
            <a:pPr algn="l" indent="0" marL="0">
              <a:lnSpc>
                <a:spcPts val="1950"/>
              </a:lnSpc>
              <a:buNone/>
            </a:pPr>
            <a:r>
              <a:rPr lang="en-US" sz="1200" dirty="0">
                <a:solidFill>
                  <a:srgbClr val="E0E4E6"/>
                </a:solidFill>
                <a:latin typeface="Barlow" pitchFamily="34" charset="0"/>
                <a:ea typeface="Barlow" pitchFamily="34" charset="-122"/>
                <a:cs typeface="Barlow" pitchFamily="34" charset="-120"/>
              </a:rPr>
              <a:t>Le code du cas correspondant s'exécute</a:t>
            </a:r>
            <a:endParaRPr lang="en-US" sz="1200" dirty="0"/>
          </a:p>
        </p:txBody>
      </p:sp>
      <p:sp>
        <p:nvSpPr>
          <p:cNvPr id="23" name="Text 20"/>
          <p:cNvSpPr/>
          <p:nvPr/>
        </p:nvSpPr>
        <p:spPr>
          <a:xfrm>
            <a:off x="7514153" y="5839658"/>
            <a:ext cx="156805" cy="196096"/>
          </a:xfrm>
          <a:prstGeom prst="rect">
            <a:avLst/>
          </a:prstGeom>
          <a:noFill/>
          <a:ln/>
        </p:spPr>
        <p:txBody>
          <a:bodyPr wrap="none" lIns="0" tIns="0" rIns="0" bIns="0" rtlCol="0" anchor="t"/>
          <a:lstStyle/>
          <a:p>
            <a:pPr algn="l" indent="0" marL="0">
              <a:lnSpc>
                <a:spcPts val="1950"/>
              </a:lnSpc>
              <a:buNone/>
            </a:pPr>
            <a:r>
              <a:rPr lang="en-US" sz="1200" dirty="0">
                <a:solidFill>
                  <a:srgbClr val="E0E4E6"/>
                </a:solidFill>
                <a:latin typeface="Spline Sans Light" pitchFamily="34" charset="0"/>
                <a:ea typeface="Spline Sans Light" pitchFamily="34" charset="-122"/>
                <a:cs typeface="Spline Sans Light" pitchFamily="34" charset="-120"/>
              </a:rPr>
              <a:t>04</a:t>
            </a:r>
            <a:endParaRPr lang="en-US" sz="1200" dirty="0"/>
          </a:p>
        </p:txBody>
      </p:sp>
      <p:sp>
        <p:nvSpPr>
          <p:cNvPr id="24" name="Shape 21"/>
          <p:cNvSpPr/>
          <p:nvPr/>
        </p:nvSpPr>
        <p:spPr>
          <a:xfrm>
            <a:off x="7514153" y="6083379"/>
            <a:ext cx="6496288" cy="22860"/>
          </a:xfrm>
          <a:prstGeom prst="rect">
            <a:avLst/>
          </a:prstGeom>
          <a:solidFill>
            <a:srgbClr val="091231"/>
          </a:solidFill>
          <a:ln/>
        </p:spPr>
      </p:sp>
      <p:sp>
        <p:nvSpPr>
          <p:cNvPr id="25" name="Text 22"/>
          <p:cNvSpPr/>
          <p:nvPr/>
        </p:nvSpPr>
        <p:spPr>
          <a:xfrm>
            <a:off x="7514153" y="6207443"/>
            <a:ext cx="1743551" cy="217884"/>
          </a:xfrm>
          <a:prstGeom prst="rect">
            <a:avLst/>
          </a:prstGeom>
          <a:noFill/>
          <a:ln/>
        </p:spPr>
        <p:txBody>
          <a:bodyPr wrap="none" lIns="0" tIns="0" rIns="0" bIns="0" rtlCol="0" anchor="t"/>
          <a:lstStyle/>
          <a:p>
            <a:pPr algn="l" indent="0" marL="0">
              <a:lnSpc>
                <a:spcPts val="1700"/>
              </a:lnSpc>
              <a:buNone/>
            </a:pPr>
            <a:r>
              <a:rPr lang="en-US" sz="1350" b="1" dirty="0">
                <a:solidFill>
                  <a:srgbClr val="E0E4E6"/>
                </a:solidFill>
                <a:latin typeface="Spline Sans Bold" pitchFamily="34" charset="0"/>
                <a:ea typeface="Spline Sans Bold" pitchFamily="34" charset="-122"/>
                <a:cs typeface="Spline Sans Bold" pitchFamily="34" charset="-120"/>
              </a:rPr>
              <a:t>Sortie avec break</a:t>
            </a:r>
            <a:endParaRPr lang="en-US" sz="1350" dirty="0"/>
          </a:p>
        </p:txBody>
      </p:sp>
      <p:sp>
        <p:nvSpPr>
          <p:cNvPr id="26" name="Text 23"/>
          <p:cNvSpPr/>
          <p:nvPr/>
        </p:nvSpPr>
        <p:spPr>
          <a:xfrm>
            <a:off x="7514153" y="6582132"/>
            <a:ext cx="6496288" cy="250984"/>
          </a:xfrm>
          <a:prstGeom prst="rect">
            <a:avLst/>
          </a:prstGeom>
          <a:noFill/>
          <a:ln/>
        </p:spPr>
        <p:txBody>
          <a:bodyPr wrap="none" lIns="0" tIns="0" rIns="0" bIns="0" rtlCol="0" anchor="t"/>
          <a:lstStyle/>
          <a:p>
            <a:pPr algn="l" indent="0" marL="0">
              <a:lnSpc>
                <a:spcPts val="1950"/>
              </a:lnSpc>
              <a:buNone/>
            </a:pPr>
            <a:r>
              <a:rPr lang="en-US" sz="1200" dirty="0">
                <a:solidFill>
                  <a:srgbClr val="E0E4E6"/>
                </a:solidFill>
                <a:latin typeface="Barlow" pitchFamily="34" charset="0"/>
                <a:ea typeface="Barlow" pitchFamily="34" charset="-122"/>
                <a:cs typeface="Barlow" pitchFamily="34" charset="-120"/>
              </a:rPr>
              <a:t>Le switch se termine proprement</a:t>
            </a:r>
            <a:endParaRPr lang="en-US" sz="1200" dirty="0"/>
          </a:p>
        </p:txBody>
      </p:sp>
      <p:sp>
        <p:nvSpPr>
          <p:cNvPr id="27" name="Text 24"/>
          <p:cNvSpPr/>
          <p:nvPr/>
        </p:nvSpPr>
        <p:spPr>
          <a:xfrm>
            <a:off x="627578" y="7303651"/>
            <a:ext cx="13375243" cy="501968"/>
          </a:xfrm>
          <a:prstGeom prst="rect">
            <a:avLst/>
          </a:prstGeom>
          <a:noFill/>
          <a:ln/>
        </p:spPr>
        <p:txBody>
          <a:bodyPr wrap="square" lIns="0" tIns="0" rIns="0" bIns="0" rtlCol="0" anchor="t"/>
          <a:lstStyle/>
          <a:p>
            <a:pPr algn="l" indent="0" marL="0">
              <a:lnSpc>
                <a:spcPts val="1950"/>
              </a:lnSpc>
              <a:buNone/>
            </a:pPr>
            <a:r>
              <a:rPr lang="en-US" sz="1200" dirty="0">
                <a:solidFill>
                  <a:srgbClr val="E0E4E6"/>
                </a:solidFill>
                <a:latin typeface="Barlow" pitchFamily="34" charset="0"/>
                <a:ea typeface="Barlow" pitchFamily="34" charset="-122"/>
                <a:cs typeface="Barlow" pitchFamily="34" charset="-120"/>
              </a:rPr>
              <a:t>Le switch est particulièrement </a:t>
            </a:r>
            <a:pPr algn="l" indent="0" marL="0">
              <a:lnSpc>
                <a:spcPts val="1950"/>
              </a:lnSpc>
              <a:buNone/>
            </a:pPr>
            <a:r>
              <a:rPr lang="en-US" sz="1200" dirty="0">
                <a:solidFill>
                  <a:srgbClr val="16FFBB"/>
                </a:solidFill>
                <a:latin typeface="Barlow" pitchFamily="34" charset="0"/>
                <a:ea typeface="Barlow" pitchFamily="34" charset="-122"/>
                <a:cs typeface="Barlow" pitchFamily="34" charset="-120"/>
              </a:rPr>
              <a:t>utile pour les menus</a:t>
            </a:r>
            <a:pPr algn="l" indent="0" marL="0">
              <a:lnSpc>
                <a:spcPts val="1950"/>
              </a:lnSpc>
              <a:buNone/>
            </a:pPr>
            <a:r>
              <a:rPr lang="en-US" sz="1200" dirty="0">
                <a:solidFill>
                  <a:srgbClr val="E0E4E6"/>
                </a:solidFill>
                <a:latin typeface="Barlow" pitchFamily="34" charset="0"/>
                <a:ea typeface="Barlow" pitchFamily="34" charset="-122"/>
                <a:cs typeface="Barlow" pitchFamily="34" charset="-120"/>
              </a:rPr>
              <a:t>, les machines à états, ou toute situation où une variable peut prendre un nombre limité de valeurs discrètes. Le cas </a:t>
            </a:r>
            <a:pPr algn="l" indent="0" marL="0">
              <a:lnSpc>
                <a:spcPts val="1950"/>
              </a:lnSpc>
              <a:buNone/>
            </a:pPr>
            <a:r>
              <a:rPr lang="en-US" sz="1200" dirty="0">
                <a:solidFill>
                  <a:srgbClr val="E0E4E6"/>
                </a:solidFill>
                <a:highlight>
                  <a:srgbClr val="171528"/>
                </a:highlight>
                <a:latin typeface="Consolas" pitchFamily="34" charset="0"/>
                <a:ea typeface="Consolas" pitchFamily="34" charset="-122"/>
                <a:cs typeface="Consolas" pitchFamily="34" charset="-120"/>
              </a:rPr>
              <a:t>default</a:t>
            </a:r>
            <a:pPr algn="l" indent="0" marL="0">
              <a:lnSpc>
                <a:spcPts val="1950"/>
              </a:lnSpc>
              <a:buNone/>
            </a:pPr>
            <a:r>
              <a:rPr lang="en-US" sz="1200" dirty="0">
                <a:solidFill>
                  <a:srgbClr val="E0E4E6"/>
                </a:solidFill>
                <a:latin typeface="Barlow" pitchFamily="34" charset="0"/>
                <a:ea typeface="Barlow" pitchFamily="34" charset="-122"/>
                <a:cs typeface="Barlow" pitchFamily="34" charset="-120"/>
              </a:rPr>
              <a:t> gère les valeurs non prévues.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86383" y="516374"/>
            <a:ext cx="5613082" cy="407194"/>
          </a:xfrm>
          <a:prstGeom prst="rect">
            <a:avLst/>
          </a:prstGeom>
          <a:noFill/>
          <a:ln/>
        </p:spPr>
        <p:txBody>
          <a:bodyPr wrap="none" lIns="0" tIns="0" rIns="0" bIns="0" rtlCol="0" anchor="t"/>
          <a:lstStyle/>
          <a:p>
            <a:pPr algn="l" indent="0" marL="0">
              <a:lnSpc>
                <a:spcPts val="3200"/>
              </a:lnSpc>
              <a:buNone/>
            </a:pPr>
            <a:r>
              <a:rPr lang="en-US" sz="2550" b="1" dirty="0">
                <a:solidFill>
                  <a:srgbClr val="F0FCFF"/>
                </a:solidFill>
                <a:latin typeface="Spline Sans Bold" pitchFamily="34" charset="0"/>
                <a:ea typeface="Spline Sans Bold" pitchFamily="34" charset="-122"/>
                <a:cs typeface="Spline Sans Bold" pitchFamily="34" charset="-120"/>
              </a:rPr>
              <a:t>Boucle for : répétition avec compteur</a:t>
            </a:r>
            <a:endParaRPr lang="en-US" sz="2550" dirty="0"/>
          </a:p>
        </p:txBody>
      </p:sp>
      <p:sp>
        <p:nvSpPr>
          <p:cNvPr id="3" name="Text 1"/>
          <p:cNvSpPr/>
          <p:nvPr/>
        </p:nvSpPr>
        <p:spPr>
          <a:xfrm>
            <a:off x="586383" y="1216700"/>
            <a:ext cx="13457634" cy="468868"/>
          </a:xfrm>
          <a:prstGeom prst="rect">
            <a:avLst/>
          </a:prstGeom>
          <a:noFill/>
          <a:ln/>
        </p:spPr>
        <p:txBody>
          <a:bodyPr wrap="square" lIns="0" tIns="0" rIns="0" bIns="0" rtlCol="0" anchor="t"/>
          <a:lstStyle/>
          <a:p>
            <a:pPr algn="l" indent="0" marL="0">
              <a:lnSpc>
                <a:spcPts val="1800"/>
              </a:lnSpc>
              <a:buNone/>
            </a:pPr>
            <a:r>
              <a:rPr lang="en-US" sz="1150" dirty="0">
                <a:solidFill>
                  <a:srgbClr val="E0E4E6"/>
                </a:solidFill>
                <a:latin typeface="Barlow" pitchFamily="34" charset="0"/>
                <a:ea typeface="Barlow" pitchFamily="34" charset="-122"/>
                <a:cs typeface="Barlow" pitchFamily="34" charset="-120"/>
              </a:rPr>
              <a:t>La boucle </a:t>
            </a:r>
            <a:pPr algn="l" indent="0" marL="0">
              <a:lnSpc>
                <a:spcPts val="1800"/>
              </a:lnSpc>
              <a:buNone/>
            </a:pPr>
            <a:r>
              <a:rPr lang="en-US" sz="1150" dirty="0">
                <a:solidFill>
                  <a:srgbClr val="E0E4E6"/>
                </a:solidFill>
                <a:highlight>
                  <a:srgbClr val="171528"/>
                </a:highlight>
                <a:latin typeface="Consolas" pitchFamily="34" charset="0"/>
                <a:ea typeface="Consolas" pitchFamily="34" charset="-122"/>
                <a:cs typeface="Consolas" pitchFamily="34" charset="-120"/>
              </a:rPr>
              <a:t>for</a:t>
            </a:r>
            <a:pPr algn="l" indent="0" marL="0">
              <a:lnSpc>
                <a:spcPts val="1800"/>
              </a:lnSpc>
              <a:buNone/>
            </a:pPr>
            <a:r>
              <a:rPr lang="en-US" sz="1150" dirty="0">
                <a:solidFill>
                  <a:srgbClr val="E0E4E6"/>
                </a:solidFill>
                <a:latin typeface="Barlow" pitchFamily="34" charset="0"/>
                <a:ea typeface="Barlow" pitchFamily="34" charset="-122"/>
                <a:cs typeface="Barlow" pitchFamily="34" charset="-120"/>
              </a:rPr>
              <a:t> est la </a:t>
            </a:r>
            <a:pPr algn="l" indent="0" marL="0">
              <a:lnSpc>
                <a:spcPts val="1800"/>
              </a:lnSpc>
              <a:buNone/>
            </a:pPr>
            <a:r>
              <a:rPr lang="en-US" sz="1150" b="1" dirty="0">
                <a:solidFill>
                  <a:srgbClr val="E0E4E6"/>
                </a:solidFill>
                <a:latin typeface="Barlow" pitchFamily="34" charset="0"/>
                <a:ea typeface="Barlow" pitchFamily="34" charset="-122"/>
                <a:cs typeface="Barlow" pitchFamily="34" charset="-120"/>
              </a:rPr>
              <a:t>structure itérative la plus utilisée</a:t>
            </a:r>
            <a:pPr algn="l" indent="0" marL="0">
              <a:lnSpc>
                <a:spcPts val="1800"/>
              </a:lnSpc>
              <a:buNone/>
            </a:pPr>
            <a:r>
              <a:rPr lang="en-US" sz="1150" dirty="0">
                <a:solidFill>
                  <a:srgbClr val="E0E4E6"/>
                </a:solidFill>
                <a:latin typeface="Barlow" pitchFamily="34" charset="0"/>
                <a:ea typeface="Barlow" pitchFamily="34" charset="-122"/>
                <a:cs typeface="Barlow" pitchFamily="34" charset="-120"/>
              </a:rPr>
              <a:t> en C lorsque le nombre d'itérations est connu à l'avance. Elle combine élégamment l'initialisation, la condition d'arrêt et l'incrémentation en une seule ligne, rendant le code compact et lisible.</a:t>
            </a:r>
            <a:endParaRPr lang="en-US" sz="1150" dirty="0"/>
          </a:p>
        </p:txBody>
      </p:sp>
      <p:sp>
        <p:nvSpPr>
          <p:cNvPr id="4" name="Shape 2"/>
          <p:cNvSpPr/>
          <p:nvPr/>
        </p:nvSpPr>
        <p:spPr>
          <a:xfrm>
            <a:off x="586383" y="1850469"/>
            <a:ext cx="6655475" cy="1758077"/>
          </a:xfrm>
          <a:prstGeom prst="roundRect">
            <a:avLst>
              <a:gd name="adj" fmla="val 12508"/>
            </a:avLst>
          </a:prstGeom>
          <a:solidFill>
            <a:srgbClr val="0A081B"/>
          </a:solidFill>
          <a:ln w="15240">
            <a:solidFill>
              <a:srgbClr val="16FFBB"/>
            </a:solidFill>
            <a:prstDash val="solid"/>
          </a:ln>
        </p:spPr>
      </p:sp>
      <p:sp>
        <p:nvSpPr>
          <p:cNvPr id="5" name="Shape 3"/>
          <p:cNvSpPr/>
          <p:nvPr/>
        </p:nvSpPr>
        <p:spPr>
          <a:xfrm>
            <a:off x="748189" y="2012275"/>
            <a:ext cx="439698" cy="439698"/>
          </a:xfrm>
          <a:prstGeom prst="roundRect">
            <a:avLst>
              <a:gd name="adj" fmla="val 20794012"/>
            </a:avLst>
          </a:prstGeom>
          <a:solidFill>
            <a:srgbClr val="16FFBB"/>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9037" y="2133124"/>
            <a:ext cx="197882" cy="197882"/>
          </a:xfrm>
          <a:prstGeom prst="rect">
            <a:avLst/>
          </a:prstGeom>
        </p:spPr>
      </p:pic>
      <p:sp>
        <p:nvSpPr>
          <p:cNvPr id="7" name="Text 4"/>
          <p:cNvSpPr/>
          <p:nvPr/>
        </p:nvSpPr>
        <p:spPr>
          <a:xfrm>
            <a:off x="748189" y="2598539"/>
            <a:ext cx="1628894" cy="203597"/>
          </a:xfrm>
          <a:prstGeom prst="rect">
            <a:avLst/>
          </a:prstGeom>
          <a:noFill/>
          <a:ln/>
        </p:spPr>
        <p:txBody>
          <a:bodyPr wrap="none" lIns="0" tIns="0" rIns="0" bIns="0" rtlCol="0" anchor="t"/>
          <a:lstStyle/>
          <a:p>
            <a:pPr algn="l" indent="0" marL="0">
              <a:lnSpc>
                <a:spcPts val="1600"/>
              </a:lnSpc>
              <a:buNone/>
            </a:pPr>
            <a:r>
              <a:rPr lang="en-US" sz="1250" b="1" dirty="0">
                <a:solidFill>
                  <a:srgbClr val="E0E4E6"/>
                </a:solidFill>
                <a:latin typeface="Spline Sans Bold" pitchFamily="34" charset="0"/>
                <a:ea typeface="Spline Sans Bold" pitchFamily="34" charset="-122"/>
                <a:cs typeface="Spline Sans Bold" pitchFamily="34" charset="-120"/>
              </a:rPr>
              <a:t>Initialisation</a:t>
            </a:r>
            <a:endParaRPr lang="en-US" sz="1250" dirty="0"/>
          </a:p>
        </p:txBody>
      </p:sp>
      <p:sp>
        <p:nvSpPr>
          <p:cNvPr id="8" name="Text 5"/>
          <p:cNvSpPr/>
          <p:nvPr/>
        </p:nvSpPr>
        <p:spPr>
          <a:xfrm>
            <a:off x="748189" y="2890004"/>
            <a:ext cx="6331863" cy="234434"/>
          </a:xfrm>
          <a:prstGeom prst="rect">
            <a:avLst/>
          </a:prstGeom>
          <a:noFill/>
          <a:ln/>
        </p:spPr>
        <p:txBody>
          <a:bodyPr wrap="none" lIns="0" tIns="0" rIns="0" bIns="0" rtlCol="0" anchor="t"/>
          <a:lstStyle/>
          <a:p>
            <a:pPr algn="l" indent="0" marL="0">
              <a:lnSpc>
                <a:spcPts val="1800"/>
              </a:lnSpc>
              <a:buNone/>
            </a:pPr>
            <a:r>
              <a:rPr lang="en-US" sz="1150" dirty="0">
                <a:solidFill>
                  <a:srgbClr val="E0E4E6"/>
                </a:solidFill>
                <a:highlight>
                  <a:srgbClr val="171528"/>
                </a:highlight>
                <a:latin typeface="Consolas" pitchFamily="34" charset="0"/>
                <a:ea typeface="Consolas" pitchFamily="34" charset="-122"/>
                <a:cs typeface="Consolas" pitchFamily="34" charset="-120"/>
              </a:rPr>
              <a:t>int i=0</a:t>
            </a:r>
            <a:endParaRPr lang="en-US" sz="1150" dirty="0"/>
          </a:p>
        </p:txBody>
      </p:sp>
      <p:sp>
        <p:nvSpPr>
          <p:cNvPr id="9" name="Text 6"/>
          <p:cNvSpPr/>
          <p:nvPr/>
        </p:nvSpPr>
        <p:spPr>
          <a:xfrm>
            <a:off x="748189" y="3212306"/>
            <a:ext cx="6331863" cy="234434"/>
          </a:xfrm>
          <a:prstGeom prst="rect">
            <a:avLst/>
          </a:prstGeom>
          <a:noFill/>
          <a:ln/>
        </p:spPr>
        <p:txBody>
          <a:bodyPr wrap="none" lIns="0" tIns="0" rIns="0" bIns="0" rtlCol="0" anchor="t"/>
          <a:lstStyle/>
          <a:p>
            <a:pPr algn="l" indent="0" marL="0">
              <a:lnSpc>
                <a:spcPts val="1800"/>
              </a:lnSpc>
              <a:buNone/>
            </a:pPr>
            <a:r>
              <a:rPr lang="en-US" sz="1150" dirty="0">
                <a:solidFill>
                  <a:srgbClr val="E0E4E6"/>
                </a:solidFill>
                <a:latin typeface="Barlow" pitchFamily="34" charset="0"/>
                <a:ea typeface="Barlow" pitchFamily="34" charset="-122"/>
                <a:cs typeface="Barlow" pitchFamily="34" charset="-120"/>
              </a:rPr>
              <a:t>Définit le point de départ de la boucle</a:t>
            </a:r>
            <a:endParaRPr lang="en-US" sz="1150" dirty="0"/>
          </a:p>
        </p:txBody>
      </p:sp>
      <p:sp>
        <p:nvSpPr>
          <p:cNvPr id="10" name="Shape 7"/>
          <p:cNvSpPr/>
          <p:nvPr/>
        </p:nvSpPr>
        <p:spPr>
          <a:xfrm>
            <a:off x="7388423" y="1850469"/>
            <a:ext cx="6655594" cy="1758077"/>
          </a:xfrm>
          <a:prstGeom prst="roundRect">
            <a:avLst>
              <a:gd name="adj" fmla="val 12508"/>
            </a:avLst>
          </a:prstGeom>
          <a:solidFill>
            <a:srgbClr val="0A081B"/>
          </a:solidFill>
          <a:ln w="15240">
            <a:solidFill>
              <a:srgbClr val="29DDDA"/>
            </a:solidFill>
            <a:prstDash val="solid"/>
          </a:ln>
        </p:spPr>
      </p:sp>
      <p:sp>
        <p:nvSpPr>
          <p:cNvPr id="11" name="Shape 8"/>
          <p:cNvSpPr/>
          <p:nvPr/>
        </p:nvSpPr>
        <p:spPr>
          <a:xfrm>
            <a:off x="7550229" y="2012275"/>
            <a:ext cx="439698" cy="439698"/>
          </a:xfrm>
          <a:prstGeom prst="roundRect">
            <a:avLst>
              <a:gd name="adj" fmla="val 20794012"/>
            </a:avLst>
          </a:prstGeom>
          <a:solidFill>
            <a:srgbClr val="29DDDA"/>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71078" y="2133124"/>
            <a:ext cx="197882" cy="197882"/>
          </a:xfrm>
          <a:prstGeom prst="rect">
            <a:avLst/>
          </a:prstGeom>
        </p:spPr>
      </p:pic>
      <p:sp>
        <p:nvSpPr>
          <p:cNvPr id="13" name="Text 9"/>
          <p:cNvSpPr/>
          <p:nvPr/>
        </p:nvSpPr>
        <p:spPr>
          <a:xfrm>
            <a:off x="7550229" y="2598539"/>
            <a:ext cx="1628894" cy="203597"/>
          </a:xfrm>
          <a:prstGeom prst="rect">
            <a:avLst/>
          </a:prstGeom>
          <a:noFill/>
          <a:ln/>
        </p:spPr>
        <p:txBody>
          <a:bodyPr wrap="none" lIns="0" tIns="0" rIns="0" bIns="0" rtlCol="0" anchor="t"/>
          <a:lstStyle/>
          <a:p>
            <a:pPr algn="l" indent="0" marL="0">
              <a:lnSpc>
                <a:spcPts val="1600"/>
              </a:lnSpc>
              <a:buNone/>
            </a:pPr>
            <a:r>
              <a:rPr lang="en-US" sz="1250" b="1" dirty="0">
                <a:solidFill>
                  <a:srgbClr val="E0E4E6"/>
                </a:solidFill>
                <a:latin typeface="Spline Sans Bold" pitchFamily="34" charset="0"/>
                <a:ea typeface="Spline Sans Bold" pitchFamily="34" charset="-122"/>
                <a:cs typeface="Spline Sans Bold" pitchFamily="34" charset="-120"/>
              </a:rPr>
              <a:t>Condition</a:t>
            </a:r>
            <a:endParaRPr lang="en-US" sz="1250" dirty="0"/>
          </a:p>
        </p:txBody>
      </p:sp>
      <p:sp>
        <p:nvSpPr>
          <p:cNvPr id="14" name="Text 10"/>
          <p:cNvSpPr/>
          <p:nvPr/>
        </p:nvSpPr>
        <p:spPr>
          <a:xfrm>
            <a:off x="7550229" y="2890004"/>
            <a:ext cx="6331982" cy="234434"/>
          </a:xfrm>
          <a:prstGeom prst="rect">
            <a:avLst/>
          </a:prstGeom>
          <a:noFill/>
          <a:ln/>
        </p:spPr>
        <p:txBody>
          <a:bodyPr wrap="none" lIns="0" tIns="0" rIns="0" bIns="0" rtlCol="0" anchor="t"/>
          <a:lstStyle/>
          <a:p>
            <a:pPr algn="l" indent="0" marL="0">
              <a:lnSpc>
                <a:spcPts val="1800"/>
              </a:lnSpc>
              <a:buNone/>
            </a:pPr>
            <a:r>
              <a:rPr lang="en-US" sz="1150" dirty="0">
                <a:solidFill>
                  <a:srgbClr val="E0E4E6"/>
                </a:solidFill>
                <a:highlight>
                  <a:srgbClr val="171528"/>
                </a:highlight>
                <a:latin typeface="Consolas" pitchFamily="34" charset="0"/>
                <a:ea typeface="Consolas" pitchFamily="34" charset="-122"/>
                <a:cs typeface="Consolas" pitchFamily="34" charset="-120"/>
              </a:rPr>
              <a:t>i &lt; 10</a:t>
            </a:r>
            <a:endParaRPr lang="en-US" sz="1150" dirty="0"/>
          </a:p>
        </p:txBody>
      </p:sp>
      <p:sp>
        <p:nvSpPr>
          <p:cNvPr id="15" name="Text 11"/>
          <p:cNvSpPr/>
          <p:nvPr/>
        </p:nvSpPr>
        <p:spPr>
          <a:xfrm>
            <a:off x="7550229" y="3212306"/>
            <a:ext cx="6331982" cy="234434"/>
          </a:xfrm>
          <a:prstGeom prst="rect">
            <a:avLst/>
          </a:prstGeom>
          <a:noFill/>
          <a:ln/>
        </p:spPr>
        <p:txBody>
          <a:bodyPr wrap="none" lIns="0" tIns="0" rIns="0" bIns="0" rtlCol="0" anchor="t"/>
          <a:lstStyle/>
          <a:p>
            <a:pPr algn="l" indent="0" marL="0">
              <a:lnSpc>
                <a:spcPts val="1800"/>
              </a:lnSpc>
              <a:buNone/>
            </a:pPr>
            <a:r>
              <a:rPr lang="en-US" sz="1150" dirty="0">
                <a:solidFill>
                  <a:srgbClr val="E0E4E6"/>
                </a:solidFill>
                <a:latin typeface="Barlow" pitchFamily="34" charset="0"/>
                <a:ea typeface="Barlow" pitchFamily="34" charset="-122"/>
                <a:cs typeface="Barlow" pitchFamily="34" charset="-120"/>
              </a:rPr>
              <a:t>Teste si la boucle doit continuer</a:t>
            </a:r>
            <a:endParaRPr lang="en-US" sz="1150" dirty="0"/>
          </a:p>
        </p:txBody>
      </p:sp>
      <p:sp>
        <p:nvSpPr>
          <p:cNvPr id="16" name="Shape 12"/>
          <p:cNvSpPr/>
          <p:nvPr/>
        </p:nvSpPr>
        <p:spPr>
          <a:xfrm>
            <a:off x="586383" y="3755112"/>
            <a:ext cx="6655475" cy="1758077"/>
          </a:xfrm>
          <a:prstGeom prst="roundRect">
            <a:avLst>
              <a:gd name="adj" fmla="val 12508"/>
            </a:avLst>
          </a:prstGeom>
          <a:solidFill>
            <a:srgbClr val="0A081B"/>
          </a:solidFill>
          <a:ln w="15240">
            <a:solidFill>
              <a:srgbClr val="37A7E7"/>
            </a:solidFill>
            <a:prstDash val="solid"/>
          </a:ln>
        </p:spPr>
      </p:sp>
      <p:sp>
        <p:nvSpPr>
          <p:cNvPr id="17" name="Shape 13"/>
          <p:cNvSpPr/>
          <p:nvPr/>
        </p:nvSpPr>
        <p:spPr>
          <a:xfrm>
            <a:off x="748189" y="3916918"/>
            <a:ext cx="439698" cy="439698"/>
          </a:xfrm>
          <a:prstGeom prst="roundRect">
            <a:avLst>
              <a:gd name="adj" fmla="val 20794012"/>
            </a:avLst>
          </a:prstGeom>
          <a:solidFill>
            <a:srgbClr val="37A7E7"/>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9037" y="4037767"/>
            <a:ext cx="197882" cy="197882"/>
          </a:xfrm>
          <a:prstGeom prst="rect">
            <a:avLst/>
          </a:prstGeom>
        </p:spPr>
      </p:pic>
      <p:sp>
        <p:nvSpPr>
          <p:cNvPr id="19" name="Text 14"/>
          <p:cNvSpPr/>
          <p:nvPr/>
        </p:nvSpPr>
        <p:spPr>
          <a:xfrm>
            <a:off x="748189" y="4503182"/>
            <a:ext cx="1628894" cy="203597"/>
          </a:xfrm>
          <a:prstGeom prst="rect">
            <a:avLst/>
          </a:prstGeom>
          <a:noFill/>
          <a:ln/>
        </p:spPr>
        <p:txBody>
          <a:bodyPr wrap="none" lIns="0" tIns="0" rIns="0" bIns="0" rtlCol="0" anchor="t"/>
          <a:lstStyle/>
          <a:p>
            <a:pPr algn="l" indent="0" marL="0">
              <a:lnSpc>
                <a:spcPts val="1600"/>
              </a:lnSpc>
              <a:buNone/>
            </a:pPr>
            <a:r>
              <a:rPr lang="en-US" sz="1250" b="1" dirty="0">
                <a:solidFill>
                  <a:srgbClr val="E0E4E6"/>
                </a:solidFill>
                <a:latin typeface="Spline Sans Bold" pitchFamily="34" charset="0"/>
                <a:ea typeface="Spline Sans Bold" pitchFamily="34" charset="-122"/>
                <a:cs typeface="Spline Sans Bold" pitchFamily="34" charset="-120"/>
              </a:rPr>
              <a:t>Incrémentation</a:t>
            </a:r>
            <a:endParaRPr lang="en-US" sz="1250" dirty="0"/>
          </a:p>
        </p:txBody>
      </p:sp>
      <p:sp>
        <p:nvSpPr>
          <p:cNvPr id="20" name="Text 15"/>
          <p:cNvSpPr/>
          <p:nvPr/>
        </p:nvSpPr>
        <p:spPr>
          <a:xfrm>
            <a:off x="748189" y="4794647"/>
            <a:ext cx="6331863" cy="234434"/>
          </a:xfrm>
          <a:prstGeom prst="rect">
            <a:avLst/>
          </a:prstGeom>
          <a:noFill/>
          <a:ln/>
        </p:spPr>
        <p:txBody>
          <a:bodyPr wrap="none" lIns="0" tIns="0" rIns="0" bIns="0" rtlCol="0" anchor="t"/>
          <a:lstStyle/>
          <a:p>
            <a:pPr algn="l" indent="0" marL="0">
              <a:lnSpc>
                <a:spcPts val="1800"/>
              </a:lnSpc>
              <a:buNone/>
            </a:pPr>
            <a:r>
              <a:rPr lang="en-US" sz="1150" dirty="0">
                <a:solidFill>
                  <a:srgbClr val="E0E4E6"/>
                </a:solidFill>
                <a:highlight>
                  <a:srgbClr val="171528"/>
                </a:highlight>
                <a:latin typeface="Consolas" pitchFamily="34" charset="0"/>
                <a:ea typeface="Consolas" pitchFamily="34" charset="-122"/>
                <a:cs typeface="Consolas" pitchFamily="34" charset="-120"/>
              </a:rPr>
              <a:t>i++</a:t>
            </a:r>
            <a:endParaRPr lang="en-US" sz="1150" dirty="0"/>
          </a:p>
        </p:txBody>
      </p:sp>
      <p:sp>
        <p:nvSpPr>
          <p:cNvPr id="21" name="Text 16"/>
          <p:cNvSpPr/>
          <p:nvPr/>
        </p:nvSpPr>
        <p:spPr>
          <a:xfrm>
            <a:off x="748189" y="5116949"/>
            <a:ext cx="6331863" cy="234434"/>
          </a:xfrm>
          <a:prstGeom prst="rect">
            <a:avLst/>
          </a:prstGeom>
          <a:noFill/>
          <a:ln/>
        </p:spPr>
        <p:txBody>
          <a:bodyPr wrap="none" lIns="0" tIns="0" rIns="0" bIns="0" rtlCol="0" anchor="t"/>
          <a:lstStyle/>
          <a:p>
            <a:pPr algn="l" indent="0" marL="0">
              <a:lnSpc>
                <a:spcPts val="1800"/>
              </a:lnSpc>
              <a:buNone/>
            </a:pPr>
            <a:r>
              <a:rPr lang="en-US" sz="1150" dirty="0">
                <a:solidFill>
                  <a:srgbClr val="E0E4E6"/>
                </a:solidFill>
                <a:latin typeface="Barlow" pitchFamily="34" charset="0"/>
                <a:ea typeface="Barlow" pitchFamily="34" charset="-122"/>
                <a:cs typeface="Barlow" pitchFamily="34" charset="-120"/>
              </a:rPr>
              <a:t>Modifie la variable à chaque passage</a:t>
            </a:r>
            <a:endParaRPr lang="en-US" sz="1150" dirty="0"/>
          </a:p>
        </p:txBody>
      </p:sp>
      <p:sp>
        <p:nvSpPr>
          <p:cNvPr id="22" name="Shape 17"/>
          <p:cNvSpPr/>
          <p:nvPr/>
        </p:nvSpPr>
        <p:spPr>
          <a:xfrm>
            <a:off x="7388423" y="3755112"/>
            <a:ext cx="6655594" cy="1758077"/>
          </a:xfrm>
          <a:prstGeom prst="roundRect">
            <a:avLst>
              <a:gd name="adj" fmla="val 12508"/>
            </a:avLst>
          </a:prstGeom>
          <a:solidFill>
            <a:srgbClr val="0A081B"/>
          </a:solidFill>
          <a:ln w="15240">
            <a:solidFill>
              <a:srgbClr val="091231"/>
            </a:solidFill>
            <a:prstDash val="solid"/>
          </a:ln>
        </p:spPr>
      </p:sp>
      <p:sp>
        <p:nvSpPr>
          <p:cNvPr id="23" name="Shape 18"/>
          <p:cNvSpPr/>
          <p:nvPr/>
        </p:nvSpPr>
        <p:spPr>
          <a:xfrm>
            <a:off x="7550229" y="3916918"/>
            <a:ext cx="439698" cy="439698"/>
          </a:xfrm>
          <a:prstGeom prst="roundRect">
            <a:avLst>
              <a:gd name="adj" fmla="val 20794012"/>
            </a:avLst>
          </a:prstGeom>
          <a:solidFill>
            <a:srgbClr val="091231"/>
          </a:solidFill>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71078" y="4037767"/>
            <a:ext cx="197882" cy="197882"/>
          </a:xfrm>
          <a:prstGeom prst="rect">
            <a:avLst/>
          </a:prstGeom>
        </p:spPr>
      </p:pic>
      <p:sp>
        <p:nvSpPr>
          <p:cNvPr id="25" name="Text 19"/>
          <p:cNvSpPr/>
          <p:nvPr/>
        </p:nvSpPr>
        <p:spPr>
          <a:xfrm>
            <a:off x="7550229" y="4503182"/>
            <a:ext cx="1628894" cy="203597"/>
          </a:xfrm>
          <a:prstGeom prst="rect">
            <a:avLst/>
          </a:prstGeom>
          <a:noFill/>
          <a:ln/>
        </p:spPr>
        <p:txBody>
          <a:bodyPr wrap="none" lIns="0" tIns="0" rIns="0" bIns="0" rtlCol="0" anchor="t"/>
          <a:lstStyle/>
          <a:p>
            <a:pPr algn="l" indent="0" marL="0">
              <a:lnSpc>
                <a:spcPts val="1600"/>
              </a:lnSpc>
              <a:buNone/>
            </a:pPr>
            <a:r>
              <a:rPr lang="en-US" sz="1250" b="1" dirty="0">
                <a:solidFill>
                  <a:srgbClr val="E0E4E6"/>
                </a:solidFill>
                <a:latin typeface="Spline Sans Bold" pitchFamily="34" charset="0"/>
                <a:ea typeface="Spline Sans Bold" pitchFamily="34" charset="-122"/>
                <a:cs typeface="Spline Sans Bold" pitchFamily="34" charset="-120"/>
              </a:rPr>
              <a:t>Corps</a:t>
            </a:r>
            <a:endParaRPr lang="en-US" sz="1250" dirty="0"/>
          </a:p>
        </p:txBody>
      </p:sp>
      <p:sp>
        <p:nvSpPr>
          <p:cNvPr id="26" name="Text 20"/>
          <p:cNvSpPr/>
          <p:nvPr/>
        </p:nvSpPr>
        <p:spPr>
          <a:xfrm>
            <a:off x="7550229" y="4794647"/>
            <a:ext cx="6331982" cy="234434"/>
          </a:xfrm>
          <a:prstGeom prst="rect">
            <a:avLst/>
          </a:prstGeom>
          <a:noFill/>
          <a:ln/>
        </p:spPr>
        <p:txBody>
          <a:bodyPr wrap="none" lIns="0" tIns="0" rIns="0" bIns="0" rtlCol="0" anchor="t"/>
          <a:lstStyle/>
          <a:p>
            <a:pPr algn="l" indent="0" marL="0">
              <a:lnSpc>
                <a:spcPts val="1800"/>
              </a:lnSpc>
              <a:buNone/>
            </a:pPr>
            <a:r>
              <a:rPr lang="en-US" sz="1150" dirty="0">
                <a:solidFill>
                  <a:srgbClr val="E0E4E6"/>
                </a:solidFill>
                <a:highlight>
                  <a:srgbClr val="171528"/>
                </a:highlight>
                <a:latin typeface="Consolas" pitchFamily="34" charset="0"/>
                <a:ea typeface="Consolas" pitchFamily="34" charset="-122"/>
                <a:cs typeface="Consolas" pitchFamily="34" charset="-120"/>
              </a:rPr>
              <a:t>{ instructions }</a:t>
            </a:r>
            <a:endParaRPr lang="en-US" sz="1150" dirty="0"/>
          </a:p>
        </p:txBody>
      </p:sp>
      <p:sp>
        <p:nvSpPr>
          <p:cNvPr id="27" name="Text 21"/>
          <p:cNvSpPr/>
          <p:nvPr/>
        </p:nvSpPr>
        <p:spPr>
          <a:xfrm>
            <a:off x="7550229" y="5116949"/>
            <a:ext cx="6331982" cy="234434"/>
          </a:xfrm>
          <a:prstGeom prst="rect">
            <a:avLst/>
          </a:prstGeom>
          <a:noFill/>
          <a:ln/>
        </p:spPr>
        <p:txBody>
          <a:bodyPr wrap="none" lIns="0" tIns="0" rIns="0" bIns="0" rtlCol="0" anchor="t"/>
          <a:lstStyle/>
          <a:p>
            <a:pPr algn="l" indent="0" marL="0">
              <a:lnSpc>
                <a:spcPts val="1800"/>
              </a:lnSpc>
              <a:buNone/>
            </a:pPr>
            <a:r>
              <a:rPr lang="en-US" sz="1150" dirty="0">
                <a:solidFill>
                  <a:srgbClr val="E0E4E6"/>
                </a:solidFill>
                <a:latin typeface="Barlow" pitchFamily="34" charset="0"/>
                <a:ea typeface="Barlow" pitchFamily="34" charset="-122"/>
                <a:cs typeface="Barlow" pitchFamily="34" charset="-120"/>
              </a:rPr>
              <a:t>Code exécuté à chaque itération</a:t>
            </a:r>
            <a:endParaRPr lang="en-US" sz="1150" dirty="0"/>
          </a:p>
        </p:txBody>
      </p:sp>
      <p:sp>
        <p:nvSpPr>
          <p:cNvPr id="28" name="Text 22"/>
          <p:cNvSpPr/>
          <p:nvPr/>
        </p:nvSpPr>
        <p:spPr>
          <a:xfrm>
            <a:off x="586383" y="5732978"/>
            <a:ext cx="1628894" cy="203597"/>
          </a:xfrm>
          <a:prstGeom prst="rect">
            <a:avLst/>
          </a:prstGeom>
          <a:noFill/>
          <a:ln/>
        </p:spPr>
        <p:txBody>
          <a:bodyPr wrap="none" lIns="0" tIns="0" rIns="0" bIns="0" rtlCol="0" anchor="t"/>
          <a:lstStyle/>
          <a:p>
            <a:pPr algn="l" indent="0" marL="0">
              <a:lnSpc>
                <a:spcPts val="1600"/>
              </a:lnSpc>
              <a:buNone/>
            </a:pPr>
            <a:r>
              <a:rPr lang="en-US" sz="1250" b="1" dirty="0">
                <a:solidFill>
                  <a:srgbClr val="F0FCFF"/>
                </a:solidFill>
                <a:latin typeface="Spline Sans Bold" pitchFamily="34" charset="0"/>
                <a:ea typeface="Spline Sans Bold" pitchFamily="34" charset="-122"/>
                <a:cs typeface="Spline Sans Bold" pitchFamily="34" charset="-120"/>
              </a:rPr>
              <a:t>Exemple d'utilisation</a:t>
            </a:r>
            <a:endParaRPr lang="en-US" sz="1250" dirty="0"/>
          </a:p>
        </p:txBody>
      </p:sp>
      <p:sp>
        <p:nvSpPr>
          <p:cNvPr id="29" name="Shape 23"/>
          <p:cNvSpPr/>
          <p:nvPr/>
        </p:nvSpPr>
        <p:spPr>
          <a:xfrm>
            <a:off x="586383" y="6156365"/>
            <a:ext cx="13457634" cy="1157526"/>
          </a:xfrm>
          <a:prstGeom prst="roundRect">
            <a:avLst>
              <a:gd name="adj" fmla="val 18998"/>
            </a:avLst>
          </a:prstGeom>
          <a:solidFill>
            <a:srgbClr val="171528"/>
          </a:solidFill>
          <a:ln/>
        </p:spPr>
      </p:sp>
      <p:sp>
        <p:nvSpPr>
          <p:cNvPr id="30" name="Shape 24"/>
          <p:cNvSpPr/>
          <p:nvPr/>
        </p:nvSpPr>
        <p:spPr>
          <a:xfrm>
            <a:off x="579120" y="6156365"/>
            <a:ext cx="13472160" cy="1157526"/>
          </a:xfrm>
          <a:prstGeom prst="roundRect">
            <a:avLst>
              <a:gd name="adj" fmla="val 1900"/>
            </a:avLst>
          </a:prstGeom>
          <a:solidFill>
            <a:srgbClr val="171528"/>
          </a:solidFill>
          <a:ln/>
        </p:spPr>
      </p:sp>
      <p:sp>
        <p:nvSpPr>
          <p:cNvPr id="31" name="Text 25"/>
          <p:cNvSpPr/>
          <p:nvPr/>
        </p:nvSpPr>
        <p:spPr>
          <a:xfrm>
            <a:off x="725686" y="6266259"/>
            <a:ext cx="13179028" cy="937736"/>
          </a:xfrm>
          <a:prstGeom prst="rect">
            <a:avLst/>
          </a:prstGeom>
          <a:noFill/>
          <a:ln/>
        </p:spPr>
        <p:txBody>
          <a:bodyPr wrap="square" lIns="0" tIns="0" rIns="0" bIns="0" rtlCol="0" anchor="t"/>
          <a:lstStyle/>
          <a:p>
            <a:pPr algn="l" indent="0" marL="0">
              <a:lnSpc>
                <a:spcPts val="1800"/>
              </a:lnSpc>
              <a:buNone/>
            </a:pPr>
            <a:r>
              <a:rPr lang="en-US" sz="1150" dirty="0">
                <a:solidFill>
                  <a:srgbClr val="E0E4E6"/>
                </a:solidFill>
                <a:highlight>
                  <a:srgbClr val="171528"/>
                </a:highlight>
                <a:latin typeface="Consolas" pitchFamily="34" charset="0"/>
                <a:ea typeface="Consolas" pitchFamily="34" charset="-122"/>
                <a:cs typeface="Consolas" pitchFamily="34" charset="-120"/>
              </a:rPr>
              <a:t>for (int i=0; i&lt;10; i++) {    printf("%d ", i);}// Affiche : 0 1 2 3 4 5 6 7 8 9</a:t>
            </a:r>
            <a:endParaRPr lang="en-US" sz="1150" dirty="0"/>
          </a:p>
        </p:txBody>
      </p:sp>
      <p:sp>
        <p:nvSpPr>
          <p:cNvPr id="32" name="Text 26"/>
          <p:cNvSpPr/>
          <p:nvPr/>
        </p:nvSpPr>
        <p:spPr>
          <a:xfrm>
            <a:off x="586383" y="7478792"/>
            <a:ext cx="13457634" cy="234434"/>
          </a:xfrm>
          <a:prstGeom prst="rect">
            <a:avLst/>
          </a:prstGeom>
          <a:noFill/>
          <a:ln/>
        </p:spPr>
        <p:txBody>
          <a:bodyPr wrap="none" lIns="0" tIns="0" rIns="0" bIns="0" rtlCol="0" anchor="t"/>
          <a:lstStyle/>
          <a:p>
            <a:pPr algn="l" indent="0" marL="0">
              <a:lnSpc>
                <a:spcPts val="1800"/>
              </a:lnSpc>
              <a:buNone/>
            </a:pPr>
            <a:r>
              <a:rPr lang="en-US" sz="1150" dirty="0">
                <a:solidFill>
                  <a:srgbClr val="E0E4E6"/>
                </a:solidFill>
                <a:latin typeface="Barlow" pitchFamily="34" charset="0"/>
                <a:ea typeface="Barlow" pitchFamily="34" charset="-122"/>
                <a:cs typeface="Barlow" pitchFamily="34" charset="-120"/>
              </a:rPr>
              <a:t>La boucle </a:t>
            </a:r>
            <a:pPr algn="l" indent="0" marL="0">
              <a:lnSpc>
                <a:spcPts val="1800"/>
              </a:lnSpc>
              <a:buNone/>
            </a:pPr>
            <a:r>
              <a:rPr lang="en-US" sz="1150" dirty="0">
                <a:solidFill>
                  <a:srgbClr val="E0E4E6"/>
                </a:solidFill>
                <a:highlight>
                  <a:srgbClr val="171528"/>
                </a:highlight>
                <a:latin typeface="Consolas" pitchFamily="34" charset="0"/>
                <a:ea typeface="Consolas" pitchFamily="34" charset="-122"/>
                <a:cs typeface="Consolas" pitchFamily="34" charset="-120"/>
              </a:rPr>
              <a:t>for</a:t>
            </a:r>
            <a:pPr algn="l" indent="0" marL="0">
              <a:lnSpc>
                <a:spcPts val="1800"/>
              </a:lnSpc>
              <a:buNone/>
            </a:pPr>
            <a:r>
              <a:rPr lang="en-US" sz="1150" dirty="0">
                <a:solidFill>
                  <a:srgbClr val="E0E4E6"/>
                </a:solidFill>
                <a:latin typeface="Barlow" pitchFamily="34" charset="0"/>
                <a:ea typeface="Barlow" pitchFamily="34" charset="-122"/>
                <a:cs typeface="Barlow" pitchFamily="34" charset="-120"/>
              </a:rPr>
              <a:t> est </a:t>
            </a:r>
            <a:pPr algn="l" indent="0" marL="0">
              <a:lnSpc>
                <a:spcPts val="1800"/>
              </a:lnSpc>
              <a:buNone/>
            </a:pPr>
            <a:r>
              <a:rPr lang="en-US" sz="1150" dirty="0">
                <a:solidFill>
                  <a:srgbClr val="29DDDA"/>
                </a:solidFill>
                <a:latin typeface="Barlow" pitchFamily="34" charset="0"/>
                <a:ea typeface="Barlow" pitchFamily="34" charset="-122"/>
                <a:cs typeface="Barlow" pitchFamily="34" charset="-120"/>
              </a:rPr>
              <a:t>idéale pour parcourir des tableaux</a:t>
            </a:r>
            <a:pPr algn="l" indent="0" marL="0">
              <a:lnSpc>
                <a:spcPts val="1800"/>
              </a:lnSpc>
              <a:buNone/>
            </a:pPr>
            <a:r>
              <a:rPr lang="en-US" sz="1150" dirty="0">
                <a:solidFill>
                  <a:srgbClr val="E0E4E6"/>
                </a:solidFill>
                <a:latin typeface="Barlow" pitchFamily="34" charset="0"/>
                <a:ea typeface="Barlow" pitchFamily="34" charset="-122"/>
                <a:cs typeface="Barlow" pitchFamily="34" charset="-120"/>
              </a:rPr>
              <a:t>, effectuer des calculs répétitifs, ou générer des séquences. Sa structure claire facilite la compréhension et la maintenance du code.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47556" y="307658"/>
            <a:ext cx="4539377" cy="310872"/>
          </a:xfrm>
          <a:prstGeom prst="rect">
            <a:avLst/>
          </a:prstGeom>
          <a:noFill/>
          <a:ln/>
        </p:spPr>
        <p:txBody>
          <a:bodyPr wrap="none" lIns="0" tIns="0" rIns="0" bIns="0" rtlCol="0" anchor="t"/>
          <a:lstStyle/>
          <a:p>
            <a:pPr algn="l" indent="0" marL="0">
              <a:lnSpc>
                <a:spcPts val="2400"/>
              </a:lnSpc>
              <a:buNone/>
            </a:pPr>
            <a:r>
              <a:rPr lang="en-US" sz="1950" b="1" dirty="0">
                <a:solidFill>
                  <a:srgbClr val="F0FCFF"/>
                </a:solidFill>
                <a:latin typeface="Spline Sans Bold" pitchFamily="34" charset="0"/>
                <a:ea typeface="Spline Sans Bold" pitchFamily="34" charset="-122"/>
                <a:cs typeface="Spline Sans Bold" pitchFamily="34" charset="-120"/>
              </a:rPr>
              <a:t>Boucle while : répétition conditionnelle</a:t>
            </a:r>
            <a:endParaRPr lang="en-US" sz="1950" dirty="0"/>
          </a:p>
        </p:txBody>
      </p:sp>
      <p:sp>
        <p:nvSpPr>
          <p:cNvPr id="3" name="Text 1"/>
          <p:cNvSpPr/>
          <p:nvPr/>
        </p:nvSpPr>
        <p:spPr>
          <a:xfrm>
            <a:off x="447556" y="886897"/>
            <a:ext cx="7431524" cy="358140"/>
          </a:xfrm>
          <a:prstGeom prst="rect">
            <a:avLst/>
          </a:prstGeom>
          <a:noFill/>
          <a:ln/>
        </p:spPr>
        <p:txBody>
          <a:bodyPr wrap="square" lIns="0" tIns="0" rIns="0" bIns="0" rtlCol="0" anchor="t"/>
          <a:lstStyle/>
          <a:p>
            <a:pPr algn="l" indent="0" marL="0">
              <a:lnSpc>
                <a:spcPts val="1400"/>
              </a:lnSpc>
              <a:buNone/>
            </a:pPr>
            <a:r>
              <a:rPr lang="en-US" sz="850" dirty="0">
                <a:solidFill>
                  <a:srgbClr val="E0E4E6"/>
                </a:solidFill>
                <a:latin typeface="Barlow" pitchFamily="34" charset="0"/>
                <a:ea typeface="Barlow" pitchFamily="34" charset="-122"/>
                <a:cs typeface="Barlow" pitchFamily="34" charset="-120"/>
              </a:rPr>
              <a:t>La boucle </a:t>
            </a:r>
            <a:pPr algn="l" indent="0" marL="0">
              <a:lnSpc>
                <a:spcPts val="140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while</a:t>
            </a:r>
            <a:pPr algn="l" indent="0" marL="0">
              <a:lnSpc>
                <a:spcPts val="1400"/>
              </a:lnSpc>
              <a:buNone/>
            </a:pPr>
            <a:r>
              <a:rPr lang="en-US" sz="850" dirty="0">
                <a:solidFill>
                  <a:srgbClr val="E0E4E6"/>
                </a:solidFill>
                <a:latin typeface="Barlow" pitchFamily="34" charset="0"/>
                <a:ea typeface="Barlow" pitchFamily="34" charset="-122"/>
                <a:cs typeface="Barlow" pitchFamily="34" charset="-120"/>
              </a:rPr>
              <a:t> représente la </a:t>
            </a:r>
            <a:pPr algn="l" indent="0" marL="0">
              <a:lnSpc>
                <a:spcPts val="1400"/>
              </a:lnSpc>
              <a:buNone/>
            </a:pPr>
            <a:r>
              <a:rPr lang="en-US" sz="850" b="1" dirty="0">
                <a:solidFill>
                  <a:srgbClr val="E0E4E6"/>
                </a:solidFill>
                <a:latin typeface="Barlow" pitchFamily="34" charset="0"/>
                <a:ea typeface="Barlow" pitchFamily="34" charset="-122"/>
                <a:cs typeface="Barlow" pitchFamily="34" charset="-120"/>
              </a:rPr>
              <a:t>forme la plus pure de l'itération conditionnelle</a:t>
            </a:r>
            <a:pPr algn="l" indent="0" marL="0">
              <a:lnSpc>
                <a:spcPts val="1400"/>
              </a:lnSpc>
              <a:buNone/>
            </a:pPr>
            <a:r>
              <a:rPr lang="en-US" sz="850" dirty="0">
                <a:solidFill>
                  <a:srgbClr val="E0E4E6"/>
                </a:solidFill>
                <a:latin typeface="Barlow" pitchFamily="34" charset="0"/>
                <a:ea typeface="Barlow" pitchFamily="34" charset="-122"/>
                <a:cs typeface="Barlow" pitchFamily="34" charset="-120"/>
              </a:rPr>
              <a:t>. Elle continue d'exécuter un bloc d'instructions tant qu'une condition reste vraie, sans imposer de structure particulière pour l'initialisation ou l'incrémentation.</a:t>
            </a:r>
            <a:endParaRPr lang="en-US" sz="850" dirty="0"/>
          </a:p>
        </p:txBody>
      </p:sp>
      <p:sp>
        <p:nvSpPr>
          <p:cNvPr id="4" name="Text 2"/>
          <p:cNvSpPr/>
          <p:nvPr/>
        </p:nvSpPr>
        <p:spPr>
          <a:xfrm>
            <a:off x="447556" y="1356836"/>
            <a:ext cx="1314331" cy="155377"/>
          </a:xfrm>
          <a:prstGeom prst="rect">
            <a:avLst/>
          </a:prstGeom>
          <a:noFill/>
          <a:ln/>
        </p:spPr>
        <p:txBody>
          <a:bodyPr wrap="none" lIns="0" tIns="0" rIns="0" bIns="0" rtlCol="0" anchor="t"/>
          <a:lstStyle/>
          <a:p>
            <a:pPr algn="l" indent="0" marL="0">
              <a:lnSpc>
                <a:spcPts val="1200"/>
              </a:lnSpc>
              <a:buNone/>
            </a:pPr>
            <a:r>
              <a:rPr lang="en-US" sz="950" b="1" dirty="0">
                <a:solidFill>
                  <a:srgbClr val="F0FCFF"/>
                </a:solidFill>
                <a:latin typeface="Spline Sans Bold" pitchFamily="34" charset="0"/>
                <a:ea typeface="Spline Sans Bold" pitchFamily="34" charset="-122"/>
                <a:cs typeface="Spline Sans Bold" pitchFamily="34" charset="-120"/>
              </a:rPr>
              <a:t>Syntaxe fondamentale</a:t>
            </a:r>
            <a:endParaRPr lang="en-US" sz="950" dirty="0"/>
          </a:p>
        </p:txBody>
      </p:sp>
      <p:sp>
        <p:nvSpPr>
          <p:cNvPr id="5" name="Shape 3"/>
          <p:cNvSpPr/>
          <p:nvPr/>
        </p:nvSpPr>
        <p:spPr>
          <a:xfrm>
            <a:off x="447556" y="1638062"/>
            <a:ext cx="7431524" cy="883920"/>
          </a:xfrm>
          <a:prstGeom prst="roundRect">
            <a:avLst>
              <a:gd name="adj" fmla="val 18990"/>
            </a:avLst>
          </a:prstGeom>
          <a:solidFill>
            <a:srgbClr val="171528"/>
          </a:solidFill>
          <a:ln/>
        </p:spPr>
      </p:sp>
      <p:sp>
        <p:nvSpPr>
          <p:cNvPr id="6" name="Shape 4"/>
          <p:cNvSpPr/>
          <p:nvPr/>
        </p:nvSpPr>
        <p:spPr>
          <a:xfrm>
            <a:off x="442079" y="1638062"/>
            <a:ext cx="7442478" cy="883920"/>
          </a:xfrm>
          <a:prstGeom prst="roundRect">
            <a:avLst>
              <a:gd name="adj" fmla="val 1899"/>
            </a:avLst>
          </a:prstGeom>
          <a:solidFill>
            <a:srgbClr val="171528"/>
          </a:solidFill>
          <a:ln/>
        </p:spPr>
      </p:sp>
      <p:sp>
        <p:nvSpPr>
          <p:cNvPr id="7" name="Text 5"/>
          <p:cNvSpPr/>
          <p:nvPr/>
        </p:nvSpPr>
        <p:spPr>
          <a:xfrm>
            <a:off x="553879" y="1721882"/>
            <a:ext cx="7218878" cy="716280"/>
          </a:xfrm>
          <a:prstGeom prst="rect">
            <a:avLst/>
          </a:prstGeom>
          <a:noFill/>
          <a:ln/>
        </p:spPr>
        <p:txBody>
          <a:bodyPr wrap="square" lIns="0" tIns="0" rIns="0" bIns="0" rtlCol="0" anchor="t"/>
          <a:lstStyle/>
          <a:p>
            <a:pPr algn="l" indent="0" marL="0">
              <a:lnSpc>
                <a:spcPts val="140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while (condition) {    // Instructions à répéter    // Modification de la condition}</a:t>
            </a:r>
            <a:endParaRPr lang="en-US" sz="850" dirty="0"/>
          </a:p>
        </p:txBody>
      </p:sp>
      <p:sp>
        <p:nvSpPr>
          <p:cNvPr id="8" name="Text 6"/>
          <p:cNvSpPr/>
          <p:nvPr/>
        </p:nvSpPr>
        <p:spPr>
          <a:xfrm>
            <a:off x="447556" y="2647831"/>
            <a:ext cx="7431524" cy="358140"/>
          </a:xfrm>
          <a:prstGeom prst="rect">
            <a:avLst/>
          </a:prstGeom>
          <a:noFill/>
          <a:ln/>
        </p:spPr>
        <p:txBody>
          <a:bodyPr wrap="square" lIns="0" tIns="0" rIns="0" bIns="0" rtlCol="0" anchor="t"/>
          <a:lstStyle/>
          <a:p>
            <a:pPr algn="l" indent="0" marL="0">
              <a:lnSpc>
                <a:spcPts val="1400"/>
              </a:lnSpc>
              <a:buNone/>
            </a:pPr>
            <a:r>
              <a:rPr lang="en-US" sz="850" dirty="0">
                <a:solidFill>
                  <a:srgbClr val="E0E4E6"/>
                </a:solidFill>
                <a:latin typeface="Barlow" pitchFamily="34" charset="0"/>
                <a:ea typeface="Barlow" pitchFamily="34" charset="-122"/>
                <a:cs typeface="Barlow" pitchFamily="34" charset="-120"/>
              </a:rPr>
              <a:t>Cette flexibilité fait du </a:t>
            </a:r>
            <a:pPr algn="l" indent="0" marL="0">
              <a:lnSpc>
                <a:spcPts val="140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while</a:t>
            </a:r>
            <a:pPr algn="l" indent="0" marL="0">
              <a:lnSpc>
                <a:spcPts val="1400"/>
              </a:lnSpc>
              <a:buNone/>
            </a:pPr>
            <a:r>
              <a:rPr lang="en-US" sz="850" dirty="0">
                <a:solidFill>
                  <a:srgbClr val="E0E4E6"/>
                </a:solidFill>
                <a:latin typeface="Barlow" pitchFamily="34" charset="0"/>
                <a:ea typeface="Barlow" pitchFamily="34" charset="-122"/>
                <a:cs typeface="Barlow" pitchFamily="34" charset="-120"/>
              </a:rPr>
              <a:t> le choix parfait pour les situations où </a:t>
            </a:r>
            <a:pPr algn="l" indent="0" marL="0">
              <a:lnSpc>
                <a:spcPts val="1400"/>
              </a:lnSpc>
              <a:buNone/>
            </a:pPr>
            <a:r>
              <a:rPr lang="en-US" sz="850" dirty="0">
                <a:solidFill>
                  <a:srgbClr val="000000"/>
                </a:solidFill>
                <a:highlight>
                  <a:srgbClr val="16FFBB"/>
                </a:highlight>
                <a:latin typeface="Barlow" pitchFamily="34" charset="0"/>
                <a:ea typeface="Barlow" pitchFamily="34" charset="-122"/>
                <a:cs typeface="Barlow" pitchFamily="34" charset="-120"/>
              </a:rPr>
              <a:t>le nombre d'itérations n'est pas connu à l'avance</a:t>
            </a:r>
            <a:pPr algn="l" indent="0" marL="0">
              <a:lnSpc>
                <a:spcPts val="1400"/>
              </a:lnSpc>
              <a:buNone/>
            </a:pPr>
            <a:r>
              <a:rPr lang="en-US" sz="850" dirty="0">
                <a:solidFill>
                  <a:srgbClr val="E0E4E6"/>
                </a:solidFill>
                <a:latin typeface="Barlow" pitchFamily="34" charset="0"/>
                <a:ea typeface="Barlow" pitchFamily="34" charset="-122"/>
                <a:cs typeface="Barlow" pitchFamily="34" charset="-120"/>
              </a:rPr>
              <a:t> : lecture de fichiers, traitement de données utilisateur, ou algorithmes qui convergent vers une solution.</a:t>
            </a:r>
            <a:endParaRPr lang="en-US" sz="850" dirty="0"/>
          </a:p>
        </p:txBody>
      </p:sp>
      <p:pic>
        <p:nvPicPr>
          <p:cNvPr id="9" name="Image 0" descr="preencoded.png">    </p:cNvPr>
          <p:cNvPicPr>
            <a:picLocks noChangeAspect="1"/>
          </p:cNvPicPr>
          <p:nvPr/>
        </p:nvPicPr>
        <p:blipFill>
          <a:blip r:embed="rId1"/>
          <a:stretch>
            <a:fillRect/>
          </a:stretch>
        </p:blipFill>
        <p:spPr>
          <a:xfrm>
            <a:off x="8762643" y="912138"/>
            <a:ext cx="4824532" cy="4824532"/>
          </a:xfrm>
          <a:prstGeom prst="rect">
            <a:avLst/>
          </a:prstGeom>
        </p:spPr>
      </p:pic>
      <p:pic>
        <p:nvPicPr>
          <p:cNvPr id="10"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27666" y="2950309"/>
            <a:ext cx="167402" cy="167402"/>
          </a:xfrm>
          <a:prstGeom prst="rect">
            <a:avLst/>
          </a:prstGeom>
        </p:spPr>
      </p:pic>
      <p:sp>
        <p:nvSpPr>
          <p:cNvPr id="11" name="Shape 7"/>
          <p:cNvSpPr/>
          <p:nvPr/>
        </p:nvSpPr>
        <p:spPr>
          <a:xfrm>
            <a:off x="8159591" y="5904428"/>
            <a:ext cx="223718" cy="223718"/>
          </a:xfrm>
          <a:prstGeom prst="roundRect">
            <a:avLst>
              <a:gd name="adj" fmla="val 75032"/>
            </a:avLst>
          </a:prstGeom>
          <a:solidFill>
            <a:srgbClr val="0A081B"/>
          </a:solidFill>
          <a:ln w="7620">
            <a:solidFill>
              <a:srgbClr val="16FFBB"/>
            </a:solidFill>
            <a:prstDash val="solid"/>
          </a:ln>
        </p:spPr>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09240" y="5954018"/>
            <a:ext cx="124301" cy="124301"/>
          </a:xfrm>
          <a:prstGeom prst="rect">
            <a:avLst/>
          </a:prstGeom>
        </p:spPr>
      </p:pic>
      <p:sp>
        <p:nvSpPr>
          <p:cNvPr id="13" name="Text 8"/>
          <p:cNvSpPr/>
          <p:nvPr/>
        </p:nvSpPr>
        <p:spPr>
          <a:xfrm>
            <a:off x="8495109" y="5928836"/>
            <a:ext cx="1243370" cy="155377"/>
          </a:xfrm>
          <a:prstGeom prst="rect">
            <a:avLst/>
          </a:prstGeom>
          <a:noFill/>
          <a:ln/>
        </p:spPr>
        <p:txBody>
          <a:bodyPr wrap="none" lIns="0" tIns="0" rIns="0" bIns="0" rtlCol="0" anchor="t"/>
          <a:lstStyle/>
          <a:p>
            <a:pPr algn="l" indent="0" marL="0">
              <a:lnSpc>
                <a:spcPts val="1200"/>
              </a:lnSpc>
              <a:buNone/>
            </a:pPr>
            <a:r>
              <a:rPr lang="en-US" sz="950" b="1" dirty="0">
                <a:solidFill>
                  <a:srgbClr val="E0E4E6"/>
                </a:solidFill>
                <a:latin typeface="Spline Sans Bold" pitchFamily="34" charset="0"/>
                <a:ea typeface="Spline Sans Bold" pitchFamily="34" charset="-122"/>
                <a:cs typeface="Spline Sans Bold" pitchFamily="34" charset="-120"/>
              </a:rPr>
              <a:t>Test condition</a:t>
            </a:r>
            <a:endParaRPr lang="en-US" sz="950" dirty="0"/>
          </a:p>
        </p:txBody>
      </p:sp>
      <p:pic>
        <p:nvPicPr>
          <p:cNvPr id="14" name="Image 3" descr="preencoded.png">    </p:cNvPr>
          <p:cNvPicPr>
            <a:picLocks noChangeAspect="1"/>
          </p:cNvPicPr>
          <p:nvPr/>
        </p:nvPicPr>
        <p:blipFill>
          <a:blip r:embed="rId6"/>
          <a:stretch>
            <a:fillRect/>
          </a:stretch>
        </p:blipFill>
        <p:spPr>
          <a:xfrm>
            <a:off x="8762643" y="912138"/>
            <a:ext cx="4824532" cy="4824532"/>
          </a:xfrm>
          <a:prstGeom prst="rect">
            <a:avLst/>
          </a:prstGeom>
        </p:spPr>
      </p:pic>
      <p:pic>
        <p:nvPicPr>
          <p:cNvPr id="15"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174200" y="1945184"/>
            <a:ext cx="167402" cy="167402"/>
          </a:xfrm>
          <a:prstGeom prst="rect">
            <a:avLst/>
          </a:prstGeom>
        </p:spPr>
      </p:pic>
      <p:sp>
        <p:nvSpPr>
          <p:cNvPr id="16" name="Shape 9"/>
          <p:cNvSpPr/>
          <p:nvPr/>
        </p:nvSpPr>
        <p:spPr>
          <a:xfrm>
            <a:off x="8159591" y="6295906"/>
            <a:ext cx="223718" cy="223718"/>
          </a:xfrm>
          <a:prstGeom prst="roundRect">
            <a:avLst>
              <a:gd name="adj" fmla="val 75032"/>
            </a:avLst>
          </a:prstGeom>
          <a:solidFill>
            <a:srgbClr val="0A081B"/>
          </a:solidFill>
          <a:ln w="7620">
            <a:solidFill>
              <a:srgbClr val="29DDDA"/>
            </a:solidFill>
            <a:prstDash val="solid"/>
          </a:ln>
        </p:spPr>
      </p:sp>
      <p:pic>
        <p:nvPicPr>
          <p:cNvPr id="17" name="Image 5"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09240" y="6345495"/>
            <a:ext cx="124301" cy="124301"/>
          </a:xfrm>
          <a:prstGeom prst="rect">
            <a:avLst/>
          </a:prstGeom>
        </p:spPr>
      </p:pic>
      <p:sp>
        <p:nvSpPr>
          <p:cNvPr id="18" name="Text 10"/>
          <p:cNvSpPr/>
          <p:nvPr/>
        </p:nvSpPr>
        <p:spPr>
          <a:xfrm>
            <a:off x="8495109" y="6320314"/>
            <a:ext cx="1243370" cy="155377"/>
          </a:xfrm>
          <a:prstGeom prst="rect">
            <a:avLst/>
          </a:prstGeom>
          <a:noFill/>
          <a:ln/>
        </p:spPr>
        <p:txBody>
          <a:bodyPr wrap="none" lIns="0" tIns="0" rIns="0" bIns="0" rtlCol="0" anchor="t"/>
          <a:lstStyle/>
          <a:p>
            <a:pPr algn="l" indent="0" marL="0">
              <a:lnSpc>
                <a:spcPts val="1200"/>
              </a:lnSpc>
              <a:buNone/>
            </a:pPr>
            <a:r>
              <a:rPr lang="en-US" sz="950" b="1" dirty="0">
                <a:solidFill>
                  <a:srgbClr val="E0E4E6"/>
                </a:solidFill>
                <a:latin typeface="Spline Sans Bold" pitchFamily="34" charset="0"/>
                <a:ea typeface="Spline Sans Bold" pitchFamily="34" charset="-122"/>
                <a:cs typeface="Spline Sans Bold" pitchFamily="34" charset="-120"/>
              </a:rPr>
              <a:t>Exécution corps</a:t>
            </a:r>
            <a:endParaRPr lang="en-US" sz="950" dirty="0"/>
          </a:p>
        </p:txBody>
      </p:sp>
      <p:pic>
        <p:nvPicPr>
          <p:cNvPr id="19" name="Image 6" descr="preencoded.png">    </p:cNvPr>
          <p:cNvPicPr>
            <a:picLocks noChangeAspect="1"/>
          </p:cNvPicPr>
          <p:nvPr/>
        </p:nvPicPr>
        <p:blipFill>
          <a:blip r:embed="rId11"/>
          <a:stretch>
            <a:fillRect/>
          </a:stretch>
        </p:blipFill>
        <p:spPr>
          <a:xfrm>
            <a:off x="8762643" y="912138"/>
            <a:ext cx="4824532" cy="4824532"/>
          </a:xfrm>
          <a:prstGeom prst="rect">
            <a:avLst/>
          </a:prstGeom>
        </p:spPr>
      </p:pic>
      <p:pic>
        <p:nvPicPr>
          <p:cNvPr id="20" name="Image 7"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671399" y="4826377"/>
            <a:ext cx="167402" cy="167402"/>
          </a:xfrm>
          <a:prstGeom prst="rect">
            <a:avLst/>
          </a:prstGeom>
        </p:spPr>
      </p:pic>
      <p:sp>
        <p:nvSpPr>
          <p:cNvPr id="21" name="Shape 11"/>
          <p:cNvSpPr/>
          <p:nvPr/>
        </p:nvSpPr>
        <p:spPr>
          <a:xfrm>
            <a:off x="8159591" y="6687383"/>
            <a:ext cx="223718" cy="223718"/>
          </a:xfrm>
          <a:prstGeom prst="roundRect">
            <a:avLst>
              <a:gd name="adj" fmla="val 75032"/>
            </a:avLst>
          </a:prstGeom>
          <a:solidFill>
            <a:srgbClr val="0A081B"/>
          </a:solidFill>
          <a:ln w="7620">
            <a:solidFill>
              <a:srgbClr val="37A7E7"/>
            </a:solidFill>
            <a:prstDash val="solid"/>
          </a:ln>
        </p:spPr>
      </p:sp>
      <p:pic>
        <p:nvPicPr>
          <p:cNvPr id="22" name="Image 8"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209240" y="6736973"/>
            <a:ext cx="124301" cy="124301"/>
          </a:xfrm>
          <a:prstGeom prst="rect">
            <a:avLst/>
          </a:prstGeom>
        </p:spPr>
      </p:pic>
      <p:sp>
        <p:nvSpPr>
          <p:cNvPr id="23" name="Text 12"/>
          <p:cNvSpPr/>
          <p:nvPr/>
        </p:nvSpPr>
        <p:spPr>
          <a:xfrm>
            <a:off x="8495109" y="6711791"/>
            <a:ext cx="1243370" cy="155377"/>
          </a:xfrm>
          <a:prstGeom prst="rect">
            <a:avLst/>
          </a:prstGeom>
          <a:noFill/>
          <a:ln/>
        </p:spPr>
        <p:txBody>
          <a:bodyPr wrap="none" lIns="0" tIns="0" rIns="0" bIns="0" rtlCol="0" anchor="t"/>
          <a:lstStyle/>
          <a:p>
            <a:pPr algn="l" indent="0" marL="0">
              <a:lnSpc>
                <a:spcPts val="1200"/>
              </a:lnSpc>
              <a:buNone/>
            </a:pPr>
            <a:r>
              <a:rPr lang="en-US" sz="950" b="1" dirty="0">
                <a:solidFill>
                  <a:srgbClr val="E0E4E6"/>
                </a:solidFill>
                <a:latin typeface="Spline Sans Bold" pitchFamily="34" charset="0"/>
                <a:ea typeface="Spline Sans Bold" pitchFamily="34" charset="-122"/>
                <a:cs typeface="Spline Sans Bold" pitchFamily="34" charset="-120"/>
              </a:rPr>
              <a:t>Mise à jour</a:t>
            </a:r>
            <a:endParaRPr lang="en-US" sz="950" dirty="0"/>
          </a:p>
        </p:txBody>
      </p:sp>
      <p:sp>
        <p:nvSpPr>
          <p:cNvPr id="24" name="Text 13"/>
          <p:cNvSpPr/>
          <p:nvPr/>
        </p:nvSpPr>
        <p:spPr>
          <a:xfrm>
            <a:off x="8159591" y="7036951"/>
            <a:ext cx="1243370" cy="155377"/>
          </a:xfrm>
          <a:prstGeom prst="rect">
            <a:avLst/>
          </a:prstGeom>
          <a:noFill/>
          <a:ln/>
        </p:spPr>
        <p:txBody>
          <a:bodyPr wrap="none" lIns="0" tIns="0" rIns="0" bIns="0" rtlCol="0" anchor="t"/>
          <a:lstStyle/>
          <a:p>
            <a:pPr algn="l" indent="0" marL="0">
              <a:lnSpc>
                <a:spcPts val="1200"/>
              </a:lnSpc>
              <a:buNone/>
            </a:pPr>
            <a:r>
              <a:rPr lang="en-US" sz="950" b="1" dirty="0">
                <a:solidFill>
                  <a:srgbClr val="F0FCFF"/>
                </a:solidFill>
                <a:latin typeface="Spline Sans Bold" pitchFamily="34" charset="0"/>
                <a:ea typeface="Spline Sans Bold" pitchFamily="34" charset="-122"/>
                <a:cs typeface="Spline Sans Bold" pitchFamily="34" charset="-120"/>
              </a:rPr>
              <a:t>Exemple pratique</a:t>
            </a:r>
            <a:endParaRPr lang="en-US" sz="950" dirty="0"/>
          </a:p>
        </p:txBody>
      </p:sp>
      <p:sp>
        <p:nvSpPr>
          <p:cNvPr id="25" name="Shape 14"/>
          <p:cNvSpPr/>
          <p:nvPr/>
        </p:nvSpPr>
        <p:spPr>
          <a:xfrm>
            <a:off x="8159591" y="7318177"/>
            <a:ext cx="6030754" cy="1242060"/>
          </a:xfrm>
          <a:prstGeom prst="roundRect">
            <a:avLst>
              <a:gd name="adj" fmla="val 13515"/>
            </a:avLst>
          </a:prstGeom>
          <a:solidFill>
            <a:srgbClr val="171528"/>
          </a:solidFill>
          <a:ln/>
        </p:spPr>
      </p:sp>
      <p:sp>
        <p:nvSpPr>
          <p:cNvPr id="26" name="Shape 15"/>
          <p:cNvSpPr/>
          <p:nvPr/>
        </p:nvSpPr>
        <p:spPr>
          <a:xfrm>
            <a:off x="8154114" y="7318177"/>
            <a:ext cx="6041707" cy="1242060"/>
          </a:xfrm>
          <a:prstGeom prst="roundRect">
            <a:avLst>
              <a:gd name="adj" fmla="val 1351"/>
            </a:avLst>
          </a:prstGeom>
          <a:solidFill>
            <a:srgbClr val="171528"/>
          </a:solidFill>
          <a:ln/>
        </p:spPr>
      </p:sp>
      <p:sp>
        <p:nvSpPr>
          <p:cNvPr id="27" name="Text 16"/>
          <p:cNvSpPr/>
          <p:nvPr/>
        </p:nvSpPr>
        <p:spPr>
          <a:xfrm>
            <a:off x="8265914" y="7401997"/>
            <a:ext cx="5818108" cy="1074420"/>
          </a:xfrm>
          <a:prstGeom prst="rect">
            <a:avLst/>
          </a:prstGeom>
          <a:noFill/>
          <a:ln/>
        </p:spPr>
        <p:txBody>
          <a:bodyPr wrap="square" lIns="0" tIns="0" rIns="0" bIns="0" rtlCol="0" anchor="t"/>
          <a:lstStyle/>
          <a:p>
            <a:pPr algn="l" indent="0" marL="0">
              <a:lnSpc>
                <a:spcPts val="140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int n = 10;while (n &gt; 0) {    printf("%d ", n);    n--;}// Affiche : 10 9 8 7 6 5 4 3 2 1</a:t>
            </a:r>
            <a:endParaRPr lang="en-US" sz="850" dirty="0"/>
          </a:p>
        </p:txBody>
      </p:sp>
      <p:sp>
        <p:nvSpPr>
          <p:cNvPr id="28" name="Shape 17"/>
          <p:cNvSpPr/>
          <p:nvPr/>
        </p:nvSpPr>
        <p:spPr>
          <a:xfrm>
            <a:off x="447556" y="8811935"/>
            <a:ext cx="13735288" cy="482798"/>
          </a:xfrm>
          <a:prstGeom prst="roundRect">
            <a:avLst>
              <a:gd name="adj" fmla="val 34768"/>
            </a:avLst>
          </a:prstGeom>
          <a:solidFill>
            <a:srgbClr val="004D36"/>
          </a:solidFill>
          <a:ln/>
        </p:spPr>
      </p:sp>
      <p:pic>
        <p:nvPicPr>
          <p:cNvPr id="29" name="Image 9" descr="preencoded.png">    </p:cNvPr>
          <p:cNvPicPr>
            <a:picLocks noChangeAspect="1"/>
          </p:cNvPicPr>
          <p:nvPr/>
        </p:nvPicPr>
        <p:blipFill>
          <a:blip r:embed="rId16"/>
          <a:stretch>
            <a:fillRect/>
          </a:stretch>
        </p:blipFill>
        <p:spPr>
          <a:xfrm>
            <a:off x="559356" y="8983266"/>
            <a:ext cx="139779" cy="111800"/>
          </a:xfrm>
          <a:prstGeom prst="rect">
            <a:avLst/>
          </a:prstGeom>
        </p:spPr>
      </p:pic>
      <p:sp>
        <p:nvSpPr>
          <p:cNvPr id="30" name="Text 18"/>
          <p:cNvSpPr/>
          <p:nvPr/>
        </p:nvSpPr>
        <p:spPr>
          <a:xfrm>
            <a:off x="810935" y="8951595"/>
            <a:ext cx="13260110" cy="186690"/>
          </a:xfrm>
          <a:prstGeom prst="rect">
            <a:avLst/>
          </a:prstGeom>
          <a:noFill/>
          <a:ln/>
        </p:spPr>
        <p:txBody>
          <a:bodyPr wrap="none" lIns="0" tIns="0" rIns="0" bIns="0" rtlCol="0" anchor="t"/>
          <a:lstStyle/>
          <a:p>
            <a:pPr algn="l" indent="0" marL="0">
              <a:lnSpc>
                <a:spcPts val="1400"/>
              </a:lnSpc>
              <a:buNone/>
            </a:pPr>
            <a:r>
              <a:rPr lang="en-US" sz="850" dirty="0">
                <a:solidFill>
                  <a:srgbClr val="000000"/>
                </a:solidFill>
                <a:latin typeface="Barlow" pitchFamily="34" charset="0"/>
                <a:ea typeface="Barlow" pitchFamily="34" charset="-122"/>
                <a:cs typeface="Barlow" pitchFamily="34" charset="-120"/>
              </a:rPr>
              <a:t>⚠️</a:t>
            </a:r>
            <a:pPr algn="l" indent="0" marL="0">
              <a:lnSpc>
                <a:spcPts val="1400"/>
              </a:lnSpc>
              <a:buNone/>
            </a:pPr>
            <a:r>
              <a:rPr lang="en-US" sz="850" dirty="0">
                <a:solidFill>
                  <a:srgbClr val="FFFFFF"/>
                </a:solidFill>
                <a:latin typeface="Barlow" pitchFamily="34" charset="0"/>
                <a:ea typeface="Barlow" pitchFamily="34" charset="-122"/>
                <a:cs typeface="Barlow" pitchFamily="34" charset="-120"/>
              </a:rPr>
              <a:t> Attention aux boucles infinies ! Assurez-vous toujours que la condition peut devenir fausse, sinon votre programme ne s'arrêtera jamais. Vérifiez que les variables de la condition sont modifiées dans le corps de la boucle.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40531" y="302895"/>
            <a:ext cx="5251133" cy="305991"/>
          </a:xfrm>
          <a:prstGeom prst="rect">
            <a:avLst/>
          </a:prstGeom>
          <a:noFill/>
          <a:ln/>
        </p:spPr>
        <p:txBody>
          <a:bodyPr wrap="none" lIns="0" tIns="0" rIns="0" bIns="0" rtlCol="0" anchor="t"/>
          <a:lstStyle/>
          <a:p>
            <a:pPr algn="l" indent="0" marL="0">
              <a:lnSpc>
                <a:spcPts val="2400"/>
              </a:lnSpc>
              <a:buNone/>
            </a:pPr>
            <a:r>
              <a:rPr lang="en-US" sz="1900" b="1" dirty="0">
                <a:solidFill>
                  <a:srgbClr val="F0FCFF"/>
                </a:solidFill>
                <a:latin typeface="Spline Sans Bold" pitchFamily="34" charset="0"/>
                <a:ea typeface="Spline Sans Bold" pitchFamily="34" charset="-122"/>
                <a:cs typeface="Spline Sans Bold" pitchFamily="34" charset="-120"/>
              </a:rPr>
              <a:t>Boucle do...while : répétition au moins une fois</a:t>
            </a:r>
            <a:endParaRPr lang="en-US" sz="1900" dirty="0"/>
          </a:p>
        </p:txBody>
      </p:sp>
      <p:sp>
        <p:nvSpPr>
          <p:cNvPr id="3" name="Text 1"/>
          <p:cNvSpPr/>
          <p:nvPr/>
        </p:nvSpPr>
        <p:spPr>
          <a:xfrm>
            <a:off x="440531" y="829151"/>
            <a:ext cx="13749337" cy="176213"/>
          </a:xfrm>
          <a:prstGeom prst="rect">
            <a:avLst/>
          </a:prstGeom>
          <a:noFill/>
          <a:ln/>
        </p:spPr>
        <p:txBody>
          <a:bodyPr wrap="non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La boucle </a:t>
            </a:r>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do...while</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présente une </a:t>
            </a:r>
            <a:pPr algn="l" indent="0" marL="0">
              <a:lnSpc>
                <a:spcPts val="1350"/>
              </a:lnSpc>
              <a:buNone/>
            </a:pPr>
            <a:r>
              <a:rPr lang="en-US" sz="850" b="1" dirty="0">
                <a:solidFill>
                  <a:srgbClr val="E0E4E6"/>
                </a:solidFill>
                <a:latin typeface="Barlow" pitchFamily="34" charset="0"/>
                <a:ea typeface="Barlow" pitchFamily="34" charset="-122"/>
                <a:cs typeface="Barlow" pitchFamily="34" charset="-120"/>
              </a:rPr>
              <a:t>particularité unique et précieuse</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 elle garantit que le bloc d'instructions s'exécute au moins une fois, car la condition est évaluée </a:t>
            </a:r>
            <a:pPr algn="l" indent="0" marL="0">
              <a:lnSpc>
                <a:spcPts val="1350"/>
              </a:lnSpc>
              <a:buNone/>
            </a:pPr>
            <a:r>
              <a:rPr lang="en-US" sz="850" u="sng" dirty="0">
                <a:solidFill>
                  <a:srgbClr val="E0E4E6"/>
                </a:solidFill>
                <a:latin typeface="Barlow" pitchFamily="34" charset="0"/>
                <a:ea typeface="Barlow" pitchFamily="34" charset="-122"/>
                <a:cs typeface="Barlow" pitchFamily="34" charset="-120"/>
              </a:rPr>
              <a:t>après</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l'exécution du corps de la boucle, et non avant.</a:t>
            </a:r>
            <a:endParaRPr lang="en-US" sz="850" dirty="0"/>
          </a:p>
        </p:txBody>
      </p:sp>
      <p:sp>
        <p:nvSpPr>
          <p:cNvPr id="4" name="Text 2"/>
          <p:cNvSpPr/>
          <p:nvPr/>
        </p:nvSpPr>
        <p:spPr>
          <a:xfrm>
            <a:off x="440531" y="1239322"/>
            <a:ext cx="1223843" cy="152995"/>
          </a:xfrm>
          <a:prstGeom prst="rect">
            <a:avLst/>
          </a:prstGeom>
          <a:noFill/>
          <a:ln/>
        </p:spPr>
        <p:txBody>
          <a:bodyPr wrap="none" lIns="0" tIns="0" rIns="0" bIns="0" rtlCol="0" anchor="t"/>
          <a:lstStyle/>
          <a:p>
            <a:pPr algn="l" indent="0" marL="0">
              <a:lnSpc>
                <a:spcPts val="1200"/>
              </a:lnSpc>
              <a:buNone/>
            </a:pPr>
            <a:r>
              <a:rPr lang="en-US" sz="950" b="1" dirty="0">
                <a:solidFill>
                  <a:srgbClr val="F0FCFF"/>
                </a:solidFill>
                <a:latin typeface="Spline Sans Bold" pitchFamily="34" charset="0"/>
                <a:ea typeface="Spline Sans Bold" pitchFamily="34" charset="-122"/>
                <a:cs typeface="Spline Sans Bold" pitchFamily="34" charset="-120"/>
              </a:rPr>
              <a:t>Structure et syntaxe</a:t>
            </a:r>
            <a:endParaRPr lang="en-US" sz="950" dirty="0"/>
          </a:p>
        </p:txBody>
      </p:sp>
      <p:sp>
        <p:nvSpPr>
          <p:cNvPr id="5" name="Shape 3"/>
          <p:cNvSpPr/>
          <p:nvPr/>
        </p:nvSpPr>
        <p:spPr>
          <a:xfrm>
            <a:off x="440531" y="1516142"/>
            <a:ext cx="6740366" cy="869871"/>
          </a:xfrm>
          <a:prstGeom prst="roundRect">
            <a:avLst>
              <a:gd name="adj" fmla="val 18994"/>
            </a:avLst>
          </a:prstGeom>
          <a:solidFill>
            <a:srgbClr val="171528"/>
          </a:solidFill>
          <a:ln/>
        </p:spPr>
      </p:sp>
      <p:sp>
        <p:nvSpPr>
          <p:cNvPr id="6" name="Shape 4"/>
          <p:cNvSpPr/>
          <p:nvPr/>
        </p:nvSpPr>
        <p:spPr>
          <a:xfrm>
            <a:off x="435054" y="1516142"/>
            <a:ext cx="6751320" cy="869871"/>
          </a:xfrm>
          <a:prstGeom prst="roundRect">
            <a:avLst>
              <a:gd name="adj" fmla="val 1899"/>
            </a:avLst>
          </a:prstGeom>
          <a:solidFill>
            <a:srgbClr val="171528"/>
          </a:solidFill>
          <a:ln/>
        </p:spPr>
      </p:sp>
      <p:sp>
        <p:nvSpPr>
          <p:cNvPr id="7" name="Text 5"/>
          <p:cNvSpPr/>
          <p:nvPr/>
        </p:nvSpPr>
        <p:spPr>
          <a:xfrm>
            <a:off x="545187" y="1598652"/>
            <a:ext cx="6531054" cy="704850"/>
          </a:xfrm>
          <a:prstGeom prst="rect">
            <a:avLst/>
          </a:prstGeom>
          <a:noFill/>
          <a:ln/>
        </p:spPr>
        <p:txBody>
          <a:bodyPr wrap="square" lIns="0" tIns="0" rIns="0" bIns="0" rtlCol="0" anchor="t"/>
          <a:lstStyle/>
          <a:p>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do {    // Instructions    // Exécutées au moins 1 fois} while (condition);</a:t>
            </a:r>
            <a:endParaRPr lang="en-US" sz="850" dirty="0"/>
          </a:p>
        </p:txBody>
      </p:sp>
      <p:pic>
        <p:nvPicPr>
          <p:cNvPr id="8" name="Image 0" descr="preencoded.png">    </p:cNvPr>
          <p:cNvPicPr>
            <a:picLocks noChangeAspect="1"/>
          </p:cNvPicPr>
          <p:nvPr/>
        </p:nvPicPr>
        <p:blipFill>
          <a:blip r:embed="rId1"/>
          <a:stretch>
            <a:fillRect/>
          </a:stretch>
        </p:blipFill>
        <p:spPr>
          <a:xfrm>
            <a:off x="440531" y="2509838"/>
            <a:ext cx="6740366" cy="6740366"/>
          </a:xfrm>
          <a:prstGeom prst="rect">
            <a:avLst/>
          </a:prstGeom>
        </p:spPr>
      </p:pic>
      <p:pic>
        <p:nvPicPr>
          <p:cNvPr id="9" name="Image 1" descr="preencoded.png">    </p:cNvPr>
          <p:cNvPicPr>
            <a:picLocks noChangeAspect="1"/>
          </p:cNvPicPr>
          <p:nvPr/>
        </p:nvPicPr>
        <p:blipFill>
          <a:blip r:embed="rId2"/>
          <a:stretch>
            <a:fillRect/>
          </a:stretch>
        </p:blipFill>
        <p:spPr>
          <a:xfrm>
            <a:off x="7457123" y="1253014"/>
            <a:ext cx="330398" cy="1143000"/>
          </a:xfrm>
          <a:prstGeom prst="rect">
            <a:avLst/>
          </a:prstGeom>
        </p:spPr>
      </p:pic>
      <p:sp>
        <p:nvSpPr>
          <p:cNvPr id="10" name="Text 6"/>
          <p:cNvSpPr/>
          <p:nvPr/>
        </p:nvSpPr>
        <p:spPr>
          <a:xfrm>
            <a:off x="7897654" y="1363147"/>
            <a:ext cx="1223843" cy="152995"/>
          </a:xfrm>
          <a:prstGeom prst="rect">
            <a:avLst/>
          </a:prstGeom>
          <a:noFill/>
          <a:ln/>
        </p:spPr>
        <p:txBody>
          <a:bodyPr wrap="none" lIns="0" tIns="0" rIns="0" bIns="0" rtlCol="0" anchor="t"/>
          <a:lstStyle/>
          <a:p>
            <a:pPr algn="l" indent="0" marL="0">
              <a:lnSpc>
                <a:spcPts val="1200"/>
              </a:lnSpc>
              <a:buNone/>
            </a:pPr>
            <a:r>
              <a:rPr lang="en-US" sz="950" b="1" dirty="0">
                <a:solidFill>
                  <a:srgbClr val="E0E4E6"/>
                </a:solidFill>
                <a:latin typeface="Spline Sans Bold" pitchFamily="34" charset="0"/>
                <a:ea typeface="Spline Sans Bold" pitchFamily="34" charset="-122"/>
                <a:cs typeface="Spline Sans Bold" pitchFamily="34" charset="-120"/>
              </a:rPr>
              <a:t>Exécution immédiate</a:t>
            </a:r>
            <a:endParaRPr lang="en-US" sz="950" dirty="0"/>
          </a:p>
        </p:txBody>
      </p:sp>
      <p:sp>
        <p:nvSpPr>
          <p:cNvPr id="11" name="Text 7"/>
          <p:cNvSpPr/>
          <p:nvPr/>
        </p:nvSpPr>
        <p:spPr>
          <a:xfrm>
            <a:off x="7897654" y="1626275"/>
            <a:ext cx="6299835" cy="176213"/>
          </a:xfrm>
          <a:prstGeom prst="rect">
            <a:avLst/>
          </a:prstGeom>
          <a:noFill/>
          <a:ln/>
        </p:spPr>
        <p:txBody>
          <a:bodyPr wrap="non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Le corps de la boucle s'exécute sans vérification préalable</a:t>
            </a:r>
            <a:endParaRPr lang="en-US" sz="850" dirty="0"/>
          </a:p>
        </p:txBody>
      </p:sp>
      <p:pic>
        <p:nvPicPr>
          <p:cNvPr id="12" name="Image 2" descr="preencoded.png">    </p:cNvPr>
          <p:cNvPicPr>
            <a:picLocks noChangeAspect="1"/>
          </p:cNvPicPr>
          <p:nvPr/>
        </p:nvPicPr>
        <p:blipFill>
          <a:blip r:embed="rId3"/>
          <a:stretch>
            <a:fillRect/>
          </a:stretch>
        </p:blipFill>
        <p:spPr>
          <a:xfrm>
            <a:off x="7622262" y="2023943"/>
            <a:ext cx="330398" cy="1143000"/>
          </a:xfrm>
          <a:prstGeom prst="rect">
            <a:avLst/>
          </a:prstGeom>
        </p:spPr>
      </p:pic>
      <p:sp>
        <p:nvSpPr>
          <p:cNvPr id="13" name="Text 8"/>
          <p:cNvSpPr/>
          <p:nvPr/>
        </p:nvSpPr>
        <p:spPr>
          <a:xfrm>
            <a:off x="8062793" y="2134076"/>
            <a:ext cx="1223843" cy="152995"/>
          </a:xfrm>
          <a:prstGeom prst="rect">
            <a:avLst/>
          </a:prstGeom>
          <a:noFill/>
          <a:ln/>
        </p:spPr>
        <p:txBody>
          <a:bodyPr wrap="none" lIns="0" tIns="0" rIns="0" bIns="0" rtlCol="0" anchor="t"/>
          <a:lstStyle/>
          <a:p>
            <a:pPr algn="l" indent="0" marL="0">
              <a:lnSpc>
                <a:spcPts val="1200"/>
              </a:lnSpc>
              <a:buNone/>
            </a:pPr>
            <a:r>
              <a:rPr lang="en-US" sz="950" b="1" dirty="0">
                <a:solidFill>
                  <a:srgbClr val="E0E4E6"/>
                </a:solidFill>
                <a:latin typeface="Spline Sans Bold" pitchFamily="34" charset="0"/>
                <a:ea typeface="Spline Sans Bold" pitchFamily="34" charset="-122"/>
                <a:cs typeface="Spline Sans Bold" pitchFamily="34" charset="-120"/>
              </a:rPr>
              <a:t>Évaluation condition</a:t>
            </a:r>
            <a:endParaRPr lang="en-US" sz="950" dirty="0"/>
          </a:p>
        </p:txBody>
      </p:sp>
      <p:sp>
        <p:nvSpPr>
          <p:cNvPr id="14" name="Text 9"/>
          <p:cNvSpPr/>
          <p:nvPr/>
        </p:nvSpPr>
        <p:spPr>
          <a:xfrm>
            <a:off x="8062793" y="2397204"/>
            <a:ext cx="6134695" cy="176213"/>
          </a:xfrm>
          <a:prstGeom prst="rect">
            <a:avLst/>
          </a:prstGeom>
          <a:noFill/>
          <a:ln/>
        </p:spPr>
        <p:txBody>
          <a:bodyPr wrap="non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La condition est testée après la première exécution</a:t>
            </a:r>
            <a:endParaRPr lang="en-US" sz="850" dirty="0"/>
          </a:p>
        </p:txBody>
      </p:sp>
      <p:pic>
        <p:nvPicPr>
          <p:cNvPr id="15" name="Image 3" descr="preencoded.png">    </p:cNvPr>
          <p:cNvPicPr>
            <a:picLocks noChangeAspect="1"/>
          </p:cNvPicPr>
          <p:nvPr/>
        </p:nvPicPr>
        <p:blipFill>
          <a:blip r:embed="rId4"/>
          <a:stretch>
            <a:fillRect/>
          </a:stretch>
        </p:blipFill>
        <p:spPr>
          <a:xfrm>
            <a:off x="7787521" y="2794873"/>
            <a:ext cx="330398" cy="1143000"/>
          </a:xfrm>
          <a:prstGeom prst="rect">
            <a:avLst/>
          </a:prstGeom>
        </p:spPr>
      </p:pic>
      <p:sp>
        <p:nvSpPr>
          <p:cNvPr id="16" name="Text 10"/>
          <p:cNvSpPr/>
          <p:nvPr/>
        </p:nvSpPr>
        <p:spPr>
          <a:xfrm>
            <a:off x="8228052" y="2905006"/>
            <a:ext cx="1254323" cy="152995"/>
          </a:xfrm>
          <a:prstGeom prst="rect">
            <a:avLst/>
          </a:prstGeom>
          <a:noFill/>
          <a:ln/>
        </p:spPr>
        <p:txBody>
          <a:bodyPr wrap="none" lIns="0" tIns="0" rIns="0" bIns="0" rtlCol="0" anchor="t"/>
          <a:lstStyle/>
          <a:p>
            <a:pPr algn="l" indent="0" marL="0">
              <a:lnSpc>
                <a:spcPts val="1200"/>
              </a:lnSpc>
              <a:buNone/>
            </a:pPr>
            <a:r>
              <a:rPr lang="en-US" sz="950" b="1" dirty="0">
                <a:solidFill>
                  <a:srgbClr val="E0E4E6"/>
                </a:solidFill>
                <a:latin typeface="Spline Sans Bold" pitchFamily="34" charset="0"/>
                <a:ea typeface="Spline Sans Bold" pitchFamily="34" charset="-122"/>
                <a:cs typeface="Spline Sans Bold" pitchFamily="34" charset="-120"/>
              </a:rPr>
              <a:t>Décision de répétition</a:t>
            </a:r>
            <a:endParaRPr lang="en-US" sz="950" dirty="0"/>
          </a:p>
        </p:txBody>
      </p:sp>
      <p:sp>
        <p:nvSpPr>
          <p:cNvPr id="17" name="Text 11"/>
          <p:cNvSpPr/>
          <p:nvPr/>
        </p:nvSpPr>
        <p:spPr>
          <a:xfrm>
            <a:off x="8228052" y="3168134"/>
            <a:ext cx="5969437" cy="176213"/>
          </a:xfrm>
          <a:prstGeom prst="rect">
            <a:avLst/>
          </a:prstGeom>
          <a:noFill/>
          <a:ln/>
        </p:spPr>
        <p:txBody>
          <a:bodyPr wrap="non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Si vrai, on retourne au début ; si faux, on sort</a:t>
            </a:r>
            <a:endParaRPr lang="en-US" sz="850" dirty="0"/>
          </a:p>
        </p:txBody>
      </p:sp>
      <p:sp>
        <p:nvSpPr>
          <p:cNvPr id="18" name="Text 12"/>
          <p:cNvSpPr/>
          <p:nvPr/>
        </p:nvSpPr>
        <p:spPr>
          <a:xfrm>
            <a:off x="440531" y="9497854"/>
            <a:ext cx="13749337" cy="176213"/>
          </a:xfrm>
          <a:prstGeom prst="rect">
            <a:avLst/>
          </a:prstGeom>
          <a:noFill/>
          <a:ln/>
        </p:spPr>
        <p:txBody>
          <a:bodyPr wrap="non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Cette structure est </a:t>
            </a:r>
            <a:pPr algn="l" indent="0" marL="0">
              <a:lnSpc>
                <a:spcPts val="1350"/>
              </a:lnSpc>
              <a:buNone/>
            </a:pPr>
            <a:r>
              <a:rPr lang="en-US" sz="850" dirty="0">
                <a:solidFill>
                  <a:srgbClr val="16FFBB"/>
                </a:solidFill>
                <a:latin typeface="Barlow" pitchFamily="34" charset="0"/>
                <a:ea typeface="Barlow" pitchFamily="34" charset="-122"/>
                <a:cs typeface="Barlow" pitchFamily="34" charset="-120"/>
              </a:rPr>
              <a:t>particulièrement utile pour les menus interactifs</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la validation de saisies utilisateur, ou tout scénario où une action doit être effectuée avant de décider si elle doit être répétée.</a:t>
            </a:r>
            <a:endParaRPr lang="en-US" sz="850" dirty="0"/>
          </a:p>
        </p:txBody>
      </p:sp>
      <p:sp>
        <p:nvSpPr>
          <p:cNvPr id="19" name="Text 13"/>
          <p:cNvSpPr/>
          <p:nvPr/>
        </p:nvSpPr>
        <p:spPr>
          <a:xfrm>
            <a:off x="440531" y="9797891"/>
            <a:ext cx="13749337" cy="176213"/>
          </a:xfrm>
          <a:prstGeom prst="rect">
            <a:avLst/>
          </a:prstGeom>
          <a:noFill/>
          <a:ln/>
        </p:spPr>
        <p:txBody>
          <a:bodyPr wrap="none" lIns="0" tIns="0" rIns="0" bIns="0" rtlCol="0" anchor="t"/>
          <a:lstStyle/>
          <a:p>
            <a:pPr algn="l" indent="0" marL="0">
              <a:lnSpc>
                <a:spcPts val="1350"/>
              </a:lnSpc>
              <a:buNone/>
            </a:pPr>
            <a:r>
              <a:rPr lang="en-US" sz="850" b="1" dirty="0">
                <a:solidFill>
                  <a:srgbClr val="E0E4E6"/>
                </a:solidFill>
                <a:latin typeface="Barlow" pitchFamily="34" charset="0"/>
                <a:ea typeface="Barlow" pitchFamily="34" charset="-122"/>
                <a:cs typeface="Barlow" pitchFamily="34" charset="-120"/>
              </a:rPr>
              <a:t>Exemple typique :</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afficher un menu et demander un choix, puis redemander tant que le choix est invalide – le menu doit s'afficher au moins une fois pour que l'utilisateur puisse choisir.</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70203" y="505420"/>
            <a:ext cx="11790164" cy="465534"/>
          </a:xfrm>
          <a:prstGeom prst="rect">
            <a:avLst/>
          </a:prstGeom>
          <a:noFill/>
          <a:ln/>
        </p:spPr>
        <p:txBody>
          <a:bodyPr wrap="none" lIns="0" tIns="0" rIns="0" bIns="0" rtlCol="0" anchor="t"/>
          <a:lstStyle/>
          <a:p>
            <a:pPr algn="l" indent="0" marL="0">
              <a:lnSpc>
                <a:spcPts val="3650"/>
              </a:lnSpc>
              <a:buNone/>
            </a:pPr>
            <a:r>
              <a:rPr lang="en-US" sz="2900" b="1" dirty="0">
                <a:solidFill>
                  <a:srgbClr val="F0FCFF"/>
                </a:solidFill>
                <a:latin typeface="Spline Sans Bold" pitchFamily="34" charset="0"/>
                <a:ea typeface="Spline Sans Bold" pitchFamily="34" charset="-122"/>
                <a:cs typeface="Spline Sans Bold" pitchFamily="34" charset="-120"/>
              </a:rPr>
              <a:t>Conclusion : maîtriser opérateurs et contrôle pour programmer en C</a:t>
            </a:r>
            <a:endParaRPr lang="en-US" sz="2900" dirty="0"/>
          </a:p>
        </p:txBody>
      </p:sp>
      <p:sp>
        <p:nvSpPr>
          <p:cNvPr id="3" name="Text 1"/>
          <p:cNvSpPr/>
          <p:nvPr/>
        </p:nvSpPr>
        <p:spPr>
          <a:xfrm>
            <a:off x="670203" y="1305997"/>
            <a:ext cx="13289994" cy="536019"/>
          </a:xfrm>
          <a:prstGeom prst="rect">
            <a:avLst/>
          </a:prstGeom>
          <a:noFill/>
          <a:ln/>
        </p:spPr>
        <p:txBody>
          <a:bodyPr wrap="square" lIns="0" tIns="0" rIns="0" bIns="0" rtlCol="0" anchor="t"/>
          <a:lstStyle/>
          <a:p>
            <a:pPr algn="l" indent="0" marL="0">
              <a:lnSpc>
                <a:spcPts val="2100"/>
              </a:lnSpc>
              <a:buNone/>
            </a:pPr>
            <a:r>
              <a:rPr lang="en-US" sz="1300" dirty="0">
                <a:solidFill>
                  <a:srgbClr val="E0E4E6"/>
                </a:solidFill>
                <a:latin typeface="Barlow" pitchFamily="34" charset="0"/>
                <a:ea typeface="Barlow" pitchFamily="34" charset="-122"/>
                <a:cs typeface="Barlow" pitchFamily="34" charset="-120"/>
              </a:rPr>
              <a:t>Les opérateurs et structures de contrôle forment </a:t>
            </a:r>
            <a:pPr algn="l" indent="0" marL="0">
              <a:lnSpc>
                <a:spcPts val="2100"/>
              </a:lnSpc>
              <a:buNone/>
            </a:pPr>
            <a:r>
              <a:rPr lang="en-US" sz="1300" b="1" dirty="0">
                <a:solidFill>
                  <a:srgbClr val="E0E4E6"/>
                </a:solidFill>
                <a:latin typeface="Barlow" pitchFamily="34" charset="0"/>
                <a:ea typeface="Barlow" pitchFamily="34" charset="-122"/>
                <a:cs typeface="Barlow" pitchFamily="34" charset="-120"/>
              </a:rPr>
              <a:t>le socle fondamental de tout programme en C</a:t>
            </a:r>
            <a:pPr algn="l" indent="0" marL="0">
              <a:lnSpc>
                <a:spcPts val="2100"/>
              </a:lnSpc>
              <a:buNone/>
            </a:pPr>
            <a:r>
              <a:rPr lang="en-US" sz="1300" dirty="0">
                <a:solidFill>
                  <a:srgbClr val="E0E4E6"/>
                </a:solidFill>
                <a:latin typeface="Barlow" pitchFamily="34" charset="0"/>
                <a:ea typeface="Barlow" pitchFamily="34" charset="-122"/>
                <a:cs typeface="Barlow" pitchFamily="34" charset="-120"/>
              </a:rPr>
              <a:t>. Leur maîtrise vous permet d'exprimer des logiques complexes avec précision et élégance.</a:t>
            </a:r>
            <a:endParaRPr lang="en-US" sz="1300" dirty="0"/>
          </a:p>
        </p:txBody>
      </p:sp>
      <p:pic>
        <p:nvPicPr>
          <p:cNvPr id="4" name="Image 0" descr="preencoded.png">    </p:cNvPr>
          <p:cNvPicPr>
            <a:picLocks noChangeAspect="1"/>
          </p:cNvPicPr>
          <p:nvPr/>
        </p:nvPicPr>
        <p:blipFill>
          <a:blip r:embed="rId1"/>
          <a:stretch>
            <a:fillRect/>
          </a:stretch>
        </p:blipFill>
        <p:spPr>
          <a:xfrm>
            <a:off x="670203" y="2030492"/>
            <a:ext cx="2488287" cy="2488287"/>
          </a:xfrm>
          <a:prstGeom prst="rect">
            <a:avLst/>
          </a:prstGeom>
        </p:spPr>
      </p:pic>
      <p:sp>
        <p:nvSpPr>
          <p:cNvPr id="5" name="Text 2"/>
          <p:cNvSpPr/>
          <p:nvPr/>
        </p:nvSpPr>
        <p:spPr>
          <a:xfrm>
            <a:off x="670203" y="4728210"/>
            <a:ext cx="1889046" cy="232767"/>
          </a:xfrm>
          <a:prstGeom prst="rect">
            <a:avLst/>
          </a:prstGeom>
          <a:noFill/>
          <a:ln/>
        </p:spPr>
        <p:txBody>
          <a:bodyPr wrap="none" lIns="0" tIns="0" rIns="0" bIns="0" rtlCol="0" anchor="t"/>
          <a:lstStyle/>
          <a:p>
            <a:pPr algn="l" indent="0" marL="0">
              <a:lnSpc>
                <a:spcPts val="1800"/>
              </a:lnSpc>
              <a:buNone/>
            </a:pPr>
            <a:r>
              <a:rPr lang="en-US" sz="1450" b="1" dirty="0">
                <a:solidFill>
                  <a:srgbClr val="E0E4E6"/>
                </a:solidFill>
                <a:latin typeface="Spline Sans Bold" pitchFamily="34" charset="0"/>
                <a:ea typeface="Spline Sans Bold" pitchFamily="34" charset="-122"/>
                <a:cs typeface="Spline Sans Bold" pitchFamily="34" charset="-120"/>
              </a:rPr>
              <a:t>Opérateurs puissants</a:t>
            </a:r>
            <a:endParaRPr lang="en-US" sz="1450" dirty="0"/>
          </a:p>
        </p:txBody>
      </p:sp>
      <p:sp>
        <p:nvSpPr>
          <p:cNvPr id="6" name="Text 3"/>
          <p:cNvSpPr/>
          <p:nvPr/>
        </p:nvSpPr>
        <p:spPr>
          <a:xfrm>
            <a:off x="670203" y="5061466"/>
            <a:ext cx="4290298" cy="536019"/>
          </a:xfrm>
          <a:prstGeom prst="rect">
            <a:avLst/>
          </a:prstGeom>
          <a:noFill/>
          <a:ln/>
        </p:spPr>
        <p:txBody>
          <a:bodyPr wrap="square" lIns="0" tIns="0" rIns="0" bIns="0" rtlCol="0" anchor="t"/>
          <a:lstStyle/>
          <a:p>
            <a:pPr algn="l" indent="0" marL="0">
              <a:lnSpc>
                <a:spcPts val="2100"/>
              </a:lnSpc>
              <a:buNone/>
            </a:pPr>
            <a:r>
              <a:rPr lang="en-US" sz="1300" dirty="0">
                <a:solidFill>
                  <a:srgbClr val="E0E4E6"/>
                </a:solidFill>
                <a:latin typeface="Barlow" pitchFamily="34" charset="0"/>
                <a:ea typeface="Barlow" pitchFamily="34" charset="-122"/>
                <a:cs typeface="Barlow" pitchFamily="34" charset="-120"/>
              </a:rPr>
              <a:t>Arithmétiques, logiques et de comparaison permettent d'écrire des expressions sophistiquées</a:t>
            </a:r>
            <a:endParaRPr lang="en-US" sz="1300" dirty="0"/>
          </a:p>
        </p:txBody>
      </p:sp>
      <p:pic>
        <p:nvPicPr>
          <p:cNvPr id="7" name="Image 1" descr="preencoded.png">    </p:cNvPr>
          <p:cNvPicPr>
            <a:picLocks noChangeAspect="1"/>
          </p:cNvPicPr>
          <p:nvPr/>
        </p:nvPicPr>
        <p:blipFill>
          <a:blip r:embed="rId2"/>
          <a:stretch>
            <a:fillRect/>
          </a:stretch>
        </p:blipFill>
        <p:spPr>
          <a:xfrm>
            <a:off x="5169932" y="2030492"/>
            <a:ext cx="2488406" cy="2488406"/>
          </a:xfrm>
          <a:prstGeom prst="rect">
            <a:avLst/>
          </a:prstGeom>
        </p:spPr>
      </p:pic>
      <p:sp>
        <p:nvSpPr>
          <p:cNvPr id="8" name="Text 4"/>
          <p:cNvSpPr/>
          <p:nvPr/>
        </p:nvSpPr>
        <p:spPr>
          <a:xfrm>
            <a:off x="5169932" y="4728329"/>
            <a:ext cx="1861899" cy="232767"/>
          </a:xfrm>
          <a:prstGeom prst="rect">
            <a:avLst/>
          </a:prstGeom>
          <a:noFill/>
          <a:ln/>
        </p:spPr>
        <p:txBody>
          <a:bodyPr wrap="none" lIns="0" tIns="0" rIns="0" bIns="0" rtlCol="0" anchor="t"/>
          <a:lstStyle/>
          <a:p>
            <a:pPr algn="l" indent="0" marL="0">
              <a:lnSpc>
                <a:spcPts val="1800"/>
              </a:lnSpc>
              <a:buNone/>
            </a:pPr>
            <a:r>
              <a:rPr lang="en-US" sz="1450" b="1" dirty="0">
                <a:solidFill>
                  <a:srgbClr val="E0E4E6"/>
                </a:solidFill>
                <a:latin typeface="Spline Sans Bold" pitchFamily="34" charset="0"/>
                <a:ea typeface="Spline Sans Bold" pitchFamily="34" charset="-122"/>
                <a:cs typeface="Spline Sans Bold" pitchFamily="34" charset="-120"/>
              </a:rPr>
              <a:t>Contrôle du flux</a:t>
            </a:r>
            <a:endParaRPr lang="en-US" sz="1450" dirty="0"/>
          </a:p>
        </p:txBody>
      </p:sp>
      <p:sp>
        <p:nvSpPr>
          <p:cNvPr id="9" name="Text 5"/>
          <p:cNvSpPr/>
          <p:nvPr/>
        </p:nvSpPr>
        <p:spPr>
          <a:xfrm>
            <a:off x="5169932" y="5061585"/>
            <a:ext cx="4290417" cy="536019"/>
          </a:xfrm>
          <a:prstGeom prst="rect">
            <a:avLst/>
          </a:prstGeom>
          <a:noFill/>
          <a:ln/>
        </p:spPr>
        <p:txBody>
          <a:bodyPr wrap="square" lIns="0" tIns="0" rIns="0" bIns="0" rtlCol="0" anchor="t"/>
          <a:lstStyle/>
          <a:p>
            <a:pPr algn="l" indent="0" marL="0">
              <a:lnSpc>
                <a:spcPts val="2100"/>
              </a:lnSpc>
              <a:buNone/>
            </a:pPr>
            <a:r>
              <a:rPr lang="en-US" sz="1300" dirty="0">
                <a:solidFill>
                  <a:srgbClr val="E0E4E6"/>
                </a:solidFill>
                <a:latin typeface="Barlow" pitchFamily="34" charset="0"/>
                <a:ea typeface="Barlow" pitchFamily="34" charset="-122"/>
                <a:cs typeface="Barlow" pitchFamily="34" charset="-120"/>
              </a:rPr>
              <a:t>Les structures conditionnelles et itératives adaptent le comportement de vos programmes</a:t>
            </a:r>
            <a:endParaRPr lang="en-US" sz="1300" dirty="0"/>
          </a:p>
        </p:txBody>
      </p:sp>
      <p:pic>
        <p:nvPicPr>
          <p:cNvPr id="10" name="Image 2" descr="preencoded.png">    </p:cNvPr>
          <p:cNvPicPr>
            <a:picLocks noChangeAspect="1"/>
          </p:cNvPicPr>
          <p:nvPr/>
        </p:nvPicPr>
        <p:blipFill>
          <a:blip r:embed="rId3"/>
          <a:stretch>
            <a:fillRect/>
          </a:stretch>
        </p:blipFill>
        <p:spPr>
          <a:xfrm>
            <a:off x="9669780" y="2030492"/>
            <a:ext cx="2488287" cy="2488287"/>
          </a:xfrm>
          <a:prstGeom prst="rect">
            <a:avLst/>
          </a:prstGeom>
        </p:spPr>
      </p:pic>
      <p:sp>
        <p:nvSpPr>
          <p:cNvPr id="11" name="Text 6"/>
          <p:cNvSpPr/>
          <p:nvPr/>
        </p:nvSpPr>
        <p:spPr>
          <a:xfrm>
            <a:off x="9669780" y="4728210"/>
            <a:ext cx="1861899" cy="232767"/>
          </a:xfrm>
          <a:prstGeom prst="rect">
            <a:avLst/>
          </a:prstGeom>
          <a:noFill/>
          <a:ln/>
        </p:spPr>
        <p:txBody>
          <a:bodyPr wrap="none" lIns="0" tIns="0" rIns="0" bIns="0" rtlCol="0" anchor="t"/>
          <a:lstStyle/>
          <a:p>
            <a:pPr algn="l" indent="0" marL="0">
              <a:lnSpc>
                <a:spcPts val="1800"/>
              </a:lnSpc>
              <a:buNone/>
            </a:pPr>
            <a:r>
              <a:rPr lang="en-US" sz="1450" b="1" dirty="0">
                <a:solidFill>
                  <a:srgbClr val="E0E4E6"/>
                </a:solidFill>
                <a:latin typeface="Spline Sans Bold" pitchFamily="34" charset="0"/>
                <a:ea typeface="Spline Sans Bold" pitchFamily="34" charset="-122"/>
                <a:cs typeface="Spline Sans Bold" pitchFamily="34" charset="-120"/>
              </a:rPr>
              <a:t>Pratique essentielle</a:t>
            </a:r>
            <a:endParaRPr lang="en-US" sz="1450" dirty="0"/>
          </a:p>
        </p:txBody>
      </p:sp>
      <p:sp>
        <p:nvSpPr>
          <p:cNvPr id="12" name="Text 7"/>
          <p:cNvSpPr/>
          <p:nvPr/>
        </p:nvSpPr>
        <p:spPr>
          <a:xfrm>
            <a:off x="9669780" y="5061466"/>
            <a:ext cx="4290298" cy="536019"/>
          </a:xfrm>
          <a:prstGeom prst="rect">
            <a:avLst/>
          </a:prstGeom>
          <a:noFill/>
          <a:ln/>
        </p:spPr>
        <p:txBody>
          <a:bodyPr wrap="square" lIns="0" tIns="0" rIns="0" bIns="0" rtlCol="0" anchor="t"/>
          <a:lstStyle/>
          <a:p>
            <a:pPr algn="l" indent="0" marL="0">
              <a:lnSpc>
                <a:spcPts val="2100"/>
              </a:lnSpc>
              <a:buNone/>
            </a:pPr>
            <a:r>
              <a:rPr lang="en-US" sz="1300" dirty="0">
                <a:solidFill>
                  <a:srgbClr val="E0E4E6"/>
                </a:solidFill>
                <a:latin typeface="Barlow" pitchFamily="34" charset="0"/>
                <a:ea typeface="Barlow" pitchFamily="34" charset="-122"/>
                <a:cs typeface="Barlow" pitchFamily="34" charset="-120"/>
              </a:rPr>
              <a:t>L'exercice régulier consolide la compréhension et développe les réflexes de programmation</a:t>
            </a:r>
            <a:endParaRPr lang="en-US" sz="1300" dirty="0"/>
          </a:p>
        </p:txBody>
      </p:sp>
      <p:sp>
        <p:nvSpPr>
          <p:cNvPr id="13" name="Shape 8"/>
          <p:cNvSpPr/>
          <p:nvPr/>
        </p:nvSpPr>
        <p:spPr>
          <a:xfrm>
            <a:off x="670203" y="5869766"/>
            <a:ext cx="13289994" cy="28456"/>
          </a:xfrm>
          <a:prstGeom prst="rect">
            <a:avLst/>
          </a:prstGeom>
          <a:solidFill>
            <a:srgbClr val="E0E4E6">
              <a:alpha val="50000"/>
            </a:srgbClr>
          </a:solidFill>
          <a:ln/>
        </p:spPr>
      </p:sp>
      <p:sp>
        <p:nvSpPr>
          <p:cNvPr id="14" name="Text 9"/>
          <p:cNvSpPr/>
          <p:nvPr/>
        </p:nvSpPr>
        <p:spPr>
          <a:xfrm>
            <a:off x="921544" y="6275070"/>
            <a:ext cx="13038653" cy="536019"/>
          </a:xfrm>
          <a:prstGeom prst="rect">
            <a:avLst/>
          </a:prstGeom>
          <a:noFill/>
          <a:ln/>
        </p:spPr>
        <p:txBody>
          <a:bodyPr wrap="square" lIns="0" tIns="0" rIns="0" bIns="0" rtlCol="0" anchor="t"/>
          <a:lstStyle/>
          <a:p>
            <a:pPr algn="l" indent="0" marL="0">
              <a:lnSpc>
                <a:spcPts val="2100"/>
              </a:lnSpc>
              <a:buNone/>
            </a:pPr>
            <a:r>
              <a:rPr lang="en-US" sz="1300" b="1" dirty="0">
                <a:solidFill>
                  <a:srgbClr val="E0E4E6"/>
                </a:solidFill>
                <a:latin typeface="Barlow" pitchFamily="34" charset="0"/>
                <a:ea typeface="Barlow" pitchFamily="34" charset="-122"/>
                <a:cs typeface="Barlow" pitchFamily="34" charset="-120"/>
              </a:rPr>
              <a:t>Recommandation finale :</a:t>
            </a:r>
            <a:pPr algn="l" indent="0" marL="0">
              <a:lnSpc>
                <a:spcPts val="2100"/>
              </a:lnSpc>
              <a:buNone/>
            </a:pPr>
            <a:r>
              <a:rPr lang="en-US" sz="1300" dirty="0">
                <a:solidFill>
                  <a:srgbClr val="E0E4E6"/>
                </a:solidFill>
                <a:latin typeface="Barlow" pitchFamily="34" charset="0"/>
                <a:ea typeface="Barlow" pitchFamily="34" charset="-122"/>
                <a:cs typeface="Barlow" pitchFamily="34" charset="-120"/>
              </a:rPr>
              <a:t> La théorie seule ne suffit pas. Écrivez et testez de petits programmes pour expérimenter chaque concept. Commencez par des exercices simples, puis augmentez progressivement la complexité. C'est en pratiquant que vous développerez l'intuition nécessaire pour devenir un développeur C efficace et créatif.</a:t>
            </a:r>
            <a:endParaRPr lang="en-US" sz="1300" dirty="0"/>
          </a:p>
        </p:txBody>
      </p:sp>
      <p:sp>
        <p:nvSpPr>
          <p:cNvPr id="15" name="Shape 10"/>
          <p:cNvSpPr/>
          <p:nvPr/>
        </p:nvSpPr>
        <p:spPr>
          <a:xfrm>
            <a:off x="670203" y="6086594"/>
            <a:ext cx="22860" cy="912971"/>
          </a:xfrm>
          <a:prstGeom prst="rect">
            <a:avLst/>
          </a:prstGeom>
          <a:solidFill>
            <a:srgbClr val="16FFBB"/>
          </a:solidFill>
          <a:ln/>
        </p:spPr>
      </p:sp>
      <p:sp>
        <p:nvSpPr>
          <p:cNvPr id="16" name="Text 11"/>
          <p:cNvSpPr/>
          <p:nvPr/>
        </p:nvSpPr>
        <p:spPr>
          <a:xfrm>
            <a:off x="670203" y="7188041"/>
            <a:ext cx="13289994" cy="536019"/>
          </a:xfrm>
          <a:prstGeom prst="rect">
            <a:avLst/>
          </a:prstGeom>
          <a:noFill/>
          <a:ln/>
        </p:spPr>
        <p:txBody>
          <a:bodyPr wrap="square" lIns="0" tIns="0" rIns="0" bIns="0" rtlCol="0" anchor="t"/>
          <a:lstStyle/>
          <a:p>
            <a:pPr algn="l" indent="0" marL="0">
              <a:lnSpc>
                <a:spcPts val="2100"/>
              </a:lnSpc>
              <a:buNone/>
            </a:pPr>
            <a:r>
              <a:rPr lang="en-US" sz="1300" dirty="0">
                <a:solidFill>
                  <a:srgbClr val="E0E4E6"/>
                </a:solidFill>
                <a:latin typeface="Barlow" pitchFamily="34" charset="0"/>
                <a:ea typeface="Barlow" pitchFamily="34" charset="-122"/>
                <a:cs typeface="Barlow" pitchFamily="34" charset="-120"/>
              </a:rPr>
              <a:t>Avec ces fondamentaux bien assimilés, vous disposez des </a:t>
            </a:r>
            <a:pPr algn="l" indent="0" marL="0">
              <a:lnSpc>
                <a:spcPts val="2100"/>
              </a:lnSpc>
              <a:buNone/>
            </a:pPr>
            <a:r>
              <a:rPr lang="en-US" sz="1300" dirty="0">
                <a:solidFill>
                  <a:srgbClr val="16FFBB"/>
                </a:solidFill>
                <a:latin typeface="Barlow" pitchFamily="34" charset="0"/>
                <a:ea typeface="Barlow" pitchFamily="34" charset="-122"/>
                <a:cs typeface="Barlow" pitchFamily="34" charset="-120"/>
              </a:rPr>
              <a:t>outils essentiels pour créer des programmes robustes</a:t>
            </a:r>
            <a:pPr algn="l" indent="0" marL="0">
              <a:lnSpc>
                <a:spcPts val="2100"/>
              </a:lnSpc>
              <a:buNone/>
            </a:pPr>
            <a:r>
              <a:rPr lang="en-US" sz="1300" dirty="0">
                <a:solidFill>
                  <a:srgbClr val="E0E4E6"/>
                </a:solidFill>
                <a:latin typeface="Barlow" pitchFamily="34" charset="0"/>
                <a:ea typeface="Barlow" pitchFamily="34" charset="-122"/>
                <a:cs typeface="Barlow" pitchFamily="34" charset="-120"/>
              </a:rPr>
              <a:t> et résoudre des problèmes algorithmiques variés. La prochaine étape ? Combiner ces éléments pour construire des solutions de plus en plus sophistiquées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2025-12-02T06:33:43Z</dcterms:created>
  <dcterms:modified xsi:type="dcterms:W3CDTF">2025-12-02T06:33:43Z</dcterms:modified>
</cp:coreProperties>
</file>