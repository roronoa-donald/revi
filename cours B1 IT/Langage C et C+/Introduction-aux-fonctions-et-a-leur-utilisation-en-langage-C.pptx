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embeddedFontLst>
    <p:embeddedFont>
      <p:font typeface="Spline Sans"/>
      <p:regular r:id="rId10"/>
    </p:embeddedFont>
    <p:embeddedFont>
      <p:font typeface="Spline Sans"/>
      <p:regular r:id="rId11"/>
    </p:embeddedFont>
    <p:embeddedFont>
      <p:font typeface="Barlow"/>
      <p:regular r:id="rId12"/>
    </p:embeddedFont>
    <p:embeddedFont>
      <p:font typeface="Barlow"/>
      <p:regular r:id="rId13"/>
    </p:embeddedFont>
    <p:embeddedFont>
      <p:font typeface="Barlow"/>
      <p:regular r:id="rId14"/>
    </p:embeddedFont>
    <p:embeddedFont>
      <p:font typeface="Barlow"/>
      <p:regular r:id="rId1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67462" y="2632710"/>
            <a:ext cx="7381875" cy="1223963"/>
          </a:xfrm>
          <a:prstGeom prst="rect">
            <a:avLst/>
          </a:prstGeom>
          <a:noFill/>
          <a:ln/>
        </p:spPr>
        <p:txBody>
          <a:bodyPr wrap="square" lIns="0" tIns="0" rIns="0" bIns="0" rtlCol="0" anchor="t"/>
          <a:lstStyle/>
          <a:p>
            <a:pPr algn="l" indent="0" marL="0">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Introduction aux fonctions et à leur utilisation en langage C</a:t>
            </a:r>
            <a:endParaRPr lang="en-US" sz="3850" dirty="0"/>
          </a:p>
        </p:txBody>
      </p:sp>
      <p:sp>
        <p:nvSpPr>
          <p:cNvPr id="4" name="Text 1"/>
          <p:cNvSpPr/>
          <p:nvPr/>
        </p:nvSpPr>
        <p:spPr>
          <a:xfrm>
            <a:off x="6367462" y="4187071"/>
            <a:ext cx="7381875" cy="1409700"/>
          </a:xfrm>
          <a:prstGeom prst="rect">
            <a:avLst/>
          </a:prstGeom>
          <a:noFill/>
          <a:ln/>
        </p:spPr>
        <p:txBody>
          <a:bodyPr wrap="square" lIns="0" tIns="0" rIns="0" bIns="0" rtlCol="0" anchor="t"/>
          <a:lstStyle/>
          <a:p>
            <a:pPr algn="l" indent="0" marL="0">
              <a:lnSpc>
                <a:spcPts val="2750"/>
              </a:lnSpc>
              <a:buNone/>
            </a:pPr>
            <a:r>
              <a:rPr lang="en-US" sz="1700" dirty="0">
                <a:solidFill>
                  <a:srgbClr val="E0E4E6"/>
                </a:solidFill>
                <a:latin typeface="Barlow" pitchFamily="34" charset="0"/>
                <a:ea typeface="Barlow" pitchFamily="34" charset="-122"/>
                <a:cs typeface="Barlow" pitchFamily="34" charset="-120"/>
              </a:rPr>
              <a:t>Découvrez comment maîtriser l'un des concepts fondamentaux de la programmation en C : les fonctions. Ce guide complet vous accompagnera dans la compréhension et l'utilisation efficace des fonctions pour créer des programmes robustes et maintenables.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0531" y="302895"/>
            <a:ext cx="3656767" cy="305991"/>
          </a:xfrm>
          <a:prstGeom prst="rect">
            <a:avLst/>
          </a:prstGeom>
          <a:noFill/>
          <a:ln/>
        </p:spPr>
        <p:txBody>
          <a:bodyPr wrap="none" lIns="0" tIns="0" rIns="0" bIns="0" rtlCol="0" anchor="t"/>
          <a:lstStyle/>
          <a:p>
            <a:pPr algn="l" indent="0" marL="0">
              <a:lnSpc>
                <a:spcPts val="2400"/>
              </a:lnSpc>
              <a:buNone/>
            </a:pPr>
            <a:r>
              <a:rPr lang="en-US" sz="1900" b="1" dirty="0">
                <a:solidFill>
                  <a:srgbClr val="F0FCFF"/>
                </a:solidFill>
                <a:latin typeface="Spline Sans Bold" pitchFamily="34" charset="0"/>
                <a:ea typeface="Spline Sans Bold" pitchFamily="34" charset="-122"/>
                <a:cs typeface="Spline Sans Bold" pitchFamily="34" charset="-120"/>
              </a:rPr>
              <a:t>Qu'est-ce qu'une fonction en C ?</a:t>
            </a:r>
            <a:endParaRPr lang="en-US" sz="1900" dirty="0"/>
          </a:p>
        </p:txBody>
      </p:sp>
      <p:sp>
        <p:nvSpPr>
          <p:cNvPr id="3" name="Text 1"/>
          <p:cNvSpPr/>
          <p:nvPr/>
        </p:nvSpPr>
        <p:spPr>
          <a:xfrm>
            <a:off x="440531" y="873085"/>
            <a:ext cx="6039445"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Les fonctions constituent l'épine dorsale de la programmation structurée en C. Elles représentent bien plus qu'un simple bloc de code : ce sont des outils puissants qui transforment la manière dont nous concevons et organisons nos programmes.</a:t>
            </a:r>
            <a:endParaRPr lang="en-US" sz="850" dirty="0"/>
          </a:p>
        </p:txBody>
      </p:sp>
      <p:sp>
        <p:nvSpPr>
          <p:cNvPr id="4" name="Text 2"/>
          <p:cNvSpPr/>
          <p:nvPr/>
        </p:nvSpPr>
        <p:spPr>
          <a:xfrm>
            <a:off x="440531" y="1324570"/>
            <a:ext cx="6039445" cy="528638"/>
          </a:xfrm>
          <a:prstGeom prst="rect">
            <a:avLst/>
          </a:prstGeom>
          <a:noFill/>
          <a:ln/>
        </p:spPr>
        <p:txBody>
          <a:bodyPr wrap="square" lIns="0" tIns="0" rIns="0" bIns="0" rtlCol="0" anchor="t"/>
          <a:lstStyle/>
          <a:p>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Une fonction est un bloc de code nommé et autonome</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conçu pour accomplir une tâche spécifique et bien définie. Plutôt que d'écrire le même code plusieurs fois dans votre programme, vous pouvez l'encapsuler dans une fonction et l'appeler chaque fois que nécessaire.</a:t>
            </a:r>
            <a:endParaRPr lang="en-US" sz="850" dirty="0"/>
          </a:p>
        </p:txBody>
      </p:sp>
      <p:pic>
        <p:nvPicPr>
          <p:cNvPr id="5" name="Image 0" descr="preencoded.png">    </p:cNvPr>
          <p:cNvPicPr>
            <a:picLocks noChangeAspect="1"/>
          </p:cNvPicPr>
          <p:nvPr/>
        </p:nvPicPr>
        <p:blipFill>
          <a:blip r:embed="rId1"/>
          <a:stretch>
            <a:fillRect/>
          </a:stretch>
        </p:blipFill>
        <p:spPr>
          <a:xfrm>
            <a:off x="6756202" y="897850"/>
            <a:ext cx="7049333" cy="7049333"/>
          </a:xfrm>
          <a:prstGeom prst="rect">
            <a:avLst/>
          </a:prstGeom>
        </p:spPr>
      </p:pic>
      <p:sp>
        <p:nvSpPr>
          <p:cNvPr id="6" name="Shape 3"/>
          <p:cNvSpPr/>
          <p:nvPr/>
        </p:nvSpPr>
        <p:spPr>
          <a:xfrm>
            <a:off x="440531" y="8194834"/>
            <a:ext cx="4509611" cy="1247537"/>
          </a:xfrm>
          <a:prstGeom prst="roundRect">
            <a:avLst>
              <a:gd name="adj" fmla="val 13244"/>
            </a:avLst>
          </a:prstGeom>
          <a:solidFill>
            <a:srgbClr val="0A081B"/>
          </a:solidFill>
          <a:ln w="7620">
            <a:solidFill>
              <a:srgbClr val="16FFBB"/>
            </a:solidFill>
            <a:prstDash val="solid"/>
          </a:ln>
        </p:spPr>
      </p:sp>
      <p:sp>
        <p:nvSpPr>
          <p:cNvPr id="7" name="Shape 4"/>
          <p:cNvSpPr/>
          <p:nvPr/>
        </p:nvSpPr>
        <p:spPr>
          <a:xfrm>
            <a:off x="558284" y="8312587"/>
            <a:ext cx="330398" cy="330398"/>
          </a:xfrm>
          <a:prstGeom prst="roundRect">
            <a:avLst>
              <a:gd name="adj" fmla="val 27672945"/>
            </a:avLst>
          </a:prstGeom>
          <a:solidFill>
            <a:srgbClr val="16FFBB"/>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9129" y="8403431"/>
            <a:ext cx="148590" cy="148590"/>
          </a:xfrm>
          <a:prstGeom prst="rect">
            <a:avLst/>
          </a:prstGeom>
        </p:spPr>
      </p:pic>
      <p:sp>
        <p:nvSpPr>
          <p:cNvPr id="9" name="Text 5"/>
          <p:cNvSpPr/>
          <p:nvPr/>
        </p:nvSpPr>
        <p:spPr>
          <a:xfrm>
            <a:off x="558284" y="8753118"/>
            <a:ext cx="1268730"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Réutilisabilité du code</a:t>
            </a:r>
            <a:endParaRPr lang="en-US" sz="950" dirty="0"/>
          </a:p>
        </p:txBody>
      </p:sp>
      <p:sp>
        <p:nvSpPr>
          <p:cNvPr id="10" name="Text 6"/>
          <p:cNvSpPr/>
          <p:nvPr/>
        </p:nvSpPr>
        <p:spPr>
          <a:xfrm>
            <a:off x="558284" y="8972193"/>
            <a:ext cx="4274106"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Écrivez une fois, utilisez partout. Les fonctions éliminent la duplication de code et facilitent les modifications futures.</a:t>
            </a:r>
            <a:endParaRPr lang="en-US" sz="850" dirty="0"/>
          </a:p>
        </p:txBody>
      </p:sp>
      <p:sp>
        <p:nvSpPr>
          <p:cNvPr id="11" name="Shape 7"/>
          <p:cNvSpPr/>
          <p:nvPr/>
        </p:nvSpPr>
        <p:spPr>
          <a:xfrm>
            <a:off x="5060275" y="8194834"/>
            <a:ext cx="4509730" cy="1247537"/>
          </a:xfrm>
          <a:prstGeom prst="roundRect">
            <a:avLst>
              <a:gd name="adj" fmla="val 13244"/>
            </a:avLst>
          </a:prstGeom>
          <a:solidFill>
            <a:srgbClr val="0A081B"/>
          </a:solidFill>
          <a:ln w="7620">
            <a:solidFill>
              <a:srgbClr val="29DDDA"/>
            </a:solidFill>
            <a:prstDash val="solid"/>
          </a:ln>
        </p:spPr>
      </p:sp>
      <p:sp>
        <p:nvSpPr>
          <p:cNvPr id="12" name="Shape 8"/>
          <p:cNvSpPr/>
          <p:nvPr/>
        </p:nvSpPr>
        <p:spPr>
          <a:xfrm>
            <a:off x="5178028" y="8312587"/>
            <a:ext cx="330398" cy="330398"/>
          </a:xfrm>
          <a:prstGeom prst="roundRect">
            <a:avLst>
              <a:gd name="adj" fmla="val 27672945"/>
            </a:avLst>
          </a:prstGeom>
          <a:solidFill>
            <a:srgbClr val="29DDDA"/>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68873" y="8403431"/>
            <a:ext cx="148590" cy="148590"/>
          </a:xfrm>
          <a:prstGeom prst="rect">
            <a:avLst/>
          </a:prstGeom>
        </p:spPr>
      </p:pic>
      <p:sp>
        <p:nvSpPr>
          <p:cNvPr id="14" name="Text 9"/>
          <p:cNvSpPr/>
          <p:nvPr/>
        </p:nvSpPr>
        <p:spPr>
          <a:xfrm>
            <a:off x="5178028" y="8753118"/>
            <a:ext cx="1355527"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Organisation améliorée</a:t>
            </a:r>
            <a:endParaRPr lang="en-US" sz="950" dirty="0"/>
          </a:p>
        </p:txBody>
      </p:sp>
      <p:sp>
        <p:nvSpPr>
          <p:cNvPr id="15" name="Text 10"/>
          <p:cNvSpPr/>
          <p:nvPr/>
        </p:nvSpPr>
        <p:spPr>
          <a:xfrm>
            <a:off x="5178028" y="8972193"/>
            <a:ext cx="4274225"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Structurez votre programme en modules logiques et cohérents, rendant le code plus lisible et maintenable.</a:t>
            </a:r>
            <a:endParaRPr lang="en-US" sz="850" dirty="0"/>
          </a:p>
        </p:txBody>
      </p:sp>
      <p:sp>
        <p:nvSpPr>
          <p:cNvPr id="16" name="Shape 11"/>
          <p:cNvSpPr/>
          <p:nvPr/>
        </p:nvSpPr>
        <p:spPr>
          <a:xfrm>
            <a:off x="9680138" y="8194834"/>
            <a:ext cx="4509611" cy="1247537"/>
          </a:xfrm>
          <a:prstGeom prst="roundRect">
            <a:avLst>
              <a:gd name="adj" fmla="val 13244"/>
            </a:avLst>
          </a:prstGeom>
          <a:solidFill>
            <a:srgbClr val="0A081B"/>
          </a:solidFill>
          <a:ln w="7620">
            <a:solidFill>
              <a:srgbClr val="37A7E7"/>
            </a:solidFill>
            <a:prstDash val="solid"/>
          </a:ln>
        </p:spPr>
      </p:sp>
      <p:sp>
        <p:nvSpPr>
          <p:cNvPr id="17" name="Shape 12"/>
          <p:cNvSpPr/>
          <p:nvPr/>
        </p:nvSpPr>
        <p:spPr>
          <a:xfrm>
            <a:off x="9797891" y="8312587"/>
            <a:ext cx="330398" cy="330398"/>
          </a:xfrm>
          <a:prstGeom prst="roundRect">
            <a:avLst>
              <a:gd name="adj" fmla="val 27672945"/>
            </a:avLst>
          </a:prstGeom>
          <a:solidFill>
            <a:srgbClr val="37A7E7"/>
          </a:solidFill>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88736" y="8403431"/>
            <a:ext cx="148590" cy="148590"/>
          </a:xfrm>
          <a:prstGeom prst="rect">
            <a:avLst/>
          </a:prstGeom>
        </p:spPr>
      </p:pic>
      <p:sp>
        <p:nvSpPr>
          <p:cNvPr id="19" name="Text 13"/>
          <p:cNvSpPr/>
          <p:nvPr/>
        </p:nvSpPr>
        <p:spPr>
          <a:xfrm>
            <a:off x="9797891" y="8753118"/>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Clarté et lisibilité</a:t>
            </a:r>
            <a:endParaRPr lang="en-US" sz="950" dirty="0"/>
          </a:p>
        </p:txBody>
      </p:sp>
      <p:sp>
        <p:nvSpPr>
          <p:cNvPr id="20" name="Text 14"/>
          <p:cNvSpPr/>
          <p:nvPr/>
        </p:nvSpPr>
        <p:spPr>
          <a:xfrm>
            <a:off x="9797891" y="8972193"/>
            <a:ext cx="4274106"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Un code bien découpé en fonctions se comprend plus facilement et se débogue plus rapidement.</a:t>
            </a:r>
            <a:endParaRPr lang="en-US" sz="850" dirty="0"/>
          </a:p>
        </p:txBody>
      </p:sp>
      <p:sp>
        <p:nvSpPr>
          <p:cNvPr id="21" name="Text 15"/>
          <p:cNvSpPr/>
          <p:nvPr/>
        </p:nvSpPr>
        <p:spPr>
          <a:xfrm>
            <a:off x="605671" y="9690021"/>
            <a:ext cx="13584198" cy="176213"/>
          </a:xfrm>
          <a:prstGeom prst="rect">
            <a:avLst/>
          </a:prstGeom>
          <a:noFill/>
          <a:ln/>
        </p:spPr>
        <p:txBody>
          <a:bodyPr wrap="none" lIns="0" tIns="0" rIns="0" bIns="0" rtlCol="0" anchor="t"/>
          <a:lstStyle/>
          <a:p>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Point d'entrée essentiel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La fonction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main()</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est le cœur battant de tout programme C. C'est elle qui est appelée automatiquement au lancement de votre application, orchestrant l'exécution de toutes les autres fonctions.</a:t>
            </a:r>
            <a:endParaRPr lang="en-US" sz="850" dirty="0"/>
          </a:p>
        </p:txBody>
      </p:sp>
      <p:sp>
        <p:nvSpPr>
          <p:cNvPr id="22" name="Shape 16"/>
          <p:cNvSpPr/>
          <p:nvPr/>
        </p:nvSpPr>
        <p:spPr>
          <a:xfrm>
            <a:off x="440531" y="9566196"/>
            <a:ext cx="15240" cy="423863"/>
          </a:xfrm>
          <a:prstGeom prst="rect">
            <a:avLst/>
          </a:prstGeom>
          <a:solidFill>
            <a:srgbClr val="16FFBB"/>
          </a:solidFill>
          <a:ln/>
        </p:spPr>
      </p:sp>
      <p:sp>
        <p:nvSpPr>
          <p:cNvPr id="23" name="Text 17"/>
          <p:cNvSpPr/>
          <p:nvPr/>
        </p:nvSpPr>
        <p:spPr>
          <a:xfrm>
            <a:off x="440531" y="10113883"/>
            <a:ext cx="13749337"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En maîtrisant les fonctions, vous adoptez les principes du </a:t>
            </a:r>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divide and conquer</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 divisez les problèmes complexes en sous-problèmes plus simples et gérables. Cette approche modulaire est la clé pour créer des logiciels professionnels, évolutifs et faciles à maintenir.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0531" y="302895"/>
            <a:ext cx="3549729" cy="305991"/>
          </a:xfrm>
          <a:prstGeom prst="rect">
            <a:avLst/>
          </a:prstGeom>
          <a:noFill/>
          <a:ln/>
        </p:spPr>
        <p:txBody>
          <a:bodyPr wrap="none" lIns="0" tIns="0" rIns="0" bIns="0" rtlCol="0" anchor="t"/>
          <a:lstStyle/>
          <a:p>
            <a:pPr algn="l" indent="0" marL="0">
              <a:lnSpc>
                <a:spcPts val="2400"/>
              </a:lnSpc>
              <a:buNone/>
            </a:pPr>
            <a:r>
              <a:rPr lang="en-US" sz="1900" b="1" dirty="0">
                <a:solidFill>
                  <a:srgbClr val="F0FCFF"/>
                </a:solidFill>
                <a:latin typeface="Spline Sans Bold" pitchFamily="34" charset="0"/>
                <a:ea typeface="Spline Sans Bold" pitchFamily="34" charset="-122"/>
                <a:cs typeface="Spline Sans Bold" pitchFamily="34" charset="-120"/>
              </a:rPr>
              <a:t>Syntaxe de base d'une fonction</a:t>
            </a:r>
            <a:endParaRPr lang="en-US" sz="1900" dirty="0"/>
          </a:p>
        </p:txBody>
      </p:sp>
      <p:sp>
        <p:nvSpPr>
          <p:cNvPr id="3" name="Text 1"/>
          <p:cNvSpPr/>
          <p:nvPr/>
        </p:nvSpPr>
        <p:spPr>
          <a:xfrm>
            <a:off x="440531" y="829151"/>
            <a:ext cx="13749337"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Comprendre la structure d'une fonction en C est essentiel pour écrire du code efficace. Chaque fonction suit un format précis qui définit son comportement et son interface avec le reste du programme.</a:t>
            </a:r>
            <a:endParaRPr lang="en-US" sz="850" dirty="0"/>
          </a:p>
        </p:txBody>
      </p:sp>
      <p:sp>
        <p:nvSpPr>
          <p:cNvPr id="4" name="Shape 2"/>
          <p:cNvSpPr/>
          <p:nvPr/>
        </p:nvSpPr>
        <p:spPr>
          <a:xfrm>
            <a:off x="440531" y="1129189"/>
            <a:ext cx="4509611" cy="2380297"/>
          </a:xfrm>
          <a:prstGeom prst="roundRect">
            <a:avLst>
              <a:gd name="adj" fmla="val 6941"/>
            </a:avLst>
          </a:prstGeom>
          <a:solidFill>
            <a:srgbClr val="0A081B">
              <a:alpha val="75000"/>
            </a:srgbClr>
          </a:solidFill>
          <a:ln w="15240">
            <a:solidFill>
              <a:srgbClr val="16FFBB"/>
            </a:solidFill>
            <a:prstDash val="solid"/>
          </a:ln>
        </p:spPr>
      </p:sp>
      <p:sp>
        <p:nvSpPr>
          <p:cNvPr id="5" name="Shape 3"/>
          <p:cNvSpPr/>
          <p:nvPr/>
        </p:nvSpPr>
        <p:spPr>
          <a:xfrm>
            <a:off x="455771" y="1144429"/>
            <a:ext cx="4479131" cy="330398"/>
          </a:xfrm>
          <a:prstGeom prst="roundRect">
            <a:avLst>
              <a:gd name="adj" fmla="val 44472"/>
            </a:avLst>
          </a:prstGeom>
          <a:solidFill>
            <a:srgbClr val="0A081B"/>
          </a:solidFill>
          <a:ln/>
        </p:spPr>
      </p:sp>
      <p:sp>
        <p:nvSpPr>
          <p:cNvPr id="6" name="Text 4"/>
          <p:cNvSpPr/>
          <p:nvPr/>
        </p:nvSpPr>
        <p:spPr>
          <a:xfrm>
            <a:off x="2612708" y="1202531"/>
            <a:ext cx="165140" cy="206454"/>
          </a:xfrm>
          <a:prstGeom prst="rect">
            <a:avLst/>
          </a:prstGeom>
          <a:noFill/>
          <a:ln/>
        </p:spPr>
        <p:txBody>
          <a:bodyPr wrap="none" lIns="0" tIns="0" rIns="0" bIns="0" rtlCol="0" anchor="t"/>
          <a:lstStyle/>
          <a:p>
            <a:pPr algn="l" indent="0" marL="0">
              <a:lnSpc>
                <a:spcPts val="1300"/>
              </a:lnSpc>
              <a:buNone/>
            </a:pPr>
            <a:r>
              <a:rPr lang="en-US" sz="1300" b="1" dirty="0">
                <a:solidFill>
                  <a:srgbClr val="E0E4E6"/>
                </a:solidFill>
                <a:latin typeface="Spline Sans Bold" pitchFamily="34" charset="0"/>
                <a:ea typeface="Spline Sans Bold" pitchFamily="34" charset="-122"/>
                <a:cs typeface="Spline Sans Bold" pitchFamily="34" charset="-120"/>
              </a:rPr>
              <a:t>1</a:t>
            </a:r>
            <a:endParaRPr lang="en-US" sz="1300" dirty="0"/>
          </a:p>
        </p:txBody>
      </p:sp>
      <p:sp>
        <p:nvSpPr>
          <p:cNvPr id="7" name="Text 5"/>
          <p:cNvSpPr/>
          <p:nvPr/>
        </p:nvSpPr>
        <p:spPr>
          <a:xfrm>
            <a:off x="565904" y="1584960"/>
            <a:ext cx="1720691"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Format général d'une fonction</a:t>
            </a:r>
            <a:endParaRPr lang="en-US" sz="950" dirty="0"/>
          </a:p>
        </p:txBody>
      </p:sp>
      <p:sp>
        <p:nvSpPr>
          <p:cNvPr id="8" name="Shape 6"/>
          <p:cNvSpPr/>
          <p:nvPr/>
        </p:nvSpPr>
        <p:spPr>
          <a:xfrm>
            <a:off x="565904" y="1861780"/>
            <a:ext cx="4258866" cy="1046083"/>
          </a:xfrm>
          <a:prstGeom prst="roundRect">
            <a:avLst>
              <a:gd name="adj" fmla="val 15794"/>
            </a:avLst>
          </a:prstGeom>
          <a:solidFill>
            <a:srgbClr val="171528"/>
          </a:solidFill>
          <a:ln/>
        </p:spPr>
      </p:sp>
      <p:sp>
        <p:nvSpPr>
          <p:cNvPr id="9" name="Shape 7"/>
          <p:cNvSpPr/>
          <p:nvPr/>
        </p:nvSpPr>
        <p:spPr>
          <a:xfrm>
            <a:off x="560427" y="1861780"/>
            <a:ext cx="4269819" cy="1046083"/>
          </a:xfrm>
          <a:prstGeom prst="roundRect">
            <a:avLst>
              <a:gd name="adj" fmla="val 1579"/>
            </a:avLst>
          </a:prstGeom>
          <a:solidFill>
            <a:srgbClr val="171528"/>
          </a:solidFill>
          <a:ln/>
        </p:spPr>
      </p:sp>
      <p:sp>
        <p:nvSpPr>
          <p:cNvPr id="10" name="Text 8"/>
          <p:cNvSpPr/>
          <p:nvPr/>
        </p:nvSpPr>
        <p:spPr>
          <a:xfrm>
            <a:off x="670560" y="1944291"/>
            <a:ext cx="4049554" cy="881063"/>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type_de_retour nom_fonction(paramètres) {    // Corps de la fonction    // Instructions à exécuter    return valeur; // optionnel}</a:t>
            </a:r>
            <a:endParaRPr lang="en-US" sz="850" dirty="0"/>
          </a:p>
        </p:txBody>
      </p:sp>
      <p:sp>
        <p:nvSpPr>
          <p:cNvPr id="11" name="Text 9"/>
          <p:cNvSpPr/>
          <p:nvPr/>
        </p:nvSpPr>
        <p:spPr>
          <a:xfrm>
            <a:off x="565904" y="3031688"/>
            <a:ext cx="4258866"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Cette structure constitue le squelette de toute fonction en C. Chaque élément a un rôle spécifique et contribue à définir le comportement de la fonction.</a:t>
            </a:r>
            <a:endParaRPr lang="en-US" sz="850" dirty="0"/>
          </a:p>
        </p:txBody>
      </p:sp>
      <p:sp>
        <p:nvSpPr>
          <p:cNvPr id="12" name="Shape 10"/>
          <p:cNvSpPr/>
          <p:nvPr/>
        </p:nvSpPr>
        <p:spPr>
          <a:xfrm>
            <a:off x="5060275" y="1129189"/>
            <a:ext cx="4509730" cy="2380297"/>
          </a:xfrm>
          <a:prstGeom prst="roundRect">
            <a:avLst>
              <a:gd name="adj" fmla="val 6941"/>
            </a:avLst>
          </a:prstGeom>
          <a:solidFill>
            <a:srgbClr val="0A081B">
              <a:alpha val="75000"/>
            </a:srgbClr>
          </a:solidFill>
          <a:ln w="15240">
            <a:solidFill>
              <a:srgbClr val="29DDDA"/>
            </a:solidFill>
            <a:prstDash val="solid"/>
          </a:ln>
        </p:spPr>
      </p:sp>
      <p:sp>
        <p:nvSpPr>
          <p:cNvPr id="13" name="Shape 11"/>
          <p:cNvSpPr/>
          <p:nvPr/>
        </p:nvSpPr>
        <p:spPr>
          <a:xfrm>
            <a:off x="5075515" y="1144429"/>
            <a:ext cx="4479250" cy="330398"/>
          </a:xfrm>
          <a:prstGeom prst="roundRect">
            <a:avLst>
              <a:gd name="adj" fmla="val 44472"/>
            </a:avLst>
          </a:prstGeom>
          <a:solidFill>
            <a:srgbClr val="0A081B"/>
          </a:solidFill>
          <a:ln/>
        </p:spPr>
      </p:sp>
      <p:sp>
        <p:nvSpPr>
          <p:cNvPr id="14" name="Text 12"/>
          <p:cNvSpPr/>
          <p:nvPr/>
        </p:nvSpPr>
        <p:spPr>
          <a:xfrm>
            <a:off x="7232571" y="1202531"/>
            <a:ext cx="165140" cy="206454"/>
          </a:xfrm>
          <a:prstGeom prst="rect">
            <a:avLst/>
          </a:prstGeom>
          <a:noFill/>
          <a:ln/>
        </p:spPr>
        <p:txBody>
          <a:bodyPr wrap="none" lIns="0" tIns="0" rIns="0" bIns="0" rtlCol="0" anchor="t"/>
          <a:lstStyle/>
          <a:p>
            <a:pPr algn="l" indent="0" marL="0">
              <a:lnSpc>
                <a:spcPts val="1300"/>
              </a:lnSpc>
              <a:buNone/>
            </a:pPr>
            <a:r>
              <a:rPr lang="en-US" sz="1300" b="1" dirty="0">
                <a:solidFill>
                  <a:srgbClr val="E0E4E6"/>
                </a:solidFill>
                <a:latin typeface="Spline Sans Bold" pitchFamily="34" charset="0"/>
                <a:ea typeface="Spline Sans Bold" pitchFamily="34" charset="-122"/>
                <a:cs typeface="Spline Sans Bold" pitchFamily="34" charset="-120"/>
              </a:rPr>
              <a:t>2</a:t>
            </a:r>
            <a:endParaRPr lang="en-US" sz="1300" dirty="0"/>
          </a:p>
        </p:txBody>
      </p:sp>
      <p:sp>
        <p:nvSpPr>
          <p:cNvPr id="15" name="Text 13"/>
          <p:cNvSpPr/>
          <p:nvPr/>
        </p:nvSpPr>
        <p:spPr>
          <a:xfrm>
            <a:off x="5185648" y="1584960"/>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Type de retour</a:t>
            </a:r>
            <a:endParaRPr lang="en-US" sz="950" dirty="0"/>
          </a:p>
        </p:txBody>
      </p:sp>
      <p:sp>
        <p:nvSpPr>
          <p:cNvPr id="16" name="Text 14"/>
          <p:cNvSpPr/>
          <p:nvPr/>
        </p:nvSpPr>
        <p:spPr>
          <a:xfrm>
            <a:off x="5185648" y="1804035"/>
            <a:ext cx="4258985"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Le </a:t>
            </a:r>
            <a:pPr algn="l" indent="0" marL="0">
              <a:lnSpc>
                <a:spcPts val="1350"/>
              </a:lnSpc>
              <a:buNone/>
            </a:pPr>
            <a:r>
              <a:rPr lang="en-US" sz="850" b="1" dirty="0">
                <a:solidFill>
                  <a:srgbClr val="16FFBB"/>
                </a:solidFill>
                <a:latin typeface="Barlow" pitchFamily="34" charset="0"/>
                <a:ea typeface="Barlow" pitchFamily="34" charset="-122"/>
                <a:cs typeface="Barlow" pitchFamily="34" charset="-120"/>
              </a:rPr>
              <a:t>type_de_retour</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spécifie le type de donnée que la fonction renvoie au code appelant. Il peut être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float</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char</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un pointeur, ou toute structure personnalisée.</a:t>
            </a:r>
            <a:endParaRPr lang="en-US" sz="850" dirty="0"/>
          </a:p>
        </p:txBody>
      </p:sp>
      <p:sp>
        <p:nvSpPr>
          <p:cNvPr id="17" name="Text 15"/>
          <p:cNvSpPr/>
          <p:nvPr/>
        </p:nvSpPr>
        <p:spPr>
          <a:xfrm>
            <a:off x="5185648" y="2222540"/>
            <a:ext cx="4258985"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Si la fonction ne retourne aucune valeur, utilisez le mot-clé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void</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C'est particulièrement utile pour les fonctions qui effectuent des actions sans produire de résultat.</a:t>
            </a:r>
            <a:endParaRPr lang="en-US" sz="850" dirty="0"/>
          </a:p>
        </p:txBody>
      </p:sp>
      <p:sp>
        <p:nvSpPr>
          <p:cNvPr id="18" name="Shape 16"/>
          <p:cNvSpPr/>
          <p:nvPr/>
        </p:nvSpPr>
        <p:spPr>
          <a:xfrm>
            <a:off x="9680138" y="1129189"/>
            <a:ext cx="4509611" cy="2380297"/>
          </a:xfrm>
          <a:prstGeom prst="roundRect">
            <a:avLst>
              <a:gd name="adj" fmla="val 6941"/>
            </a:avLst>
          </a:prstGeom>
          <a:solidFill>
            <a:srgbClr val="0A081B">
              <a:alpha val="75000"/>
            </a:srgbClr>
          </a:solidFill>
          <a:ln w="15240">
            <a:solidFill>
              <a:srgbClr val="37A7E7"/>
            </a:solidFill>
            <a:prstDash val="solid"/>
          </a:ln>
        </p:spPr>
      </p:sp>
      <p:sp>
        <p:nvSpPr>
          <p:cNvPr id="19" name="Shape 17"/>
          <p:cNvSpPr/>
          <p:nvPr/>
        </p:nvSpPr>
        <p:spPr>
          <a:xfrm>
            <a:off x="9695378" y="1144429"/>
            <a:ext cx="4479131" cy="330398"/>
          </a:xfrm>
          <a:prstGeom prst="roundRect">
            <a:avLst>
              <a:gd name="adj" fmla="val 44472"/>
            </a:avLst>
          </a:prstGeom>
          <a:solidFill>
            <a:srgbClr val="0A081B"/>
          </a:solidFill>
          <a:ln/>
        </p:spPr>
      </p:sp>
      <p:sp>
        <p:nvSpPr>
          <p:cNvPr id="20" name="Text 18"/>
          <p:cNvSpPr/>
          <p:nvPr/>
        </p:nvSpPr>
        <p:spPr>
          <a:xfrm>
            <a:off x="11852315" y="1202531"/>
            <a:ext cx="165140" cy="206454"/>
          </a:xfrm>
          <a:prstGeom prst="rect">
            <a:avLst/>
          </a:prstGeom>
          <a:noFill/>
          <a:ln/>
        </p:spPr>
        <p:txBody>
          <a:bodyPr wrap="none" lIns="0" tIns="0" rIns="0" bIns="0" rtlCol="0" anchor="t"/>
          <a:lstStyle/>
          <a:p>
            <a:pPr algn="l" indent="0" marL="0">
              <a:lnSpc>
                <a:spcPts val="1300"/>
              </a:lnSpc>
              <a:buNone/>
            </a:pPr>
            <a:r>
              <a:rPr lang="en-US" sz="1300" b="1" dirty="0">
                <a:solidFill>
                  <a:srgbClr val="E0E4E6"/>
                </a:solidFill>
                <a:latin typeface="Spline Sans Bold" pitchFamily="34" charset="0"/>
                <a:ea typeface="Spline Sans Bold" pitchFamily="34" charset="-122"/>
                <a:cs typeface="Spline Sans Bold" pitchFamily="34" charset="-120"/>
              </a:rPr>
              <a:t>3</a:t>
            </a:r>
            <a:endParaRPr lang="en-US" sz="1300" dirty="0"/>
          </a:p>
        </p:txBody>
      </p:sp>
      <p:sp>
        <p:nvSpPr>
          <p:cNvPr id="21" name="Text 19"/>
          <p:cNvSpPr/>
          <p:nvPr/>
        </p:nvSpPr>
        <p:spPr>
          <a:xfrm>
            <a:off x="9805511" y="1584960"/>
            <a:ext cx="1223843" cy="152995"/>
          </a:xfrm>
          <a:prstGeom prst="rect">
            <a:avLst/>
          </a:prstGeom>
          <a:noFill/>
          <a:ln/>
        </p:spPr>
        <p:txBody>
          <a:bodyPr wrap="none" lIns="0" tIns="0" rIns="0" bIns="0" rtlCol="0" anchor="t"/>
          <a:lstStyle/>
          <a:p>
            <a:pPr algn="l" indent="0" marL="0">
              <a:lnSpc>
                <a:spcPts val="1200"/>
              </a:lnSpc>
              <a:buNone/>
            </a:pPr>
            <a:r>
              <a:rPr lang="en-US" sz="950" b="1" dirty="0">
                <a:solidFill>
                  <a:srgbClr val="E0E4E6"/>
                </a:solidFill>
                <a:latin typeface="Spline Sans Bold" pitchFamily="34" charset="0"/>
                <a:ea typeface="Spline Sans Bold" pitchFamily="34" charset="-122"/>
                <a:cs typeface="Spline Sans Bold" pitchFamily="34" charset="-120"/>
              </a:rPr>
              <a:t>Paramètres d'entrée</a:t>
            </a:r>
            <a:endParaRPr lang="en-US" sz="950" dirty="0"/>
          </a:p>
        </p:txBody>
      </p:sp>
      <p:sp>
        <p:nvSpPr>
          <p:cNvPr id="22" name="Text 20"/>
          <p:cNvSpPr/>
          <p:nvPr/>
        </p:nvSpPr>
        <p:spPr>
          <a:xfrm>
            <a:off x="9805511" y="1804035"/>
            <a:ext cx="4258866" cy="528638"/>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Les </a:t>
            </a:r>
            <a:pPr algn="l" indent="0" marL="0">
              <a:lnSpc>
                <a:spcPts val="1350"/>
              </a:lnSpc>
              <a:buNone/>
            </a:pPr>
            <a:r>
              <a:rPr lang="en-US" sz="850" b="1" dirty="0">
                <a:solidFill>
                  <a:srgbClr val="16FFBB"/>
                </a:solidFill>
                <a:latin typeface="Barlow" pitchFamily="34" charset="0"/>
                <a:ea typeface="Barlow" pitchFamily="34" charset="-122"/>
                <a:cs typeface="Barlow" pitchFamily="34" charset="-120"/>
              </a:rPr>
              <a:t>paramètres</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sont les données que vous passez à la fonction pour qu'elle puisse travailler avec. Ils sont </a:t>
            </a:r>
            <a:pPr algn="l" indent="0" marL="0">
              <a:lnSpc>
                <a:spcPts val="1350"/>
              </a:lnSpc>
              <a:buNone/>
            </a:pPr>
            <a:r>
              <a:rPr lang="en-US" sz="850" b="1" dirty="0">
                <a:solidFill>
                  <a:srgbClr val="E0E4E6"/>
                </a:solidFill>
                <a:latin typeface="Barlow" pitchFamily="34" charset="0"/>
                <a:ea typeface="Barlow" pitchFamily="34" charset="-122"/>
                <a:cs typeface="Barlow" pitchFamily="34" charset="-120"/>
              </a:rPr>
              <a:t>optionnels</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 une fonction peut avoir zéro, un, ou plusieurs paramètres.</a:t>
            </a:r>
            <a:endParaRPr lang="en-US" sz="850" dirty="0"/>
          </a:p>
        </p:txBody>
      </p:sp>
      <p:sp>
        <p:nvSpPr>
          <p:cNvPr id="23" name="Text 21"/>
          <p:cNvSpPr/>
          <p:nvPr/>
        </p:nvSpPr>
        <p:spPr>
          <a:xfrm>
            <a:off x="9805511" y="2398752"/>
            <a:ext cx="4258866" cy="352425"/>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Chaque paramètre doit être déclaré avec son type et son nom, séparés par des virgules s'il y en a plusieurs :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 a, float b, char c</a:t>
            </a:r>
            <a:endParaRPr lang="en-US" sz="850" dirty="0"/>
          </a:p>
        </p:txBody>
      </p:sp>
      <p:sp>
        <p:nvSpPr>
          <p:cNvPr id="24" name="Text 22"/>
          <p:cNvSpPr/>
          <p:nvPr/>
        </p:nvSpPr>
        <p:spPr>
          <a:xfrm>
            <a:off x="440531" y="3743444"/>
            <a:ext cx="1813441" cy="183475"/>
          </a:xfrm>
          <a:prstGeom prst="rect">
            <a:avLst/>
          </a:prstGeom>
          <a:noFill/>
          <a:ln/>
        </p:spPr>
        <p:txBody>
          <a:bodyPr wrap="none" lIns="0" tIns="0" rIns="0" bIns="0" rtlCol="0" anchor="t"/>
          <a:lstStyle/>
          <a:p>
            <a:pPr algn="l" indent="0" marL="0">
              <a:lnSpc>
                <a:spcPts val="1400"/>
              </a:lnSpc>
              <a:buNone/>
            </a:pPr>
            <a:r>
              <a:rPr lang="en-US" sz="1150" b="1" dirty="0">
                <a:solidFill>
                  <a:srgbClr val="F0FCFF"/>
                </a:solidFill>
                <a:latin typeface="Spline Sans Bold" pitchFamily="34" charset="0"/>
                <a:ea typeface="Spline Sans Bold" pitchFamily="34" charset="-122"/>
                <a:cs typeface="Spline Sans Bold" pitchFamily="34" charset="-120"/>
              </a:rPr>
              <a:t>Exemple simple et concret</a:t>
            </a:r>
            <a:endParaRPr lang="en-US" sz="1150" dirty="0"/>
          </a:p>
        </p:txBody>
      </p:sp>
      <p:sp>
        <p:nvSpPr>
          <p:cNvPr id="25" name="Shape 23"/>
          <p:cNvSpPr/>
          <p:nvPr/>
        </p:nvSpPr>
        <p:spPr>
          <a:xfrm>
            <a:off x="440531" y="4050744"/>
            <a:ext cx="6740366" cy="869871"/>
          </a:xfrm>
          <a:prstGeom prst="roundRect">
            <a:avLst>
              <a:gd name="adj" fmla="val 18994"/>
            </a:avLst>
          </a:prstGeom>
          <a:solidFill>
            <a:srgbClr val="171528"/>
          </a:solidFill>
          <a:ln/>
        </p:spPr>
      </p:sp>
      <p:sp>
        <p:nvSpPr>
          <p:cNvPr id="26" name="Shape 24"/>
          <p:cNvSpPr/>
          <p:nvPr/>
        </p:nvSpPr>
        <p:spPr>
          <a:xfrm>
            <a:off x="435054" y="4050744"/>
            <a:ext cx="6751320" cy="869871"/>
          </a:xfrm>
          <a:prstGeom prst="roundRect">
            <a:avLst>
              <a:gd name="adj" fmla="val 1899"/>
            </a:avLst>
          </a:prstGeom>
          <a:solidFill>
            <a:srgbClr val="171528"/>
          </a:solidFill>
          <a:ln/>
        </p:spPr>
      </p:sp>
      <p:sp>
        <p:nvSpPr>
          <p:cNvPr id="27" name="Text 25"/>
          <p:cNvSpPr/>
          <p:nvPr/>
        </p:nvSpPr>
        <p:spPr>
          <a:xfrm>
            <a:off x="545187" y="4133255"/>
            <a:ext cx="6531054" cy="704850"/>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 addition(int a, int b) {    int somme = a + b;    return somme;}</a:t>
            </a:r>
            <a:endParaRPr lang="en-US" sz="850" dirty="0"/>
          </a:p>
        </p:txBody>
      </p:sp>
      <p:sp>
        <p:nvSpPr>
          <p:cNvPr id="28" name="Text 26"/>
          <p:cNvSpPr/>
          <p:nvPr/>
        </p:nvSpPr>
        <p:spPr>
          <a:xfrm>
            <a:off x="440531" y="5044440"/>
            <a:ext cx="6740366"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Cette fonction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addition</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prend deux entiers en paramètres, calcule leur somme, et retourne le résultat sous forme d'entier.</a:t>
            </a:r>
            <a:endParaRPr lang="en-US" sz="850" dirty="0"/>
          </a:p>
        </p:txBody>
      </p:sp>
      <p:sp>
        <p:nvSpPr>
          <p:cNvPr id="29" name="Text 27"/>
          <p:cNvSpPr/>
          <p:nvPr/>
        </p:nvSpPr>
        <p:spPr>
          <a:xfrm>
            <a:off x="440531" y="5319713"/>
            <a:ext cx="6740366" cy="176213"/>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E0E4E6"/>
                </a:solidFill>
                <a:latin typeface="Barlow" pitchFamily="34" charset="0"/>
                <a:ea typeface="Barlow" pitchFamily="34" charset="-122"/>
                <a:cs typeface="Barlow" pitchFamily="34" charset="-120"/>
              </a:rPr>
              <a:t>Type de retour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a:t>
            </a:r>
            <a:endParaRPr lang="en-US" sz="850" dirty="0"/>
          </a:p>
        </p:txBody>
      </p:sp>
      <p:sp>
        <p:nvSpPr>
          <p:cNvPr id="30" name="Text 28"/>
          <p:cNvSpPr/>
          <p:nvPr/>
        </p:nvSpPr>
        <p:spPr>
          <a:xfrm>
            <a:off x="440531" y="5534382"/>
            <a:ext cx="6740366" cy="176213"/>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E0E4E6"/>
                </a:solidFill>
                <a:latin typeface="Barlow" pitchFamily="34" charset="0"/>
                <a:ea typeface="Barlow" pitchFamily="34" charset="-122"/>
                <a:cs typeface="Barlow" pitchFamily="34" charset="-120"/>
              </a:rPr>
              <a:t>Nom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addition</a:t>
            </a:r>
            <a:endParaRPr lang="en-US" sz="850" dirty="0"/>
          </a:p>
        </p:txBody>
      </p:sp>
      <p:sp>
        <p:nvSpPr>
          <p:cNvPr id="31" name="Text 29"/>
          <p:cNvSpPr/>
          <p:nvPr/>
        </p:nvSpPr>
        <p:spPr>
          <a:xfrm>
            <a:off x="440531" y="5749052"/>
            <a:ext cx="6740366" cy="176213"/>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E0E4E6"/>
                </a:solidFill>
                <a:latin typeface="Barlow" pitchFamily="34" charset="0"/>
                <a:ea typeface="Barlow" pitchFamily="34" charset="-122"/>
                <a:cs typeface="Barlow" pitchFamily="34" charset="-120"/>
              </a:rPr>
              <a:t>Paramètres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int a, int b</a:t>
            </a:r>
            <a:endParaRPr lang="en-US" sz="850" dirty="0"/>
          </a:p>
        </p:txBody>
      </p:sp>
      <p:sp>
        <p:nvSpPr>
          <p:cNvPr id="32" name="Text 30"/>
          <p:cNvSpPr/>
          <p:nvPr/>
        </p:nvSpPr>
        <p:spPr>
          <a:xfrm>
            <a:off x="440531" y="5963722"/>
            <a:ext cx="6740366" cy="176213"/>
          </a:xfrm>
          <a:prstGeom prst="rect">
            <a:avLst/>
          </a:prstGeom>
          <a:noFill/>
          <a:ln/>
        </p:spPr>
        <p:txBody>
          <a:bodyPr wrap="none" lIns="0" tIns="0" rIns="0" bIns="0" rtlCol="0" anchor="t"/>
          <a:lstStyle/>
          <a:p>
            <a:pPr algn="l" marL="342900" indent="-342900">
              <a:lnSpc>
                <a:spcPts val="1350"/>
              </a:lnSpc>
              <a:buSzPct val="100000"/>
              <a:buChar char="•"/>
            </a:pPr>
            <a:r>
              <a:rPr lang="en-US" sz="850" b="1" dirty="0">
                <a:solidFill>
                  <a:srgbClr val="E0E4E6"/>
                </a:solidFill>
                <a:latin typeface="Barlow" pitchFamily="34" charset="0"/>
                <a:ea typeface="Barlow" pitchFamily="34" charset="-122"/>
                <a:cs typeface="Barlow" pitchFamily="34" charset="-120"/>
              </a:rPr>
              <a:t>Action :</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calcule et retourne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a + b</a:t>
            </a:r>
            <a:endParaRPr lang="en-US" sz="850" dirty="0"/>
          </a:p>
        </p:txBody>
      </p:sp>
      <p:pic>
        <p:nvPicPr>
          <p:cNvPr id="33" name="Image 0" descr="preencoded.png">    </p:cNvPr>
          <p:cNvPicPr>
            <a:picLocks noChangeAspect="1"/>
          </p:cNvPicPr>
          <p:nvPr/>
        </p:nvPicPr>
        <p:blipFill>
          <a:blip r:embed="rId1"/>
          <a:stretch>
            <a:fillRect/>
          </a:stretch>
        </p:blipFill>
        <p:spPr>
          <a:xfrm>
            <a:off x="7457123" y="3757136"/>
            <a:ext cx="6740366" cy="6740366"/>
          </a:xfrm>
          <a:prstGeom prst="rect">
            <a:avLst/>
          </a:prstGeom>
        </p:spPr>
      </p:pic>
      <p:sp>
        <p:nvSpPr>
          <p:cNvPr id="34" name="Text 31"/>
          <p:cNvSpPr/>
          <p:nvPr/>
        </p:nvSpPr>
        <p:spPr>
          <a:xfrm>
            <a:off x="7457123" y="10621328"/>
            <a:ext cx="1468517" cy="183475"/>
          </a:xfrm>
          <a:prstGeom prst="rect">
            <a:avLst/>
          </a:prstGeom>
          <a:noFill/>
          <a:ln/>
        </p:spPr>
        <p:txBody>
          <a:bodyPr wrap="none" lIns="0" tIns="0" rIns="0" bIns="0" rtlCol="0" anchor="t"/>
          <a:lstStyle/>
          <a:p>
            <a:pPr algn="l" indent="0" marL="0">
              <a:lnSpc>
                <a:spcPts val="1400"/>
              </a:lnSpc>
              <a:buNone/>
            </a:pPr>
            <a:r>
              <a:rPr lang="en-US" sz="1150" b="1" dirty="0">
                <a:solidFill>
                  <a:srgbClr val="F0FCFF"/>
                </a:solidFill>
                <a:latin typeface="Spline Sans Bold" pitchFamily="34" charset="0"/>
                <a:ea typeface="Spline Sans Bold" pitchFamily="34" charset="-122"/>
                <a:cs typeface="Spline Sans Bold" pitchFamily="34" charset="-120"/>
              </a:rPr>
              <a:t>Fonction sans retour</a:t>
            </a:r>
            <a:endParaRPr lang="en-US" sz="1150" dirty="0"/>
          </a:p>
        </p:txBody>
      </p:sp>
      <p:sp>
        <p:nvSpPr>
          <p:cNvPr id="35" name="Shape 32"/>
          <p:cNvSpPr/>
          <p:nvPr/>
        </p:nvSpPr>
        <p:spPr>
          <a:xfrm>
            <a:off x="7457123" y="10928628"/>
            <a:ext cx="6740366" cy="693658"/>
          </a:xfrm>
          <a:prstGeom prst="roundRect">
            <a:avLst>
              <a:gd name="adj" fmla="val 23819"/>
            </a:avLst>
          </a:prstGeom>
          <a:solidFill>
            <a:srgbClr val="171528"/>
          </a:solidFill>
          <a:ln/>
        </p:spPr>
      </p:sp>
      <p:sp>
        <p:nvSpPr>
          <p:cNvPr id="36" name="Shape 33"/>
          <p:cNvSpPr/>
          <p:nvPr/>
        </p:nvSpPr>
        <p:spPr>
          <a:xfrm>
            <a:off x="7451646" y="10928628"/>
            <a:ext cx="6751320" cy="693658"/>
          </a:xfrm>
          <a:prstGeom prst="roundRect">
            <a:avLst>
              <a:gd name="adj" fmla="val 2382"/>
            </a:avLst>
          </a:prstGeom>
          <a:solidFill>
            <a:srgbClr val="171528"/>
          </a:solidFill>
          <a:ln/>
        </p:spPr>
      </p:sp>
      <p:sp>
        <p:nvSpPr>
          <p:cNvPr id="37" name="Text 34"/>
          <p:cNvSpPr/>
          <p:nvPr/>
        </p:nvSpPr>
        <p:spPr>
          <a:xfrm>
            <a:off x="7561778" y="11011138"/>
            <a:ext cx="6531054" cy="528638"/>
          </a:xfrm>
          <a:prstGeom prst="rect">
            <a:avLst/>
          </a:prstGeom>
          <a:noFill/>
          <a:ln/>
        </p:spPr>
        <p:txBody>
          <a:bodyPr wrap="square" lIns="0" tIns="0" rIns="0" bIns="0" rtlCol="0" anchor="t"/>
          <a:lstStyle/>
          <a:p>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void afficherMessage(char* msg) {    printf("%s\n", msg);}</a:t>
            </a:r>
            <a:endParaRPr lang="en-US" sz="850" dirty="0"/>
          </a:p>
        </p:txBody>
      </p:sp>
      <p:sp>
        <p:nvSpPr>
          <p:cNvPr id="38" name="Text 35"/>
          <p:cNvSpPr/>
          <p:nvPr/>
        </p:nvSpPr>
        <p:spPr>
          <a:xfrm>
            <a:off x="7457123" y="11746111"/>
            <a:ext cx="6740366" cy="176213"/>
          </a:xfrm>
          <a:prstGeom prst="rect">
            <a:avLst/>
          </a:prstGeom>
          <a:noFill/>
          <a:ln/>
        </p:spPr>
        <p:txBody>
          <a:bodyPr wrap="none" lIns="0" tIns="0" rIns="0" bIns="0" rtlCol="0" anchor="t"/>
          <a:lstStyle/>
          <a:p>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Cette fonction affiche un message mais ne retourne rien. Elle utilise </a:t>
            </a:r>
            <a:pPr algn="l" indent="0" marL="0">
              <a:lnSpc>
                <a:spcPts val="1350"/>
              </a:lnSpc>
              <a:buNone/>
            </a:pPr>
            <a:r>
              <a:rPr lang="en-US" sz="850" dirty="0">
                <a:solidFill>
                  <a:srgbClr val="E0E4E6"/>
                </a:solidFill>
                <a:highlight>
                  <a:srgbClr val="171528"/>
                </a:highlight>
                <a:latin typeface="Consolas" pitchFamily="34" charset="0"/>
                <a:ea typeface="Consolas" pitchFamily="34" charset="-122"/>
                <a:cs typeface="Consolas" pitchFamily="34" charset="-120"/>
              </a:rPr>
              <a:t>void</a:t>
            </a:r>
            <a:pPr algn="l" indent="0" marL="0">
              <a:lnSpc>
                <a:spcPts val="1350"/>
              </a:lnSpc>
              <a:buNone/>
            </a:pPr>
            <a:r>
              <a:rPr lang="en-US" sz="850" dirty="0">
                <a:solidFill>
                  <a:srgbClr val="E0E4E6"/>
                </a:solidFill>
                <a:latin typeface="Barlow" pitchFamily="34" charset="0"/>
                <a:ea typeface="Barlow" pitchFamily="34" charset="-122"/>
                <a:cs typeface="Barlow" pitchFamily="34" charset="-120"/>
              </a:rPr>
              <a:t> comme type de retour.</a:t>
            </a:r>
            <a:endParaRPr lang="en-US" sz="850" dirty="0"/>
          </a:p>
        </p:txBody>
      </p:sp>
      <p:sp>
        <p:nvSpPr>
          <p:cNvPr id="39" name="Shape 36"/>
          <p:cNvSpPr/>
          <p:nvPr/>
        </p:nvSpPr>
        <p:spPr>
          <a:xfrm>
            <a:off x="440531" y="12145208"/>
            <a:ext cx="13749337" cy="467916"/>
          </a:xfrm>
          <a:prstGeom prst="roundRect">
            <a:avLst>
              <a:gd name="adj" fmla="val 35310"/>
            </a:avLst>
          </a:prstGeom>
          <a:solidFill>
            <a:srgbClr val="004D36"/>
          </a:solidFill>
          <a:ln/>
        </p:spPr>
      </p:sp>
      <p:pic>
        <p:nvPicPr>
          <p:cNvPr id="40" name="Image 1" descr="preencoded.png">    </p:cNvPr>
          <p:cNvPicPr>
            <a:picLocks noChangeAspect="1"/>
          </p:cNvPicPr>
          <p:nvPr/>
        </p:nvPicPr>
        <p:blipFill>
          <a:blip r:embed="rId2"/>
          <a:stretch>
            <a:fillRect/>
          </a:stretch>
        </p:blipFill>
        <p:spPr>
          <a:xfrm>
            <a:off x="550664" y="12315944"/>
            <a:ext cx="137636" cy="110133"/>
          </a:xfrm>
          <a:prstGeom prst="rect">
            <a:avLst/>
          </a:prstGeom>
        </p:spPr>
      </p:pic>
      <p:sp>
        <p:nvSpPr>
          <p:cNvPr id="41" name="Text 37"/>
          <p:cNvSpPr/>
          <p:nvPr/>
        </p:nvSpPr>
        <p:spPr>
          <a:xfrm>
            <a:off x="798433" y="12282845"/>
            <a:ext cx="13281303" cy="176213"/>
          </a:xfrm>
          <a:prstGeom prst="rect">
            <a:avLst/>
          </a:prstGeom>
          <a:noFill/>
          <a:ln/>
        </p:spPr>
        <p:txBody>
          <a:bodyPr wrap="none" lIns="0" tIns="0" rIns="0" bIns="0" rtlCol="0" anchor="t"/>
          <a:lstStyle/>
          <a:p>
            <a:pPr algn="l" indent="0" marL="0">
              <a:lnSpc>
                <a:spcPts val="1350"/>
              </a:lnSpc>
              <a:buNone/>
            </a:pPr>
            <a:r>
              <a:rPr lang="en-US" sz="850" b="1" dirty="0">
                <a:solidFill>
                  <a:srgbClr val="FFFFFF"/>
                </a:solidFill>
                <a:latin typeface="Barlow" pitchFamily="34" charset="0"/>
                <a:ea typeface="Barlow" pitchFamily="34" charset="-122"/>
                <a:cs typeface="Barlow" pitchFamily="34" charset="-120"/>
              </a:rPr>
              <a:t>Conseil professionnel :</a:t>
            </a:r>
            <a:pPr algn="l" indent="0" marL="0">
              <a:lnSpc>
                <a:spcPts val="1350"/>
              </a:lnSpc>
              <a:buNone/>
            </a:pPr>
            <a:r>
              <a:rPr lang="en-US" sz="850" dirty="0">
                <a:solidFill>
                  <a:srgbClr val="FFFFFF"/>
                </a:solidFill>
                <a:latin typeface="Barlow" pitchFamily="34" charset="0"/>
                <a:ea typeface="Barlow" pitchFamily="34" charset="-122"/>
                <a:cs typeface="Barlow" pitchFamily="34" charset="-120"/>
              </a:rPr>
              <a:t> Donnez toujours des noms descriptifs à vos fonctions qui reflètent clairement leur action. Privilégiez </a:t>
            </a:r>
            <a:pPr algn="l" indent="0" marL="0">
              <a:lnSpc>
                <a:spcPts val="1350"/>
              </a:lnSpc>
              <a:buNone/>
            </a:pPr>
            <a:r>
              <a:rPr lang="en-US" sz="850" dirty="0">
                <a:solidFill>
                  <a:srgbClr val="FFFFFF"/>
                </a:solidFill>
                <a:highlight>
                  <a:srgbClr val="171528"/>
                </a:highlight>
                <a:latin typeface="Consolas" pitchFamily="34" charset="0"/>
                <a:ea typeface="Consolas" pitchFamily="34" charset="-122"/>
                <a:cs typeface="Consolas" pitchFamily="34" charset="-120"/>
              </a:rPr>
              <a:t>calculerMoyenne()</a:t>
            </a:r>
            <a:pPr algn="l" indent="0" marL="0">
              <a:lnSpc>
                <a:spcPts val="1350"/>
              </a:lnSpc>
              <a:buNone/>
            </a:pPr>
            <a:r>
              <a:rPr lang="en-US" sz="850" dirty="0">
                <a:solidFill>
                  <a:srgbClr val="FFFFFF"/>
                </a:solidFill>
                <a:latin typeface="Barlow" pitchFamily="34" charset="0"/>
                <a:ea typeface="Barlow" pitchFamily="34" charset="-122"/>
                <a:cs typeface="Barlow" pitchFamily="34" charset="-120"/>
              </a:rPr>
              <a:t> plutôt que </a:t>
            </a:r>
            <a:pPr algn="l" indent="0" marL="0">
              <a:lnSpc>
                <a:spcPts val="1350"/>
              </a:lnSpc>
              <a:buNone/>
            </a:pPr>
            <a:r>
              <a:rPr lang="en-US" sz="850" dirty="0">
                <a:solidFill>
                  <a:srgbClr val="FFFFFF"/>
                </a:solidFill>
                <a:highlight>
                  <a:srgbClr val="171528"/>
                </a:highlight>
                <a:latin typeface="Consolas" pitchFamily="34" charset="0"/>
                <a:ea typeface="Consolas" pitchFamily="34" charset="-122"/>
                <a:cs typeface="Consolas" pitchFamily="34" charset="-120"/>
              </a:rPr>
              <a:t>calc()</a:t>
            </a:r>
            <a:pPr algn="l" indent="0" marL="0">
              <a:lnSpc>
                <a:spcPts val="1350"/>
              </a:lnSpc>
              <a:buNone/>
            </a:pPr>
            <a:r>
              <a:rPr lang="en-US" sz="850" dirty="0">
                <a:solidFill>
                  <a:srgbClr val="FFFFFF"/>
                </a:solidFill>
                <a:latin typeface="Barlow" pitchFamily="34" charset="0"/>
                <a:ea typeface="Barlow" pitchFamily="34" charset="-122"/>
                <a:cs typeface="Barlow" pitchFamily="34" charset="-120"/>
              </a:rPr>
              <a:t>, et </a:t>
            </a:r>
            <a:pPr algn="l" indent="0" marL="0">
              <a:lnSpc>
                <a:spcPts val="1350"/>
              </a:lnSpc>
              <a:buNone/>
            </a:pPr>
            <a:r>
              <a:rPr lang="en-US" sz="850" dirty="0">
                <a:solidFill>
                  <a:srgbClr val="FFFFFF"/>
                </a:solidFill>
                <a:highlight>
                  <a:srgbClr val="171528"/>
                </a:highlight>
                <a:latin typeface="Consolas" pitchFamily="34" charset="0"/>
                <a:ea typeface="Consolas" pitchFamily="34" charset="-122"/>
                <a:cs typeface="Consolas" pitchFamily="34" charset="-120"/>
              </a:rPr>
              <a:t>afficherResultat()</a:t>
            </a:r>
            <a:pPr algn="l" indent="0" marL="0">
              <a:lnSpc>
                <a:spcPts val="1350"/>
              </a:lnSpc>
              <a:buNone/>
            </a:pPr>
            <a:r>
              <a:rPr lang="en-US" sz="850" dirty="0">
                <a:solidFill>
                  <a:srgbClr val="FFFFFF"/>
                </a:solidFill>
                <a:latin typeface="Barlow" pitchFamily="34" charset="0"/>
                <a:ea typeface="Barlow" pitchFamily="34" charset="-122"/>
                <a:cs typeface="Barlow" pitchFamily="34" charset="-120"/>
              </a:rPr>
              <a:t> plutôt que </a:t>
            </a:r>
            <a:pPr algn="l" indent="0" marL="0">
              <a:lnSpc>
                <a:spcPts val="1350"/>
              </a:lnSpc>
              <a:buNone/>
            </a:pPr>
            <a:r>
              <a:rPr lang="en-US" sz="850" dirty="0">
                <a:solidFill>
                  <a:srgbClr val="FFFFFF"/>
                </a:solidFill>
                <a:highlight>
                  <a:srgbClr val="171528"/>
                </a:highlight>
                <a:latin typeface="Consolas" pitchFamily="34" charset="0"/>
                <a:ea typeface="Consolas" pitchFamily="34" charset="-122"/>
                <a:cs typeface="Consolas" pitchFamily="34" charset="-120"/>
              </a:rPr>
              <a:t>show()</a:t>
            </a:r>
            <a:pPr algn="l" indent="0" marL="0">
              <a:lnSpc>
                <a:spcPts val="1350"/>
              </a:lnSpc>
              <a:buNone/>
            </a:pPr>
            <a:r>
              <a:rPr lang="en-US" sz="850" dirty="0">
                <a:solidFill>
                  <a:srgbClr val="FFFFFF"/>
                </a:solidFill>
                <a:latin typeface="Barlow" pitchFamily="34" charset="0"/>
                <a:ea typeface="Barlow" pitchFamily="34" charset="-122"/>
                <a:cs typeface="Barlow" pitchFamily="34" charset="-120"/>
              </a:rPr>
              <a:t>. Un code auto-documenté est un code de qualité !</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2025-12-02T06:38:55Z</dcterms:created>
  <dcterms:modified xsi:type="dcterms:W3CDTF">2025-12-02T06:38:55Z</dcterms:modified>
</cp:coreProperties>
</file>