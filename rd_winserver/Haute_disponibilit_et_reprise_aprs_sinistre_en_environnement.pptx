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63" r:id="rId4"/>
    <p:sldId id="259" r:id="rId5"/>
    <p:sldId id="260" r:id="rId6"/>
    <p:sldId id="261" r:id="rId7"/>
    <p:sldId id="258" r:id="rId8"/>
    <p:sldId id="262" r:id="rId9"/>
    <p:sldId id="264" r:id="rId10"/>
    <p:sldId id="265" r:id="rId11"/>
    <p:sldId id="266" r:id="rId12"/>
    <p:sldId id="267" r:id="rId13"/>
    <p:sldId id="268" r:id="rId14"/>
    <p:sldId id="269" r:id="rId15"/>
    <p:sldId id="270" r:id="rId16"/>
    <p:sldId id="271" r:id="rId17"/>
    <p:sldId id="273" r:id="rId18"/>
    <p:sldId id="272"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844D10-510D-4BCA-B857-816A2C4313ED}" type="datetimeFigureOut">
              <a:rPr lang="en-US" smtClean="0"/>
              <a:t>6/24/2025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8C08A1-4455-4C9F-B412-7584E7AEDE46}" type="slidenum">
              <a:rPr lang="en-US" smtClean="0"/>
              <a:t>‹#›</a:t>
            </a:fld>
            <a:endParaRPr lang="en-US"/>
          </a:p>
        </p:txBody>
      </p:sp>
    </p:spTree>
    <p:extLst>
      <p:ext uri="{BB962C8B-B14F-4D97-AF65-F5344CB8AC3E}">
        <p14:creationId xmlns:p14="http://schemas.microsoft.com/office/powerpoint/2010/main" val="160820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C078C-DB15-4614-A7CE-1D88D59127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9A8F20-39F6-4E64-AFD1-FD9DD5F2BA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55700E-589F-4AD1-AB8D-A27C42743E5B}"/>
              </a:ext>
            </a:extLst>
          </p:cNvPr>
          <p:cNvSpPr>
            <a:spLocks noGrp="1"/>
          </p:cNvSpPr>
          <p:nvPr>
            <p:ph type="dt" sz="half" idx="10"/>
          </p:nvPr>
        </p:nvSpPr>
        <p:spPr/>
        <p:txBody>
          <a:bodyPr/>
          <a:lstStyle/>
          <a:p>
            <a:fld id="{1879E3EB-00EE-4392-A0DF-538965164900}" type="datetime1">
              <a:rPr lang="en-US" smtClean="0"/>
              <a:t>6/24/2025</a:t>
            </a:fld>
            <a:endParaRPr lang="en-US"/>
          </a:p>
        </p:txBody>
      </p:sp>
      <p:sp>
        <p:nvSpPr>
          <p:cNvPr id="5" name="Footer Placeholder 4">
            <a:extLst>
              <a:ext uri="{FF2B5EF4-FFF2-40B4-BE49-F238E27FC236}">
                <a16:creationId xmlns:a16="http://schemas.microsoft.com/office/drawing/2014/main" id="{2C4A3E83-FAD1-4311-8ABE-721D13F39771}"/>
              </a:ext>
            </a:extLst>
          </p:cNvPr>
          <p:cNvSpPr>
            <a:spLocks noGrp="1"/>
          </p:cNvSpPr>
          <p:nvPr>
            <p:ph type="ftr" sz="quarter" idx="11"/>
          </p:nvPr>
        </p:nvSpPr>
        <p:spPr/>
        <p:txBody>
          <a:bodyPr/>
          <a:lstStyle/>
          <a:p>
            <a:r>
              <a:rPr lang="en-US"/>
              <a:t>BOUKLINAM ABALO</a:t>
            </a:r>
          </a:p>
        </p:txBody>
      </p:sp>
      <p:sp>
        <p:nvSpPr>
          <p:cNvPr id="6" name="Slide Number Placeholder 5">
            <a:extLst>
              <a:ext uri="{FF2B5EF4-FFF2-40B4-BE49-F238E27FC236}">
                <a16:creationId xmlns:a16="http://schemas.microsoft.com/office/drawing/2014/main" id="{D62CE26B-B963-4991-8AA9-E169E021EB8E}"/>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183952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9879D-1C66-45F6-8A74-B439F816BC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26456C-E6FD-4CF9-B487-3E77ED375C6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093383-7E89-4335-9A78-C302CEF12429}"/>
              </a:ext>
            </a:extLst>
          </p:cNvPr>
          <p:cNvSpPr>
            <a:spLocks noGrp="1"/>
          </p:cNvSpPr>
          <p:nvPr>
            <p:ph type="dt" sz="half" idx="10"/>
          </p:nvPr>
        </p:nvSpPr>
        <p:spPr/>
        <p:txBody>
          <a:bodyPr/>
          <a:lstStyle/>
          <a:p>
            <a:fld id="{3AE99906-83D6-4660-9DC5-AF9E005BDF51}" type="datetime1">
              <a:rPr lang="en-US" smtClean="0"/>
              <a:t>6/24/2025</a:t>
            </a:fld>
            <a:endParaRPr lang="en-US"/>
          </a:p>
        </p:txBody>
      </p:sp>
      <p:sp>
        <p:nvSpPr>
          <p:cNvPr id="5" name="Footer Placeholder 4">
            <a:extLst>
              <a:ext uri="{FF2B5EF4-FFF2-40B4-BE49-F238E27FC236}">
                <a16:creationId xmlns:a16="http://schemas.microsoft.com/office/drawing/2014/main" id="{B3A59BD7-6953-4074-8B9E-706496533CEE}"/>
              </a:ext>
            </a:extLst>
          </p:cNvPr>
          <p:cNvSpPr>
            <a:spLocks noGrp="1"/>
          </p:cNvSpPr>
          <p:nvPr>
            <p:ph type="ftr" sz="quarter" idx="11"/>
          </p:nvPr>
        </p:nvSpPr>
        <p:spPr/>
        <p:txBody>
          <a:bodyPr/>
          <a:lstStyle/>
          <a:p>
            <a:r>
              <a:rPr lang="en-US"/>
              <a:t>BOUKLINAM ABALO</a:t>
            </a:r>
          </a:p>
        </p:txBody>
      </p:sp>
      <p:sp>
        <p:nvSpPr>
          <p:cNvPr id="6" name="Slide Number Placeholder 5">
            <a:extLst>
              <a:ext uri="{FF2B5EF4-FFF2-40B4-BE49-F238E27FC236}">
                <a16:creationId xmlns:a16="http://schemas.microsoft.com/office/drawing/2014/main" id="{FE053E4D-0BF4-4094-8F81-090FC6B13A9F}"/>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1838396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7321-8429-4041-8BBC-FD9185105E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014D5D-77A0-4E32-A161-71EB4191E6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E84C33D-7D3B-47EB-8229-CDA3622705A5}"/>
              </a:ext>
            </a:extLst>
          </p:cNvPr>
          <p:cNvSpPr>
            <a:spLocks noGrp="1"/>
          </p:cNvSpPr>
          <p:nvPr>
            <p:ph type="dt" sz="half" idx="10"/>
          </p:nvPr>
        </p:nvSpPr>
        <p:spPr/>
        <p:txBody>
          <a:bodyPr/>
          <a:lstStyle/>
          <a:p>
            <a:fld id="{117C4325-BC29-4E77-9D78-B8A29D2D2BDC}" type="datetime1">
              <a:rPr lang="en-US" smtClean="0"/>
              <a:t>6/24/2025</a:t>
            </a:fld>
            <a:endParaRPr lang="en-US"/>
          </a:p>
        </p:txBody>
      </p:sp>
      <p:sp>
        <p:nvSpPr>
          <p:cNvPr id="5" name="Footer Placeholder 4">
            <a:extLst>
              <a:ext uri="{FF2B5EF4-FFF2-40B4-BE49-F238E27FC236}">
                <a16:creationId xmlns:a16="http://schemas.microsoft.com/office/drawing/2014/main" id="{0BB3C325-8B2A-42F2-ADE9-9E366917C527}"/>
              </a:ext>
            </a:extLst>
          </p:cNvPr>
          <p:cNvSpPr>
            <a:spLocks noGrp="1"/>
          </p:cNvSpPr>
          <p:nvPr>
            <p:ph type="ftr" sz="quarter" idx="11"/>
          </p:nvPr>
        </p:nvSpPr>
        <p:spPr/>
        <p:txBody>
          <a:bodyPr/>
          <a:lstStyle/>
          <a:p>
            <a:r>
              <a:rPr lang="en-US"/>
              <a:t>BOUKLINAM ABALO</a:t>
            </a:r>
          </a:p>
        </p:txBody>
      </p:sp>
      <p:sp>
        <p:nvSpPr>
          <p:cNvPr id="6" name="Slide Number Placeholder 5">
            <a:extLst>
              <a:ext uri="{FF2B5EF4-FFF2-40B4-BE49-F238E27FC236}">
                <a16:creationId xmlns:a16="http://schemas.microsoft.com/office/drawing/2014/main" id="{1BB9E048-F522-42F3-B333-1AB57C3B8CD1}"/>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281224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696F-62C7-47FF-972B-5AAE9BFA4E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16C9FF-8A88-4E78-A5F2-ABD13C69987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18A99D-A79D-4AB4-9DDE-6D23DA4C68B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0FA9AC-0BE4-4E1B-8DC1-0DDCB83EF474}"/>
              </a:ext>
            </a:extLst>
          </p:cNvPr>
          <p:cNvSpPr>
            <a:spLocks noGrp="1"/>
          </p:cNvSpPr>
          <p:nvPr>
            <p:ph type="dt" sz="half" idx="10"/>
          </p:nvPr>
        </p:nvSpPr>
        <p:spPr/>
        <p:txBody>
          <a:bodyPr/>
          <a:lstStyle/>
          <a:p>
            <a:fld id="{D7F3936F-1707-4F05-A795-40DCB71D1E12}" type="datetime1">
              <a:rPr lang="en-US" smtClean="0"/>
              <a:t>6/24/2025</a:t>
            </a:fld>
            <a:endParaRPr lang="en-US"/>
          </a:p>
        </p:txBody>
      </p:sp>
      <p:sp>
        <p:nvSpPr>
          <p:cNvPr id="6" name="Footer Placeholder 5">
            <a:extLst>
              <a:ext uri="{FF2B5EF4-FFF2-40B4-BE49-F238E27FC236}">
                <a16:creationId xmlns:a16="http://schemas.microsoft.com/office/drawing/2014/main" id="{AC584553-19D4-4513-84C2-7C79F200A7E4}"/>
              </a:ext>
            </a:extLst>
          </p:cNvPr>
          <p:cNvSpPr>
            <a:spLocks noGrp="1"/>
          </p:cNvSpPr>
          <p:nvPr>
            <p:ph type="ftr" sz="quarter" idx="11"/>
          </p:nvPr>
        </p:nvSpPr>
        <p:spPr/>
        <p:txBody>
          <a:bodyPr/>
          <a:lstStyle/>
          <a:p>
            <a:r>
              <a:rPr lang="en-US"/>
              <a:t>BOUKLINAM ABALO</a:t>
            </a:r>
          </a:p>
        </p:txBody>
      </p:sp>
      <p:sp>
        <p:nvSpPr>
          <p:cNvPr id="7" name="Slide Number Placeholder 6">
            <a:extLst>
              <a:ext uri="{FF2B5EF4-FFF2-40B4-BE49-F238E27FC236}">
                <a16:creationId xmlns:a16="http://schemas.microsoft.com/office/drawing/2014/main" id="{DD356EF2-385A-4EC6-9779-17B76F56FB0C}"/>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1000659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80794-232A-4A03-B5BF-BEF7CDCC27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535667-E580-4722-8146-D749769941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E49AD90-5158-4177-AD45-A78A5D5D502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53FB35-2FF6-42B0-A2AA-4DBEB8CB81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231DEB0-7C1C-41A4-A00F-E7B9A3AD221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55A009-B5F7-405E-81DE-033D6838067D}"/>
              </a:ext>
            </a:extLst>
          </p:cNvPr>
          <p:cNvSpPr>
            <a:spLocks noGrp="1"/>
          </p:cNvSpPr>
          <p:nvPr>
            <p:ph type="dt" sz="half" idx="10"/>
          </p:nvPr>
        </p:nvSpPr>
        <p:spPr/>
        <p:txBody>
          <a:bodyPr/>
          <a:lstStyle/>
          <a:p>
            <a:fld id="{3CBEC989-101F-40D2-A206-ED743433FA9F}" type="datetime1">
              <a:rPr lang="en-US" smtClean="0"/>
              <a:t>6/24/2025</a:t>
            </a:fld>
            <a:endParaRPr lang="en-US"/>
          </a:p>
        </p:txBody>
      </p:sp>
      <p:sp>
        <p:nvSpPr>
          <p:cNvPr id="8" name="Footer Placeholder 7">
            <a:extLst>
              <a:ext uri="{FF2B5EF4-FFF2-40B4-BE49-F238E27FC236}">
                <a16:creationId xmlns:a16="http://schemas.microsoft.com/office/drawing/2014/main" id="{95C81CAD-8B26-40A4-AA16-3C2D9DAABEA7}"/>
              </a:ext>
            </a:extLst>
          </p:cNvPr>
          <p:cNvSpPr>
            <a:spLocks noGrp="1"/>
          </p:cNvSpPr>
          <p:nvPr>
            <p:ph type="ftr" sz="quarter" idx="11"/>
          </p:nvPr>
        </p:nvSpPr>
        <p:spPr/>
        <p:txBody>
          <a:bodyPr/>
          <a:lstStyle/>
          <a:p>
            <a:r>
              <a:rPr lang="en-US"/>
              <a:t>BOUKLINAM ABALO</a:t>
            </a:r>
          </a:p>
        </p:txBody>
      </p:sp>
      <p:sp>
        <p:nvSpPr>
          <p:cNvPr id="9" name="Slide Number Placeholder 8">
            <a:extLst>
              <a:ext uri="{FF2B5EF4-FFF2-40B4-BE49-F238E27FC236}">
                <a16:creationId xmlns:a16="http://schemas.microsoft.com/office/drawing/2014/main" id="{FD81DB3A-4430-430C-BD0D-66DE8C376070}"/>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1469447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362A0-8D1C-4C58-B8C1-D10A65787B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0D9355-895E-401A-BBCD-1B637C8277F4}"/>
              </a:ext>
            </a:extLst>
          </p:cNvPr>
          <p:cNvSpPr>
            <a:spLocks noGrp="1"/>
          </p:cNvSpPr>
          <p:nvPr>
            <p:ph type="dt" sz="half" idx="10"/>
          </p:nvPr>
        </p:nvSpPr>
        <p:spPr/>
        <p:txBody>
          <a:bodyPr/>
          <a:lstStyle/>
          <a:p>
            <a:fld id="{66FB3322-C2AA-4CE7-932D-CF904AB1EE66}" type="datetime1">
              <a:rPr lang="en-US" smtClean="0"/>
              <a:t>6/24/2025</a:t>
            </a:fld>
            <a:endParaRPr lang="en-US"/>
          </a:p>
        </p:txBody>
      </p:sp>
      <p:sp>
        <p:nvSpPr>
          <p:cNvPr id="4" name="Footer Placeholder 3">
            <a:extLst>
              <a:ext uri="{FF2B5EF4-FFF2-40B4-BE49-F238E27FC236}">
                <a16:creationId xmlns:a16="http://schemas.microsoft.com/office/drawing/2014/main" id="{9016BE95-2FB2-4061-A765-815E7945B121}"/>
              </a:ext>
            </a:extLst>
          </p:cNvPr>
          <p:cNvSpPr>
            <a:spLocks noGrp="1"/>
          </p:cNvSpPr>
          <p:nvPr>
            <p:ph type="ftr" sz="quarter" idx="11"/>
          </p:nvPr>
        </p:nvSpPr>
        <p:spPr/>
        <p:txBody>
          <a:bodyPr/>
          <a:lstStyle/>
          <a:p>
            <a:r>
              <a:rPr lang="en-US"/>
              <a:t>BOUKLINAM ABALO</a:t>
            </a:r>
          </a:p>
        </p:txBody>
      </p:sp>
      <p:sp>
        <p:nvSpPr>
          <p:cNvPr id="5" name="Slide Number Placeholder 4">
            <a:extLst>
              <a:ext uri="{FF2B5EF4-FFF2-40B4-BE49-F238E27FC236}">
                <a16:creationId xmlns:a16="http://schemas.microsoft.com/office/drawing/2014/main" id="{8EDF3135-8C1A-4630-A346-A6E6828C60ED}"/>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3049564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6CD89B-289D-474B-8624-6C3D24157CC7}"/>
              </a:ext>
            </a:extLst>
          </p:cNvPr>
          <p:cNvSpPr>
            <a:spLocks noGrp="1"/>
          </p:cNvSpPr>
          <p:nvPr>
            <p:ph type="dt" sz="half" idx="10"/>
          </p:nvPr>
        </p:nvSpPr>
        <p:spPr/>
        <p:txBody>
          <a:bodyPr/>
          <a:lstStyle/>
          <a:p>
            <a:fld id="{A49BDC81-2128-4CE9-AE08-AC168DFD3431}" type="datetime1">
              <a:rPr lang="en-US" smtClean="0"/>
              <a:t>6/24/2025</a:t>
            </a:fld>
            <a:endParaRPr lang="en-US"/>
          </a:p>
        </p:txBody>
      </p:sp>
      <p:sp>
        <p:nvSpPr>
          <p:cNvPr id="3" name="Footer Placeholder 2">
            <a:extLst>
              <a:ext uri="{FF2B5EF4-FFF2-40B4-BE49-F238E27FC236}">
                <a16:creationId xmlns:a16="http://schemas.microsoft.com/office/drawing/2014/main" id="{735B77E0-146D-4584-B6A2-AB9D6CF20D3A}"/>
              </a:ext>
            </a:extLst>
          </p:cNvPr>
          <p:cNvSpPr>
            <a:spLocks noGrp="1"/>
          </p:cNvSpPr>
          <p:nvPr>
            <p:ph type="ftr" sz="quarter" idx="11"/>
          </p:nvPr>
        </p:nvSpPr>
        <p:spPr/>
        <p:txBody>
          <a:bodyPr/>
          <a:lstStyle/>
          <a:p>
            <a:r>
              <a:rPr lang="en-US"/>
              <a:t>BOUKLINAM ABALO</a:t>
            </a:r>
          </a:p>
        </p:txBody>
      </p:sp>
      <p:sp>
        <p:nvSpPr>
          <p:cNvPr id="4" name="Slide Number Placeholder 3">
            <a:extLst>
              <a:ext uri="{FF2B5EF4-FFF2-40B4-BE49-F238E27FC236}">
                <a16:creationId xmlns:a16="http://schemas.microsoft.com/office/drawing/2014/main" id="{C90EA189-5B8B-4B58-99D4-E07B8B27C5C5}"/>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2249095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79309-FB88-4A10-84A6-ECA52658C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8FFD4C-9FF9-43E3-B76C-2C0CA5D2E7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C5562F-E333-4D69-AB6F-BD6E19F69E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7CED5D-5A9D-4A36-B22E-BD83F527BE6A}"/>
              </a:ext>
            </a:extLst>
          </p:cNvPr>
          <p:cNvSpPr>
            <a:spLocks noGrp="1"/>
          </p:cNvSpPr>
          <p:nvPr>
            <p:ph type="dt" sz="half" idx="10"/>
          </p:nvPr>
        </p:nvSpPr>
        <p:spPr/>
        <p:txBody>
          <a:bodyPr/>
          <a:lstStyle/>
          <a:p>
            <a:fld id="{DB3ECF35-68BE-48C7-809A-3D12171ACE1B}" type="datetime1">
              <a:rPr lang="en-US" smtClean="0"/>
              <a:t>6/24/2025</a:t>
            </a:fld>
            <a:endParaRPr lang="en-US"/>
          </a:p>
        </p:txBody>
      </p:sp>
      <p:sp>
        <p:nvSpPr>
          <p:cNvPr id="6" name="Footer Placeholder 5">
            <a:extLst>
              <a:ext uri="{FF2B5EF4-FFF2-40B4-BE49-F238E27FC236}">
                <a16:creationId xmlns:a16="http://schemas.microsoft.com/office/drawing/2014/main" id="{1A55EC31-6E16-42C7-BA5C-C0F0E3958BBE}"/>
              </a:ext>
            </a:extLst>
          </p:cNvPr>
          <p:cNvSpPr>
            <a:spLocks noGrp="1"/>
          </p:cNvSpPr>
          <p:nvPr>
            <p:ph type="ftr" sz="quarter" idx="11"/>
          </p:nvPr>
        </p:nvSpPr>
        <p:spPr/>
        <p:txBody>
          <a:bodyPr/>
          <a:lstStyle/>
          <a:p>
            <a:r>
              <a:rPr lang="en-US"/>
              <a:t>BOUKLINAM ABALO</a:t>
            </a:r>
          </a:p>
        </p:txBody>
      </p:sp>
      <p:sp>
        <p:nvSpPr>
          <p:cNvPr id="7" name="Slide Number Placeholder 6">
            <a:extLst>
              <a:ext uri="{FF2B5EF4-FFF2-40B4-BE49-F238E27FC236}">
                <a16:creationId xmlns:a16="http://schemas.microsoft.com/office/drawing/2014/main" id="{2D33D850-F8B3-4F60-921A-EB0BEEF163AB}"/>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1839957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04075-96BA-48BA-B0E4-B287DACAD0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F42746-7DC7-4974-A3D6-1FBFA780D3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B872FB-70F7-428E-9F95-BBB98532A1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9C03AB0-68A8-447E-9944-F88B52DD3F8C}"/>
              </a:ext>
            </a:extLst>
          </p:cNvPr>
          <p:cNvSpPr>
            <a:spLocks noGrp="1"/>
          </p:cNvSpPr>
          <p:nvPr>
            <p:ph type="dt" sz="half" idx="10"/>
          </p:nvPr>
        </p:nvSpPr>
        <p:spPr/>
        <p:txBody>
          <a:bodyPr/>
          <a:lstStyle/>
          <a:p>
            <a:fld id="{DE7F32E3-A079-48D9-A29B-0554542C1D2C}" type="datetime1">
              <a:rPr lang="en-US" smtClean="0"/>
              <a:t>6/24/2025</a:t>
            </a:fld>
            <a:endParaRPr lang="en-US"/>
          </a:p>
        </p:txBody>
      </p:sp>
      <p:sp>
        <p:nvSpPr>
          <p:cNvPr id="6" name="Footer Placeholder 5">
            <a:extLst>
              <a:ext uri="{FF2B5EF4-FFF2-40B4-BE49-F238E27FC236}">
                <a16:creationId xmlns:a16="http://schemas.microsoft.com/office/drawing/2014/main" id="{93089DBE-4F8D-4C5B-B4BB-89B351AD6511}"/>
              </a:ext>
            </a:extLst>
          </p:cNvPr>
          <p:cNvSpPr>
            <a:spLocks noGrp="1"/>
          </p:cNvSpPr>
          <p:nvPr>
            <p:ph type="ftr" sz="quarter" idx="11"/>
          </p:nvPr>
        </p:nvSpPr>
        <p:spPr/>
        <p:txBody>
          <a:bodyPr/>
          <a:lstStyle/>
          <a:p>
            <a:r>
              <a:rPr lang="en-US"/>
              <a:t>BOUKLINAM ABALO</a:t>
            </a:r>
          </a:p>
        </p:txBody>
      </p:sp>
      <p:sp>
        <p:nvSpPr>
          <p:cNvPr id="7" name="Slide Number Placeholder 6">
            <a:extLst>
              <a:ext uri="{FF2B5EF4-FFF2-40B4-BE49-F238E27FC236}">
                <a16:creationId xmlns:a16="http://schemas.microsoft.com/office/drawing/2014/main" id="{7B88B23B-B651-4CE7-AC7F-179DB7CBAB10}"/>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1508267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7E7C7-F60C-4542-8884-1A6B942BF7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24C8D1-0DD1-4FF2-9E16-13B6BD9D667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7A898E-9481-41A5-835E-57C2C3E614A1}"/>
              </a:ext>
            </a:extLst>
          </p:cNvPr>
          <p:cNvSpPr>
            <a:spLocks noGrp="1"/>
          </p:cNvSpPr>
          <p:nvPr>
            <p:ph type="dt" sz="half" idx="10"/>
          </p:nvPr>
        </p:nvSpPr>
        <p:spPr/>
        <p:txBody>
          <a:bodyPr/>
          <a:lstStyle/>
          <a:p>
            <a:fld id="{D3875F77-DA9F-457E-8679-14067B207079}" type="datetime1">
              <a:rPr lang="en-US" smtClean="0"/>
              <a:t>6/24/2025</a:t>
            </a:fld>
            <a:endParaRPr lang="en-US"/>
          </a:p>
        </p:txBody>
      </p:sp>
      <p:sp>
        <p:nvSpPr>
          <p:cNvPr id="5" name="Footer Placeholder 4">
            <a:extLst>
              <a:ext uri="{FF2B5EF4-FFF2-40B4-BE49-F238E27FC236}">
                <a16:creationId xmlns:a16="http://schemas.microsoft.com/office/drawing/2014/main" id="{F7BE0304-8476-4AE0-8EA2-5A7C3C1482E5}"/>
              </a:ext>
            </a:extLst>
          </p:cNvPr>
          <p:cNvSpPr>
            <a:spLocks noGrp="1"/>
          </p:cNvSpPr>
          <p:nvPr>
            <p:ph type="ftr" sz="quarter" idx="11"/>
          </p:nvPr>
        </p:nvSpPr>
        <p:spPr/>
        <p:txBody>
          <a:bodyPr/>
          <a:lstStyle/>
          <a:p>
            <a:r>
              <a:rPr lang="en-US"/>
              <a:t>BOUKLINAM ABALO</a:t>
            </a:r>
          </a:p>
        </p:txBody>
      </p:sp>
      <p:sp>
        <p:nvSpPr>
          <p:cNvPr id="6" name="Slide Number Placeholder 5">
            <a:extLst>
              <a:ext uri="{FF2B5EF4-FFF2-40B4-BE49-F238E27FC236}">
                <a16:creationId xmlns:a16="http://schemas.microsoft.com/office/drawing/2014/main" id="{464840F1-E319-4952-ACD0-7062E0C5AE0D}"/>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2169835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67AE6F-18DC-4786-B2EB-9912760D30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CD2A4F-7517-480A-9EBE-2BEE66B35BD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C69859-E8CE-4FED-87AB-06F6181C9CB7}"/>
              </a:ext>
            </a:extLst>
          </p:cNvPr>
          <p:cNvSpPr>
            <a:spLocks noGrp="1"/>
          </p:cNvSpPr>
          <p:nvPr>
            <p:ph type="dt" sz="half" idx="10"/>
          </p:nvPr>
        </p:nvSpPr>
        <p:spPr/>
        <p:txBody>
          <a:bodyPr/>
          <a:lstStyle/>
          <a:p>
            <a:fld id="{A6C51144-3F9D-4B81-ADD9-6A731E3EC6EA}" type="datetime1">
              <a:rPr lang="en-US" smtClean="0"/>
              <a:t>6/24/2025</a:t>
            </a:fld>
            <a:endParaRPr lang="en-US"/>
          </a:p>
        </p:txBody>
      </p:sp>
      <p:sp>
        <p:nvSpPr>
          <p:cNvPr id="5" name="Footer Placeholder 4">
            <a:extLst>
              <a:ext uri="{FF2B5EF4-FFF2-40B4-BE49-F238E27FC236}">
                <a16:creationId xmlns:a16="http://schemas.microsoft.com/office/drawing/2014/main" id="{F032F0FE-32B9-4668-A2BF-E58EC405EE81}"/>
              </a:ext>
            </a:extLst>
          </p:cNvPr>
          <p:cNvSpPr>
            <a:spLocks noGrp="1"/>
          </p:cNvSpPr>
          <p:nvPr>
            <p:ph type="ftr" sz="quarter" idx="11"/>
          </p:nvPr>
        </p:nvSpPr>
        <p:spPr/>
        <p:txBody>
          <a:bodyPr/>
          <a:lstStyle/>
          <a:p>
            <a:r>
              <a:rPr lang="en-US"/>
              <a:t>BOUKLINAM ABALO</a:t>
            </a:r>
          </a:p>
        </p:txBody>
      </p:sp>
      <p:sp>
        <p:nvSpPr>
          <p:cNvPr id="6" name="Slide Number Placeholder 5">
            <a:extLst>
              <a:ext uri="{FF2B5EF4-FFF2-40B4-BE49-F238E27FC236}">
                <a16:creationId xmlns:a16="http://schemas.microsoft.com/office/drawing/2014/main" id="{020B8EFB-B7E2-481B-9C16-775B4221318C}"/>
              </a:ext>
            </a:extLst>
          </p:cNvPr>
          <p:cNvSpPr>
            <a:spLocks noGrp="1"/>
          </p:cNvSpPr>
          <p:nvPr>
            <p:ph type="sldNum" sz="quarter" idx="12"/>
          </p:nvPr>
        </p:nvSpPr>
        <p:spPr/>
        <p:txBody>
          <a:bodyPr/>
          <a:lstStyle/>
          <a:p>
            <a:fld id="{83F54AC8-AEF9-4849-96E0-474D00FD0D7C}" type="slidenum">
              <a:rPr lang="en-US" smtClean="0"/>
              <a:t>‹#›</a:t>
            </a:fld>
            <a:endParaRPr lang="en-US"/>
          </a:p>
        </p:txBody>
      </p:sp>
    </p:spTree>
    <p:extLst>
      <p:ext uri="{BB962C8B-B14F-4D97-AF65-F5344CB8AC3E}">
        <p14:creationId xmlns:p14="http://schemas.microsoft.com/office/powerpoint/2010/main" val="1682804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FFE328-D838-4450-9699-7E0A2ED40F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634851-6A17-4C66-810D-E18F0186AA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0F68B-C02C-454A-9E00-9A1594FBD1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D8FF65-7222-444B-B774-D1AB364B91EC}" type="datetime1">
              <a:rPr lang="en-US" smtClean="0"/>
              <a:t>6/24/2025</a:t>
            </a:fld>
            <a:endParaRPr lang="en-US"/>
          </a:p>
        </p:txBody>
      </p:sp>
      <p:sp>
        <p:nvSpPr>
          <p:cNvPr id="5" name="Footer Placeholder 4">
            <a:extLst>
              <a:ext uri="{FF2B5EF4-FFF2-40B4-BE49-F238E27FC236}">
                <a16:creationId xmlns:a16="http://schemas.microsoft.com/office/drawing/2014/main" id="{AE7A39C3-D6D0-477C-80E0-BB1C10A73D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BOUKLINAM ABALO</a:t>
            </a:r>
          </a:p>
        </p:txBody>
      </p:sp>
      <p:sp>
        <p:nvSpPr>
          <p:cNvPr id="6" name="Slide Number Placeholder 5">
            <a:extLst>
              <a:ext uri="{FF2B5EF4-FFF2-40B4-BE49-F238E27FC236}">
                <a16:creationId xmlns:a16="http://schemas.microsoft.com/office/drawing/2014/main" id="{5F6A8E41-F644-4176-96A4-0FC28FAD09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F54AC8-AEF9-4849-96E0-474D00FD0D7C}" type="slidenum">
              <a:rPr lang="en-US" smtClean="0"/>
              <a:t>‹#›</a:t>
            </a:fld>
            <a:endParaRPr lang="en-US"/>
          </a:p>
        </p:txBody>
      </p:sp>
    </p:spTree>
    <p:extLst>
      <p:ext uri="{BB962C8B-B14F-4D97-AF65-F5344CB8AC3E}">
        <p14:creationId xmlns:p14="http://schemas.microsoft.com/office/powerpoint/2010/main" val="3588392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168B-9287-447A-B56F-DEA73F296592}"/>
              </a:ext>
            </a:extLst>
          </p:cNvPr>
          <p:cNvSpPr>
            <a:spLocks noGrp="1"/>
          </p:cNvSpPr>
          <p:nvPr>
            <p:ph type="ctrTitle"/>
          </p:nvPr>
        </p:nvSpPr>
        <p:spPr>
          <a:xfrm>
            <a:off x="1524000" y="0"/>
            <a:ext cx="9144000" cy="1781175"/>
          </a:xfrm>
        </p:spPr>
        <p:txBody>
          <a:bodyPr>
            <a:noAutofit/>
          </a:bodyPr>
          <a:lstStyle/>
          <a:p>
            <a:r>
              <a:rPr lang="fr-FR" sz="4000" dirty="0">
                <a:latin typeface="Times New Roman" panose="02020603050405020304" pitchFamily="18" charset="0"/>
                <a:cs typeface="Times New Roman" panose="02020603050405020304" pitchFamily="18" charset="0"/>
              </a:rPr>
              <a:t>Haute disponibilité et reprise après sinistre en environnement virtualisé</a:t>
            </a:r>
            <a:br>
              <a:rPr lang="fr-FR" sz="4000" dirty="0"/>
            </a:br>
            <a:endParaRPr lang="en-US"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EE43BAC-91F6-4B05-8739-5B34CA6A7193}"/>
              </a:ext>
            </a:extLst>
          </p:cNvPr>
          <p:cNvSpPr>
            <a:spLocks noGrp="1"/>
          </p:cNvSpPr>
          <p:nvPr>
            <p:ph type="subTitle" idx="1"/>
          </p:nvPr>
        </p:nvSpPr>
        <p:spPr>
          <a:xfrm>
            <a:off x="847725" y="1390651"/>
            <a:ext cx="9820275" cy="5181600"/>
          </a:xfrm>
        </p:spPr>
        <p:txBody>
          <a:bodyPr>
            <a:normAutofit/>
          </a:bodyPr>
          <a:lstStyle/>
          <a:p>
            <a:pPr algn="just">
              <a:lnSpc>
                <a:spcPct val="150000"/>
              </a:lnSpc>
            </a:pPr>
            <a:r>
              <a:rPr lang="fr-FR" sz="2600" dirty="0">
                <a:latin typeface="Times New Roman" panose="02020603050405020304" pitchFamily="18" charset="0"/>
                <a:cs typeface="Times New Roman" panose="02020603050405020304" pitchFamily="18" charset="0"/>
              </a:rPr>
              <a:t>La haute disponibilité (souvent abrégée HA, de l’anglais </a:t>
            </a:r>
            <a:r>
              <a:rPr lang="fr-FR" sz="2600" i="1" dirty="0">
                <a:latin typeface="Times New Roman" panose="02020603050405020304" pitchFamily="18" charset="0"/>
                <a:cs typeface="Times New Roman" panose="02020603050405020304" pitchFamily="18" charset="0"/>
              </a:rPr>
              <a:t>High </a:t>
            </a:r>
            <a:r>
              <a:rPr lang="fr-FR" sz="2600" i="1" dirty="0" err="1">
                <a:latin typeface="Times New Roman" panose="02020603050405020304" pitchFamily="18" charset="0"/>
                <a:cs typeface="Times New Roman" panose="02020603050405020304" pitchFamily="18" charset="0"/>
              </a:rPr>
              <a:t>Availability</a:t>
            </a:r>
            <a:r>
              <a:rPr lang="fr-FR" sz="2600" dirty="0">
                <a:latin typeface="Times New Roman" panose="02020603050405020304" pitchFamily="18" charset="0"/>
                <a:cs typeface="Times New Roman" panose="02020603050405020304" pitchFamily="18" charset="0"/>
              </a:rPr>
              <a:t>) est un ensemble de mécanismes et de configurations techniques qui permettent à un système informatique de continuer à fonctionner même en cas de panne d’un de ses composants (serveur, disque, réseau, etc.).</a:t>
            </a:r>
          </a:p>
          <a:p>
            <a:pPr algn="just">
              <a:lnSpc>
                <a:spcPct val="150000"/>
              </a:lnSpc>
            </a:pPr>
            <a:r>
              <a:rPr lang="fr-FR" sz="2600" dirty="0">
                <a:latin typeface="Times New Roman" panose="02020603050405020304" pitchFamily="18" charset="0"/>
                <a:cs typeface="Times New Roman" panose="02020603050405020304" pitchFamily="18" charset="0"/>
              </a:rPr>
              <a:t>Son objectif est de Minimiser ou éviter les interruptions de service pour garantir un fonctionnement continu, surtout pour les applications critiques (banques, e-commerce, hôpitaux, etc.).</a:t>
            </a:r>
            <a:endParaRPr lang="en-US" sz="2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A2DA1C5-7FFE-4E4C-B5C2-2D4846B891EA}"/>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896932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168B-9287-447A-B56F-DEA73F296592}"/>
              </a:ext>
            </a:extLst>
          </p:cNvPr>
          <p:cNvSpPr>
            <a:spLocks noGrp="1"/>
          </p:cNvSpPr>
          <p:nvPr>
            <p:ph type="ctrTitle"/>
          </p:nvPr>
        </p:nvSpPr>
        <p:spPr>
          <a:xfrm>
            <a:off x="1524000" y="238125"/>
            <a:ext cx="9144000" cy="876300"/>
          </a:xfrm>
        </p:spPr>
        <p:txBody>
          <a:bodyPr>
            <a:normAutofit/>
          </a:bodyPr>
          <a:lstStyle/>
          <a:p>
            <a:r>
              <a:rPr lang="fr-FR" sz="4000" dirty="0">
                <a:latin typeface="Times New Roman" panose="02020603050405020304" pitchFamily="18" charset="0"/>
                <a:cs typeface="Times New Roman" panose="02020603050405020304" pitchFamily="18" charset="0"/>
              </a:rPr>
              <a:t>Haute disponibilité</a:t>
            </a:r>
            <a:endParaRPr lang="en-US" sz="4000" dirty="0"/>
          </a:p>
        </p:txBody>
      </p:sp>
      <p:sp>
        <p:nvSpPr>
          <p:cNvPr id="3" name="Subtitle 2">
            <a:extLst>
              <a:ext uri="{FF2B5EF4-FFF2-40B4-BE49-F238E27FC236}">
                <a16:creationId xmlns:a16="http://schemas.microsoft.com/office/drawing/2014/main" id="{2EE43BAC-91F6-4B05-8739-5B34CA6A7193}"/>
              </a:ext>
            </a:extLst>
          </p:cNvPr>
          <p:cNvSpPr>
            <a:spLocks noGrp="1"/>
          </p:cNvSpPr>
          <p:nvPr>
            <p:ph type="subTitle" idx="1"/>
          </p:nvPr>
        </p:nvSpPr>
        <p:spPr>
          <a:xfrm>
            <a:off x="1524000" y="1533525"/>
            <a:ext cx="9144000" cy="4810125"/>
          </a:xfrm>
        </p:spPr>
        <p:txBody>
          <a:bodyPr/>
          <a:lstStyle/>
          <a:p>
            <a:pPr algn="just">
              <a:lnSpc>
                <a:spcPct val="150000"/>
              </a:lnSpc>
            </a:pPr>
            <a:r>
              <a:rPr lang="fr-FR" dirty="0">
                <a:latin typeface="Times New Roman" panose="02020603050405020304" pitchFamily="18" charset="0"/>
                <a:cs typeface="Times New Roman" panose="02020603050405020304" pitchFamily="18" charset="0"/>
              </a:rPr>
              <a:t>Elle repose sur :</a:t>
            </a:r>
          </a:p>
          <a:p>
            <a:pPr marL="342900" indent="-342900" algn="just">
              <a:lnSpc>
                <a:spcPct val="150000"/>
              </a:lnSpc>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La redondance : plusieurs serveurs, disques ou composants sont disponibles pour prendre le relais en cas de panne.</a:t>
            </a:r>
          </a:p>
          <a:p>
            <a:pPr marL="342900" indent="-342900" algn="just">
              <a:lnSpc>
                <a:spcPct val="150000"/>
              </a:lnSpc>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Le basculement automatique (failover) : si un serveur tombe, un autre prend automatiquement le relais.</a:t>
            </a:r>
          </a:p>
          <a:p>
            <a:pPr marL="342900" indent="-342900" algn="just">
              <a:lnSpc>
                <a:spcPct val="150000"/>
              </a:lnSpc>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La supervision (monitoring) : un système surveille en temps réel l’état des ressources et déclenche le basculement si nécessaire.</a:t>
            </a:r>
          </a:p>
          <a:p>
            <a:endParaRPr lang="en-US" dirty="0"/>
          </a:p>
        </p:txBody>
      </p:sp>
      <p:sp>
        <p:nvSpPr>
          <p:cNvPr id="4" name="Footer Placeholder 3">
            <a:extLst>
              <a:ext uri="{FF2B5EF4-FFF2-40B4-BE49-F238E27FC236}">
                <a16:creationId xmlns:a16="http://schemas.microsoft.com/office/drawing/2014/main" id="{5E48D05E-5F41-4BD7-B839-B9275C32A48F}"/>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1221401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168B-9287-447A-B56F-DEA73F296592}"/>
              </a:ext>
            </a:extLst>
          </p:cNvPr>
          <p:cNvSpPr>
            <a:spLocks noGrp="1"/>
          </p:cNvSpPr>
          <p:nvPr>
            <p:ph type="ctrTitle"/>
          </p:nvPr>
        </p:nvSpPr>
        <p:spPr>
          <a:xfrm>
            <a:off x="1524000" y="238125"/>
            <a:ext cx="9144000" cy="876300"/>
          </a:xfrm>
        </p:spPr>
        <p:txBody>
          <a:bodyPr>
            <a:normAutofit/>
          </a:bodyPr>
          <a:lstStyle/>
          <a:p>
            <a:r>
              <a:rPr lang="fr-FR" sz="4000" dirty="0">
                <a:latin typeface="Times New Roman" panose="02020603050405020304" pitchFamily="18" charset="0"/>
                <a:cs typeface="Times New Roman" panose="02020603050405020304" pitchFamily="18" charset="0"/>
              </a:rPr>
              <a:t>Haute disponibilité</a:t>
            </a:r>
            <a:endParaRPr lang="en-US" sz="4000" dirty="0"/>
          </a:p>
        </p:txBody>
      </p:sp>
      <p:sp>
        <p:nvSpPr>
          <p:cNvPr id="3" name="Subtitle 2">
            <a:extLst>
              <a:ext uri="{FF2B5EF4-FFF2-40B4-BE49-F238E27FC236}">
                <a16:creationId xmlns:a16="http://schemas.microsoft.com/office/drawing/2014/main" id="{2EE43BAC-91F6-4B05-8739-5B34CA6A7193}"/>
              </a:ext>
            </a:extLst>
          </p:cNvPr>
          <p:cNvSpPr>
            <a:spLocks noGrp="1"/>
          </p:cNvSpPr>
          <p:nvPr>
            <p:ph type="subTitle" idx="1"/>
          </p:nvPr>
        </p:nvSpPr>
        <p:spPr>
          <a:xfrm>
            <a:off x="1524000" y="1533525"/>
            <a:ext cx="9144000" cy="4524375"/>
          </a:xfrm>
        </p:spPr>
        <p:txBody>
          <a:bodyPr/>
          <a:lstStyle/>
          <a:p>
            <a:pPr algn="just"/>
            <a:r>
              <a:rPr lang="fr-FR" dirty="0">
                <a:latin typeface="Times New Roman" panose="02020603050405020304" pitchFamily="18" charset="0"/>
                <a:cs typeface="Times New Roman" panose="02020603050405020304" pitchFamily="18" charset="0"/>
              </a:rPr>
              <a:t>Il s'exprime souvent en années, par exemple</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 99%  → 3,65 jours /an indisponible</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99,99% → 4,38 heures / an indisponible</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99,999%→ ~ 5 minutes / an indisponible</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99,9999% → ~ 30 secondes / an indisponible</a:t>
            </a:r>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9942F63-EE8D-406C-9249-27D511730278}"/>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3057762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168B-9287-447A-B56F-DEA73F296592}"/>
              </a:ext>
            </a:extLst>
          </p:cNvPr>
          <p:cNvSpPr>
            <a:spLocks noGrp="1"/>
          </p:cNvSpPr>
          <p:nvPr>
            <p:ph type="ctrTitle"/>
          </p:nvPr>
        </p:nvSpPr>
        <p:spPr>
          <a:xfrm>
            <a:off x="1524000" y="-247650"/>
            <a:ext cx="9144000" cy="1628775"/>
          </a:xfrm>
        </p:spPr>
        <p:txBody>
          <a:bodyPr>
            <a:normAutofit/>
          </a:bodyPr>
          <a:lstStyle/>
          <a:p>
            <a:r>
              <a:rPr lang="fr-FR" sz="4400" dirty="0">
                <a:latin typeface="Times New Roman" panose="02020603050405020304" pitchFamily="18" charset="0"/>
                <a:cs typeface="Times New Roman" panose="02020603050405020304" pitchFamily="18" charset="0"/>
              </a:rPr>
              <a:t>Redondance</a:t>
            </a:r>
            <a:br>
              <a:rPr lang="fr-FR" b="1" dirty="0"/>
            </a:br>
            <a:endParaRPr lang="en-US" dirty="0"/>
          </a:p>
        </p:txBody>
      </p:sp>
      <p:sp>
        <p:nvSpPr>
          <p:cNvPr id="3" name="Subtitle 2">
            <a:extLst>
              <a:ext uri="{FF2B5EF4-FFF2-40B4-BE49-F238E27FC236}">
                <a16:creationId xmlns:a16="http://schemas.microsoft.com/office/drawing/2014/main" id="{2EE43BAC-91F6-4B05-8739-5B34CA6A7193}"/>
              </a:ext>
            </a:extLst>
          </p:cNvPr>
          <p:cNvSpPr>
            <a:spLocks noGrp="1"/>
          </p:cNvSpPr>
          <p:nvPr>
            <p:ph type="subTitle" idx="1"/>
          </p:nvPr>
        </p:nvSpPr>
        <p:spPr>
          <a:xfrm>
            <a:off x="1524000" y="742951"/>
            <a:ext cx="9144000" cy="5314950"/>
          </a:xfrm>
        </p:spPr>
        <p:txBody>
          <a:bodyPr>
            <a:normAutofit/>
          </a:bodyPr>
          <a:lstStyle/>
          <a:p>
            <a:pPr algn="just">
              <a:lnSpc>
                <a:spcPct val="150000"/>
              </a:lnSpc>
            </a:pPr>
            <a:r>
              <a:rPr lang="fr-FR" b="1" dirty="0"/>
              <a:t> </a:t>
            </a:r>
            <a:r>
              <a:rPr lang="fr-FR" dirty="0">
                <a:latin typeface="Times New Roman" panose="02020603050405020304" pitchFamily="18" charset="0"/>
                <a:cs typeface="Times New Roman" panose="02020603050405020304" pitchFamily="18" charset="0"/>
              </a:rPr>
              <a:t>La </a:t>
            </a:r>
            <a:r>
              <a:rPr lang="fr-FR" b="1" dirty="0">
                <a:latin typeface="Times New Roman" panose="02020603050405020304" pitchFamily="18" charset="0"/>
                <a:cs typeface="Times New Roman" panose="02020603050405020304" pitchFamily="18" charset="0"/>
              </a:rPr>
              <a:t>redondance</a:t>
            </a:r>
            <a:r>
              <a:rPr lang="fr-FR" dirty="0">
                <a:latin typeface="Times New Roman" panose="02020603050405020304" pitchFamily="18" charset="0"/>
                <a:cs typeface="Times New Roman" panose="02020603050405020304" pitchFamily="18" charset="0"/>
              </a:rPr>
              <a:t> consiste à dupliquer des composants critiques d’un système (serveurs, disques, alimentations, connexions réseau, etc.) afin de garantir la continuité de service en cas de défaillance. L’objectif est d’éviter un point unique de défaillance : si un élément tombe en panne, un autre, déjà prêt et fonctionnel, peut prendre le relais immédiatement ou après basculement.</a:t>
            </a:r>
          </a:p>
          <a:p>
            <a:pPr algn="just">
              <a:lnSpc>
                <a:spcPct val="150000"/>
              </a:lnSpc>
            </a:pPr>
            <a:r>
              <a:rPr lang="fr-FR" dirty="0">
                <a:latin typeface="Times New Roman" panose="02020603050405020304" pitchFamily="18" charset="0"/>
                <a:cs typeface="Times New Roman" panose="02020603050405020304" pitchFamily="18" charset="0"/>
              </a:rPr>
              <a:t> </a:t>
            </a:r>
            <a:r>
              <a:rPr lang="fr-FR" i="1" u="sng" dirty="0">
                <a:latin typeface="Times New Roman" panose="02020603050405020304" pitchFamily="18" charset="0"/>
                <a:cs typeface="Times New Roman" panose="02020603050405020304" pitchFamily="18" charset="0"/>
              </a:rPr>
              <a:t>Exemple</a:t>
            </a:r>
            <a:r>
              <a:rPr lang="fr-FR" dirty="0">
                <a:latin typeface="Times New Roman" panose="02020603050405020304" pitchFamily="18" charset="0"/>
                <a:cs typeface="Times New Roman" panose="02020603050405020304" pitchFamily="18" charset="0"/>
              </a:rPr>
              <a:t> : Deux serveurs web configurés en parallèle : si l’un tombe, l’autre continue à répondre aux requêtes.</a:t>
            </a:r>
          </a:p>
          <a:p>
            <a:endParaRPr lang="en-US" dirty="0"/>
          </a:p>
        </p:txBody>
      </p:sp>
      <p:sp>
        <p:nvSpPr>
          <p:cNvPr id="4" name="Footer Placeholder 3">
            <a:extLst>
              <a:ext uri="{FF2B5EF4-FFF2-40B4-BE49-F238E27FC236}">
                <a16:creationId xmlns:a16="http://schemas.microsoft.com/office/drawing/2014/main" id="{3F1E7740-A1CE-4579-9697-FBF7771CC2FE}"/>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137228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168B-9287-447A-B56F-DEA73F296592}"/>
              </a:ext>
            </a:extLst>
          </p:cNvPr>
          <p:cNvSpPr>
            <a:spLocks noGrp="1"/>
          </p:cNvSpPr>
          <p:nvPr>
            <p:ph type="ctrTitle"/>
          </p:nvPr>
        </p:nvSpPr>
        <p:spPr>
          <a:xfrm>
            <a:off x="1524000" y="238124"/>
            <a:ext cx="9144000" cy="1228725"/>
          </a:xfrm>
        </p:spPr>
        <p:txBody>
          <a:bodyPr>
            <a:normAutofit fontScale="90000"/>
          </a:bodyPr>
          <a:lstStyle/>
          <a:p>
            <a:r>
              <a:rPr lang="fr-FR" sz="4400" dirty="0">
                <a:latin typeface="Times New Roman" panose="02020603050405020304" pitchFamily="18" charset="0"/>
                <a:cs typeface="Times New Roman" panose="02020603050405020304" pitchFamily="18" charset="0"/>
              </a:rPr>
              <a:t>Basculement automatique (Failover)</a:t>
            </a:r>
            <a:br>
              <a:rPr lang="fr-FR" b="1" dirty="0"/>
            </a:br>
            <a:endParaRPr lang="en-US" dirty="0"/>
          </a:p>
        </p:txBody>
      </p:sp>
      <p:sp>
        <p:nvSpPr>
          <p:cNvPr id="3" name="Subtitle 2">
            <a:extLst>
              <a:ext uri="{FF2B5EF4-FFF2-40B4-BE49-F238E27FC236}">
                <a16:creationId xmlns:a16="http://schemas.microsoft.com/office/drawing/2014/main" id="{2EE43BAC-91F6-4B05-8739-5B34CA6A7193}"/>
              </a:ext>
            </a:extLst>
          </p:cNvPr>
          <p:cNvSpPr>
            <a:spLocks noGrp="1"/>
          </p:cNvSpPr>
          <p:nvPr>
            <p:ph type="subTitle" idx="1"/>
          </p:nvPr>
        </p:nvSpPr>
        <p:spPr>
          <a:xfrm>
            <a:off x="1524000" y="1066801"/>
            <a:ext cx="9144000" cy="4991100"/>
          </a:xfrm>
        </p:spPr>
        <p:txBody>
          <a:bodyPr/>
          <a:lstStyle/>
          <a:p>
            <a:pPr algn="just">
              <a:lnSpc>
                <a:spcPct val="150000"/>
              </a:lnSpc>
            </a:pPr>
            <a:r>
              <a:rPr lang="fr-FR" dirty="0">
                <a:latin typeface="Times New Roman" panose="02020603050405020304" pitchFamily="18" charset="0"/>
                <a:cs typeface="Times New Roman" panose="02020603050405020304" pitchFamily="18" charset="0"/>
              </a:rPr>
              <a:t>Le </a:t>
            </a:r>
            <a:r>
              <a:rPr lang="fr-FR" b="1" dirty="0">
                <a:latin typeface="Times New Roman" panose="02020603050405020304" pitchFamily="18" charset="0"/>
                <a:cs typeface="Times New Roman" panose="02020603050405020304" pitchFamily="18" charset="0"/>
              </a:rPr>
              <a:t>basculement automatique</a:t>
            </a:r>
            <a:r>
              <a:rPr lang="fr-FR" dirty="0">
                <a:latin typeface="Times New Roman" panose="02020603050405020304" pitchFamily="18" charset="0"/>
                <a:cs typeface="Times New Roman" panose="02020603050405020304" pitchFamily="18" charset="0"/>
              </a:rPr>
              <a:t>, ou failover, est un mécanisme permettant de transférer automatiquement l’activité d’un composant défaillant vers un autre composant redondant, sans intervention humaine et avec un minimum d’interruption de service.</a:t>
            </a:r>
          </a:p>
          <a:p>
            <a:pPr algn="just">
              <a:lnSpc>
                <a:spcPct val="150000"/>
              </a:lnSpc>
            </a:pPr>
            <a:r>
              <a:rPr lang="fr-FR" dirty="0">
                <a:latin typeface="Times New Roman" panose="02020603050405020304" pitchFamily="18" charset="0"/>
                <a:cs typeface="Times New Roman" panose="02020603050405020304" pitchFamily="18" charset="0"/>
              </a:rPr>
              <a:t> </a:t>
            </a:r>
            <a:r>
              <a:rPr lang="fr-FR" u="sng" dirty="0">
                <a:latin typeface="Times New Roman" panose="02020603050405020304" pitchFamily="18" charset="0"/>
                <a:cs typeface="Times New Roman" panose="02020603050405020304" pitchFamily="18" charset="0"/>
              </a:rPr>
              <a:t>Exemple</a:t>
            </a:r>
            <a:r>
              <a:rPr lang="fr-FR" dirty="0">
                <a:latin typeface="Times New Roman" panose="02020603050405020304" pitchFamily="18" charset="0"/>
                <a:cs typeface="Times New Roman" panose="02020603050405020304" pitchFamily="18" charset="0"/>
              </a:rPr>
              <a:t> : Si une base de données principale devient inaccessible, le système bascule automatiquement sur une base de secours.</a:t>
            </a:r>
          </a:p>
          <a:p>
            <a:endParaRPr lang="en-US" dirty="0"/>
          </a:p>
        </p:txBody>
      </p:sp>
      <p:sp>
        <p:nvSpPr>
          <p:cNvPr id="4" name="Footer Placeholder 3">
            <a:extLst>
              <a:ext uri="{FF2B5EF4-FFF2-40B4-BE49-F238E27FC236}">
                <a16:creationId xmlns:a16="http://schemas.microsoft.com/office/drawing/2014/main" id="{52CBC760-F208-4519-BC5D-C007E650643E}"/>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2101903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168B-9287-447A-B56F-DEA73F296592}"/>
              </a:ext>
            </a:extLst>
          </p:cNvPr>
          <p:cNvSpPr>
            <a:spLocks noGrp="1"/>
          </p:cNvSpPr>
          <p:nvPr>
            <p:ph type="ctrTitle"/>
          </p:nvPr>
        </p:nvSpPr>
        <p:spPr>
          <a:xfrm>
            <a:off x="1524000" y="238124"/>
            <a:ext cx="9144000" cy="1381125"/>
          </a:xfrm>
        </p:spPr>
        <p:txBody>
          <a:bodyPr>
            <a:normAutofit fontScale="90000"/>
          </a:bodyPr>
          <a:lstStyle/>
          <a:p>
            <a:r>
              <a:rPr lang="fr-FR" sz="4400" dirty="0">
                <a:latin typeface="Times New Roman" panose="02020603050405020304" pitchFamily="18" charset="0"/>
                <a:cs typeface="Times New Roman" panose="02020603050405020304" pitchFamily="18" charset="0"/>
              </a:rPr>
              <a:t>Supervision (Monitoring)</a:t>
            </a:r>
            <a:br>
              <a:rPr lang="fr-FR" b="1" dirty="0"/>
            </a:br>
            <a:endParaRPr lang="en-US" dirty="0"/>
          </a:p>
        </p:txBody>
      </p:sp>
      <p:sp>
        <p:nvSpPr>
          <p:cNvPr id="3" name="Subtitle 2">
            <a:extLst>
              <a:ext uri="{FF2B5EF4-FFF2-40B4-BE49-F238E27FC236}">
                <a16:creationId xmlns:a16="http://schemas.microsoft.com/office/drawing/2014/main" id="{2EE43BAC-91F6-4B05-8739-5B34CA6A7193}"/>
              </a:ext>
            </a:extLst>
          </p:cNvPr>
          <p:cNvSpPr>
            <a:spLocks noGrp="1"/>
          </p:cNvSpPr>
          <p:nvPr>
            <p:ph type="subTitle" idx="1"/>
          </p:nvPr>
        </p:nvSpPr>
        <p:spPr>
          <a:xfrm>
            <a:off x="1524000" y="990601"/>
            <a:ext cx="9144000" cy="5391150"/>
          </a:xfrm>
        </p:spPr>
        <p:txBody>
          <a:bodyPr>
            <a:normAutofit/>
          </a:bodyPr>
          <a:lstStyle/>
          <a:p>
            <a:pPr algn="just">
              <a:lnSpc>
                <a:spcPct val="150000"/>
              </a:lnSpc>
            </a:pPr>
            <a:r>
              <a:rPr lang="fr-FR" dirty="0">
                <a:latin typeface="Times New Roman" panose="02020603050405020304" pitchFamily="18" charset="0"/>
                <a:cs typeface="Times New Roman" panose="02020603050405020304" pitchFamily="18" charset="0"/>
              </a:rPr>
              <a:t>La </a:t>
            </a:r>
            <a:r>
              <a:rPr lang="fr-FR" b="1" dirty="0">
                <a:latin typeface="Times New Roman" panose="02020603050405020304" pitchFamily="18" charset="0"/>
                <a:cs typeface="Times New Roman" panose="02020603050405020304" pitchFamily="18" charset="0"/>
              </a:rPr>
              <a:t>supervision</a:t>
            </a:r>
            <a:r>
              <a:rPr lang="fr-FR" dirty="0">
                <a:latin typeface="Times New Roman" panose="02020603050405020304" pitchFamily="18" charset="0"/>
                <a:cs typeface="Times New Roman" panose="02020603050405020304" pitchFamily="18" charset="0"/>
              </a:rPr>
              <a:t> ou monitoring désigne l’ensemble des outils et processus permettant de surveiller en temps réel l’état de santé des ressources informatiques (serveurs, services, performances, etc.). Elle permet de détecter les anomalies et, dans un système redondant, de déclencher automatiquement un basculement en cas de panne.</a:t>
            </a:r>
          </a:p>
          <a:p>
            <a:pPr algn="just">
              <a:lnSpc>
                <a:spcPct val="150000"/>
              </a:lnSpc>
            </a:pPr>
            <a:r>
              <a:rPr lang="fr-FR" dirty="0">
                <a:latin typeface="Times New Roman" panose="02020603050405020304" pitchFamily="18" charset="0"/>
                <a:cs typeface="Times New Roman" panose="02020603050405020304" pitchFamily="18" charset="0"/>
              </a:rPr>
              <a:t> </a:t>
            </a:r>
            <a:r>
              <a:rPr lang="fr-FR" u="sng" dirty="0">
                <a:latin typeface="Times New Roman" panose="02020603050405020304" pitchFamily="18" charset="0"/>
                <a:cs typeface="Times New Roman" panose="02020603050405020304" pitchFamily="18" charset="0"/>
              </a:rPr>
              <a:t>Exemple</a:t>
            </a:r>
            <a:r>
              <a:rPr lang="fr-FR" dirty="0">
                <a:latin typeface="Times New Roman" panose="02020603050405020304" pitchFamily="18" charset="0"/>
                <a:cs typeface="Times New Roman" panose="02020603050405020304" pitchFamily="18" charset="0"/>
              </a:rPr>
              <a:t> : Un outil comme Zabbix ou Nagios vérifie constamment si les serveurs sont disponibles et alerte (ou agit) dès qu’une panne est détectée.</a:t>
            </a:r>
          </a:p>
          <a:p>
            <a:endParaRPr lang="en-US" dirty="0"/>
          </a:p>
        </p:txBody>
      </p:sp>
      <p:sp>
        <p:nvSpPr>
          <p:cNvPr id="4" name="Footer Placeholder 3">
            <a:extLst>
              <a:ext uri="{FF2B5EF4-FFF2-40B4-BE49-F238E27FC236}">
                <a16:creationId xmlns:a16="http://schemas.microsoft.com/office/drawing/2014/main" id="{31BF6975-96D4-4DF3-9ED7-2AF0473CCDF7}"/>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900408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168B-9287-447A-B56F-DEA73F296592}"/>
              </a:ext>
            </a:extLst>
          </p:cNvPr>
          <p:cNvSpPr>
            <a:spLocks noGrp="1"/>
          </p:cNvSpPr>
          <p:nvPr>
            <p:ph type="ctrTitle"/>
          </p:nvPr>
        </p:nvSpPr>
        <p:spPr>
          <a:xfrm>
            <a:off x="1524000" y="0"/>
            <a:ext cx="9144000" cy="1257300"/>
          </a:xfrm>
        </p:spPr>
        <p:txBody>
          <a:bodyPr>
            <a:noAutofit/>
          </a:bodyPr>
          <a:lstStyle/>
          <a:p>
            <a:r>
              <a:rPr lang="fr-FR" sz="4000" dirty="0">
                <a:latin typeface="Times New Roman" panose="02020603050405020304" pitchFamily="18" charset="0"/>
                <a:cs typeface="Times New Roman" panose="02020603050405020304" pitchFamily="18" charset="0"/>
              </a:rPr>
              <a:t>Exemple </a:t>
            </a:r>
            <a:br>
              <a:rPr lang="fr-FR"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EE43BAC-91F6-4B05-8739-5B34CA6A7193}"/>
              </a:ext>
            </a:extLst>
          </p:cNvPr>
          <p:cNvSpPr>
            <a:spLocks noGrp="1"/>
          </p:cNvSpPr>
          <p:nvPr>
            <p:ph type="subTitle" idx="1"/>
          </p:nvPr>
        </p:nvSpPr>
        <p:spPr>
          <a:xfrm>
            <a:off x="1524000" y="1104901"/>
            <a:ext cx="9144000" cy="4953000"/>
          </a:xfrm>
        </p:spPr>
        <p:txBody>
          <a:bodyPr/>
          <a:lstStyle/>
          <a:p>
            <a:pPr algn="just">
              <a:lnSpc>
                <a:spcPct val="150000"/>
              </a:lnSpc>
            </a:pPr>
            <a:r>
              <a:rPr lang="fr-FR" dirty="0">
                <a:latin typeface="Times New Roman" panose="02020603050405020304" pitchFamily="18" charset="0"/>
                <a:cs typeface="Times New Roman" panose="02020603050405020304" pitchFamily="18" charset="0"/>
              </a:rPr>
              <a:t>Un site web est hébergé sur 2 serveurs web avec un équilibreur de charge (</a:t>
            </a:r>
            <a:r>
              <a:rPr lang="fr-FR" dirty="0" err="1">
                <a:latin typeface="Times New Roman" panose="02020603050405020304" pitchFamily="18" charset="0"/>
                <a:cs typeface="Times New Roman" panose="02020603050405020304" pitchFamily="18" charset="0"/>
              </a:rPr>
              <a:t>load</a:t>
            </a:r>
            <a:r>
              <a:rPr lang="fr-FR" dirty="0">
                <a:latin typeface="Times New Roman" panose="02020603050405020304" pitchFamily="18" charset="0"/>
                <a:cs typeface="Times New Roman" panose="02020603050405020304" pitchFamily="18" charset="0"/>
              </a:rPr>
              <a:t> balancer) devant eux. Si un serveur tombe :</a:t>
            </a:r>
          </a:p>
          <a:p>
            <a:pPr marL="342900" indent="-342900" algn="just">
              <a:lnSpc>
                <a:spcPct val="150000"/>
              </a:lnSpc>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Le </a:t>
            </a:r>
            <a:r>
              <a:rPr lang="fr-FR" dirty="0" err="1">
                <a:latin typeface="Times New Roman" panose="02020603050405020304" pitchFamily="18" charset="0"/>
                <a:cs typeface="Times New Roman" panose="02020603050405020304" pitchFamily="18" charset="0"/>
              </a:rPr>
              <a:t>load</a:t>
            </a:r>
            <a:r>
              <a:rPr lang="fr-FR" dirty="0">
                <a:latin typeface="Times New Roman" panose="02020603050405020304" pitchFamily="18" charset="0"/>
                <a:cs typeface="Times New Roman" panose="02020603050405020304" pitchFamily="18" charset="0"/>
              </a:rPr>
              <a:t> balancer détecte l’échec.</a:t>
            </a:r>
          </a:p>
          <a:p>
            <a:pPr marL="342900" indent="-342900" algn="just">
              <a:lnSpc>
                <a:spcPct val="150000"/>
              </a:lnSpc>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Il redirige les utilisateurs vers le serveur qui fonctionne.</a:t>
            </a:r>
          </a:p>
          <a:p>
            <a:pPr marL="342900" indent="-342900" algn="just">
              <a:lnSpc>
                <a:spcPct val="150000"/>
              </a:lnSpc>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L’utilisateur ne remarque aucune interruption.</a:t>
            </a:r>
          </a:p>
          <a:p>
            <a:endParaRPr lang="en-US" dirty="0"/>
          </a:p>
        </p:txBody>
      </p:sp>
      <p:sp>
        <p:nvSpPr>
          <p:cNvPr id="4" name="Footer Placeholder 3">
            <a:extLst>
              <a:ext uri="{FF2B5EF4-FFF2-40B4-BE49-F238E27FC236}">
                <a16:creationId xmlns:a16="http://schemas.microsoft.com/office/drawing/2014/main" id="{8730AF5F-76AC-448A-A555-800285868F1B}"/>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742952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168B-9287-447A-B56F-DEA73F296592}"/>
              </a:ext>
            </a:extLst>
          </p:cNvPr>
          <p:cNvSpPr>
            <a:spLocks noGrp="1"/>
          </p:cNvSpPr>
          <p:nvPr>
            <p:ph type="ctrTitle"/>
          </p:nvPr>
        </p:nvSpPr>
        <p:spPr>
          <a:xfrm>
            <a:off x="1524000" y="238124"/>
            <a:ext cx="9144000" cy="1228725"/>
          </a:xfrm>
        </p:spPr>
        <p:txBody>
          <a:bodyPr>
            <a:normAutofit fontScale="90000"/>
          </a:bodyPr>
          <a:lstStyle/>
          <a:p>
            <a:r>
              <a:rPr lang="fr-FR" sz="4400" dirty="0">
                <a:latin typeface="Times New Roman" panose="02020603050405020304" pitchFamily="18" charset="0"/>
                <a:cs typeface="Times New Roman" panose="02020603050405020304" pitchFamily="18" charset="0"/>
              </a:rPr>
              <a:t>virtualisation</a:t>
            </a:r>
            <a:br>
              <a:rPr lang="fr-FR" b="1" dirty="0"/>
            </a:br>
            <a:endParaRPr lang="en-US" dirty="0"/>
          </a:p>
        </p:txBody>
      </p:sp>
      <p:sp>
        <p:nvSpPr>
          <p:cNvPr id="3" name="Subtitle 2">
            <a:extLst>
              <a:ext uri="{FF2B5EF4-FFF2-40B4-BE49-F238E27FC236}">
                <a16:creationId xmlns:a16="http://schemas.microsoft.com/office/drawing/2014/main" id="{2EE43BAC-91F6-4B05-8739-5B34CA6A7193}"/>
              </a:ext>
            </a:extLst>
          </p:cNvPr>
          <p:cNvSpPr>
            <a:spLocks noGrp="1"/>
          </p:cNvSpPr>
          <p:nvPr>
            <p:ph type="subTitle" idx="1"/>
          </p:nvPr>
        </p:nvSpPr>
        <p:spPr>
          <a:xfrm>
            <a:off x="1524000" y="1533525"/>
            <a:ext cx="9144000" cy="4524375"/>
          </a:xfrm>
        </p:spPr>
        <p:txBody>
          <a:bodyPr/>
          <a:lstStyle/>
          <a:p>
            <a:pPr algn="just">
              <a:lnSpc>
                <a:spcPct val="150000"/>
              </a:lnSpc>
            </a:pPr>
            <a:r>
              <a:rPr lang="fr-FR" dirty="0">
                <a:latin typeface="Times New Roman" panose="02020603050405020304" pitchFamily="18" charset="0"/>
                <a:cs typeface="Times New Roman" panose="02020603050405020304" pitchFamily="18" charset="0"/>
              </a:rPr>
              <a:t>Dans un environnement comme </a:t>
            </a:r>
            <a:r>
              <a:rPr lang="fr-FR" dirty="0" err="1">
                <a:latin typeface="Times New Roman" panose="02020603050405020304" pitchFamily="18" charset="0"/>
                <a:cs typeface="Times New Roman" panose="02020603050405020304" pitchFamily="18" charset="0"/>
              </a:rPr>
              <a:t>Proxmox</a:t>
            </a:r>
            <a:r>
              <a:rPr lang="fr-FR" dirty="0">
                <a:latin typeface="Times New Roman" panose="02020603050405020304" pitchFamily="18" charset="0"/>
                <a:cs typeface="Times New Roman" panose="02020603050405020304" pitchFamily="18" charset="0"/>
              </a:rPr>
              <a:t> ou VMware vSphere :</a:t>
            </a:r>
          </a:p>
          <a:p>
            <a:pPr algn="just">
              <a:lnSpc>
                <a:spcPct val="150000"/>
              </a:lnSpc>
            </a:pPr>
            <a:r>
              <a:rPr lang="fr-FR" dirty="0">
                <a:latin typeface="Times New Roman" panose="02020603050405020304" pitchFamily="18" charset="0"/>
                <a:cs typeface="Times New Roman" panose="02020603050405020304" pitchFamily="18" charset="0"/>
              </a:rPr>
              <a:t>On peut créer un cluster de plusieurs hôtes.</a:t>
            </a:r>
          </a:p>
          <a:p>
            <a:pPr algn="just">
              <a:lnSpc>
                <a:spcPct val="150000"/>
              </a:lnSpc>
            </a:pPr>
            <a:r>
              <a:rPr lang="fr-FR" dirty="0">
                <a:latin typeface="Times New Roman" panose="02020603050405020304" pitchFamily="18" charset="0"/>
                <a:cs typeface="Times New Roman" panose="02020603050405020304" pitchFamily="18" charset="0"/>
              </a:rPr>
              <a:t>Les machines virtuelles peuvent être automatiquement redémarrées sur un autre hôte en cas de panne matérielle.</a:t>
            </a:r>
          </a:p>
          <a:p>
            <a:pPr algn="just">
              <a:lnSpc>
                <a:spcPct val="150000"/>
              </a:lnSpc>
            </a:pPr>
            <a:r>
              <a:rPr lang="fr-FR" dirty="0">
                <a:latin typeface="Times New Roman" panose="02020603050405020304" pitchFamily="18" charset="0"/>
                <a:cs typeface="Times New Roman" panose="02020603050405020304" pitchFamily="18" charset="0"/>
              </a:rPr>
              <a:t>Si un hyperviseur tombe, ses VM redémarrent ailleurs (selon les règles HA configurées).</a:t>
            </a:r>
          </a:p>
          <a:p>
            <a:endParaRPr lang="en-US" dirty="0"/>
          </a:p>
        </p:txBody>
      </p:sp>
      <p:sp>
        <p:nvSpPr>
          <p:cNvPr id="4" name="Footer Placeholder 3">
            <a:extLst>
              <a:ext uri="{FF2B5EF4-FFF2-40B4-BE49-F238E27FC236}">
                <a16:creationId xmlns:a16="http://schemas.microsoft.com/office/drawing/2014/main" id="{77AE4FC8-82CF-40EB-88D1-19D6A088E05A}"/>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1603199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168B-9287-447A-B56F-DEA73F296592}"/>
              </a:ext>
            </a:extLst>
          </p:cNvPr>
          <p:cNvSpPr>
            <a:spLocks noGrp="1"/>
          </p:cNvSpPr>
          <p:nvPr>
            <p:ph type="ctrTitle"/>
          </p:nvPr>
        </p:nvSpPr>
        <p:spPr>
          <a:xfrm>
            <a:off x="1524000" y="238125"/>
            <a:ext cx="9144000" cy="876300"/>
          </a:xfrm>
        </p:spPr>
        <p:txBody>
          <a:bodyPr>
            <a:normAutofit/>
          </a:bodyPr>
          <a:lstStyle/>
          <a:p>
            <a:r>
              <a:rPr lang="fr-FR" sz="4000" dirty="0">
                <a:latin typeface="Times New Roman" panose="02020603050405020304" pitchFamily="18" charset="0"/>
                <a:cs typeface="Times New Roman" panose="02020603050405020304" pitchFamily="18" charset="0"/>
              </a:rPr>
              <a:t>Le </a:t>
            </a:r>
            <a:r>
              <a:rPr lang="fr-FR" sz="4000" b="1" dirty="0">
                <a:latin typeface="Times New Roman" panose="02020603050405020304" pitchFamily="18" charset="0"/>
                <a:cs typeface="Times New Roman" panose="02020603050405020304" pitchFamily="18" charset="0"/>
              </a:rPr>
              <a:t>clustering</a:t>
            </a:r>
            <a:endParaRPr lang="en-US"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EE43BAC-91F6-4B05-8739-5B34CA6A7193}"/>
              </a:ext>
            </a:extLst>
          </p:cNvPr>
          <p:cNvSpPr>
            <a:spLocks noGrp="1"/>
          </p:cNvSpPr>
          <p:nvPr>
            <p:ph type="subTitle" idx="1"/>
          </p:nvPr>
        </p:nvSpPr>
        <p:spPr>
          <a:xfrm>
            <a:off x="1524000" y="1533525"/>
            <a:ext cx="9144000" cy="4914900"/>
          </a:xfrm>
        </p:spPr>
        <p:txBody>
          <a:bodyPr/>
          <a:lstStyle/>
          <a:p>
            <a:pPr algn="just">
              <a:lnSpc>
                <a:spcPct val="150000"/>
              </a:lnSpc>
            </a:pPr>
            <a:r>
              <a:rPr lang="fr-FR" dirty="0">
                <a:latin typeface="Times New Roman" panose="02020603050405020304" pitchFamily="18" charset="0"/>
                <a:cs typeface="Times New Roman" panose="02020603050405020304" pitchFamily="18" charset="0"/>
              </a:rPr>
              <a:t>Le clustering (ou grappes de serveurs) est une technique d’architecture informatique qui consiste à regrouper plusieurs serveurs (ou nœuds) pour qu’ils fonctionnent ensemble comme un seul système afin de garantir :</a:t>
            </a:r>
          </a:p>
          <a:p>
            <a:pPr marL="342900" indent="-342900" algn="just">
              <a:lnSpc>
                <a:spcPct val="150000"/>
              </a:lnSpc>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la haute disponibilité,</a:t>
            </a:r>
          </a:p>
          <a:p>
            <a:pPr marL="342900" indent="-342900" algn="just">
              <a:lnSpc>
                <a:spcPct val="150000"/>
              </a:lnSpc>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la répartition de charge,</a:t>
            </a:r>
          </a:p>
          <a:p>
            <a:pPr marL="342900" indent="-342900" algn="just">
              <a:lnSpc>
                <a:spcPct val="150000"/>
              </a:lnSpc>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la tolérance aux pannes.</a:t>
            </a:r>
          </a:p>
          <a:p>
            <a:endParaRPr lang="en-US" dirty="0"/>
          </a:p>
        </p:txBody>
      </p:sp>
      <p:sp>
        <p:nvSpPr>
          <p:cNvPr id="4" name="Footer Placeholder 3">
            <a:extLst>
              <a:ext uri="{FF2B5EF4-FFF2-40B4-BE49-F238E27FC236}">
                <a16:creationId xmlns:a16="http://schemas.microsoft.com/office/drawing/2014/main" id="{97AB9561-7CF8-40E4-96B0-F8223E19FD0C}"/>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1423085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2FCDF-1205-4815-B8E6-6E5256C875F9}"/>
              </a:ext>
            </a:extLst>
          </p:cNvPr>
          <p:cNvSpPr>
            <a:spLocks noGrp="1"/>
          </p:cNvSpPr>
          <p:nvPr>
            <p:ph type="title"/>
          </p:nvPr>
        </p:nvSpPr>
        <p:spPr>
          <a:xfrm>
            <a:off x="838200" y="95250"/>
            <a:ext cx="10515600" cy="962025"/>
          </a:xfrm>
        </p:spPr>
        <p:txBody>
          <a:bodyPr>
            <a:normAutofit/>
          </a:bodyPr>
          <a:lstStyle/>
          <a:p>
            <a:pPr algn="ctr"/>
            <a:r>
              <a:rPr lang="en-US" sz="4000" dirty="0">
                <a:latin typeface="Times New Roman" panose="02020603050405020304" pitchFamily="18" charset="0"/>
                <a:cs typeface="Times New Roman" panose="02020603050405020304" pitchFamily="18" charset="0"/>
              </a:rPr>
              <a:t>Application</a:t>
            </a:r>
          </a:p>
        </p:txBody>
      </p:sp>
      <p:sp>
        <p:nvSpPr>
          <p:cNvPr id="3" name="Content Placeholder 2">
            <a:extLst>
              <a:ext uri="{FF2B5EF4-FFF2-40B4-BE49-F238E27FC236}">
                <a16:creationId xmlns:a16="http://schemas.microsoft.com/office/drawing/2014/main" id="{5E408962-0EBC-44CC-AB18-FBE7CA59E8F0}"/>
              </a:ext>
            </a:extLst>
          </p:cNvPr>
          <p:cNvSpPr>
            <a:spLocks noGrp="1"/>
          </p:cNvSpPr>
          <p:nvPr>
            <p:ph idx="1"/>
          </p:nvPr>
        </p:nvSpPr>
        <p:spPr>
          <a:xfrm>
            <a:off x="838200" y="1057275"/>
            <a:ext cx="10515600" cy="5119688"/>
          </a:xfrm>
        </p:spPr>
        <p:txBody>
          <a:bodyPr>
            <a:normAutofit/>
          </a:bodyPr>
          <a:lstStyle/>
          <a:p>
            <a:pPr marL="0" indent="0">
              <a:lnSpc>
                <a:spcPct val="150000"/>
              </a:lnSpc>
              <a:buNone/>
            </a:pPr>
            <a:r>
              <a:rPr lang="fr-FR" sz="2600" dirty="0">
                <a:latin typeface="Times New Roman" panose="02020603050405020304" pitchFamily="18" charset="0"/>
                <a:cs typeface="Times New Roman" panose="02020603050405020304" pitchFamily="18" charset="0"/>
              </a:rPr>
              <a:t>Imaginons une application web importante (comme un site d’e-commerce).</a:t>
            </a:r>
            <a:br>
              <a:rPr lang="fr-FR" sz="2600" dirty="0">
                <a:latin typeface="Times New Roman" panose="02020603050405020304" pitchFamily="18" charset="0"/>
                <a:cs typeface="Times New Roman" panose="02020603050405020304" pitchFamily="18" charset="0"/>
              </a:rPr>
            </a:br>
            <a:r>
              <a:rPr lang="fr-FR" sz="2600" dirty="0">
                <a:latin typeface="Times New Roman" panose="02020603050405020304" pitchFamily="18" charset="0"/>
                <a:cs typeface="Times New Roman" panose="02020603050405020304" pitchFamily="18" charset="0"/>
              </a:rPr>
              <a:t> Au lieu de la faire tourner sur un seul serveur, on la déploie sur </a:t>
            </a:r>
            <a:r>
              <a:rPr lang="fr-FR" sz="2600" b="1" dirty="0">
                <a:latin typeface="Times New Roman" panose="02020603050405020304" pitchFamily="18" charset="0"/>
                <a:cs typeface="Times New Roman" panose="02020603050405020304" pitchFamily="18" charset="0"/>
              </a:rPr>
              <a:t>3 serveurs en cluster</a:t>
            </a:r>
            <a:r>
              <a:rPr lang="fr-FR" sz="26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v"/>
            </a:pPr>
            <a:r>
              <a:rPr lang="fr-FR" sz="2600" dirty="0">
                <a:latin typeface="Times New Roman" panose="02020603050405020304" pitchFamily="18" charset="0"/>
                <a:cs typeface="Times New Roman" panose="02020603050405020304" pitchFamily="18" charset="0"/>
              </a:rPr>
              <a:t>Si l’un des serveurs tombe en panne, les autres prennent automatiquement le relais (</a:t>
            </a:r>
            <a:r>
              <a:rPr lang="fr-FR" sz="2600" b="1" dirty="0">
                <a:latin typeface="Times New Roman" panose="02020603050405020304" pitchFamily="18" charset="0"/>
                <a:cs typeface="Times New Roman" panose="02020603050405020304" pitchFamily="18" charset="0"/>
              </a:rPr>
              <a:t>failover</a:t>
            </a:r>
            <a:r>
              <a:rPr lang="fr-FR" sz="26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v"/>
            </a:pPr>
            <a:r>
              <a:rPr lang="fr-FR" sz="2600" dirty="0">
                <a:latin typeface="Times New Roman" panose="02020603050405020304" pitchFamily="18" charset="0"/>
                <a:cs typeface="Times New Roman" panose="02020603050405020304" pitchFamily="18" charset="0"/>
              </a:rPr>
              <a:t>Le trafic des utilisateurs est partagé entre les serveurs (</a:t>
            </a:r>
            <a:r>
              <a:rPr lang="fr-FR" sz="2600" b="1" dirty="0" err="1">
                <a:latin typeface="Times New Roman" panose="02020603050405020304" pitchFamily="18" charset="0"/>
                <a:cs typeface="Times New Roman" panose="02020603050405020304" pitchFamily="18" charset="0"/>
              </a:rPr>
              <a:t>load</a:t>
            </a:r>
            <a:r>
              <a:rPr lang="fr-FR" sz="2600" b="1" dirty="0">
                <a:latin typeface="Times New Roman" panose="02020603050405020304" pitchFamily="18" charset="0"/>
                <a:cs typeface="Times New Roman" panose="02020603050405020304" pitchFamily="18" charset="0"/>
              </a:rPr>
              <a:t> balancing</a:t>
            </a:r>
            <a:r>
              <a:rPr lang="fr-FR" sz="26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v"/>
            </a:pPr>
            <a:r>
              <a:rPr lang="fr-FR" sz="2600" dirty="0">
                <a:latin typeface="Times New Roman" panose="02020603050405020304" pitchFamily="18" charset="0"/>
                <a:cs typeface="Times New Roman" panose="02020603050405020304" pitchFamily="18" charset="0"/>
              </a:rPr>
              <a:t>Cela évite les interruptions de service (</a:t>
            </a:r>
            <a:r>
              <a:rPr lang="fr-FR" sz="2600" b="1" dirty="0">
                <a:latin typeface="Times New Roman" panose="02020603050405020304" pitchFamily="18" charset="0"/>
                <a:cs typeface="Times New Roman" panose="02020603050405020304" pitchFamily="18" charset="0"/>
              </a:rPr>
              <a:t>haute disponibilité</a:t>
            </a:r>
            <a:r>
              <a:rPr lang="fr-FR" sz="2600" dirty="0">
                <a:latin typeface="Times New Roman" panose="02020603050405020304" pitchFamily="18" charset="0"/>
                <a:cs typeface="Times New Roman" panose="02020603050405020304" pitchFamily="18" charset="0"/>
              </a:rPr>
              <a:t>).</a:t>
            </a:r>
          </a:p>
          <a:p>
            <a:endParaRPr lang="en-US" dirty="0"/>
          </a:p>
        </p:txBody>
      </p:sp>
      <p:sp>
        <p:nvSpPr>
          <p:cNvPr id="4" name="Footer Placeholder 3">
            <a:extLst>
              <a:ext uri="{FF2B5EF4-FFF2-40B4-BE49-F238E27FC236}">
                <a16:creationId xmlns:a16="http://schemas.microsoft.com/office/drawing/2014/main" id="{904F808C-69DC-42DF-9EA3-41153E9BC157}"/>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3554972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8F13A-15BA-4FEE-B25A-CEF68C6832D2}"/>
              </a:ext>
            </a:extLst>
          </p:cNvPr>
          <p:cNvSpPr>
            <a:spLocks noGrp="1"/>
          </p:cNvSpPr>
          <p:nvPr>
            <p:ph type="ctrTitle"/>
          </p:nvPr>
        </p:nvSpPr>
        <p:spPr>
          <a:xfrm>
            <a:off x="1524000" y="76200"/>
            <a:ext cx="9144000" cy="723900"/>
          </a:xfrm>
        </p:spPr>
        <p:txBody>
          <a:bodyPr>
            <a:normAutofit/>
          </a:bodyPr>
          <a:lstStyle/>
          <a:p>
            <a:r>
              <a:rPr lang="fr-FR" sz="4000" dirty="0">
                <a:latin typeface="Times New Roman" panose="02020603050405020304" pitchFamily="18" charset="0"/>
                <a:cs typeface="Times New Roman" panose="02020603050405020304" pitchFamily="18" charset="0"/>
              </a:rPr>
              <a:t>Principaux types de clustering </a:t>
            </a:r>
            <a:endParaRPr lang="en-US"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265AC6C-F9AA-4E6F-9315-2C159D3128C4}"/>
              </a:ext>
            </a:extLst>
          </p:cNvPr>
          <p:cNvSpPr>
            <a:spLocks noGrp="1"/>
          </p:cNvSpPr>
          <p:nvPr>
            <p:ph type="subTitle" idx="1"/>
          </p:nvPr>
        </p:nvSpPr>
        <p:spPr>
          <a:xfrm>
            <a:off x="638175" y="800100"/>
            <a:ext cx="10487025" cy="5781675"/>
          </a:xfrm>
        </p:spPr>
        <p:txBody>
          <a:bodyPr>
            <a:normAutofit/>
          </a:bodyPr>
          <a:lstStyle/>
          <a:p>
            <a:r>
              <a:rPr lang="fr-FR" b="1" dirty="0">
                <a:latin typeface="Times New Roman" panose="02020603050405020304" pitchFamily="18" charset="0"/>
                <a:cs typeface="Times New Roman" panose="02020603050405020304" pitchFamily="18" charset="0"/>
              </a:rPr>
              <a:t>Cluster Active-Passive</a:t>
            </a:r>
            <a:endParaRPr lang="en-US" dirty="0">
              <a:latin typeface="Times New Roman" panose="02020603050405020304" pitchFamily="18" charset="0"/>
              <a:cs typeface="Times New Roman" panose="02020603050405020304" pitchFamily="18" charset="0"/>
            </a:endParaRPr>
          </a:p>
          <a:p>
            <a:pPr algn="just">
              <a:lnSpc>
                <a:spcPct val="150000"/>
              </a:lnSpc>
            </a:pPr>
            <a:r>
              <a:rPr lang="fr-FR" b="1" dirty="0">
                <a:latin typeface="Times New Roman" panose="02020603050405020304" pitchFamily="18" charset="0"/>
                <a:cs typeface="Times New Roman" panose="02020603050405020304" pitchFamily="18" charset="0"/>
              </a:rPr>
              <a:t> Fonctionnement </a:t>
            </a:r>
            <a:endParaRPr lang="en-US" dirty="0">
              <a:latin typeface="Times New Roman" panose="02020603050405020304" pitchFamily="18" charset="0"/>
              <a:cs typeface="Times New Roman" panose="02020603050405020304" pitchFamily="18" charset="0"/>
            </a:endParaRPr>
          </a:p>
          <a:p>
            <a:pPr lvl="0" algn="just">
              <a:lnSpc>
                <a:spcPct val="150000"/>
              </a:lnSpc>
            </a:pPr>
            <a:r>
              <a:rPr lang="fr-FR" dirty="0">
                <a:latin typeface="Times New Roman" panose="02020603050405020304" pitchFamily="18" charset="0"/>
                <a:cs typeface="Times New Roman" panose="02020603050405020304" pitchFamily="18" charset="0"/>
              </a:rPr>
              <a:t>Un ou plusieurs nœuds sont </a:t>
            </a:r>
            <a:r>
              <a:rPr lang="fr-FR" b="1" dirty="0">
                <a:latin typeface="Times New Roman" panose="02020603050405020304" pitchFamily="18" charset="0"/>
                <a:cs typeface="Times New Roman" panose="02020603050405020304" pitchFamily="18" charset="0"/>
              </a:rPr>
              <a:t>actifs</a:t>
            </a:r>
            <a:r>
              <a:rPr lang="fr-FR" dirty="0">
                <a:latin typeface="Times New Roman" panose="02020603050405020304" pitchFamily="18" charset="0"/>
                <a:cs typeface="Times New Roman" panose="02020603050405020304" pitchFamily="18" charset="0"/>
              </a:rPr>
              <a:t> et traitent les requêtes.</a:t>
            </a:r>
            <a:endParaRPr lang="en-US" dirty="0">
              <a:latin typeface="Times New Roman" panose="02020603050405020304" pitchFamily="18" charset="0"/>
              <a:cs typeface="Times New Roman" panose="02020603050405020304" pitchFamily="18" charset="0"/>
            </a:endParaRPr>
          </a:p>
          <a:p>
            <a:pPr lvl="0" algn="just">
              <a:lnSpc>
                <a:spcPct val="150000"/>
              </a:lnSpc>
            </a:pPr>
            <a:r>
              <a:rPr lang="fr-FR" dirty="0">
                <a:latin typeface="Times New Roman" panose="02020603050405020304" pitchFamily="18" charset="0"/>
                <a:cs typeface="Times New Roman" panose="02020603050405020304" pitchFamily="18" charset="0"/>
              </a:rPr>
              <a:t>Les autres sont </a:t>
            </a:r>
            <a:r>
              <a:rPr lang="fr-FR" b="1" dirty="0">
                <a:latin typeface="Times New Roman" panose="02020603050405020304" pitchFamily="18" charset="0"/>
                <a:cs typeface="Times New Roman" panose="02020603050405020304" pitchFamily="18" charset="0"/>
              </a:rPr>
              <a:t>passifs</a:t>
            </a:r>
            <a:r>
              <a:rPr lang="fr-FR" dirty="0">
                <a:latin typeface="Times New Roman" panose="02020603050405020304" pitchFamily="18" charset="0"/>
                <a:cs typeface="Times New Roman" panose="02020603050405020304" pitchFamily="18" charset="0"/>
              </a:rPr>
              <a:t> (en veille), prêts à prendre le relais si un nœud actif tombe.</a:t>
            </a: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Exemple</a:t>
            </a: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lvl="0" algn="just">
              <a:lnSpc>
                <a:spcPct val="150000"/>
              </a:lnSpc>
            </a:pPr>
            <a:r>
              <a:rPr lang="en-US" dirty="0" err="1">
                <a:latin typeface="Times New Roman" panose="02020603050405020304" pitchFamily="18" charset="0"/>
                <a:cs typeface="Times New Roman" panose="02020603050405020304" pitchFamily="18" charset="0"/>
              </a:rPr>
              <a:t>Serveur</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est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actif</a:t>
            </a:r>
            <a:r>
              <a:rPr lang="en-US" dirty="0">
                <a:latin typeface="Times New Roman" panose="02020603050405020304" pitchFamily="18" charset="0"/>
                <a:cs typeface="Times New Roman" panose="02020603050405020304" pitchFamily="18" charset="0"/>
              </a:rPr>
              <a:t>.</a:t>
            </a:r>
          </a:p>
          <a:p>
            <a:pPr lvl="0" algn="just">
              <a:lnSpc>
                <a:spcPct val="150000"/>
              </a:lnSpc>
            </a:pPr>
            <a:r>
              <a:rPr lang="fr-FR" dirty="0">
                <a:latin typeface="Times New Roman" panose="02020603050405020304" pitchFamily="18" charset="0"/>
                <a:cs typeface="Times New Roman" panose="02020603050405020304" pitchFamily="18" charset="0"/>
              </a:rPr>
              <a:t>Serveur B est en veille.</a:t>
            </a:r>
            <a:endParaRPr lang="en-US" dirty="0">
              <a:latin typeface="Times New Roman" panose="02020603050405020304" pitchFamily="18" charset="0"/>
              <a:cs typeface="Times New Roman" panose="02020603050405020304" pitchFamily="18" charset="0"/>
            </a:endParaRPr>
          </a:p>
          <a:p>
            <a:pPr lvl="0" algn="just">
              <a:lnSpc>
                <a:spcPct val="150000"/>
              </a:lnSpc>
            </a:pPr>
            <a:r>
              <a:rPr lang="fr-FR" dirty="0">
                <a:latin typeface="Times New Roman" panose="02020603050405020304" pitchFamily="18" charset="0"/>
                <a:cs typeface="Times New Roman" panose="02020603050405020304" pitchFamily="18" charset="0"/>
              </a:rPr>
              <a:t>Si A tombe, B devient actif automatiquement (</a:t>
            </a:r>
            <a:r>
              <a:rPr lang="fr-FR" b="1" dirty="0">
                <a:latin typeface="Times New Roman" panose="02020603050405020304" pitchFamily="18" charset="0"/>
                <a:cs typeface="Times New Roman" panose="02020603050405020304" pitchFamily="18" charset="0"/>
              </a:rPr>
              <a:t>failover</a:t>
            </a:r>
            <a:r>
              <a:rPr lang="fr-FR"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p>
        </p:txBody>
      </p:sp>
      <p:sp>
        <p:nvSpPr>
          <p:cNvPr id="4" name="Footer Placeholder 3">
            <a:extLst>
              <a:ext uri="{FF2B5EF4-FFF2-40B4-BE49-F238E27FC236}">
                <a16:creationId xmlns:a16="http://schemas.microsoft.com/office/drawing/2014/main" id="{AFDC0B8A-DAA5-4DDA-82E6-69F7E30B97EC}"/>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816214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1117C-86FD-42DA-B81A-9B92A4D9C94A}"/>
              </a:ext>
            </a:extLst>
          </p:cNvPr>
          <p:cNvSpPr>
            <a:spLocks noGrp="1"/>
          </p:cNvSpPr>
          <p:nvPr>
            <p:ph type="title"/>
          </p:nvPr>
        </p:nvSpPr>
        <p:spPr>
          <a:xfrm>
            <a:off x="838200" y="123825"/>
            <a:ext cx="10515600" cy="1019175"/>
          </a:xfrm>
        </p:spPr>
        <p:txBody>
          <a:bodyPr>
            <a:normAutofit/>
          </a:bodyPr>
          <a:lstStyle/>
          <a:p>
            <a:pPr algn="ctr"/>
            <a:r>
              <a:rPr lang="en-US" sz="4000" dirty="0" err="1">
                <a:latin typeface="Times New Roman" panose="02020603050405020304" pitchFamily="18" charset="0"/>
                <a:cs typeface="Times New Roman" panose="02020603050405020304" pitchFamily="18" charset="0"/>
              </a:rPr>
              <a:t>Avantages</a:t>
            </a:r>
            <a:r>
              <a:rPr lang="en-US" sz="4000" dirty="0">
                <a:latin typeface="Times New Roman" panose="02020603050405020304" pitchFamily="18" charset="0"/>
                <a:cs typeface="Times New Roman" panose="02020603050405020304" pitchFamily="18" charset="0"/>
              </a:rPr>
              <a:t> &amp; </a:t>
            </a:r>
            <a:r>
              <a:rPr lang="en-US" sz="4000" dirty="0" err="1">
                <a:latin typeface="Times New Roman" panose="02020603050405020304" pitchFamily="18" charset="0"/>
                <a:cs typeface="Times New Roman" panose="02020603050405020304" pitchFamily="18" charset="0"/>
              </a:rPr>
              <a:t>inconvenients</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5CEBE9-62C7-40F4-840A-93EEBF7A7D61}"/>
              </a:ext>
            </a:extLst>
          </p:cNvPr>
          <p:cNvSpPr>
            <a:spLocks noGrp="1"/>
          </p:cNvSpPr>
          <p:nvPr>
            <p:ph idx="1"/>
          </p:nvPr>
        </p:nvSpPr>
        <p:spPr>
          <a:xfrm>
            <a:off x="838200" y="1076325"/>
            <a:ext cx="10515600" cy="5100638"/>
          </a:xfrm>
        </p:spPr>
        <p:txBody>
          <a:bodyPr>
            <a:normAutofit/>
          </a:bodyPr>
          <a:lstStyle/>
          <a:p>
            <a:pPr marL="0" indent="0">
              <a:buNone/>
            </a:pPr>
            <a:r>
              <a:rPr lang="en-US" sz="2400" b="1" dirty="0" err="1">
                <a:latin typeface="Times New Roman" panose="02020603050405020304" pitchFamily="18" charset="0"/>
                <a:cs typeface="Times New Roman" panose="02020603050405020304" pitchFamily="18" charset="0"/>
              </a:rPr>
              <a:t>Avantages</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Configuration simple</a:t>
            </a:r>
          </a:p>
          <a:p>
            <a:pPr lvl="0"/>
            <a:r>
              <a:rPr lang="en-US" sz="2400" dirty="0" err="1">
                <a:latin typeface="Times New Roman" panose="02020603050405020304" pitchFamily="18" charset="0"/>
                <a:cs typeface="Times New Roman" panose="02020603050405020304" pitchFamily="18" charset="0"/>
              </a:rPr>
              <a:t>Moins</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conflits</a:t>
            </a:r>
            <a:r>
              <a:rPr lang="en-US" sz="2400" dirty="0">
                <a:latin typeface="Times New Roman" panose="02020603050405020304" pitchFamily="18" charset="0"/>
                <a:cs typeface="Times New Roman" panose="02020603050405020304" pitchFamily="18" charset="0"/>
              </a:rPr>
              <a:t> de synchronization</a:t>
            </a:r>
          </a:p>
          <a:p>
            <a:pPr marL="0" lv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Inconvénients</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r>
              <a:rPr lang="fr-FR" sz="2400" dirty="0">
                <a:latin typeface="Times New Roman" panose="02020603050405020304" pitchFamily="18" charset="0"/>
                <a:cs typeface="Times New Roman" panose="02020603050405020304" pitchFamily="18" charset="0"/>
              </a:rPr>
              <a:t>Le serveur passif ne travaille pas (sous-utilisation)</a:t>
            </a:r>
            <a:endParaRPr lang="en-US" sz="2400" dirty="0">
              <a:latin typeface="Times New Roman" panose="02020603050405020304" pitchFamily="18" charset="0"/>
              <a:cs typeface="Times New Roman" panose="02020603050405020304" pitchFamily="18" charset="0"/>
            </a:endParaRPr>
          </a:p>
          <a:p>
            <a:pPr lvl="0"/>
            <a:r>
              <a:rPr lang="fr-FR" sz="2400" dirty="0">
                <a:latin typeface="Times New Roman" panose="02020603050405020304" pitchFamily="18" charset="0"/>
                <a:cs typeface="Times New Roman" panose="02020603050405020304" pitchFamily="18" charset="0"/>
              </a:rPr>
              <a:t>Temps de basculement (failover) peut être perceptible</a:t>
            </a:r>
          </a:p>
          <a:p>
            <a:pPr marL="0" lv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Cas </a:t>
            </a:r>
            <a:r>
              <a:rPr lang="en-US" sz="2400" b="1" dirty="0" err="1">
                <a:latin typeface="Times New Roman" panose="02020603050405020304" pitchFamily="18" charset="0"/>
                <a:cs typeface="Times New Roman" panose="02020603050405020304" pitchFamily="18" charset="0"/>
              </a:rPr>
              <a:t>d’usage</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r>
              <a:rPr lang="fr-FR" sz="2400" dirty="0">
                <a:latin typeface="Times New Roman" panose="02020603050405020304" pitchFamily="18" charset="0"/>
                <a:cs typeface="Times New Roman" panose="02020603050405020304" pitchFamily="18" charset="0"/>
              </a:rPr>
              <a:t>Applications critiques mais à faible charge constante</a:t>
            </a:r>
            <a:endParaRPr lang="en-US"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Services financiers, ERP</a:t>
            </a:r>
          </a:p>
          <a:p>
            <a:endParaRPr lang="en-US" dirty="0"/>
          </a:p>
        </p:txBody>
      </p:sp>
      <p:sp>
        <p:nvSpPr>
          <p:cNvPr id="4" name="Footer Placeholder 3">
            <a:extLst>
              <a:ext uri="{FF2B5EF4-FFF2-40B4-BE49-F238E27FC236}">
                <a16:creationId xmlns:a16="http://schemas.microsoft.com/office/drawing/2014/main" id="{12207BEF-D900-4BAA-BDFA-D0E48435A475}"/>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2193973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296AD-0C99-403E-97F3-046EA4B72E21}"/>
              </a:ext>
            </a:extLst>
          </p:cNvPr>
          <p:cNvSpPr>
            <a:spLocks noGrp="1"/>
          </p:cNvSpPr>
          <p:nvPr>
            <p:ph type="title"/>
          </p:nvPr>
        </p:nvSpPr>
        <p:spPr>
          <a:xfrm>
            <a:off x="838200" y="365126"/>
            <a:ext cx="10515600" cy="1054100"/>
          </a:xfrm>
        </p:spPr>
        <p:txBody>
          <a:bodyPr>
            <a:normAutofit fontScale="90000"/>
          </a:bodyPr>
          <a:lstStyle/>
          <a:p>
            <a:pPr algn="ctr"/>
            <a:r>
              <a:rPr lang="fr-FR" sz="4000" dirty="0">
                <a:latin typeface="Times New Roman" panose="02020603050405020304" pitchFamily="18" charset="0"/>
                <a:cs typeface="Times New Roman" panose="02020603050405020304" pitchFamily="18" charset="0"/>
              </a:rPr>
              <a:t>Cluster Active-Active</a:t>
            </a:r>
            <a:br>
              <a:rPr lang="en-US" dirty="0"/>
            </a:br>
            <a:endParaRPr lang="en-US" dirty="0"/>
          </a:p>
        </p:txBody>
      </p:sp>
      <p:sp>
        <p:nvSpPr>
          <p:cNvPr id="3" name="Content Placeholder 2">
            <a:extLst>
              <a:ext uri="{FF2B5EF4-FFF2-40B4-BE49-F238E27FC236}">
                <a16:creationId xmlns:a16="http://schemas.microsoft.com/office/drawing/2014/main" id="{2153CCC6-5FD6-4C9C-87F8-F6AA8E942EC5}"/>
              </a:ext>
            </a:extLst>
          </p:cNvPr>
          <p:cNvSpPr>
            <a:spLocks noGrp="1"/>
          </p:cNvSpPr>
          <p:nvPr>
            <p:ph idx="1"/>
          </p:nvPr>
        </p:nvSpPr>
        <p:spPr>
          <a:xfrm>
            <a:off x="838200" y="1323975"/>
            <a:ext cx="10515600" cy="4852988"/>
          </a:xfrm>
        </p:spPr>
        <p:txBody>
          <a:bodyPr/>
          <a:lstStyle/>
          <a:p>
            <a:pPr marL="0" indent="0" algn="just">
              <a:lnSpc>
                <a:spcPct val="150000"/>
              </a:lnSpc>
              <a:buNone/>
            </a:pPr>
            <a:r>
              <a:rPr lang="fr-FR" sz="2400" b="1" dirty="0">
                <a:latin typeface="Times New Roman" panose="02020603050405020304" pitchFamily="18" charset="0"/>
                <a:cs typeface="Times New Roman" panose="02020603050405020304" pitchFamily="18" charset="0"/>
              </a:rPr>
              <a:t> Fonctionnement </a:t>
            </a:r>
            <a:endParaRPr lang="en-US" sz="2400" dirty="0">
              <a:latin typeface="Times New Roman" panose="02020603050405020304" pitchFamily="18" charset="0"/>
              <a:cs typeface="Times New Roman" panose="02020603050405020304" pitchFamily="18" charset="0"/>
            </a:endParaRPr>
          </a:p>
          <a:p>
            <a:pPr marL="0" lvl="0" indent="0" algn="just">
              <a:lnSpc>
                <a:spcPct val="150000"/>
              </a:lnSpc>
              <a:buNone/>
            </a:pPr>
            <a:r>
              <a:rPr lang="fr-FR" sz="2400" dirty="0">
                <a:latin typeface="Times New Roman" panose="02020603050405020304" pitchFamily="18" charset="0"/>
                <a:cs typeface="Times New Roman" panose="02020603050405020304" pitchFamily="18" charset="0"/>
              </a:rPr>
              <a:t>Tous les nœuds sont </a:t>
            </a:r>
            <a:r>
              <a:rPr lang="fr-FR" sz="2400" b="1" dirty="0">
                <a:latin typeface="Times New Roman" panose="02020603050405020304" pitchFamily="18" charset="0"/>
                <a:cs typeface="Times New Roman" panose="02020603050405020304" pitchFamily="18" charset="0"/>
              </a:rPr>
              <a:t>actifs en même temps</a:t>
            </a:r>
            <a:r>
              <a:rPr lang="fr-FR"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lvl="0" indent="0" algn="just">
              <a:lnSpc>
                <a:spcPct val="150000"/>
              </a:lnSpc>
              <a:buNone/>
            </a:pPr>
            <a:r>
              <a:rPr lang="fr-FR" sz="2400" dirty="0">
                <a:latin typeface="Times New Roman" panose="02020603050405020304" pitchFamily="18" charset="0"/>
                <a:cs typeface="Times New Roman" panose="02020603050405020304" pitchFamily="18" charset="0"/>
              </a:rPr>
              <a:t>Ils partagent les tâches de traitement.</a:t>
            </a:r>
            <a:endParaRPr lang="en-US" sz="2400" dirty="0">
              <a:latin typeface="Times New Roman" panose="02020603050405020304" pitchFamily="18" charset="0"/>
              <a:cs typeface="Times New Roman" panose="02020603050405020304" pitchFamily="18" charset="0"/>
            </a:endParaRPr>
          </a:p>
          <a:p>
            <a:pPr marL="0" lvl="0" indent="0" algn="just">
              <a:lnSpc>
                <a:spcPct val="150000"/>
              </a:lnSpc>
              <a:buNone/>
            </a:pPr>
            <a:r>
              <a:rPr lang="fr-FR" sz="2400" dirty="0">
                <a:latin typeface="Times New Roman" panose="02020603050405020304" pitchFamily="18" charset="0"/>
                <a:cs typeface="Times New Roman" panose="02020603050405020304" pitchFamily="18" charset="0"/>
              </a:rPr>
              <a:t>S’ils sont bien configurés, ils se remplacent automatiquement en cas de panne.</a:t>
            </a: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Exemple</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0" lvl="0" indent="0" algn="just">
              <a:lnSpc>
                <a:spcPct val="150000"/>
              </a:lnSpc>
              <a:buNone/>
            </a:pPr>
            <a:r>
              <a:rPr lang="fr-FR" sz="2400" dirty="0">
                <a:latin typeface="Times New Roman" panose="02020603050405020304" pitchFamily="18" charset="0"/>
                <a:cs typeface="Times New Roman" panose="02020603050405020304" pitchFamily="18" charset="0"/>
              </a:rPr>
              <a:t>3 serveurs d’une application web partagent les requêtes des utilisateurs.</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4" name="Footer Placeholder 3">
            <a:extLst>
              <a:ext uri="{FF2B5EF4-FFF2-40B4-BE49-F238E27FC236}">
                <a16:creationId xmlns:a16="http://schemas.microsoft.com/office/drawing/2014/main" id="{03EA7EFD-72C2-4626-B2F6-4BD40733BE85}"/>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1545269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FDDC5-1057-4550-BDAA-508C2E355ABC}"/>
              </a:ext>
            </a:extLst>
          </p:cNvPr>
          <p:cNvSpPr>
            <a:spLocks noGrp="1"/>
          </p:cNvSpPr>
          <p:nvPr>
            <p:ph type="title"/>
          </p:nvPr>
        </p:nvSpPr>
        <p:spPr>
          <a:xfrm>
            <a:off x="838200" y="114301"/>
            <a:ext cx="10515600" cy="695324"/>
          </a:xfrm>
        </p:spPr>
        <p:txBody>
          <a:bodyPr>
            <a:normAutofit/>
          </a:bodyPr>
          <a:lstStyle/>
          <a:p>
            <a:pPr algn="ctr"/>
            <a:r>
              <a:rPr lang="en-US" sz="4000" dirty="0" err="1">
                <a:latin typeface="Times New Roman" panose="02020603050405020304" pitchFamily="18" charset="0"/>
                <a:cs typeface="Times New Roman" panose="02020603050405020304" pitchFamily="18" charset="0"/>
              </a:rPr>
              <a:t>Avantages</a:t>
            </a:r>
            <a:r>
              <a:rPr lang="en-US" sz="4000" dirty="0">
                <a:latin typeface="Times New Roman" panose="02020603050405020304" pitchFamily="18" charset="0"/>
                <a:cs typeface="Times New Roman" panose="02020603050405020304" pitchFamily="18" charset="0"/>
              </a:rPr>
              <a:t> &amp; </a:t>
            </a:r>
            <a:r>
              <a:rPr lang="en-US" sz="4000" dirty="0" err="1">
                <a:latin typeface="Times New Roman" panose="02020603050405020304" pitchFamily="18" charset="0"/>
                <a:cs typeface="Times New Roman" panose="02020603050405020304" pitchFamily="18" charset="0"/>
              </a:rPr>
              <a:t>inconvenients</a:t>
            </a:r>
            <a:endParaRPr lang="en-US" sz="4000" dirty="0"/>
          </a:p>
        </p:txBody>
      </p:sp>
      <p:sp>
        <p:nvSpPr>
          <p:cNvPr id="3" name="Content Placeholder 2">
            <a:extLst>
              <a:ext uri="{FF2B5EF4-FFF2-40B4-BE49-F238E27FC236}">
                <a16:creationId xmlns:a16="http://schemas.microsoft.com/office/drawing/2014/main" id="{558AD0F2-AB1B-454A-91BF-C21B41142C29}"/>
              </a:ext>
            </a:extLst>
          </p:cNvPr>
          <p:cNvSpPr>
            <a:spLocks noGrp="1"/>
          </p:cNvSpPr>
          <p:nvPr>
            <p:ph idx="1"/>
          </p:nvPr>
        </p:nvSpPr>
        <p:spPr>
          <a:xfrm>
            <a:off x="838200" y="933450"/>
            <a:ext cx="10515600" cy="5559425"/>
          </a:xfrm>
        </p:spPr>
        <p:txBody>
          <a:bodyPr>
            <a:normAutofit/>
          </a:bodyPr>
          <a:lstStyle/>
          <a:p>
            <a:pPr marL="0" indent="0" algn="just">
              <a:buNone/>
            </a:pPr>
            <a:r>
              <a:rPr lang="en-US" sz="2400" b="1" dirty="0" err="1">
                <a:latin typeface="Times New Roman" panose="02020603050405020304" pitchFamily="18" charset="0"/>
                <a:cs typeface="Times New Roman" panose="02020603050405020304" pitchFamily="18" charset="0"/>
              </a:rPr>
              <a:t>Avantages</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Meilleure performance (répartition de charge)</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Haute </a:t>
            </a:r>
            <a:r>
              <a:rPr lang="en-US" sz="2400" dirty="0" err="1">
                <a:latin typeface="Times New Roman" panose="02020603050405020304" pitchFamily="18" charset="0"/>
                <a:cs typeface="Times New Roman" panose="02020603050405020304" pitchFamily="18" charset="0"/>
              </a:rPr>
              <a:t>tolérance</a:t>
            </a:r>
            <a:r>
              <a:rPr lang="en-US" sz="2400" dirty="0">
                <a:latin typeface="Times New Roman" panose="02020603050405020304" pitchFamily="18" charset="0"/>
                <a:cs typeface="Times New Roman" panose="02020603050405020304" pitchFamily="18" charset="0"/>
              </a:rPr>
              <a:t> aux </a:t>
            </a:r>
            <a:r>
              <a:rPr lang="en-US" sz="2400" dirty="0" err="1">
                <a:latin typeface="Times New Roman" panose="02020603050405020304" pitchFamily="18" charset="0"/>
                <a:cs typeface="Times New Roman" panose="02020603050405020304" pitchFamily="18" charset="0"/>
              </a:rPr>
              <a:t>pannes</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Aucun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nœud</a:t>
            </a:r>
            <a:r>
              <a:rPr lang="en-US" sz="2400" dirty="0">
                <a:latin typeface="Times New Roman" panose="02020603050405020304" pitchFamily="18" charset="0"/>
                <a:cs typeface="Times New Roman" panose="02020603050405020304" pitchFamily="18" charset="0"/>
              </a:rPr>
              <a:t> inactive</a:t>
            </a:r>
          </a:p>
          <a:p>
            <a:pPr marL="0" lv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Inconvénients</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Configuration </a:t>
            </a:r>
            <a:r>
              <a:rPr lang="en-US" sz="2400" dirty="0" err="1">
                <a:latin typeface="Times New Roman" panose="02020603050405020304" pitchFamily="18" charset="0"/>
                <a:cs typeface="Times New Roman" panose="02020603050405020304" pitchFamily="18" charset="0"/>
              </a:rPr>
              <a:t>complexe</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Gestion des conflits/synchronisation plus difficile</a:t>
            </a:r>
          </a:p>
          <a:p>
            <a:pPr marL="0" lv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 Cas </a:t>
            </a:r>
            <a:r>
              <a:rPr lang="en-US" sz="2400" b="1" dirty="0" err="1">
                <a:latin typeface="Times New Roman" panose="02020603050405020304" pitchFamily="18" charset="0"/>
                <a:cs typeface="Times New Roman" panose="02020603050405020304" pitchFamily="18" charset="0"/>
              </a:rPr>
              <a:t>d’usage</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Sites web à fort </a:t>
            </a:r>
            <a:r>
              <a:rPr lang="en-US" sz="2400" dirty="0" err="1">
                <a:latin typeface="Times New Roman" panose="02020603050405020304" pitchFamily="18" charset="0"/>
                <a:cs typeface="Times New Roman" panose="02020603050405020304" pitchFamily="18" charset="0"/>
              </a:rPr>
              <a:t>trafic</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Infrastructures virtualisées</a:t>
            </a:r>
            <a:endParaRPr lang="en-US" sz="24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Footer Placeholder 3">
            <a:extLst>
              <a:ext uri="{FF2B5EF4-FFF2-40B4-BE49-F238E27FC236}">
                <a16:creationId xmlns:a16="http://schemas.microsoft.com/office/drawing/2014/main" id="{BCEC6678-63B4-4EC7-A12A-B0C5147A18A3}"/>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21620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2C87A-39EC-450D-A419-15B6D62C7877}"/>
              </a:ext>
            </a:extLst>
          </p:cNvPr>
          <p:cNvSpPr>
            <a:spLocks noGrp="1"/>
          </p:cNvSpPr>
          <p:nvPr>
            <p:ph type="title"/>
          </p:nvPr>
        </p:nvSpPr>
        <p:spPr>
          <a:xfrm>
            <a:off x="838200" y="152400"/>
            <a:ext cx="10515600" cy="1523999"/>
          </a:xfrm>
        </p:spPr>
        <p:txBody>
          <a:bodyPr>
            <a:normAutofit fontScale="90000"/>
          </a:bodyPr>
          <a:lstStyle/>
          <a:p>
            <a:pPr algn="ctr"/>
            <a:r>
              <a:rPr lang="fr-FR" dirty="0" err="1">
                <a:latin typeface="Times New Roman" panose="02020603050405020304" pitchFamily="18" charset="0"/>
                <a:cs typeface="Times New Roman" panose="02020603050405020304" pitchFamily="18" charset="0"/>
              </a:rPr>
              <a:t>Load</a:t>
            </a:r>
            <a:r>
              <a:rPr lang="fr-FR" dirty="0">
                <a:latin typeface="Times New Roman" panose="02020603050405020304" pitchFamily="18" charset="0"/>
                <a:cs typeface="Times New Roman" panose="02020603050405020304" pitchFamily="18" charset="0"/>
              </a:rPr>
              <a:t> Balancing Cluster (Cluster de répartition de charge)</a:t>
            </a:r>
            <a:br>
              <a:rPr lang="en-US" dirty="0"/>
            </a:br>
            <a:endParaRPr lang="en-US" dirty="0"/>
          </a:p>
        </p:txBody>
      </p:sp>
      <p:sp>
        <p:nvSpPr>
          <p:cNvPr id="3" name="Content Placeholder 2">
            <a:extLst>
              <a:ext uri="{FF2B5EF4-FFF2-40B4-BE49-F238E27FC236}">
                <a16:creationId xmlns:a16="http://schemas.microsoft.com/office/drawing/2014/main" id="{113A541E-563C-4209-829D-4B2F2AF72220}"/>
              </a:ext>
            </a:extLst>
          </p:cNvPr>
          <p:cNvSpPr>
            <a:spLocks noGrp="1"/>
          </p:cNvSpPr>
          <p:nvPr>
            <p:ph idx="1"/>
          </p:nvPr>
        </p:nvSpPr>
        <p:spPr>
          <a:xfrm>
            <a:off x="838200" y="1419225"/>
            <a:ext cx="10515600" cy="5181599"/>
          </a:xfrm>
        </p:spPr>
        <p:txBody>
          <a:bodyPr>
            <a:normAutofit/>
          </a:bodyPr>
          <a:lstStyle/>
          <a:p>
            <a:pPr marL="0" indent="0" algn="just">
              <a:lnSpc>
                <a:spcPct val="150000"/>
              </a:lnSpc>
              <a:buNone/>
            </a:pPr>
            <a:r>
              <a:rPr lang="en-US" sz="2400" b="1" dirty="0" err="1">
                <a:latin typeface="Times New Roman" panose="02020603050405020304" pitchFamily="18" charset="0"/>
                <a:cs typeface="Times New Roman" panose="02020603050405020304" pitchFamily="18" charset="0"/>
              </a:rPr>
              <a:t>Fonctionnement</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Un </a:t>
            </a:r>
            <a:r>
              <a:rPr lang="fr-FR" sz="2400" b="1" dirty="0">
                <a:latin typeface="Times New Roman" panose="02020603050405020304" pitchFamily="18" charset="0"/>
                <a:cs typeface="Times New Roman" panose="02020603050405020304" pitchFamily="18" charset="0"/>
              </a:rPr>
              <a:t>répartiteur de charge (</a:t>
            </a:r>
            <a:r>
              <a:rPr lang="fr-FR" sz="2400" b="1" dirty="0" err="1">
                <a:latin typeface="Times New Roman" panose="02020603050405020304" pitchFamily="18" charset="0"/>
                <a:cs typeface="Times New Roman" panose="02020603050405020304" pitchFamily="18" charset="0"/>
              </a:rPr>
              <a:t>load</a:t>
            </a:r>
            <a:r>
              <a:rPr lang="fr-FR" sz="2400" b="1" dirty="0">
                <a:latin typeface="Times New Roman" panose="02020603050405020304" pitchFamily="18" charset="0"/>
                <a:cs typeface="Times New Roman" panose="02020603050405020304" pitchFamily="18" charset="0"/>
              </a:rPr>
              <a:t> balancer)</a:t>
            </a:r>
            <a:r>
              <a:rPr lang="fr-FR" sz="2400" dirty="0">
                <a:latin typeface="Times New Roman" panose="02020603050405020304" pitchFamily="18" charset="0"/>
                <a:cs typeface="Times New Roman" panose="02020603050405020304" pitchFamily="18" charset="0"/>
              </a:rPr>
              <a:t> distribue les requêtes entre plusieurs serveurs actifs.</a:t>
            </a:r>
            <a:endParaRPr lang="en-US" sz="24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Utilisé principalement pour améliorer la performance et la scalabilité.</a:t>
            </a:r>
          </a:p>
          <a:p>
            <a:pPr lvl="0" algn="just">
              <a:lnSpc>
                <a:spcPct val="150000"/>
              </a:lnSpc>
            </a:pP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Exemple</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0" lvl="0" indent="0" algn="just">
              <a:lnSpc>
                <a:spcPct val="150000"/>
              </a:lnSpc>
              <a:buNone/>
            </a:pPr>
            <a:r>
              <a:rPr lang="fr-FR" sz="2400" dirty="0">
                <a:latin typeface="Times New Roman" panose="02020603050405020304" pitchFamily="18" charset="0"/>
                <a:cs typeface="Times New Roman" panose="02020603050405020304" pitchFamily="18" charset="0"/>
              </a:rPr>
              <a:t>Un site web reçoit 1000 requêtes/seconde, réparties sur 4 serveurs web via un </a:t>
            </a:r>
            <a:r>
              <a:rPr lang="fr-FR" sz="2400" dirty="0" err="1">
                <a:latin typeface="Times New Roman" panose="02020603050405020304" pitchFamily="18" charset="0"/>
                <a:cs typeface="Times New Roman" panose="02020603050405020304" pitchFamily="18" charset="0"/>
              </a:rPr>
              <a:t>load</a:t>
            </a:r>
            <a:r>
              <a:rPr lang="fr-FR" sz="2400" dirty="0">
                <a:latin typeface="Times New Roman" panose="02020603050405020304" pitchFamily="18" charset="0"/>
                <a:cs typeface="Times New Roman" panose="02020603050405020304" pitchFamily="18" charset="0"/>
              </a:rPr>
              <a:t> balancer.</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4" name="Footer Placeholder 3">
            <a:extLst>
              <a:ext uri="{FF2B5EF4-FFF2-40B4-BE49-F238E27FC236}">
                <a16:creationId xmlns:a16="http://schemas.microsoft.com/office/drawing/2014/main" id="{1CB1F8F7-EFE3-42E4-B911-47507CCA0B05}"/>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3739744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EFE0D-76D7-4FB7-A298-AAA6E99E5E06}"/>
              </a:ext>
            </a:extLst>
          </p:cNvPr>
          <p:cNvSpPr>
            <a:spLocks noGrp="1"/>
          </p:cNvSpPr>
          <p:nvPr>
            <p:ph type="title"/>
          </p:nvPr>
        </p:nvSpPr>
        <p:spPr>
          <a:xfrm>
            <a:off x="838200" y="180976"/>
            <a:ext cx="10515600" cy="704850"/>
          </a:xfrm>
        </p:spPr>
        <p:txBody>
          <a:bodyPr>
            <a:normAutofit/>
          </a:bodyPr>
          <a:lstStyle/>
          <a:p>
            <a:pPr algn="ctr"/>
            <a:r>
              <a:rPr lang="en-US" sz="4000" dirty="0" err="1">
                <a:latin typeface="Times New Roman" panose="02020603050405020304" pitchFamily="18" charset="0"/>
                <a:cs typeface="Times New Roman" panose="02020603050405020304" pitchFamily="18" charset="0"/>
              </a:rPr>
              <a:t>Avantages</a:t>
            </a:r>
            <a:r>
              <a:rPr lang="en-US" sz="4000" dirty="0">
                <a:latin typeface="Times New Roman" panose="02020603050405020304" pitchFamily="18" charset="0"/>
                <a:cs typeface="Times New Roman" panose="02020603050405020304" pitchFamily="18" charset="0"/>
              </a:rPr>
              <a:t> &amp; </a:t>
            </a:r>
            <a:r>
              <a:rPr lang="en-US" sz="4000" dirty="0" err="1">
                <a:latin typeface="Times New Roman" panose="02020603050405020304" pitchFamily="18" charset="0"/>
                <a:cs typeface="Times New Roman" panose="02020603050405020304" pitchFamily="18" charset="0"/>
              </a:rPr>
              <a:t>inconvenients</a:t>
            </a:r>
            <a:endParaRPr lang="en-US" sz="4000" dirty="0"/>
          </a:p>
        </p:txBody>
      </p:sp>
      <p:sp>
        <p:nvSpPr>
          <p:cNvPr id="3" name="Content Placeholder 2">
            <a:extLst>
              <a:ext uri="{FF2B5EF4-FFF2-40B4-BE49-F238E27FC236}">
                <a16:creationId xmlns:a16="http://schemas.microsoft.com/office/drawing/2014/main" id="{1FAD5F39-0F4B-4DF2-BF3B-A2395ADF09BC}"/>
              </a:ext>
            </a:extLst>
          </p:cNvPr>
          <p:cNvSpPr>
            <a:spLocks noGrp="1"/>
          </p:cNvSpPr>
          <p:nvPr>
            <p:ph idx="1"/>
          </p:nvPr>
        </p:nvSpPr>
        <p:spPr>
          <a:xfrm>
            <a:off x="838200" y="1095375"/>
            <a:ext cx="10515600" cy="5081588"/>
          </a:xfrm>
        </p:spPr>
        <p:txBody>
          <a:bodyPr>
            <a:normAutofit/>
          </a:bodyPr>
          <a:lstStyle/>
          <a:p>
            <a:pPr marL="0" indent="0" algn="just">
              <a:buNone/>
            </a:pPr>
            <a:r>
              <a:rPr lang="en-US" sz="2400" b="1" dirty="0" err="1">
                <a:latin typeface="Times New Roman" panose="02020603050405020304" pitchFamily="18" charset="0"/>
                <a:cs typeface="Times New Roman" panose="02020603050405020304" pitchFamily="18" charset="0"/>
              </a:rPr>
              <a:t>Avantages</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Équilibrage</a:t>
            </a:r>
            <a:r>
              <a:rPr lang="en-US" sz="2400" dirty="0">
                <a:latin typeface="Times New Roman" panose="02020603050405020304" pitchFamily="18" charset="0"/>
                <a:cs typeface="Times New Roman" panose="02020603050405020304" pitchFamily="18" charset="0"/>
              </a:rPr>
              <a:t> du </a:t>
            </a:r>
            <a:r>
              <a:rPr lang="en-US" sz="2400" dirty="0" err="1">
                <a:latin typeface="Times New Roman" panose="02020603050405020304" pitchFamily="18" charset="0"/>
                <a:cs typeface="Times New Roman" panose="02020603050405020304" pitchFamily="18" charset="0"/>
              </a:rPr>
              <a:t>trafic</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Mise à </a:t>
            </a:r>
            <a:r>
              <a:rPr lang="en-US" sz="2400" dirty="0" err="1">
                <a:latin typeface="Times New Roman" panose="02020603050405020304" pitchFamily="18" charset="0"/>
                <a:cs typeface="Times New Roman" panose="02020603050405020304" pitchFamily="18" charset="0"/>
              </a:rPr>
              <a:t>l’échelle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horizontale</a:t>
            </a:r>
            <a:r>
              <a:rPr lang="en-US" sz="2400" dirty="0">
                <a:latin typeface="Times New Roman" panose="02020603050405020304" pitchFamily="18" charset="0"/>
                <a:cs typeface="Times New Roman" panose="02020603050405020304" pitchFamily="18" charset="0"/>
              </a:rPr>
              <a:t> facile</a:t>
            </a:r>
          </a:p>
          <a:p>
            <a:pPr lvl="0" algn="just">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Améliore la disponibilité et la réactivité</a:t>
            </a:r>
          </a:p>
          <a:p>
            <a:pPr lvl="0" algn="just"/>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err="1">
                <a:latin typeface="Times New Roman" panose="02020603050405020304" pitchFamily="18" charset="0"/>
                <a:cs typeface="Times New Roman" panose="02020603050405020304" pitchFamily="18" charset="0"/>
              </a:rPr>
              <a:t>Inconvénients</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Ne remplace pas un failover complet (pas de reprise d’état d’une application)</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fr-FR" sz="2400" dirty="0" err="1">
                <a:latin typeface="Times New Roman" panose="02020603050405020304" pitchFamily="18" charset="0"/>
                <a:cs typeface="Times New Roman" panose="02020603050405020304" pitchFamily="18" charset="0"/>
              </a:rPr>
              <a:t>Load</a:t>
            </a:r>
            <a:r>
              <a:rPr lang="fr-FR" sz="2400" dirty="0">
                <a:latin typeface="Times New Roman" panose="02020603050405020304" pitchFamily="18" charset="0"/>
                <a:cs typeface="Times New Roman" panose="02020603050405020304" pitchFamily="18" charset="0"/>
              </a:rPr>
              <a:t> balancer devient un point critique (sauf s’il est redondant)</a:t>
            </a:r>
          </a:p>
          <a:p>
            <a:pPr marL="0" lv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 Cas </a:t>
            </a:r>
            <a:r>
              <a:rPr lang="en-US" sz="2400" b="1" dirty="0" err="1">
                <a:latin typeface="Times New Roman" panose="02020603050405020304" pitchFamily="18" charset="0"/>
                <a:cs typeface="Times New Roman" panose="02020603050405020304" pitchFamily="18" charset="0"/>
              </a:rPr>
              <a:t>d’usage</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0" indent="0" algn="just">
              <a:buNone/>
            </a:pPr>
            <a:r>
              <a:rPr lang="fr-FR" sz="2400" dirty="0">
                <a:latin typeface="Times New Roman" panose="02020603050405020304" pitchFamily="18" charset="0"/>
                <a:cs typeface="Times New Roman" panose="02020603050405020304" pitchFamily="18" charset="0"/>
              </a:rPr>
              <a:t>Serveurs web, serveurs d’applications, frontaux API</a:t>
            </a: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E11DD63-28B5-4318-B55C-2442F22B66D0}"/>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1663451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9DC67-E104-433E-94F1-65782283565B}"/>
              </a:ext>
            </a:extLst>
          </p:cNvPr>
          <p:cNvSpPr>
            <a:spLocks noGrp="1"/>
          </p:cNvSpPr>
          <p:nvPr>
            <p:ph type="title"/>
          </p:nvPr>
        </p:nvSpPr>
        <p:spPr>
          <a:xfrm>
            <a:off x="838200" y="66675"/>
            <a:ext cx="10515600" cy="1076325"/>
          </a:xfrm>
        </p:spPr>
        <p:txBody>
          <a:bodyPr>
            <a:normAutofit fontScale="90000"/>
          </a:bodyPr>
          <a:lstStyle/>
          <a:p>
            <a:pPr algn="ctr"/>
            <a:r>
              <a:rPr lang="fr-FR" sz="4000" dirty="0">
                <a:latin typeface="Times New Roman" panose="02020603050405020304" pitchFamily="18" charset="0"/>
                <a:cs typeface="Times New Roman" panose="02020603050405020304" pitchFamily="18" charset="0"/>
              </a:rPr>
              <a:t>Failover Cluster (Cluster de basculement)</a:t>
            </a:r>
            <a:br>
              <a:rPr lang="en-US" dirty="0"/>
            </a:br>
            <a:endParaRPr lang="en-US" dirty="0"/>
          </a:p>
        </p:txBody>
      </p:sp>
      <p:sp>
        <p:nvSpPr>
          <p:cNvPr id="3" name="Content Placeholder 2">
            <a:extLst>
              <a:ext uri="{FF2B5EF4-FFF2-40B4-BE49-F238E27FC236}">
                <a16:creationId xmlns:a16="http://schemas.microsoft.com/office/drawing/2014/main" id="{AEE5F48F-ABEF-49AF-B523-2F5846BC4C6F}"/>
              </a:ext>
            </a:extLst>
          </p:cNvPr>
          <p:cNvSpPr>
            <a:spLocks noGrp="1"/>
          </p:cNvSpPr>
          <p:nvPr>
            <p:ph idx="1"/>
          </p:nvPr>
        </p:nvSpPr>
        <p:spPr>
          <a:xfrm>
            <a:off x="209550" y="704850"/>
            <a:ext cx="11725275" cy="5886450"/>
          </a:xfrm>
        </p:spPr>
        <p:txBody>
          <a:bodyPr>
            <a:normAutofit/>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Fonctionnement</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Chaque nœud partage un </a:t>
            </a:r>
            <a:r>
              <a:rPr lang="fr-FR" sz="2400" b="1" dirty="0">
                <a:latin typeface="Times New Roman" panose="02020603050405020304" pitchFamily="18" charset="0"/>
                <a:cs typeface="Times New Roman" panose="02020603050405020304" pitchFamily="18" charset="0"/>
              </a:rPr>
              <a:t>même espace de stockage</a:t>
            </a:r>
            <a:r>
              <a:rPr lang="fr-FR"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Si un nœud échoue, un autre reprend les services avec le même état, via le stockage partagé.</a:t>
            </a:r>
          </a:p>
          <a:p>
            <a:pPr marL="0" lvl="0" indent="0">
              <a:lnSpc>
                <a:spcPct val="150000"/>
              </a:lnSpc>
              <a:buNone/>
            </a:pPr>
            <a:endParaRPr lang="en-US" sz="2400" dirty="0">
              <a:latin typeface="Times New Roman" panose="02020603050405020304" pitchFamily="18" charset="0"/>
              <a:cs typeface="Times New Roman" panose="02020603050405020304" pitchFamily="18" charset="0"/>
            </a:endParaRPr>
          </a:p>
          <a:p>
            <a:pPr marL="0" indent="0">
              <a:lnSpc>
                <a:spcPct val="150000"/>
              </a:lnSpc>
              <a:buNone/>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Exemple</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Deux nœuds SQL Server partagent un disque SAN.</a:t>
            </a:r>
            <a:endParaRPr lang="en-US" sz="24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En cas de panne, le deuxième nœud démarre le service SQL avec les mêmes données.</a:t>
            </a:r>
            <a:endParaRPr lang="en-US" sz="24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Footer Placeholder 3">
            <a:extLst>
              <a:ext uri="{FF2B5EF4-FFF2-40B4-BE49-F238E27FC236}">
                <a16:creationId xmlns:a16="http://schemas.microsoft.com/office/drawing/2014/main" id="{03981CEA-233F-410F-9334-E7B677F18D7F}"/>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1868407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57287-F68D-4140-8130-44BA4A74F8A2}"/>
              </a:ext>
            </a:extLst>
          </p:cNvPr>
          <p:cNvSpPr>
            <a:spLocks noGrp="1"/>
          </p:cNvSpPr>
          <p:nvPr>
            <p:ph type="title"/>
          </p:nvPr>
        </p:nvSpPr>
        <p:spPr>
          <a:xfrm>
            <a:off x="838200" y="152400"/>
            <a:ext cx="10515600" cy="962025"/>
          </a:xfrm>
        </p:spPr>
        <p:txBody>
          <a:bodyPr>
            <a:normAutofit/>
          </a:bodyPr>
          <a:lstStyle/>
          <a:p>
            <a:pPr algn="ctr"/>
            <a:r>
              <a:rPr lang="en-US" sz="4000" dirty="0" err="1">
                <a:latin typeface="Times New Roman" panose="02020603050405020304" pitchFamily="18" charset="0"/>
                <a:cs typeface="Times New Roman" panose="02020603050405020304" pitchFamily="18" charset="0"/>
              </a:rPr>
              <a:t>Avantages</a:t>
            </a:r>
            <a:r>
              <a:rPr lang="en-US" sz="4000" dirty="0">
                <a:latin typeface="Times New Roman" panose="02020603050405020304" pitchFamily="18" charset="0"/>
                <a:cs typeface="Times New Roman" panose="02020603050405020304" pitchFamily="18" charset="0"/>
              </a:rPr>
              <a:t> &amp; </a:t>
            </a:r>
            <a:r>
              <a:rPr lang="en-US" sz="4000" dirty="0" err="1">
                <a:latin typeface="Times New Roman" panose="02020603050405020304" pitchFamily="18" charset="0"/>
                <a:cs typeface="Times New Roman" panose="02020603050405020304" pitchFamily="18" charset="0"/>
              </a:rPr>
              <a:t>inconvenients</a:t>
            </a:r>
            <a:endParaRPr lang="en-US" sz="4000" dirty="0"/>
          </a:p>
        </p:txBody>
      </p:sp>
      <p:sp>
        <p:nvSpPr>
          <p:cNvPr id="3" name="Content Placeholder 2">
            <a:extLst>
              <a:ext uri="{FF2B5EF4-FFF2-40B4-BE49-F238E27FC236}">
                <a16:creationId xmlns:a16="http://schemas.microsoft.com/office/drawing/2014/main" id="{732D11B2-9468-4C8F-9DA1-02C15EEBBD11}"/>
              </a:ext>
            </a:extLst>
          </p:cNvPr>
          <p:cNvSpPr>
            <a:spLocks noGrp="1"/>
          </p:cNvSpPr>
          <p:nvPr>
            <p:ph idx="1"/>
          </p:nvPr>
        </p:nvSpPr>
        <p:spPr>
          <a:xfrm>
            <a:off x="838200" y="1190624"/>
            <a:ext cx="10515600" cy="5286375"/>
          </a:xfrm>
        </p:spPr>
        <p:txBody>
          <a:bodyPr>
            <a:normAutofit/>
          </a:bodyPr>
          <a:lstStyle/>
          <a:p>
            <a:pPr marL="0" indent="0" algn="just">
              <a:buNone/>
            </a:pPr>
            <a:r>
              <a:rPr lang="fr-FR" sz="2600" b="1" dirty="0">
                <a:latin typeface="Times New Roman" panose="02020603050405020304" pitchFamily="18" charset="0"/>
                <a:cs typeface="Times New Roman" panose="02020603050405020304" pitchFamily="18" charset="0"/>
              </a:rPr>
              <a:t>Avantages </a:t>
            </a:r>
          </a:p>
          <a:p>
            <a:pPr>
              <a:buFont typeface="Wingdings" panose="05000000000000000000" pitchFamily="2" charset="2"/>
              <a:buChar char="v"/>
            </a:pPr>
            <a:r>
              <a:rPr lang="fr-FR" sz="2600" dirty="0">
                <a:latin typeface="Times New Roman" panose="02020603050405020304" pitchFamily="18" charset="0"/>
                <a:cs typeface="Times New Roman" panose="02020603050405020304" pitchFamily="18" charset="0"/>
              </a:rPr>
              <a:t>	Tolérance élevée aux pannes</a:t>
            </a:r>
          </a:p>
          <a:p>
            <a:pPr>
              <a:buFont typeface="Wingdings" panose="05000000000000000000" pitchFamily="2" charset="2"/>
              <a:buChar char="v"/>
            </a:pPr>
            <a:r>
              <a:rPr lang="fr-FR" sz="2600" dirty="0">
                <a:latin typeface="Times New Roman" panose="02020603050405020304" pitchFamily="18" charset="0"/>
                <a:cs typeface="Times New Roman" panose="02020603050405020304" pitchFamily="18" charset="0"/>
              </a:rPr>
              <a:t>	Restauration automatique des services</a:t>
            </a:r>
          </a:p>
          <a:p>
            <a:pPr>
              <a:buFont typeface="Wingdings" panose="05000000000000000000" pitchFamily="2" charset="2"/>
              <a:buChar char="v"/>
            </a:pPr>
            <a:r>
              <a:rPr lang="fr-FR" sz="2600" dirty="0">
                <a:latin typeface="Times New Roman" panose="02020603050405020304" pitchFamily="18" charset="0"/>
                <a:cs typeface="Times New Roman" panose="02020603050405020304" pitchFamily="18" charset="0"/>
              </a:rPr>
              <a:t>	Haute cohérence des données</a:t>
            </a:r>
          </a:p>
          <a:p>
            <a:pPr marL="0" indent="0" algn="just">
              <a:buNone/>
            </a:pPr>
            <a:r>
              <a:rPr lang="fr-FR" sz="2600" dirty="0">
                <a:latin typeface="Times New Roman" panose="02020603050405020304" pitchFamily="18" charset="0"/>
                <a:cs typeface="Times New Roman" panose="02020603050405020304" pitchFamily="18" charset="0"/>
              </a:rPr>
              <a:t> </a:t>
            </a:r>
            <a:r>
              <a:rPr lang="fr-FR" sz="2600" b="1" dirty="0">
                <a:latin typeface="Times New Roman" panose="02020603050405020304" pitchFamily="18" charset="0"/>
                <a:cs typeface="Times New Roman" panose="02020603050405020304" pitchFamily="18" charset="0"/>
              </a:rPr>
              <a:t>Inconvénients </a:t>
            </a:r>
          </a:p>
          <a:p>
            <a:pPr algn="just">
              <a:buFont typeface="Wingdings" panose="05000000000000000000" pitchFamily="2" charset="2"/>
              <a:buChar char="v"/>
            </a:pPr>
            <a:r>
              <a:rPr lang="fr-FR" sz="2600" dirty="0">
                <a:latin typeface="Times New Roman" panose="02020603050405020304" pitchFamily="18" charset="0"/>
                <a:cs typeface="Times New Roman" panose="02020603050405020304" pitchFamily="18" charset="0"/>
              </a:rPr>
              <a:t>	Besoin d’un stockage partagé</a:t>
            </a:r>
          </a:p>
          <a:p>
            <a:pPr algn="just">
              <a:buFont typeface="Wingdings" panose="05000000000000000000" pitchFamily="2" charset="2"/>
              <a:buChar char="v"/>
            </a:pPr>
            <a:r>
              <a:rPr lang="fr-FR" sz="2600" dirty="0">
                <a:latin typeface="Times New Roman" panose="02020603050405020304" pitchFamily="18" charset="0"/>
                <a:cs typeface="Times New Roman" panose="02020603050405020304" pitchFamily="18" charset="0"/>
              </a:rPr>
              <a:t>	Dépend de la qualité du SAN ou du NAS</a:t>
            </a:r>
          </a:p>
          <a:p>
            <a:pPr marL="0" indent="0" algn="just">
              <a:buNone/>
            </a:pPr>
            <a:r>
              <a:rPr lang="fr-FR" sz="2600" dirty="0">
                <a:latin typeface="Times New Roman" panose="02020603050405020304" pitchFamily="18" charset="0"/>
                <a:cs typeface="Times New Roman" panose="02020603050405020304" pitchFamily="18" charset="0"/>
              </a:rPr>
              <a:t> </a:t>
            </a:r>
            <a:r>
              <a:rPr lang="fr-FR" sz="2600" b="1" dirty="0">
                <a:latin typeface="Times New Roman" panose="02020603050405020304" pitchFamily="18" charset="0"/>
                <a:cs typeface="Times New Roman" panose="02020603050405020304" pitchFamily="18" charset="0"/>
              </a:rPr>
              <a:t>Cas d’usage </a:t>
            </a:r>
          </a:p>
          <a:p>
            <a:pPr marL="0" indent="0" algn="just">
              <a:buNone/>
            </a:pPr>
            <a:r>
              <a:rPr lang="fr-FR" sz="2600" dirty="0">
                <a:latin typeface="Times New Roman" panose="02020603050405020304" pitchFamily="18" charset="0"/>
                <a:cs typeface="Times New Roman" panose="02020603050405020304" pitchFamily="18" charset="0"/>
              </a:rPr>
              <a:t>	Bases de données critiques </a:t>
            </a:r>
          </a:p>
          <a:p>
            <a:pPr marL="0" indent="0" algn="just">
              <a:buNone/>
            </a:pPr>
            <a:r>
              <a:rPr lang="fr-FR" sz="2600" dirty="0">
                <a:latin typeface="Times New Roman" panose="02020603050405020304" pitchFamily="18" charset="0"/>
                <a:cs typeface="Times New Roman" panose="02020603050405020304" pitchFamily="18" charset="0"/>
              </a:rPr>
              <a:t>	Applications métier vitales</a:t>
            </a:r>
          </a:p>
          <a:p>
            <a:endParaRPr lang="en-US" dirty="0"/>
          </a:p>
        </p:txBody>
      </p:sp>
      <p:sp>
        <p:nvSpPr>
          <p:cNvPr id="4" name="Footer Placeholder 3">
            <a:extLst>
              <a:ext uri="{FF2B5EF4-FFF2-40B4-BE49-F238E27FC236}">
                <a16:creationId xmlns:a16="http://schemas.microsoft.com/office/drawing/2014/main" id="{07452FA2-DA1B-40DD-BB83-EB10FE1641C3}"/>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810898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09A7-B9A0-49C5-A7C4-FD152C23DEDB}"/>
              </a:ext>
            </a:extLst>
          </p:cNvPr>
          <p:cNvSpPr>
            <a:spLocks noGrp="1"/>
          </p:cNvSpPr>
          <p:nvPr>
            <p:ph type="title"/>
          </p:nvPr>
        </p:nvSpPr>
        <p:spPr>
          <a:xfrm>
            <a:off x="838200" y="1"/>
            <a:ext cx="10515600" cy="1690688"/>
          </a:xfrm>
        </p:spPr>
        <p:txBody>
          <a:bodyPr>
            <a:normAutofit/>
          </a:bodyPr>
          <a:lstStyle/>
          <a:p>
            <a:pPr algn="ctr"/>
            <a:r>
              <a:rPr lang="fr-FR" dirty="0" err="1">
                <a:latin typeface="Times New Roman" panose="02020603050405020304" pitchFamily="18" charset="0"/>
                <a:cs typeface="Times New Roman" panose="02020603050405020304" pitchFamily="18" charset="0"/>
              </a:rPr>
              <a:t>Grid</a:t>
            </a:r>
            <a:r>
              <a:rPr lang="fr-FR" dirty="0">
                <a:latin typeface="Times New Roman" panose="02020603050405020304" pitchFamily="18" charset="0"/>
                <a:cs typeface="Times New Roman" panose="02020603050405020304" pitchFamily="18" charset="0"/>
              </a:rPr>
              <a:t> Cluster / </a:t>
            </a:r>
            <a:r>
              <a:rPr lang="fr-FR" dirty="0" err="1">
                <a:latin typeface="Times New Roman" panose="02020603050405020304" pitchFamily="18" charset="0"/>
                <a:cs typeface="Times New Roman" panose="02020603050405020304" pitchFamily="18" charset="0"/>
              </a:rPr>
              <a:t>Compute</a:t>
            </a:r>
            <a:r>
              <a:rPr lang="fr-FR" dirty="0">
                <a:latin typeface="Times New Roman" panose="02020603050405020304" pitchFamily="18" charset="0"/>
                <a:cs typeface="Times New Roman" panose="02020603050405020304" pitchFamily="18" charset="0"/>
              </a:rPr>
              <a:t> Cluster</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DD00024-4AE1-40BF-8BDA-8125D6E27A7A}"/>
              </a:ext>
            </a:extLst>
          </p:cNvPr>
          <p:cNvSpPr>
            <a:spLocks noGrp="1"/>
          </p:cNvSpPr>
          <p:nvPr>
            <p:ph idx="1"/>
          </p:nvPr>
        </p:nvSpPr>
        <p:spPr>
          <a:xfrm>
            <a:off x="838200" y="1562100"/>
            <a:ext cx="10515600" cy="4914900"/>
          </a:xfrm>
        </p:spPr>
        <p:txBody>
          <a:bodyPr/>
          <a:lstStyle/>
          <a:p>
            <a:pPr marL="0" indent="0" algn="just">
              <a:buNone/>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Fonctionnement</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Utilisé pour le </a:t>
            </a:r>
            <a:r>
              <a:rPr lang="fr-FR" sz="2400" b="1" dirty="0">
                <a:latin typeface="Times New Roman" panose="02020603050405020304" pitchFamily="18" charset="0"/>
                <a:cs typeface="Times New Roman" panose="02020603050405020304" pitchFamily="18" charset="0"/>
              </a:rPr>
              <a:t>calcul intensif distribué</a:t>
            </a:r>
            <a:r>
              <a:rPr lang="fr-FR"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Plusieurs nœuds traitent en parallèle des calculs complexes.</a:t>
            </a:r>
          </a:p>
          <a:p>
            <a:pPr marL="0" lv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Exemple</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0" lvl="0" indent="0" algn="just">
              <a:buNone/>
            </a:pPr>
            <a:r>
              <a:rPr lang="fr-FR" sz="2400" dirty="0">
                <a:latin typeface="Times New Roman" panose="02020603050405020304" pitchFamily="18" charset="0"/>
                <a:cs typeface="Times New Roman" panose="02020603050405020304" pitchFamily="18" charset="0"/>
              </a:rPr>
              <a:t>Simulation météo, rendu 3D, intelligence artificielle.</a:t>
            </a:r>
          </a:p>
          <a:p>
            <a:pPr marL="0" lv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 Cas </a:t>
            </a:r>
            <a:r>
              <a:rPr lang="en-US" sz="2400" b="1" dirty="0" err="1">
                <a:latin typeface="Times New Roman" panose="02020603050405020304" pitchFamily="18" charset="0"/>
                <a:cs typeface="Times New Roman" panose="02020603050405020304" pitchFamily="18" charset="0"/>
              </a:rPr>
              <a:t>d’usage</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0" lvl="0" indent="0" algn="just">
              <a:buNone/>
            </a:pPr>
            <a:r>
              <a:rPr lang="en-US" sz="2400" dirty="0" err="1">
                <a:latin typeface="Times New Roman" panose="02020603050405020304" pitchFamily="18" charset="0"/>
                <a:cs typeface="Times New Roman" panose="02020603050405020304" pitchFamily="18" charset="0"/>
              </a:rPr>
              <a:t>Laboratoires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universités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industrie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scientifique</a:t>
            </a:r>
            <a:r>
              <a:rPr lang="en-US" sz="2400" dirty="0">
                <a:latin typeface="Times New Roman" panose="02020603050405020304" pitchFamily="18" charset="0"/>
                <a:cs typeface="Times New Roman" panose="02020603050405020304" pitchFamily="18" charset="0"/>
              </a:rPr>
              <a:t>.</a:t>
            </a:r>
          </a:p>
          <a:p>
            <a:endParaRPr lang="en-US" dirty="0"/>
          </a:p>
        </p:txBody>
      </p:sp>
      <p:sp>
        <p:nvSpPr>
          <p:cNvPr id="4" name="Footer Placeholder 3">
            <a:extLst>
              <a:ext uri="{FF2B5EF4-FFF2-40B4-BE49-F238E27FC236}">
                <a16:creationId xmlns:a16="http://schemas.microsoft.com/office/drawing/2014/main" id="{19D9BB53-B211-4809-BC2D-1BD1E6AB7F37}"/>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901983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83F84-3D79-48BA-AC21-421DE9713DCB}"/>
              </a:ext>
            </a:extLst>
          </p:cNvPr>
          <p:cNvSpPr>
            <a:spLocks noGrp="1"/>
          </p:cNvSpPr>
          <p:nvPr>
            <p:ph type="title"/>
          </p:nvPr>
        </p:nvSpPr>
        <p:spPr>
          <a:xfrm>
            <a:off x="838200" y="104776"/>
            <a:ext cx="10515600" cy="742950"/>
          </a:xfrm>
        </p:spPr>
        <p:txBody>
          <a:bodyPr>
            <a:normAutofit/>
          </a:bodyPr>
          <a:lstStyle/>
          <a:p>
            <a:pPr algn="ctr"/>
            <a:r>
              <a:rPr lang="en-US" sz="4000" dirty="0">
                <a:latin typeface="Times New Roman" panose="02020603050405020304" pitchFamily="18" charset="0"/>
                <a:cs typeface="Times New Roman" panose="02020603050405020304" pitchFamily="18" charset="0"/>
              </a:rPr>
              <a:t>Tableau </a:t>
            </a:r>
            <a:r>
              <a:rPr lang="en-US" sz="4000" dirty="0" err="1">
                <a:latin typeface="Times New Roman" panose="02020603050405020304" pitchFamily="18" charset="0"/>
                <a:cs typeface="Times New Roman" panose="02020603050405020304" pitchFamily="18" charset="0"/>
              </a:rPr>
              <a:t>récapitulatif</a:t>
            </a:r>
            <a:endParaRPr lang="en-US" sz="40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FED3CDD1-6E6C-4D95-80D6-DA1F158ACD2B}"/>
              </a:ext>
            </a:extLst>
          </p:cNvPr>
          <p:cNvGraphicFramePr>
            <a:graphicFrameLocks noGrp="1"/>
          </p:cNvGraphicFramePr>
          <p:nvPr>
            <p:ph idx="1"/>
            <p:extLst>
              <p:ext uri="{D42A27DB-BD31-4B8C-83A1-F6EECF244321}">
                <p14:modId xmlns:p14="http://schemas.microsoft.com/office/powerpoint/2010/main" val="1674734516"/>
              </p:ext>
            </p:extLst>
          </p:nvPr>
        </p:nvGraphicFramePr>
        <p:xfrm>
          <a:off x="314325" y="1095375"/>
          <a:ext cx="11315700" cy="5416548"/>
        </p:xfrm>
        <a:graphic>
          <a:graphicData uri="http://schemas.openxmlformats.org/drawingml/2006/table">
            <a:tbl>
              <a:tblPr firstRow="1" firstCol="1" bandRow="1">
                <a:tableStyleId>{5C22544A-7EE6-4342-B048-85BDC9FD1C3A}</a:tableStyleId>
              </a:tblPr>
              <a:tblGrid>
                <a:gridCol w="2263140">
                  <a:extLst>
                    <a:ext uri="{9D8B030D-6E8A-4147-A177-3AD203B41FA5}">
                      <a16:colId xmlns:a16="http://schemas.microsoft.com/office/drawing/2014/main" val="3793996569"/>
                    </a:ext>
                  </a:extLst>
                </a:gridCol>
                <a:gridCol w="2263140">
                  <a:extLst>
                    <a:ext uri="{9D8B030D-6E8A-4147-A177-3AD203B41FA5}">
                      <a16:colId xmlns:a16="http://schemas.microsoft.com/office/drawing/2014/main" val="2983337349"/>
                    </a:ext>
                  </a:extLst>
                </a:gridCol>
                <a:gridCol w="2263140">
                  <a:extLst>
                    <a:ext uri="{9D8B030D-6E8A-4147-A177-3AD203B41FA5}">
                      <a16:colId xmlns:a16="http://schemas.microsoft.com/office/drawing/2014/main" val="4089994865"/>
                    </a:ext>
                  </a:extLst>
                </a:gridCol>
                <a:gridCol w="2263140">
                  <a:extLst>
                    <a:ext uri="{9D8B030D-6E8A-4147-A177-3AD203B41FA5}">
                      <a16:colId xmlns:a16="http://schemas.microsoft.com/office/drawing/2014/main" val="3173410739"/>
                    </a:ext>
                  </a:extLst>
                </a:gridCol>
                <a:gridCol w="2263140">
                  <a:extLst>
                    <a:ext uri="{9D8B030D-6E8A-4147-A177-3AD203B41FA5}">
                      <a16:colId xmlns:a16="http://schemas.microsoft.com/office/drawing/2014/main" val="3855841950"/>
                    </a:ext>
                  </a:extLst>
                </a:gridCol>
              </a:tblGrid>
              <a:tr h="902758">
                <a:tc>
                  <a:txBody>
                    <a:bodyPr/>
                    <a:lstStyle/>
                    <a:p>
                      <a:pPr marL="0" marR="0" algn="ctr">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Type de Cluster</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Tous actifs ?</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Haute disponibilité</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Répartition de charge</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Utilisation</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738902111"/>
                  </a:ext>
                </a:extLst>
              </a:tr>
              <a:tr h="902758">
                <a:tc>
                  <a:txBody>
                    <a:bodyPr/>
                    <a:lstStyle/>
                    <a:p>
                      <a:pPr marL="0" marR="0">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Active-Passive</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Non</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Oui</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Non</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Pannes critiques</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296359386"/>
                  </a:ext>
                </a:extLst>
              </a:tr>
              <a:tr h="902758">
                <a:tc>
                  <a:txBody>
                    <a:bodyPr/>
                    <a:lstStyle/>
                    <a:p>
                      <a:pPr marL="0" marR="0">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Active-Active</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Oui</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Oui</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Oui</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Performance &amp; disponibilité</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342507592"/>
                  </a:ext>
                </a:extLst>
              </a:tr>
              <a:tr h="902758">
                <a:tc>
                  <a:txBody>
                    <a:bodyPr/>
                    <a:lstStyle/>
                    <a:p>
                      <a:pPr marL="0" marR="0">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Load Balancing Cluster</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Oui</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Oui</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si</a:t>
                      </a: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redondant</a:t>
                      </a:r>
                      <a:r>
                        <a:rPr lang="en-US" sz="2400" dirty="0">
                          <a:effectLst/>
                          <a:latin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Oui</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Sites web, APIs</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113100449"/>
                  </a:ext>
                </a:extLst>
              </a:tr>
              <a:tr h="902758">
                <a:tc>
                  <a:txBody>
                    <a:bodyPr/>
                    <a:lstStyle/>
                    <a:p>
                      <a:pPr marL="0" marR="0">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Failover Cluster</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(failover)</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cs typeface="Times New Roman" panose="02020603050405020304" pitchFamily="18" charset="0"/>
                        </a:rPr>
                        <a:t>Très</a:t>
                      </a:r>
                      <a:r>
                        <a:rPr lang="en-US" sz="2400" dirty="0">
                          <a:effectLst/>
                          <a:latin typeface="Times New Roman" panose="02020603050405020304" pitchFamily="18" charset="0"/>
                          <a:cs typeface="Times New Roman" panose="02020603050405020304" pitchFamily="18" charset="0"/>
                        </a:rPr>
                        <a:t> haute</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Non</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Bases de données</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575145181"/>
                  </a:ext>
                </a:extLst>
              </a:tr>
              <a:tr h="902758">
                <a:tc>
                  <a:txBody>
                    <a:bodyPr/>
                    <a:lstStyle/>
                    <a:p>
                      <a:pPr marL="0" marR="0">
                        <a:lnSpc>
                          <a:spcPct val="107000"/>
                        </a:lnSpc>
                        <a:spcBef>
                          <a:spcPts val="0"/>
                        </a:spcBef>
                        <a:spcAft>
                          <a:spcPts val="0"/>
                        </a:spcAft>
                      </a:pPr>
                      <a:r>
                        <a:rPr lang="en-US" sz="2400">
                          <a:effectLst/>
                          <a:latin typeface="Times New Roman" panose="02020603050405020304" pitchFamily="18" charset="0"/>
                          <a:cs typeface="Times New Roman" panose="02020603050405020304" pitchFamily="18" charset="0"/>
                        </a:rPr>
                        <a:t>Grid Cluster</a:t>
                      </a:r>
                      <a:endParaRPr lang="en-US" sz="240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err="1">
                          <a:effectLst/>
                          <a:latin typeface="Times New Roman" panose="02020603050405020304" pitchFamily="18" charset="0"/>
                          <a:cs typeface="Times New Roman" panose="02020603050405020304" pitchFamily="18" charset="0"/>
                        </a:rPr>
                        <a:t>Oui</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a:effectLst/>
                          <a:latin typeface="Times New Roman" panose="02020603050405020304" pitchFamily="18" charset="0"/>
                          <a:cs typeface="Times New Roman" panose="02020603050405020304" pitchFamily="18" charset="0"/>
                        </a:rPr>
                        <a:t> Non (</a:t>
                      </a:r>
                      <a:r>
                        <a:rPr lang="en-US" sz="2400" dirty="0" err="1">
                          <a:effectLst/>
                          <a:latin typeface="Times New Roman" panose="02020603050405020304" pitchFamily="18" charset="0"/>
                          <a:cs typeface="Times New Roman" panose="02020603050405020304" pitchFamily="18" charset="0"/>
                        </a:rPr>
                        <a:t>souvent</a:t>
                      </a:r>
                      <a:r>
                        <a:rPr lang="en-US" sz="2400" dirty="0">
                          <a:effectLst/>
                          <a:latin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err="1">
                          <a:effectLst/>
                          <a:latin typeface="Times New Roman" panose="02020603050405020304" pitchFamily="18" charset="0"/>
                          <a:cs typeface="Times New Roman" panose="02020603050405020304" pitchFamily="18" charset="0"/>
                        </a:rPr>
                        <a:t>Oui</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2400" dirty="0" err="1">
                          <a:effectLst/>
                          <a:latin typeface="Times New Roman" panose="02020603050405020304" pitchFamily="18" charset="0"/>
                          <a:cs typeface="Times New Roman" panose="02020603050405020304" pitchFamily="18" charset="0"/>
                        </a:rPr>
                        <a:t>Calculs</a:t>
                      </a:r>
                      <a:r>
                        <a:rPr lang="en-US" sz="2400" dirty="0">
                          <a:effectLst/>
                          <a:latin typeface="Times New Roman" panose="02020603050405020304" pitchFamily="18" charset="0"/>
                          <a:cs typeface="Times New Roman" panose="02020603050405020304" pitchFamily="18" charset="0"/>
                        </a:rPr>
                        <a:t> complexes</a:t>
                      </a:r>
                      <a:endParaRPr lang="en-US" sz="24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23001993"/>
                  </a:ext>
                </a:extLst>
              </a:tr>
            </a:tbl>
          </a:graphicData>
        </a:graphic>
      </p:graphicFrame>
      <p:sp>
        <p:nvSpPr>
          <p:cNvPr id="3" name="Footer Placeholder 2">
            <a:extLst>
              <a:ext uri="{FF2B5EF4-FFF2-40B4-BE49-F238E27FC236}">
                <a16:creationId xmlns:a16="http://schemas.microsoft.com/office/drawing/2014/main" id="{3EE4154C-607F-4E5D-802C-254571F792A5}"/>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103005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099E5-0E6E-46AA-B358-D1202F950009}"/>
              </a:ext>
            </a:extLst>
          </p:cNvPr>
          <p:cNvSpPr>
            <a:spLocks noGrp="1"/>
          </p:cNvSpPr>
          <p:nvPr>
            <p:ph type="ctrTitle"/>
          </p:nvPr>
        </p:nvSpPr>
        <p:spPr>
          <a:xfrm>
            <a:off x="1524000" y="152400"/>
            <a:ext cx="9144000" cy="676275"/>
          </a:xfrm>
        </p:spPr>
        <p:txBody>
          <a:bodyPr>
            <a:normAutofit/>
          </a:bodyPr>
          <a:lstStyle/>
          <a:p>
            <a:r>
              <a:rPr lang="en-US" sz="4000" dirty="0">
                <a:latin typeface="Times New Roman" panose="02020603050405020304" pitchFamily="18" charset="0"/>
                <a:cs typeface="Times New Roman" panose="02020603050405020304" pitchFamily="18" charset="0"/>
              </a:rPr>
              <a:t>QCM</a:t>
            </a:r>
          </a:p>
        </p:txBody>
      </p:sp>
      <p:sp>
        <p:nvSpPr>
          <p:cNvPr id="3" name="Subtitle 2">
            <a:extLst>
              <a:ext uri="{FF2B5EF4-FFF2-40B4-BE49-F238E27FC236}">
                <a16:creationId xmlns:a16="http://schemas.microsoft.com/office/drawing/2014/main" id="{79844524-DD6D-4AE8-9DDF-7A0E0C2E0AE0}"/>
              </a:ext>
            </a:extLst>
          </p:cNvPr>
          <p:cNvSpPr>
            <a:spLocks noGrp="1"/>
          </p:cNvSpPr>
          <p:nvPr>
            <p:ph type="subTitle" idx="1"/>
          </p:nvPr>
        </p:nvSpPr>
        <p:spPr>
          <a:xfrm>
            <a:off x="1524000" y="1162049"/>
            <a:ext cx="9144000" cy="5305425"/>
          </a:xfrm>
        </p:spPr>
        <p:txBody>
          <a:bodyPr/>
          <a:lstStyle/>
          <a:p>
            <a:endParaRPr lang="en-US" dirty="0"/>
          </a:p>
        </p:txBody>
      </p:sp>
      <p:sp>
        <p:nvSpPr>
          <p:cNvPr id="4" name="Footer Placeholder 3">
            <a:extLst>
              <a:ext uri="{FF2B5EF4-FFF2-40B4-BE49-F238E27FC236}">
                <a16:creationId xmlns:a16="http://schemas.microsoft.com/office/drawing/2014/main" id="{2ADB4EA4-C494-47DE-A435-5912871C4DA9}"/>
              </a:ext>
            </a:extLst>
          </p:cNvPr>
          <p:cNvSpPr>
            <a:spLocks noGrp="1"/>
          </p:cNvSpPr>
          <p:nvPr>
            <p:ph type="ftr" sz="quarter" idx="11"/>
          </p:nvPr>
        </p:nvSpPr>
        <p:spPr/>
        <p:txBody>
          <a:bodyPr/>
          <a:lstStyle/>
          <a:p>
            <a:r>
              <a:rPr lang="en-US"/>
              <a:t>BOUKLINAM ABALO</a:t>
            </a:r>
          </a:p>
        </p:txBody>
      </p:sp>
    </p:spTree>
    <p:extLst>
      <p:ext uri="{BB962C8B-B14F-4D97-AF65-F5344CB8AC3E}">
        <p14:creationId xmlns:p14="http://schemas.microsoft.com/office/powerpoint/2010/main" val="19457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708</TotalTime>
  <Words>1147</Words>
  <Application>Microsoft Office PowerPoint</Application>
  <PresentationFormat>Widescreen</PresentationFormat>
  <Paragraphs>189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DengXian</vt:lpstr>
      <vt:lpstr>Arial</vt:lpstr>
      <vt:lpstr>Calibri</vt:lpstr>
      <vt:lpstr>Calibri Light</vt:lpstr>
      <vt:lpstr>Times New Roman</vt:lpstr>
      <vt:lpstr>Wingdings</vt:lpstr>
      <vt:lpstr>Office Theme</vt:lpstr>
      <vt:lpstr>Haute disponibilité et reprise après sinistre en environnement virtualisé </vt:lpstr>
      <vt:lpstr>Haute disponibilité</vt:lpstr>
      <vt:lpstr>Haute disponibilité</vt:lpstr>
      <vt:lpstr>Redondance </vt:lpstr>
      <vt:lpstr>Basculement automatique (Failover) </vt:lpstr>
      <vt:lpstr>Supervision (Monitoring) </vt:lpstr>
      <vt:lpstr>Exemple  </vt:lpstr>
      <vt:lpstr>virtualisation </vt:lpstr>
      <vt:lpstr>Le clustering</vt:lpstr>
      <vt:lpstr>Application</vt:lpstr>
      <vt:lpstr>Principaux types de clustering </vt:lpstr>
      <vt:lpstr>Avantages &amp; inconvenients</vt:lpstr>
      <vt:lpstr>Cluster Active-Active </vt:lpstr>
      <vt:lpstr>Avantages &amp; inconvenients</vt:lpstr>
      <vt:lpstr>Load Balancing Cluster (Cluster de répartition de charge) </vt:lpstr>
      <vt:lpstr>Avantages &amp; inconvenients</vt:lpstr>
      <vt:lpstr>Failover Cluster (Cluster de basculement) </vt:lpstr>
      <vt:lpstr>Avantages &amp; inconvenients</vt:lpstr>
      <vt:lpstr>Grid Cluster / Compute Cluster </vt:lpstr>
      <vt:lpstr>Tableau récapitulatif</vt:lpstr>
      <vt:lpstr>QCM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20</cp:revision>
  <dcterms:created xsi:type="dcterms:W3CDTF">2025-05-11T18:08:32Z</dcterms:created>
  <dcterms:modified xsi:type="dcterms:W3CDTF">2025-06-24T11:15:35Z</dcterms:modified>
</cp:coreProperties>
</file>