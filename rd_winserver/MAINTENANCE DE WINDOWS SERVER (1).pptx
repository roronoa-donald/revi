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6" r:id="rId8"/>
    <p:sldId id="264" r:id="rId9"/>
    <p:sldId id="265" r:id="rId10"/>
    <p:sldId id="267" r:id="rId11"/>
    <p:sldId id="270" r:id="rId12"/>
    <p:sldId id="269" r:id="rId13"/>
    <p:sldId id="268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5E218-2BB8-45D5-A35D-7DBD20FD35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F93F0-4A6F-430C-889D-61BEDD218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D631E-91C7-411B-BCB3-215BD3023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9497-E409-4AD4-BC5A-16C100F0EEB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2A561-B652-4DE9-AC65-B7D4D0FE7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D37AD-936A-4333-9418-8784A9CD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3ADD-4548-4605-8290-CE063302A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709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9EE3E-5F9F-4F52-B1AE-BAC71C69B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29884-96FE-4764-B209-48598ABF9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050FB-3E0E-4172-AE33-05BA323AF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9497-E409-4AD4-BC5A-16C100F0EEB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D00F8-BBC0-46D1-8352-02BB04A5B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F2D-A7BF-48C4-9DD0-C6CD71B46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3ADD-4548-4605-8290-CE063302A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65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8802-B86F-4E9A-A745-06BE6B53B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45F64-7694-4920-9365-4715FD547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DBC15-CDC8-4CCB-8318-E696EF13B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9497-E409-4AD4-BC5A-16C100F0EEB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A51CA-AD23-4F31-BCA8-CA48903A7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6EDE5-6E09-4E31-8DA1-BA1AABA46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3ADD-4548-4605-8290-CE063302A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722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2042F-79CD-429C-BDAC-9CA91A837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74C2F-E1F4-4DB7-ABE2-7F4821D5BE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0F12F-8A5B-4C7A-8DDF-BDDD106C0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11AB2-9170-4C65-B40D-D5B11369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9497-E409-4AD4-BC5A-16C100F0EEB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618FD-CBD2-412F-BB4D-69C21FD20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7D233-DED6-4EDC-A9ED-2B8474476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3ADD-4548-4605-8290-CE063302A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28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89375-6750-4D42-A953-5EB649577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D8B50-7B7C-4920-9B71-6FF015D5D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F0F265-22B8-4849-A7C2-A538ABD90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BD56D1-D6FF-4EEE-B08D-FA118AFCC9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F388BD-5929-489D-BBD7-4B03F0916F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2519D2-652A-4670-A661-F0E1441E3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9497-E409-4AD4-BC5A-16C100F0EEB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6ABAFF-672F-4480-8E28-7B7779F91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61C9CD-B040-4B4E-A599-47CC427D2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3ADD-4548-4605-8290-CE063302A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902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C5596-A012-4938-83A1-5189F7296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0D3A62-7283-4128-BF7E-2AD2EF10B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9497-E409-4AD4-BC5A-16C100F0EEB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9E5E7-4F23-4A82-BA04-DF3B10FE5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6A7213-D5F1-42BB-BC5E-37070A7CD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3ADD-4548-4605-8290-CE063302A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019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C498C-7036-4583-A2E2-03C25F6C3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9497-E409-4AD4-BC5A-16C100F0EEB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2A2401-6662-4127-A5F5-9FAFAB86E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CE1E7-46AD-4929-A111-9DDC32AFA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3ADD-4548-4605-8290-CE063302A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958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DC945-DE29-4C55-9196-9B7D0936F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8107B-6142-47CB-9CD9-9DAEBEAEB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BD8A2F-4FAE-44E4-B25E-486618AAE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83535-0806-4335-B0B3-B952EB46A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9497-E409-4AD4-BC5A-16C100F0EEB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14157-D00B-4618-93E4-D565F51A0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F4052-6745-48BA-8B88-F07F612AD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3ADD-4548-4605-8290-CE063302A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92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C48ED-403C-473D-9202-AB4802844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77205D-3EE8-4640-8C0F-18B066653B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E2181-824C-4E24-B8CD-675BA4902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8C3F4-5CA1-4377-8070-63CCFE6FA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9497-E409-4AD4-BC5A-16C100F0EEB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22701-BAFB-4F64-B3C0-A61CC7308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C8C42-E629-4D2A-BFE9-7F0013F11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3ADD-4548-4605-8290-CE063302A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EB3C5-C552-4ABA-A7C4-5A75375A2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C0DE51-874B-4BD7-9D03-117A9179E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9C202-11C8-4A8D-BA0F-57B6B44CB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9497-E409-4AD4-BC5A-16C100F0EEB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16717-BB93-447C-8728-4821646A8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29B18-3C75-433A-A2C4-B84B36FF5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3ADD-4548-4605-8290-CE063302A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43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71CB11-D513-402C-A7E3-B0DA0C6A19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372A13-DE23-426F-894F-D31644A3B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0D9F3-0AC5-47CE-9B57-E9E756B1F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19497-E409-4AD4-BC5A-16C100F0EEB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D2CD5-6311-438C-AFCF-437BA8A53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4CB16-BBD1-40E4-8F68-D9BFA6CA2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13ADD-4548-4605-8290-CE063302A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828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63BB59-49C4-4A6D-8D2D-FBC9DFD59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FDA20-C4E3-4D2C-8243-E3C8FA08D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14CBB-5146-40CD-93D9-F135AC5F5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19497-E409-4AD4-BC5A-16C100F0EEB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541A-85BF-4174-A434-A978DFA4E4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4DD82-2866-4EC2-945F-EAEA8C3398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13ADD-4548-4605-8290-CE063302A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5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51DF8-3A97-432F-B839-0A93F49E2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8225" y="295275"/>
            <a:ext cx="9629775" cy="8001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DE WINDOWS SERVER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BB1C09-ADBF-43DD-BC42-1333F98C24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81125"/>
            <a:ext cx="9144000" cy="466725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maintenance de Windows Server regroupe l’ensemble des actions permettant de garantir la disponibilité, la performance, la sécurité et la continuité de service des serveurs d’une organisation.</a:t>
            </a:r>
            <a:b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inclut : la surveillance, les mises à jour, la gestion des rôles, le dépannage, la sauvegarde, la sécurité et la documentation.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007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BB5EA-F0C3-4A3A-899C-F89FD75A1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4013"/>
            <a:ext cx="9144000" cy="1408112"/>
          </a:xfrm>
        </p:spPr>
        <p:txBody>
          <a:bodyPr>
            <a:normAutofit fontScale="90000"/>
          </a:bodyPr>
          <a:lstStyle/>
          <a:p>
            <a:r>
              <a:rPr lang="fr-F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PRÉVENTIVE</a:t>
            </a:r>
            <a:br>
              <a:rPr lang="fr-FR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0F1F88-0D8B-468B-BB37-75124883A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7749" y="1228725"/>
            <a:ext cx="10220325" cy="512445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maintenance préventive consiste à exécuter régulièrement des actions destinées à éviter l’apparition de pannes, minimiser les risques, et anticiper les incidents.</a:t>
            </a:r>
          </a:p>
          <a:p>
            <a:pPr algn="just">
              <a:lnSpc>
                <a:spcPct val="15000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Objectifs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Réduire les interruptions de service.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Garantir la sécurité du serveur.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Optimiser les performances.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Prévenir la dégradation matérielle ou logicielle.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70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2D278-5946-4914-897F-6AFB1AF8D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9551"/>
            <a:ext cx="9144000" cy="1457324"/>
          </a:xfrm>
        </p:spPr>
        <p:txBody>
          <a:bodyPr>
            <a:normAutofit fontScale="90000"/>
          </a:bodyPr>
          <a:lstStyle/>
          <a:p>
            <a: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 de Maintenance Préventive</a:t>
            </a:r>
            <a:br>
              <a:rPr lang="fr-FR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A01078-1DB6-4DF5-B884-FDE616F92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3875" y="1133475"/>
            <a:ext cx="11020425" cy="50292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Vérification et Installation des mises à jour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Update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patchs de sécurité, corrections de bugs.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Mises à jour des drivers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BIOS,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firmware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(surtout ceux des cartes réseau, stockage).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Bons procédés :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Tester sur serveur de préproduction.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Prendre un snapshot de la VM avant mise à jour.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Programmer après les heures de production.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873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2D278-5946-4914-897F-6AFB1AF8D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9552"/>
            <a:ext cx="9144000" cy="657224"/>
          </a:xfrm>
        </p:spPr>
        <p:txBody>
          <a:bodyPr>
            <a:normAutofit fontScale="90000"/>
          </a:bodyPr>
          <a:lstStyle/>
          <a:p>
            <a:b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4400" dirty="0"/>
              <a:t>:</a:t>
            </a:r>
            <a:br>
              <a:rPr lang="fr-FR" sz="4400" dirty="0"/>
            </a:br>
            <a:br>
              <a:rPr lang="fr-FR" b="1" dirty="0"/>
            </a:br>
            <a: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Surveillance de l’état du système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A01078-1DB6-4DF5-B884-FDE616F92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3875" y="866776"/>
            <a:ext cx="11020425" cy="529589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Éléments à vérifier régulièrement</a:t>
            </a:r>
          </a:p>
          <a:p>
            <a:pPr algn="just">
              <a:lnSpc>
                <a:spcPct val="15000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8DACF2-A875-451C-AFE3-6CF165905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315357"/>
              </p:ext>
            </p:extLst>
          </p:nvPr>
        </p:nvGraphicFramePr>
        <p:xfrm>
          <a:off x="647701" y="1524000"/>
          <a:ext cx="11020425" cy="51244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3475">
                  <a:extLst>
                    <a:ext uri="{9D8B030D-6E8A-4147-A177-3AD203B41FA5}">
                      <a16:colId xmlns:a16="http://schemas.microsoft.com/office/drawing/2014/main" val="1389896279"/>
                    </a:ext>
                  </a:extLst>
                </a:gridCol>
                <a:gridCol w="3673475">
                  <a:extLst>
                    <a:ext uri="{9D8B030D-6E8A-4147-A177-3AD203B41FA5}">
                      <a16:colId xmlns:a16="http://schemas.microsoft.com/office/drawing/2014/main" val="541796445"/>
                    </a:ext>
                  </a:extLst>
                </a:gridCol>
                <a:gridCol w="3673475">
                  <a:extLst>
                    <a:ext uri="{9D8B030D-6E8A-4147-A177-3AD203B41FA5}">
                      <a16:colId xmlns:a16="http://schemas.microsoft.com/office/drawing/2014/main" val="1479182122"/>
                    </a:ext>
                  </a:extLst>
                </a:gridCol>
              </a:tblGrid>
              <a:tr h="569383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Élément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Objectifs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346325"/>
                  </a:ext>
                </a:extLst>
              </a:tr>
              <a:tr h="1024890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 &amp; RAM</a:t>
                      </a:r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Manager, Resource Monitor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Détecter surutilisation ou fuite mémoire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319456"/>
                  </a:ext>
                </a:extLst>
              </a:tr>
              <a:tr h="1480396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Disque</a:t>
                      </a:r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Monitor, Disk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Prévoir ajout de stockage, détecter secteurs défectueux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471025"/>
                  </a:ext>
                </a:extLst>
              </a:tr>
              <a:tr h="1024890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Réseau</a:t>
                      </a:r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netstat, ping, Wireshark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Vérifier bande passante, latence, ports ouverts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8180938"/>
                  </a:ext>
                </a:extLst>
              </a:tr>
              <a:tr h="1024890">
                <a:tc>
                  <a:txBody>
                    <a:bodyPr/>
                    <a:lstStyle/>
                    <a:p>
                      <a:r>
                        <a:rPr lang="en-US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Logs système</a:t>
                      </a:r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 Viewer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Détecter erreurs, anomalies ou alertes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9212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1681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6FAB2-006B-4E7D-9C2B-2299976F8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7650"/>
            <a:ext cx="9144000" cy="1152525"/>
          </a:xfrm>
        </p:spPr>
        <p:txBody>
          <a:bodyPr>
            <a:normAutofit fontScale="90000"/>
          </a:bodyPr>
          <a:lstStyle/>
          <a:p>
            <a:r>
              <a:rPr lang="fr-F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Vérification des sauvegardes</a:t>
            </a:r>
            <a:br>
              <a:rPr lang="fr-F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FA0B77-BDDC-4228-B55D-FD88DB5B3F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0674" y="1133475"/>
            <a:ext cx="9077325" cy="5181600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Vérifier que les sauvegardes ont bien été exécutées.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Tester régulièrement la restauration.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Vérifier l’espace sur les cibles de sauvegarde.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S’assurer que 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 est sauvegardé.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VM sont exportées ou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snappées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régulièrement.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076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1F549-8331-49B9-B15E-695DF3358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85726"/>
            <a:ext cx="9144000" cy="1628775"/>
          </a:xfrm>
        </p:spPr>
        <p:txBody>
          <a:bodyPr>
            <a:normAutofit/>
          </a:bodyPr>
          <a:lstStyle/>
          <a:p>
            <a: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Contrôle de la sécurité</a:t>
            </a:r>
            <a:br>
              <a:rPr lang="fr-FR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5D0BC7-F2A2-4719-9BD1-A7D013B91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43049"/>
            <a:ext cx="9144000" cy="4829175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Vérifier les comptes inactifs et les désactiver.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Réviser les appartenances aux groupes sensibles (Domain Admins).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Vérifier les règles de pare-feu.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Mettre à jour l’antivirus et appliquer les correctifs.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Contrôler les tentatives d’intrusions dans les logs de sécurité.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631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0F4E1-7310-4B52-BECB-F2A9FE6BE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5725"/>
            <a:ext cx="10515600" cy="823913"/>
          </a:xfrm>
        </p:spPr>
        <p:txBody>
          <a:bodyPr>
            <a:normAutofit/>
          </a:bodyPr>
          <a:lstStyle/>
          <a:p>
            <a:pPr algn="ctr"/>
            <a:r>
              <a:rPr lang="fr-F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Vérification du matériel</a:t>
            </a:r>
            <a:endParaRPr lang="en-US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3C88D-9005-4D7A-A4C9-0569C316A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990601"/>
            <a:ext cx="5157787" cy="1123950"/>
          </a:xfrm>
        </p:spPr>
        <p:txBody>
          <a:bodyPr>
            <a:normAutofit fontScale="92500"/>
          </a:bodyPr>
          <a:lstStyle/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effectuer sur les serveurs physiques 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3F0BB9-D8CA-4FFA-B4BB-17F8B3E73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724026"/>
            <a:ext cx="5157787" cy="4768850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Température processeur.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Fonctionnement ventilateurs.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État des disques (SMART).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Alimentation redondante OK.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7C6475-C53D-4049-8D7D-DD419BF798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990600"/>
            <a:ext cx="5183188" cy="1257300"/>
          </a:xfrm>
        </p:spPr>
        <p:txBody>
          <a:bodyPr>
            <a:normAutofit fontScale="92500"/>
          </a:bodyPr>
          <a:lstStyle/>
          <a:p>
            <a:r>
              <a:rPr lang="en-US" altLang="en-US" sz="2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Seuils</a:t>
            </a:r>
            <a:r>
              <a:rPr lang="en-US" alt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recommandés</a:t>
            </a:r>
            <a:r>
              <a:rPr lang="en-US" alt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altLang="en-US" sz="28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température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B01142A-18BC-46E3-ABBF-54F94FADC023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538189001"/>
              </p:ext>
            </p:extLst>
          </p:nvPr>
        </p:nvGraphicFramePr>
        <p:xfrm>
          <a:off x="6172199" y="1847850"/>
          <a:ext cx="5724524" cy="46450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62262">
                  <a:extLst>
                    <a:ext uri="{9D8B030D-6E8A-4147-A177-3AD203B41FA5}">
                      <a16:colId xmlns:a16="http://schemas.microsoft.com/office/drawing/2014/main" val="1338790321"/>
                    </a:ext>
                  </a:extLst>
                </a:gridCol>
                <a:gridCol w="2862262">
                  <a:extLst>
                    <a:ext uri="{9D8B030D-6E8A-4147-A177-3AD203B41FA5}">
                      <a16:colId xmlns:a16="http://schemas.microsoft.com/office/drawing/2014/main" val="2094750709"/>
                    </a:ext>
                  </a:extLst>
                </a:gridCol>
              </a:tblGrid>
              <a:tr h="9290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État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95" marR="4695" marT="4695" marB="469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Température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95" marR="4695" marT="4695" marB="4695" anchor="ctr"/>
                </a:tc>
                <a:extLst>
                  <a:ext uri="{0D108BD9-81ED-4DB2-BD59-A6C34878D82A}">
                    <a16:rowId xmlns:a16="http://schemas.microsoft.com/office/drawing/2014/main" val="3289310012"/>
                  </a:ext>
                </a:extLst>
              </a:tr>
              <a:tr h="9290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Normal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95" marR="4695" marT="4695" marB="469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30–60°C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95" marR="4695" marT="4695" marB="4695" anchor="ctr"/>
                </a:tc>
                <a:extLst>
                  <a:ext uri="{0D108BD9-81ED-4DB2-BD59-A6C34878D82A}">
                    <a16:rowId xmlns:a16="http://schemas.microsoft.com/office/drawing/2014/main" val="547226637"/>
                  </a:ext>
                </a:extLst>
              </a:tr>
              <a:tr h="9290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Chaud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95" marR="4695" marT="4695" marB="469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60–80°C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95" marR="4695" marT="4695" marB="4695" anchor="ctr"/>
                </a:tc>
                <a:extLst>
                  <a:ext uri="{0D108BD9-81ED-4DB2-BD59-A6C34878D82A}">
                    <a16:rowId xmlns:a16="http://schemas.microsoft.com/office/drawing/2014/main" val="4289092483"/>
                  </a:ext>
                </a:extLst>
              </a:tr>
              <a:tr h="9290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Danger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95" marR="4695" marT="4695" marB="469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 85°C (risque d’arrêt brutal / </a:t>
                      </a:r>
                      <a:r>
                        <a:rPr lang="fr-FR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throttle</a:t>
                      </a:r>
                      <a:r>
                        <a:rPr lang="fr-F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95" marR="4695" marT="4695" marB="4695" anchor="ctr"/>
                </a:tc>
                <a:extLst>
                  <a:ext uri="{0D108BD9-81ED-4DB2-BD59-A6C34878D82A}">
                    <a16:rowId xmlns:a16="http://schemas.microsoft.com/office/drawing/2014/main" val="1988048507"/>
                  </a:ext>
                </a:extLst>
              </a:tr>
              <a:tr h="9290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Critique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95" marR="4695" marT="4695" marB="469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 95°C (risque de dommage matériel)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95" marR="4695" marT="4695" marB="4695" anchor="ctr"/>
                </a:tc>
                <a:extLst>
                  <a:ext uri="{0D108BD9-81ED-4DB2-BD59-A6C34878D82A}">
                    <a16:rowId xmlns:a16="http://schemas.microsoft.com/office/drawing/2014/main" val="3592835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8050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1F549-8331-49B9-B15E-695DF3358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9239"/>
            <a:ext cx="9144000" cy="884236"/>
          </a:xfrm>
        </p:spPr>
        <p:txBody>
          <a:bodyPr>
            <a:noAutofit/>
          </a:bodyPr>
          <a:lstStyle/>
          <a:p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 de planning mensuel de maintenance préventive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6DF226-4255-405E-A720-A407671B64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832396"/>
              </p:ext>
            </p:extLst>
          </p:nvPr>
        </p:nvGraphicFramePr>
        <p:xfrm>
          <a:off x="752475" y="1600201"/>
          <a:ext cx="10725150" cy="43910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62575">
                  <a:extLst>
                    <a:ext uri="{9D8B030D-6E8A-4147-A177-3AD203B41FA5}">
                      <a16:colId xmlns:a16="http://schemas.microsoft.com/office/drawing/2014/main" val="2852065378"/>
                    </a:ext>
                  </a:extLst>
                </a:gridCol>
                <a:gridCol w="5362575">
                  <a:extLst>
                    <a:ext uri="{9D8B030D-6E8A-4147-A177-3AD203B41FA5}">
                      <a16:colId xmlns:a16="http://schemas.microsoft.com/office/drawing/2014/main" val="2335544579"/>
                    </a:ext>
                  </a:extLst>
                </a:gridCol>
              </a:tblGrid>
              <a:tr h="8782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Fréquence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89919612"/>
                  </a:ext>
                </a:extLst>
              </a:tr>
              <a:tr h="8782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Hebdomadaire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Analyse logs, vérification CPU/RAM/disque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72118315"/>
                  </a:ext>
                </a:extLst>
              </a:tr>
              <a:tr h="8782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Mensuelle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Nettoyage disque, test sauvegarde, patchs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23094189"/>
                  </a:ext>
                </a:extLst>
              </a:tr>
              <a:tr h="8782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Trimestrielle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Mise à jour </a:t>
                      </a:r>
                      <a:r>
                        <a:rPr lang="fr-FR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firmware</a:t>
                      </a:r>
                      <a:r>
                        <a:rPr lang="fr-FR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test PRA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27092757"/>
                  </a:ext>
                </a:extLst>
              </a:tr>
              <a:tr h="87820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Annuelle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Audit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sécurité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documentation </a:t>
                      </a:r>
                      <a:r>
                        <a:rPr lang="en-US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complète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87381529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EB679675-6D8B-47BA-9ED0-78BFF9C9957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52501" y="1133476"/>
            <a:ext cx="8729870" cy="523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341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1F549-8331-49B9-B15E-695DF3358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9239"/>
            <a:ext cx="9144000" cy="884236"/>
          </a:xfrm>
        </p:spPr>
        <p:txBody>
          <a:bodyPr>
            <a:normAutofit fontScale="90000"/>
          </a:bodyPr>
          <a:lstStyle/>
          <a:p>
            <a:br>
              <a:rPr lang="fr-FR" b="1" dirty="0"/>
            </a:br>
            <a: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CORRECTIVE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5D0BC7-F2A2-4719-9BD1-A7D013B910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43049"/>
            <a:ext cx="9144000" cy="482917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maintenance corrective intervient lorsqu’une panne, un incident ou un dysfonctionnement apparaît.</a:t>
            </a:r>
          </a:p>
          <a:p>
            <a:pPr algn="just">
              <a:lnSpc>
                <a:spcPct val="15000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Objectifs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Restaurer le service dans les meilleurs délais.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Identifier la cause du problème.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Apporter un correctif durable.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7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46AEB-D87F-4609-A814-F22ABB9FC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0051"/>
            <a:ext cx="9144000" cy="1314450"/>
          </a:xfrm>
        </p:spPr>
        <p:txBody>
          <a:bodyPr>
            <a:normAutofit fontScale="90000"/>
          </a:bodyPr>
          <a:lstStyle/>
          <a:p>
            <a: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de </a:t>
            </a:r>
            <a:r>
              <a:rPr lang="en-US" alt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problèmes</a:t>
            </a:r>
            <a: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à </a:t>
            </a:r>
            <a:r>
              <a:rPr lang="en-US" altLang="en-U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corriger</a:t>
            </a:r>
            <a:br>
              <a:rPr lang="en-US" altLang="en-US" b="1" dirty="0"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521626-03E0-4AA8-A3C7-5D8CAF93C4D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90675" y="1567282"/>
            <a:ext cx="894397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Panne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service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 DS ne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démarre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plus.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DNS ne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répond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plus.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DHCP ne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distribue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plus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d’IP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Actions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Redémarrer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 service (Restart-Service).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Corriger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fichier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 configuration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corrompue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005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46AEB-D87F-4609-A814-F22ABB9FC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1"/>
            <a:ext cx="9144000" cy="628649"/>
          </a:xfrm>
        </p:spPr>
        <p:txBody>
          <a:bodyPr>
            <a:normAutofit fontScale="90000"/>
          </a:bodyPr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de </a:t>
            </a:r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problèmes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à </a:t>
            </a:r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corriger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C664D8-2320-4A4C-ADDD-89625970E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0674" y="885825"/>
            <a:ext cx="9077325" cy="5362575"/>
          </a:xfrm>
        </p:spPr>
        <p:txBody>
          <a:bodyPr>
            <a:normAutofit fontScale="92500" lnSpcReduction="10000"/>
          </a:bodyPr>
          <a:lstStyle/>
          <a:p>
            <a:pPr algn="l">
              <a:lnSpc>
                <a:spcPct val="150000"/>
              </a:lnSpc>
            </a:pPr>
            <a:r>
              <a:rPr lang="fr-F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Problèmes de performance</a:t>
            </a:r>
          </a:p>
          <a:p>
            <a:pPr algn="l">
              <a:lnSpc>
                <a:spcPct val="150000"/>
              </a:lnSpc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utilisé à 100 %</a:t>
            </a:r>
          </a:p>
          <a:p>
            <a:pPr algn="l">
              <a:lnSpc>
                <a:spcPct val="150000"/>
              </a:lnSpc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saturée</a:t>
            </a:r>
          </a:p>
          <a:p>
            <a:pPr algn="l">
              <a:lnSpc>
                <a:spcPct val="150000"/>
              </a:lnSpc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Disque plein</a:t>
            </a:r>
          </a:p>
          <a:p>
            <a:pPr algn="l">
              <a:lnSpc>
                <a:spcPct val="150000"/>
              </a:lnSpc>
            </a:pPr>
            <a:r>
              <a:rPr lang="fr-F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</a:p>
          <a:p>
            <a:pPr algn="l">
              <a:lnSpc>
                <a:spcPct val="150000"/>
              </a:lnSpc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Stopper processus anormal.</a:t>
            </a:r>
          </a:p>
          <a:p>
            <a:pPr algn="l">
              <a:lnSpc>
                <a:spcPct val="150000"/>
              </a:lnSpc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Ajouter de la RAM ou étendre le disque.</a:t>
            </a:r>
          </a:p>
          <a:p>
            <a:pPr algn="l">
              <a:lnSpc>
                <a:spcPct val="150000"/>
              </a:lnSpc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Optimiser les services.</a:t>
            </a:r>
          </a:p>
          <a:p>
            <a:endParaRPr lang="fr-F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462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46AEB-D87F-4609-A814-F22ABB9FC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0051"/>
            <a:ext cx="9144000" cy="723899"/>
          </a:xfrm>
        </p:spPr>
        <p:txBody>
          <a:bodyPr>
            <a:normAutofit/>
          </a:bodyPr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de </a:t>
            </a:r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problèmes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à </a:t>
            </a:r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corriger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C664D8-2320-4A4C-ADDD-89625970E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0674" y="1257300"/>
            <a:ext cx="10058401" cy="5372099"/>
          </a:xfrm>
        </p:spPr>
        <p:txBody>
          <a:bodyPr>
            <a:normAutofit/>
          </a:bodyPr>
          <a:lstStyle/>
          <a:p>
            <a:pPr algn="just"/>
            <a:r>
              <a:rPr lang="fr-F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Problèmes réseau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Perte de connectivité.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Résolution DNS incorrecte.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défectueuse.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fr-FR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 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: ping, </a:t>
            </a:r>
            <a:r>
              <a:rPr lang="fr-FR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tracert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nslookup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Reconfigurer l’interface IP.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Redémarrer le service DNS ou DHCP.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500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68CA2-1044-4119-8587-1EFA5748B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52400"/>
            <a:ext cx="9144000" cy="1381125"/>
          </a:xfrm>
        </p:spPr>
        <p:txBody>
          <a:bodyPr>
            <a:noAutofit/>
          </a:bodyPr>
          <a:lstStyle/>
          <a:p>
            <a:r>
              <a:rPr lang="fr-F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ÉVOLUTIVE</a:t>
            </a:r>
            <a:br>
              <a:rPr lang="fr-F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53AC92-2A8C-4755-90AC-19A8E28FB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76325"/>
            <a:ext cx="9144000" cy="52578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maintenance évolutive vise à améliorer, moderniser ou faire évoluer l’infrastructure Windows Server.</a:t>
            </a:r>
          </a:p>
          <a:p>
            <a:pPr algn="just">
              <a:lnSpc>
                <a:spcPct val="150000"/>
              </a:lnSpc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Objectifs</a:t>
            </a:r>
          </a:p>
          <a:p>
            <a:pPr algn="just">
              <a:lnSpc>
                <a:spcPct val="150000"/>
              </a:lnSpc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Reinforcer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sécurité.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Ajouter de nouvelles fonctionnalités.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Améliorer performance.</a:t>
            </a:r>
          </a:p>
          <a:p>
            <a:pPr algn="just">
              <a:lnSpc>
                <a:spcPct val="150000"/>
              </a:lnSpc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Préparer la croissance future.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294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68CA2-1044-4119-8587-1EFA5748B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175"/>
            <a:ext cx="9144000" cy="1181100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 de versions Windows Server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53AC92-2A8C-4755-90AC-19A8E28FB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38275"/>
            <a:ext cx="9982200" cy="3819525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2012 R2 ➝ 2016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2016 ➝ 2019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 ➝ 2022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245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68CA2-1044-4119-8587-1EFA5748B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175"/>
            <a:ext cx="9144000" cy="70485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53AC92-2A8C-4755-90AC-19A8E28FB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38275"/>
            <a:ext cx="9144000" cy="38195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515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607</Words>
  <Application>Microsoft Office PowerPoint</Application>
  <PresentationFormat>Widescreen</PresentationFormat>
  <Paragraphs>121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DengXian</vt:lpstr>
      <vt:lpstr>Arial</vt:lpstr>
      <vt:lpstr>Calibri</vt:lpstr>
      <vt:lpstr>Calibri Light</vt:lpstr>
      <vt:lpstr>Times New Roman</vt:lpstr>
      <vt:lpstr>Wingdings</vt:lpstr>
      <vt:lpstr>Office Theme</vt:lpstr>
      <vt:lpstr>MAINTENANCE DE WINDOWS SERVER</vt:lpstr>
      <vt:lpstr>MAINTENANCE PRÉVENTIVE </vt:lpstr>
      <vt:lpstr>Actions de Maintenance Préventive </vt:lpstr>
      <vt:lpstr>        :  Surveillance de l’état du système</vt:lpstr>
      <vt:lpstr>Vérification des sauvegardes </vt:lpstr>
      <vt:lpstr>Contrôle de la sécurité </vt:lpstr>
      <vt:lpstr>Vérification du matériel</vt:lpstr>
      <vt:lpstr>Exemple de planning mensuel de maintenance préventive</vt:lpstr>
      <vt:lpstr> MAINTENANCE CORRECTIVE</vt:lpstr>
      <vt:lpstr>Types de problèmes à corriger </vt:lpstr>
      <vt:lpstr>Types de problèmes à corriger</vt:lpstr>
      <vt:lpstr>Types de problèmes à corriger</vt:lpstr>
      <vt:lpstr>MAINTENANCE ÉVOLUTIVE </vt:lpstr>
      <vt:lpstr>Migration de versions Windows Server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DE WINDOWS SERVER</dc:title>
  <dc:creator>hp</dc:creator>
  <cp:lastModifiedBy>hp</cp:lastModifiedBy>
  <cp:revision>8</cp:revision>
  <dcterms:created xsi:type="dcterms:W3CDTF">2025-11-17T21:51:54Z</dcterms:created>
  <dcterms:modified xsi:type="dcterms:W3CDTF">2025-11-17T22:42:27Z</dcterms:modified>
</cp:coreProperties>
</file>