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3" r:id="rId2"/>
    <p:sldId id="284" r:id="rId3"/>
    <p:sldId id="285" r:id="rId4"/>
    <p:sldId id="286" r:id="rId5"/>
    <p:sldId id="277" r:id="rId6"/>
    <p:sldId id="278" r:id="rId7"/>
    <p:sldId id="279" r:id="rId8"/>
    <p:sldId id="280" r:id="rId9"/>
    <p:sldId id="281" r:id="rId10"/>
    <p:sldId id="282" r:id="rId11"/>
    <p:sldId id="2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4660"/>
  </p:normalViewPr>
  <p:slideViewPr>
    <p:cSldViewPr snapToGrid="0">
      <p:cViewPr varScale="1">
        <p:scale>
          <a:sx n="67" d="100"/>
          <a:sy n="67" d="100"/>
        </p:scale>
        <p:origin x="9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F89B2-F341-4EC7-A1F3-82B5E54B6809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BE952-3643-4DA2-806D-C64FEF1EA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9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C1FB-DB84-4148-ABAB-E1E659A94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E9831-EBB0-4057-B480-D161A541E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CB4AF-D9E8-4DAB-AC8A-8FF876C3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8D82A-1FDF-4538-8B87-49C01BFA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831C8-60B0-4AF1-9DAE-5BF8326F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3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615B-8085-4F4C-8C95-AEDD1147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213E-FA04-4D40-AF36-526DCC2C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ACDB0-D335-49C4-904A-86DA41A6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A9496-B5BB-435B-837D-B691AC29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C7CBE-6473-474F-8DF0-FFB1A87A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3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4424-A20B-4509-B5FA-F27D1667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822DD-9DF5-4C1F-9B20-3A83FDA04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19A73-F15C-4ABF-84E6-712233D9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983AD-B6B5-4C2A-A92A-CB71AD44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B69F0-CF2E-4028-AE55-713F4227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6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0B0B-216C-48BF-B4C3-5CF1F12A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DA81-8C64-4334-AD2B-073AE7269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777E1-FE0D-4850-8B5C-1779EE138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AD570-3832-44FE-A429-31F773EC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6A18B-1514-417F-A257-15D0279E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A44F2-475E-4B86-9E8D-8477C0D0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B3514-43F2-4034-A0BB-2D416E18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CE2E9-BF09-45A5-9E63-F3F08201A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E25FE-C288-47DB-ACAE-B82831011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FDE39-9BA3-47BC-B76F-6B2384F89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E50B7-931C-4957-8D11-E6AD7424D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1164A-A66F-427F-9FFC-BCA3F03E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51D6ED-EDCB-4380-8730-11EA9508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3276D-9A02-43F4-A64B-668E0A40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9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DB8A-1796-4FEC-BD35-A509F0C4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A7B89B-6F25-4036-A299-9024D46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22D13-C437-4FFA-ADBA-CA2463D0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94E2D-A6F5-46F3-94AA-482A7C84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4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42B0A-9BBD-4AA8-BBBF-E7CC693B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54429A-C5BB-4B3D-8AAF-81287A30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06FB-5553-4B0E-A629-CF269373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0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2F9E-FC20-4FEA-94B2-25D09757C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C625-7BEA-42A5-8789-48EFD0A07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5E868-DBF9-40F1-B4CA-E4669EEF6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97A8A-1DE4-496E-B542-5AD92A9DE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AAA02-8711-4444-9722-E2B3FA741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66164-4E7B-404F-88FD-567BD156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2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7724-0F18-41DB-8CA7-3F7B6890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F55419-6489-4C53-9BEF-6226E4530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135F6-7C3E-4377-90FF-9A345D14E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4B17D-FF1C-4CBA-A3D9-765ED5B1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F0EB7-0C3C-471C-8767-1F1DFC7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8AC21-B5BF-4F0D-8EAE-06AC1940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6AFA-09D6-4B53-885E-8BF6D3A2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662FF-4376-411F-8AC4-9A32A9608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1DB9A-9B3A-4D86-A39E-3D95A455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1AAF1-012F-4BAE-94AF-C46A7A72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8090-649C-4B20-B89B-9A1B1D60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0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53ECF-18BE-4054-B543-BAB2E7BB1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F22E3-2F84-45BF-A38A-0C81583DE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E5B1-A096-4421-A2FB-D67912E9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B48F2-FA5B-404D-96B5-94F83FB6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FF43-C251-40CE-AA46-E878F981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8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65E59-6ECF-41E8-B878-96C31C47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00260-6607-493A-8A91-0AE87E90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AF47-7D80-4FF5-B711-12A2B0901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052C0-C93E-41E9-8EF9-DD2B6E7D56B8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30C0-9856-4904-86BE-8EF1B488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A75E4-702A-42E5-8F8F-08387F3C9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2E43-9E25-4DB7-A20B-7ABB800C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9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59CF-08B5-40A5-8E08-14FD949D0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5439"/>
            <a:ext cx="9144000" cy="70326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Réseaux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Virtuels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5C840-726D-4E9B-B0DC-8D420B40B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95400"/>
            <a:ext cx="9144000" cy="3962400"/>
          </a:xfrm>
        </p:spPr>
        <p:txBody>
          <a:bodyPr/>
          <a:lstStyle/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Modes Réseau</a:t>
            </a:r>
          </a:p>
          <a:p>
            <a:pPr algn="just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 (Network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Translation)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VM utilise l’adresse IP de l’hôte pour accéder à Internet.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L’hôte fait office de passerelle.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 : accès Internet sécurisé, pas besoin de configurer le réseau.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: la VM n’est pas directement accessible depuis l’extérieur.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73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1DCE-7383-422A-8F6F-C0196D3BE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1"/>
            <a:ext cx="9144000" cy="8763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Réseaux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Virtuels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F1349-458B-4F32-B08C-12D86E5A9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475" y="1466850"/>
            <a:ext cx="10391775" cy="46863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(Pont)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VM se comporte comme une machine physique sur le même réseau que l’hôte.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obtient une adresse IP depuis le serveur DHCP du réseau physique.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 : la VM peut communiquer librement avec toutes les machines du réseau.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Inconvénients : peut poser des problèmes de sécurité et de configuration.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4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AC7E-99AC-4E09-B406-E592D9058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675"/>
            <a:ext cx="9144000" cy="6381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Réseaux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Virtuels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FE921-9636-4943-B648-FC35C39B9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09700"/>
            <a:ext cx="9144000" cy="38481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privé entre l’hôte et les VM.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 d’accès Internet par défaut.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Utilisé pour des environnements isolés (test, dev).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Possibilité d’ajouter une seconde carte NAT pour l’accès Internet.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7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61FC-728B-4B9A-BF50-E8435E584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663"/>
            <a:ext cx="9144000" cy="598487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comparatif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F76FFB-2932-49CB-A857-0B190C9D7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371570"/>
              </p:ext>
            </p:extLst>
          </p:nvPr>
        </p:nvGraphicFramePr>
        <p:xfrm>
          <a:off x="628650" y="1228726"/>
          <a:ext cx="11115676" cy="4886325"/>
        </p:xfrm>
        <a:graphic>
          <a:graphicData uri="http://schemas.openxmlformats.org/drawingml/2006/table">
            <a:tbl>
              <a:tblPr/>
              <a:tblGrid>
                <a:gridCol w="2778919">
                  <a:extLst>
                    <a:ext uri="{9D8B030D-6E8A-4147-A177-3AD203B41FA5}">
                      <a16:colId xmlns:a16="http://schemas.microsoft.com/office/drawing/2014/main" val="3048453641"/>
                    </a:ext>
                  </a:extLst>
                </a:gridCol>
                <a:gridCol w="2778919">
                  <a:extLst>
                    <a:ext uri="{9D8B030D-6E8A-4147-A177-3AD203B41FA5}">
                      <a16:colId xmlns:a16="http://schemas.microsoft.com/office/drawing/2014/main" val="3111653774"/>
                    </a:ext>
                  </a:extLst>
                </a:gridCol>
                <a:gridCol w="2778919">
                  <a:extLst>
                    <a:ext uri="{9D8B030D-6E8A-4147-A177-3AD203B41FA5}">
                      <a16:colId xmlns:a16="http://schemas.microsoft.com/office/drawing/2014/main" val="1814851080"/>
                    </a:ext>
                  </a:extLst>
                </a:gridCol>
                <a:gridCol w="2778919">
                  <a:extLst>
                    <a:ext uri="{9D8B030D-6E8A-4147-A177-3AD203B41FA5}">
                      <a16:colId xmlns:a16="http://schemas.microsoft.com/office/drawing/2014/main" val="60501165"/>
                    </a:ext>
                  </a:extLst>
                </a:gridCol>
              </a:tblGrid>
              <a:tr h="180022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réseau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Accès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Accès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à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l’hôte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Accessibilité depuis le 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717029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32567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07342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Host-Only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68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99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6F4C-69E6-440F-B577-A6BDAF1F6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939"/>
            <a:ext cx="9144000" cy="827086"/>
          </a:xfrm>
        </p:spPr>
        <p:txBody>
          <a:bodyPr>
            <a:no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disque (ISO, VMDK, VHD,)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FCD28-0C4B-4DD3-929E-D63D80F2F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9675"/>
            <a:ext cx="9144000" cy="504825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virtualisation,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l'image disque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 fichier qui représente l'intégralité du contenu d'un disque dur ou d'un lecteur optique (comme un CD/DVD).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9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2DA9-2ED7-4DC6-81CD-121B4D13E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85849"/>
          </a:xfrm>
        </p:spPr>
        <p:txBody>
          <a:bodyPr>
            <a:normAutofit fontScale="90000"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d'images disque courantes </a:t>
            </a:r>
            <a:br>
              <a:rPr lang="fr-FR" sz="4000" b="1" dirty="0"/>
            </a:br>
            <a:endParaRPr lang="en-US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D45FC5-751C-41F7-8B5B-F44A9E28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49144"/>
              </p:ext>
            </p:extLst>
          </p:nvPr>
        </p:nvGraphicFramePr>
        <p:xfrm>
          <a:off x="180975" y="752475"/>
          <a:ext cx="11582400" cy="5867401"/>
        </p:xfrm>
        <a:graphic>
          <a:graphicData uri="http://schemas.openxmlformats.org/drawingml/2006/table">
            <a:tbl>
              <a:tblPr/>
              <a:tblGrid>
                <a:gridCol w="5791200">
                  <a:extLst>
                    <a:ext uri="{9D8B030D-6E8A-4147-A177-3AD203B41FA5}">
                      <a16:colId xmlns:a16="http://schemas.microsoft.com/office/drawing/2014/main" val="4292306326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840302804"/>
                    </a:ext>
                  </a:extLst>
                </a:gridCol>
              </a:tblGrid>
              <a:tr h="44876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194282"/>
                  </a:ext>
                </a:extLst>
              </a:tr>
              <a:tr h="1806525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Image d'un disque optique (CD, DVD).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Utilisé pour installer un système d'exploitation dans une machine virtuelle.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Contient une copie exacte secteur par secteur d'un disque optique.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718199"/>
                  </a:ext>
                </a:extLst>
              </a:tr>
              <a:tr h="180558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VMDK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(Virtual Machine Disk)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Format utilisé principalement par </a:t>
                      </a:r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VMware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Contient toutes les données du disque virtuel de la VM.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Peut être utilisé en mode </a:t>
                      </a:r>
                      <a:r>
                        <a:rPr lang="fr-FR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(réservé d'avance) ou </a:t>
                      </a:r>
                      <a:r>
                        <a:rPr lang="fr-FR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thin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(s'agrandit selon l'usage).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212922"/>
                  </a:ext>
                </a:extLst>
              </a:tr>
              <a:tr h="1806525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VHD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(Virtual Hard Disk)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Format développé par </a:t>
                      </a:r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Principalement utilisé avec </a:t>
                      </a:r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Hyper-V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Représente un disque dur complet pour une VM.</a:t>
                      </a:r>
                      <a:b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Existe aussi sous forme </a:t>
                      </a:r>
                      <a:r>
                        <a:rPr lang="fr-FR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VHDX</a:t>
                      </a:r>
                      <a:r>
                        <a:rPr lang="fr-F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(version améliorée avec meilleure tolérance aux erreurs).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319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51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4652-1C14-46D5-9274-447185BB4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361950"/>
            <a:ext cx="9144000" cy="1759623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 et clones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30D17C-A3D6-4D97-8FD7-BDEB98506C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8297" y="370086"/>
            <a:ext cx="10789754" cy="611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Snapshot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Instantané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C’est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 de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l'état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d'une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virtuelle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à un moment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donné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enregistre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mémoire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L’état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processeur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L’état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virtuels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Utilité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Faire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sauvegardes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mise à jour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critique.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revenir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arrière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problème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survient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Les snapshots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consomment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l’espace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disque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supplémentaire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doivent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être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conservés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longtemps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680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D5CA-3BD3-48DF-95E4-2479D9BD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36104"/>
            <a:ext cx="9144000" cy="2077277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Clone 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38F2FB-84E9-4AEE-8FAC-A7589827DF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5301" y="862937"/>
            <a:ext cx="1102995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C’est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copie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complète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d’une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virtuelle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existante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deux types :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Clone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91440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copie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indépendante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VM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fichiers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configuration).</a:t>
            </a:r>
          </a:p>
          <a:p>
            <a:pPr marL="91440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Fonctionne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même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VM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d’origine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supprimée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marR="0" lvl="1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Clone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lié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(linked clone) :</a:t>
            </a:r>
          </a:p>
          <a:p>
            <a:pPr marL="91440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nouvelle VM partage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fichiers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l’originale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marR="0" lvl="2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gourmand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dépendant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la VM source.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Utilité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clonage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déployer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plusieurs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basées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 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modèle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existant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 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laboratoires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test,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serveurs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0287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32A7-D1FB-4A7A-A6C7-B12F45A24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3989"/>
            <a:ext cx="9144000" cy="1446211"/>
          </a:xfrm>
        </p:spPr>
        <p:txBody>
          <a:bodyPr>
            <a:normAutofit fontScale="90000"/>
          </a:bodyPr>
          <a:lstStyle/>
          <a:p>
            <a:r>
              <a:rPr lang="fr-FR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VM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A28E9-EEDA-4ED9-8CD5-7D8D144DE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33449"/>
            <a:ext cx="9144000" cy="52292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une machine virtuelle configurée avec 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système d'exploitation installé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outils de base (mises à jour, logiciels)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paramètres prédéfinis (réseau, sécurité)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figé (souvent en lecture seule) pour être utilisé comme modèle lors de la création de nouvelles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VMs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59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E786-BD84-43C3-A6E2-14AD48AE7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1"/>
            <a:ext cx="9144000" cy="1504950"/>
          </a:xfrm>
        </p:spPr>
        <p:txBody>
          <a:bodyPr>
            <a:normAutofit fontScale="90000"/>
          </a:bodyPr>
          <a:lstStyle/>
          <a:p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Utilité des </a:t>
            </a:r>
            <a:r>
              <a:rPr lang="fr-FR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7F3F7-A77D-453B-A186-4C4EB1381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7775"/>
            <a:ext cx="9144000" cy="401002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Standardiser les déploiements de VM.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Gagner du temps : plus besoin de réinstaller et configurer chaque VM.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que toutes les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VMs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créées sont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cohérentes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conformes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aux politiques internes.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26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597E-BD4F-41F2-BC9D-B73189590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04824"/>
            <a:ext cx="9144000" cy="1200149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1 : Exploration des modes réseau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B15D-D44E-4E17-AE7A-A31B086DD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851" y="695324"/>
            <a:ext cx="10982324" cy="5648325"/>
          </a:xfrm>
        </p:spPr>
        <p:txBody>
          <a:bodyPr>
            <a:normAutofit/>
          </a:bodyPr>
          <a:lstStyle/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Matériel :1 VM Linux (Debian/Ubuntu)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VirtualBox ou VMware Workstation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: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Définir la carte réseau en mode NAT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Démarrer la VM et vérifier l’accès Internet.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Commande : ping 8.8.8.8 puis ping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www.google.com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Modifier la configuration en Bridge.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Redémarrer et vérifier si la VM obtient une adresse IP sur le même réseau que l’hôte.</a:t>
            </a:r>
          </a:p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Refaire en mode Host-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tester la connectivité avec l’hôte.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 est la différence de comportement entre chaque mode 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 est l'adresse IP attribuée dans chaque cas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17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640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Gestion des Réseaux Virtuels</vt:lpstr>
      <vt:lpstr>Gestion des Réseaux Virtuels</vt:lpstr>
      <vt:lpstr>Gestion des Réseaux Virtuels</vt:lpstr>
      <vt:lpstr>Tableau comparatif</vt:lpstr>
      <vt:lpstr>Images disque (ISO, VMDK, VHD,)</vt:lpstr>
      <vt:lpstr>Types d'images disque courantes  </vt:lpstr>
      <vt:lpstr>Snapshots et clones </vt:lpstr>
      <vt:lpstr>Clone  </vt:lpstr>
      <vt:lpstr>Templates de VM </vt:lpstr>
      <vt:lpstr>Utilité des Templates  </vt:lpstr>
      <vt:lpstr>Exercice 1 : Exploration des modes réseau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des Machines Virtuelles</dc:title>
  <dc:creator>hp</dc:creator>
  <cp:lastModifiedBy>hp</cp:lastModifiedBy>
  <cp:revision>27</cp:revision>
  <dcterms:created xsi:type="dcterms:W3CDTF">2025-04-14T17:42:32Z</dcterms:created>
  <dcterms:modified xsi:type="dcterms:W3CDTF">2025-04-29T11:39:21Z</dcterms:modified>
</cp:coreProperties>
</file>