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9" r:id="rId1"/>
  </p:sldMasterIdLst>
  <p:sldIdLst>
    <p:sldId id="274" r:id="rId2"/>
    <p:sldId id="273" r:id="rId3"/>
    <p:sldId id="271" r:id="rId4"/>
    <p:sldId id="272" r:id="rId5"/>
    <p:sldId id="256" r:id="rId6"/>
    <p:sldId id="257" r:id="rId7"/>
    <p:sldId id="261" r:id="rId8"/>
    <p:sldId id="258" r:id="rId9"/>
    <p:sldId id="262" r:id="rId10"/>
    <p:sldId id="259" r:id="rId11"/>
    <p:sldId id="260" r:id="rId12"/>
    <p:sldId id="263" r:id="rId13"/>
    <p:sldId id="264" r:id="rId14"/>
    <p:sldId id="265" r:id="rId15"/>
    <p:sldId id="266" r:id="rId16"/>
    <p:sldId id="267" r:id="rId17"/>
    <p:sldId id="268" r:id="rId18"/>
    <p:sldId id="269" r:id="rId19"/>
    <p:sldId id="270"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7" d="100"/>
          <a:sy n="67" d="100"/>
        </p:scale>
        <p:origin x="644"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F027C3-C6E9-410B-8D8B-A76599A5524E}" type="datetimeFigureOut">
              <a:rPr lang="en-US" smtClean="0"/>
              <a:t>12/11/2024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884764-E072-4F22-825E-D1BAE829A6FE}" type="slidenum">
              <a:rPr lang="en-US" smtClean="0"/>
              <a:t>‹#›</a:t>
            </a:fld>
            <a:endParaRPr lang="en-US"/>
          </a:p>
        </p:txBody>
      </p:sp>
    </p:spTree>
    <p:extLst>
      <p:ext uri="{BB962C8B-B14F-4D97-AF65-F5344CB8AC3E}">
        <p14:creationId xmlns:p14="http://schemas.microsoft.com/office/powerpoint/2010/main" val="2596569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F027C3-C6E9-410B-8D8B-A76599A5524E}" type="datetimeFigureOut">
              <a:rPr lang="en-US" smtClean="0"/>
              <a:t>12/11/2024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884764-E072-4F22-825E-D1BAE829A6FE}" type="slidenum">
              <a:rPr lang="en-US" smtClean="0"/>
              <a:t>‹#›</a:t>
            </a:fld>
            <a:endParaRPr lang="en-US"/>
          </a:p>
        </p:txBody>
      </p:sp>
    </p:spTree>
    <p:extLst>
      <p:ext uri="{BB962C8B-B14F-4D97-AF65-F5344CB8AC3E}">
        <p14:creationId xmlns:p14="http://schemas.microsoft.com/office/powerpoint/2010/main" val="42877588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AF027C3-C6E9-410B-8D8B-A76599A5524E}" type="datetimeFigureOut">
              <a:rPr lang="en-US" smtClean="0"/>
              <a:t>12/11/2024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884764-E072-4F22-825E-D1BAE829A6FE}" type="slidenum">
              <a:rPr lang="en-US" smtClean="0"/>
              <a:t>‹#›</a:t>
            </a:fld>
            <a:endParaRPr lang="en-US"/>
          </a:p>
        </p:txBody>
      </p:sp>
    </p:spTree>
    <p:extLst>
      <p:ext uri="{BB962C8B-B14F-4D97-AF65-F5344CB8AC3E}">
        <p14:creationId xmlns:p14="http://schemas.microsoft.com/office/powerpoint/2010/main" val="42711228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AF027C3-C6E9-410B-8D8B-A76599A5524E}" type="datetimeFigureOut">
              <a:rPr lang="en-US" smtClean="0"/>
              <a:t>12/11/2024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884764-E072-4F22-825E-D1BAE829A6FE}" type="slidenum">
              <a:rPr lang="en-US" smtClean="0"/>
              <a:t>‹#›</a:t>
            </a:fld>
            <a:endParaRPr lang="en-US"/>
          </a:p>
        </p:txBody>
      </p:sp>
    </p:spTree>
    <p:extLst>
      <p:ext uri="{BB962C8B-B14F-4D97-AF65-F5344CB8AC3E}">
        <p14:creationId xmlns:p14="http://schemas.microsoft.com/office/powerpoint/2010/main" val="14346713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AF027C3-C6E9-410B-8D8B-A76599A5524E}" type="datetimeFigureOut">
              <a:rPr lang="en-US" smtClean="0"/>
              <a:t>12/11/2024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D884764-E072-4F22-825E-D1BAE829A6FE}" type="slidenum">
              <a:rPr lang="en-US" smtClean="0"/>
              <a:t>‹#›</a:t>
            </a:fld>
            <a:endParaRPr lang="en-US"/>
          </a:p>
        </p:txBody>
      </p:sp>
    </p:spTree>
    <p:extLst>
      <p:ext uri="{BB962C8B-B14F-4D97-AF65-F5344CB8AC3E}">
        <p14:creationId xmlns:p14="http://schemas.microsoft.com/office/powerpoint/2010/main" val="2485103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AF027C3-C6E9-410B-8D8B-A76599A5524E}" type="datetimeFigureOut">
              <a:rPr lang="en-US" smtClean="0"/>
              <a:t>12/11/2024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D884764-E072-4F22-825E-D1BAE829A6FE}" type="slidenum">
              <a:rPr lang="en-US" smtClean="0"/>
              <a:t>‹#›</a:t>
            </a:fld>
            <a:endParaRPr lang="en-US"/>
          </a:p>
        </p:txBody>
      </p:sp>
    </p:spTree>
    <p:extLst>
      <p:ext uri="{BB962C8B-B14F-4D97-AF65-F5344CB8AC3E}">
        <p14:creationId xmlns:p14="http://schemas.microsoft.com/office/powerpoint/2010/main" val="929342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F027C3-C6E9-410B-8D8B-A76599A5524E}" type="datetimeFigureOut">
              <a:rPr lang="en-US" smtClean="0"/>
              <a:t>12/11/2024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D884764-E072-4F22-825E-D1BAE829A6FE}" type="slidenum">
              <a:rPr lang="en-US" smtClean="0"/>
              <a:t>‹#›</a:t>
            </a:fld>
            <a:endParaRPr lang="en-US"/>
          </a:p>
        </p:txBody>
      </p:sp>
    </p:spTree>
    <p:extLst>
      <p:ext uri="{BB962C8B-B14F-4D97-AF65-F5344CB8AC3E}">
        <p14:creationId xmlns:p14="http://schemas.microsoft.com/office/powerpoint/2010/main" val="2242461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AF027C3-C6E9-410B-8D8B-A76599A5524E}" type="datetimeFigureOut">
              <a:rPr lang="en-US" smtClean="0"/>
              <a:t>12/11/2024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884764-E072-4F22-825E-D1BAE829A6FE}" type="slidenum">
              <a:rPr lang="en-US" smtClean="0"/>
              <a:t>‹#›</a:t>
            </a:fld>
            <a:endParaRPr lang="en-US"/>
          </a:p>
        </p:txBody>
      </p:sp>
    </p:spTree>
    <p:extLst>
      <p:ext uri="{BB962C8B-B14F-4D97-AF65-F5344CB8AC3E}">
        <p14:creationId xmlns:p14="http://schemas.microsoft.com/office/powerpoint/2010/main" val="10031761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AF027C3-C6E9-410B-8D8B-A76599A5524E}" type="datetimeFigureOut">
              <a:rPr lang="en-US" smtClean="0"/>
              <a:t>12/11/2024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884764-E072-4F22-825E-D1BAE829A6FE}" type="slidenum">
              <a:rPr lang="en-US" smtClean="0"/>
              <a:t>‹#›</a:t>
            </a:fld>
            <a:endParaRPr lang="en-US"/>
          </a:p>
        </p:txBody>
      </p:sp>
    </p:spTree>
    <p:extLst>
      <p:ext uri="{BB962C8B-B14F-4D97-AF65-F5344CB8AC3E}">
        <p14:creationId xmlns:p14="http://schemas.microsoft.com/office/powerpoint/2010/main" val="337623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F027C3-C6E9-410B-8D8B-A76599A5524E}" type="datetimeFigureOut">
              <a:rPr lang="en-US" smtClean="0"/>
              <a:t>12/11/2024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884764-E072-4F22-825E-D1BAE829A6FE}" type="slidenum">
              <a:rPr lang="en-US" smtClean="0"/>
              <a:t>‹#›</a:t>
            </a:fld>
            <a:endParaRPr lang="en-US"/>
          </a:p>
        </p:txBody>
      </p:sp>
    </p:spTree>
    <p:extLst>
      <p:ext uri="{BB962C8B-B14F-4D97-AF65-F5344CB8AC3E}">
        <p14:creationId xmlns:p14="http://schemas.microsoft.com/office/powerpoint/2010/main" val="22563597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F027C3-C6E9-410B-8D8B-A76599A5524E}" type="datetimeFigureOut">
              <a:rPr lang="en-US" smtClean="0"/>
              <a:t>12/11/2024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884764-E072-4F22-825E-D1BAE829A6FE}" type="slidenum">
              <a:rPr lang="en-US" smtClean="0"/>
              <a:t>‹#›</a:t>
            </a:fld>
            <a:endParaRPr lang="en-US"/>
          </a:p>
        </p:txBody>
      </p:sp>
    </p:spTree>
    <p:extLst>
      <p:ext uri="{BB962C8B-B14F-4D97-AF65-F5344CB8AC3E}">
        <p14:creationId xmlns:p14="http://schemas.microsoft.com/office/powerpoint/2010/main" val="1454211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F027C3-C6E9-410B-8D8B-A76599A5524E}" type="datetimeFigureOut">
              <a:rPr lang="en-US" smtClean="0"/>
              <a:t>12/11/2024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884764-E072-4F22-825E-D1BAE829A6FE}" type="slidenum">
              <a:rPr lang="en-US" smtClean="0"/>
              <a:t>‹#›</a:t>
            </a:fld>
            <a:endParaRPr lang="en-US"/>
          </a:p>
        </p:txBody>
      </p:sp>
    </p:spTree>
    <p:extLst>
      <p:ext uri="{BB962C8B-B14F-4D97-AF65-F5344CB8AC3E}">
        <p14:creationId xmlns:p14="http://schemas.microsoft.com/office/powerpoint/2010/main" val="966592719"/>
      </p:ext>
    </p:extLst>
  </p:cSld>
  <p:clrMap bg1="dk1" tx1="lt1" bg2="dk2" tx2="lt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8CE4F-41C3-45FF-B137-8CC3F3E17134}"/>
              </a:ext>
            </a:extLst>
          </p:cNvPr>
          <p:cNvSpPr>
            <a:spLocks noGrp="1"/>
          </p:cNvSpPr>
          <p:nvPr>
            <p:ph type="title"/>
          </p:nvPr>
        </p:nvSpPr>
        <p:spPr>
          <a:xfrm>
            <a:off x="831850" y="499622"/>
            <a:ext cx="10515600" cy="2790333"/>
          </a:xfrm>
        </p:spPr>
        <p:txBody>
          <a:bodyPr/>
          <a:lstStyle/>
          <a:p>
            <a:pPr algn="ctr"/>
            <a:r>
              <a:rPr lang="en-US" dirty="0"/>
              <a:t>	</a:t>
            </a:r>
            <a:r>
              <a:rPr lang="en-US" dirty="0">
                <a:latin typeface="Times New Roman" panose="02020603050405020304" pitchFamily="18" charset="0"/>
                <a:cs typeface="Times New Roman" panose="02020603050405020304" pitchFamily="18" charset="0"/>
              </a:rPr>
              <a:t>DATA BACKUP AND DESEASTER RECOVERY</a:t>
            </a:r>
          </a:p>
        </p:txBody>
      </p:sp>
      <p:sp>
        <p:nvSpPr>
          <p:cNvPr id="3" name="Text Placeholder 2">
            <a:extLst>
              <a:ext uri="{FF2B5EF4-FFF2-40B4-BE49-F238E27FC236}">
                <a16:creationId xmlns:a16="http://schemas.microsoft.com/office/drawing/2014/main" id="{4CE00230-1BA7-4441-919D-3E3BEB371886}"/>
              </a:ext>
            </a:extLst>
          </p:cNvPr>
          <p:cNvSpPr>
            <a:spLocks noGrp="1"/>
          </p:cNvSpPr>
          <p:nvPr>
            <p:ph type="body" idx="1"/>
          </p:nvPr>
        </p:nvSpPr>
        <p:spPr>
          <a:xfrm>
            <a:off x="831850" y="6023728"/>
            <a:ext cx="10515600" cy="650448"/>
          </a:xfrm>
        </p:spPr>
        <p:txBody>
          <a:bodyPr/>
          <a:lstStyle/>
          <a:p>
            <a:r>
              <a:rPr lang="en-US" dirty="0"/>
              <a:t>CDP 2024</a:t>
            </a:r>
          </a:p>
        </p:txBody>
      </p:sp>
    </p:spTree>
    <p:extLst>
      <p:ext uri="{BB962C8B-B14F-4D97-AF65-F5344CB8AC3E}">
        <p14:creationId xmlns:p14="http://schemas.microsoft.com/office/powerpoint/2010/main" val="897111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617EC-B271-49A7-A4CF-4F7CAF7E6332}"/>
              </a:ext>
            </a:extLst>
          </p:cNvPr>
          <p:cNvSpPr>
            <a:spLocks noGrp="1"/>
          </p:cNvSpPr>
          <p:nvPr>
            <p:ph type="ctrTitle"/>
          </p:nvPr>
        </p:nvSpPr>
        <p:spPr>
          <a:xfrm>
            <a:off x="1524000" y="405353"/>
            <a:ext cx="9144000" cy="1194847"/>
          </a:xfrm>
        </p:spPr>
        <p:txBody>
          <a:bodyPr>
            <a:normAutofit/>
          </a:bodyPr>
          <a:lstStyle/>
          <a:p>
            <a:r>
              <a:rPr lang="en-US" sz="2800" dirty="0">
                <a:latin typeface="Times New Roman" panose="02020603050405020304" pitchFamily="18" charset="0"/>
                <a:cs typeface="Times New Roman" panose="02020603050405020304" pitchFamily="18" charset="0"/>
              </a:rPr>
              <a:t>Plan du </a:t>
            </a:r>
            <a:r>
              <a:rPr lang="en-US" sz="2800" dirty="0" err="1">
                <a:latin typeface="Times New Roman" panose="02020603050405020304" pitchFamily="18" charset="0"/>
                <a:cs typeface="Times New Roman" panose="02020603050405020304" pitchFamily="18" charset="0"/>
              </a:rPr>
              <a:t>cours</a:t>
            </a:r>
            <a:endParaRPr lang="en-US" sz="28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BDE404AA-893D-4E52-AE1D-8050A77FCDE5}"/>
              </a:ext>
            </a:extLst>
          </p:cNvPr>
          <p:cNvSpPr>
            <a:spLocks noGrp="1"/>
          </p:cNvSpPr>
          <p:nvPr>
            <p:ph type="subTitle" idx="1"/>
          </p:nvPr>
        </p:nvSpPr>
        <p:spPr>
          <a:xfrm>
            <a:off x="1524000" y="2422689"/>
            <a:ext cx="9144000" cy="2835111"/>
          </a:xfrm>
        </p:spPr>
        <p:txBody>
          <a:bodyPr/>
          <a:lstStyle/>
          <a:p>
            <a:pPr marL="514350" indent="-514350" algn="l">
              <a:buFont typeface="+mj-lt"/>
              <a:buAutoNum type="romanUcPeriod"/>
            </a:pPr>
            <a:r>
              <a:rPr lang="fr-FR" dirty="0">
                <a:latin typeface="Times New Roman" panose="02020603050405020304" pitchFamily="18" charset="0"/>
                <a:cs typeface="Times New Roman" panose="02020603050405020304" pitchFamily="18" charset="0"/>
              </a:rPr>
              <a:t>Introduction à la sécurité des réseaux  </a:t>
            </a:r>
            <a:endParaRPr lang="en-US" dirty="0">
              <a:latin typeface="Times New Roman" panose="02020603050405020304" pitchFamily="18" charset="0"/>
              <a:cs typeface="Times New Roman" panose="02020603050405020304" pitchFamily="18" charset="0"/>
            </a:endParaRPr>
          </a:p>
          <a:p>
            <a:pPr marL="514350" indent="-514350" algn="l">
              <a:buFont typeface="+mj-lt"/>
              <a:buAutoNum type="romanUcPeriod"/>
            </a:pPr>
            <a:r>
              <a:rPr lang="fr-FR" dirty="0">
                <a:latin typeface="Times New Roman" panose="02020603050405020304" pitchFamily="18" charset="0"/>
                <a:cs typeface="Times New Roman" panose="02020603050405020304" pitchFamily="18" charset="0"/>
              </a:rPr>
              <a:t>Sauvegarde des données </a:t>
            </a:r>
            <a:endParaRPr lang="en-US" dirty="0">
              <a:latin typeface="Times New Roman" panose="02020603050405020304" pitchFamily="18" charset="0"/>
              <a:cs typeface="Times New Roman" panose="02020603050405020304" pitchFamily="18" charset="0"/>
            </a:endParaRPr>
          </a:p>
          <a:p>
            <a:pPr marL="514350" indent="-514350" algn="l">
              <a:buFont typeface="+mj-lt"/>
              <a:buAutoNum type="romanUcPeriod"/>
            </a:pPr>
            <a:r>
              <a:rPr lang="fr-FR" dirty="0">
                <a:latin typeface="Times New Roman" panose="02020603050405020304" pitchFamily="18" charset="0"/>
                <a:cs typeface="Times New Roman" panose="02020603050405020304" pitchFamily="18" charset="0"/>
              </a:rPr>
              <a:t>Technologies de sauvegarde </a:t>
            </a:r>
            <a:endParaRPr lang="en-US" dirty="0">
              <a:latin typeface="Times New Roman" panose="02020603050405020304" pitchFamily="18" charset="0"/>
              <a:cs typeface="Times New Roman" panose="02020603050405020304" pitchFamily="18" charset="0"/>
            </a:endParaRPr>
          </a:p>
          <a:p>
            <a:pPr marL="514350" indent="-514350" algn="l">
              <a:buFont typeface="+mj-lt"/>
              <a:buAutoNum type="romanUcPeriod"/>
            </a:pPr>
            <a:r>
              <a:rPr lang="fr-FR" dirty="0">
                <a:latin typeface="Times New Roman" panose="02020603050405020304" pitchFamily="18" charset="0"/>
                <a:cs typeface="Times New Roman" panose="02020603050405020304" pitchFamily="18" charset="0"/>
              </a:rPr>
              <a:t> Sécurité des données </a:t>
            </a:r>
            <a:endParaRPr lang="en-US"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0062877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6C118-D50F-4715-8518-20E72F123A12}"/>
              </a:ext>
            </a:extLst>
          </p:cNvPr>
          <p:cNvSpPr>
            <a:spLocks noGrp="1"/>
          </p:cNvSpPr>
          <p:nvPr>
            <p:ph type="ctrTitle"/>
          </p:nvPr>
        </p:nvSpPr>
        <p:spPr>
          <a:xfrm>
            <a:off x="1524000" y="1122363"/>
            <a:ext cx="9144000" cy="819559"/>
          </a:xfrm>
        </p:spPr>
        <p:txBody>
          <a:bodyPr>
            <a:normAutofit/>
          </a:bodyPr>
          <a:lstStyle/>
          <a:p>
            <a:r>
              <a:rPr lang="en-US" sz="2800" dirty="0">
                <a:latin typeface="Times New Roman" panose="02020603050405020304" pitchFamily="18" charset="0"/>
                <a:cs typeface="Times New Roman" panose="02020603050405020304" pitchFamily="18" charset="0"/>
              </a:rPr>
              <a:t>la </a:t>
            </a:r>
            <a:r>
              <a:rPr lang="en-US" sz="2800" dirty="0" err="1">
                <a:latin typeface="Times New Roman" panose="02020603050405020304" pitchFamily="18" charset="0"/>
                <a:cs typeface="Times New Roman" panose="02020603050405020304" pitchFamily="18" charset="0"/>
              </a:rPr>
              <a:t>Sauvegarde</a:t>
            </a:r>
            <a:r>
              <a:rPr lang="en-US" sz="2800" dirty="0">
                <a:latin typeface="Times New Roman" panose="02020603050405020304" pitchFamily="18" charset="0"/>
                <a:cs typeface="Times New Roman" panose="02020603050405020304" pitchFamily="18" charset="0"/>
              </a:rPr>
              <a:t> des </a:t>
            </a:r>
            <a:r>
              <a:rPr lang="en-US" sz="2800" dirty="0" err="1">
                <a:latin typeface="Times New Roman" panose="02020603050405020304" pitchFamily="18" charset="0"/>
                <a:cs typeface="Times New Roman" panose="02020603050405020304" pitchFamily="18" charset="0"/>
              </a:rPr>
              <a:t>données</a:t>
            </a:r>
            <a:endParaRPr lang="en-US" sz="28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8282988F-DACC-4625-8A74-2032844ED820}"/>
              </a:ext>
            </a:extLst>
          </p:cNvPr>
          <p:cNvSpPr>
            <a:spLocks noGrp="1"/>
          </p:cNvSpPr>
          <p:nvPr>
            <p:ph type="subTitle" idx="1"/>
          </p:nvPr>
        </p:nvSpPr>
        <p:spPr>
          <a:xfrm>
            <a:off x="1524000" y="2639505"/>
            <a:ext cx="9144000" cy="3308808"/>
          </a:xfrm>
        </p:spPr>
        <p:txBody>
          <a:bodyPr>
            <a:normAutofit/>
          </a:bodyPr>
          <a:lstStyle/>
          <a:p>
            <a:pPr algn="just">
              <a:lnSpc>
                <a:spcPct val="150000"/>
              </a:lnSpc>
            </a:pPr>
            <a:r>
              <a:rPr lang="fr-FR" dirty="0">
                <a:latin typeface="Times New Roman" panose="02020603050405020304" pitchFamily="18" charset="0"/>
                <a:cs typeface="Times New Roman" panose="02020603050405020304" pitchFamily="18" charset="0"/>
              </a:rPr>
              <a:t>La sauvegarde des données fait référence à l'infrastructure, aux technologies et aux processus qui copient les données de l'organisation pour les restaurer en cas de défaillance. Elle comprend un plan de reprise après sinistre, ainsi que la stratégie de sauvegarde des données appropriée et les solutions mises en place.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15936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2929E-7964-4C0A-9356-1FDBB045C7FB}"/>
              </a:ext>
            </a:extLst>
          </p:cNvPr>
          <p:cNvSpPr>
            <a:spLocks noGrp="1"/>
          </p:cNvSpPr>
          <p:nvPr>
            <p:ph type="ctrTitle"/>
          </p:nvPr>
        </p:nvSpPr>
        <p:spPr>
          <a:xfrm>
            <a:off x="1524000" y="292231"/>
            <a:ext cx="9144000" cy="867266"/>
          </a:xfrm>
        </p:spPr>
        <p:txBody>
          <a:bodyPr>
            <a:normAutofit/>
          </a:bodyPr>
          <a:lstStyle/>
          <a:p>
            <a:r>
              <a:rPr lang="fr-FR" sz="2400" dirty="0">
                <a:latin typeface="Times New Roman" panose="02020603050405020304" pitchFamily="18" charset="0"/>
                <a:cs typeface="Times New Roman" panose="02020603050405020304" pitchFamily="18" charset="0"/>
              </a:rPr>
              <a:t>Importance de la sauvegarde des données</a:t>
            </a:r>
            <a:endParaRPr lang="en-US" sz="2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693C576A-465F-4776-823D-ABB9ACF8249D}"/>
              </a:ext>
            </a:extLst>
          </p:cNvPr>
          <p:cNvSpPr>
            <a:spLocks noGrp="1"/>
          </p:cNvSpPr>
          <p:nvPr>
            <p:ph type="subTitle" idx="1"/>
          </p:nvPr>
        </p:nvSpPr>
        <p:spPr>
          <a:xfrm>
            <a:off x="1524000" y="2460396"/>
            <a:ext cx="9144000" cy="2797404"/>
          </a:xfrm>
        </p:spPr>
        <p:txBody>
          <a:bodyPr/>
          <a:lstStyle/>
          <a:p>
            <a:pPr algn="just"/>
            <a:r>
              <a:rPr lang="fr-FR" dirty="0">
                <a:latin typeface="Times New Roman" panose="02020603050405020304" pitchFamily="18" charset="0"/>
                <a:cs typeface="Times New Roman" panose="02020603050405020304" pitchFamily="18" charset="0"/>
              </a:rPr>
              <a:t>Les sauvegardes protègent contre les erreurs humaines, les pannes matérielles, les attaques de virus, les pannes de courant et les catastrophes naturelles. Les sauvegardes permettent d'économiser du temps et de l'argent lorsque ces évènements se produisent.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556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D815B-25D6-4BE3-99E0-21467E0DE986}"/>
              </a:ext>
            </a:extLst>
          </p:cNvPr>
          <p:cNvSpPr>
            <a:spLocks noGrp="1"/>
          </p:cNvSpPr>
          <p:nvPr>
            <p:ph type="ctrTitle"/>
          </p:nvPr>
        </p:nvSpPr>
        <p:spPr>
          <a:xfrm>
            <a:off x="1524000" y="537328"/>
            <a:ext cx="9144000" cy="1655762"/>
          </a:xfrm>
        </p:spPr>
        <p:txBody>
          <a:bodyPr>
            <a:normAutofit/>
          </a:bodyPr>
          <a:lstStyle/>
          <a:p>
            <a:r>
              <a:rPr lang="en-US" sz="2700" dirty="0">
                <a:latin typeface="Times New Roman" panose="02020603050405020304" pitchFamily="18" charset="0"/>
                <a:cs typeface="Times New Roman" panose="02020603050405020304" pitchFamily="18" charset="0"/>
              </a:rPr>
              <a:t>Types de </a:t>
            </a:r>
            <a:r>
              <a:rPr lang="en-US" sz="2700" dirty="0" err="1">
                <a:latin typeface="Times New Roman" panose="02020603050405020304" pitchFamily="18" charset="0"/>
                <a:cs typeface="Times New Roman" panose="02020603050405020304" pitchFamily="18" charset="0"/>
              </a:rPr>
              <a:t>sauvegarde</a:t>
            </a:r>
            <a:r>
              <a:rPr lang="en-US" sz="2700" dirty="0">
                <a:latin typeface="Times New Roman" panose="02020603050405020304" pitchFamily="18" charset="0"/>
                <a:cs typeface="Times New Roman" panose="02020603050405020304" pitchFamily="18" charset="0"/>
              </a:rPr>
              <a:t> (backup)</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59ADA08F-41B5-4960-BF8D-5F5A1D0FE825}"/>
              </a:ext>
            </a:extLst>
          </p:cNvPr>
          <p:cNvSpPr>
            <a:spLocks noGrp="1"/>
          </p:cNvSpPr>
          <p:nvPr>
            <p:ph type="subTitle" idx="1"/>
          </p:nvPr>
        </p:nvSpPr>
        <p:spPr>
          <a:xfrm>
            <a:off x="1524000" y="2545236"/>
            <a:ext cx="9144000" cy="2865750"/>
          </a:xfrm>
        </p:spPr>
        <p:txBody>
          <a:bodyPr/>
          <a:lstStyle/>
          <a:p>
            <a:pPr algn="just">
              <a:lnSpc>
                <a:spcPct val="150000"/>
              </a:lnSpc>
            </a:pPr>
            <a:r>
              <a:rPr lang="fr-FR" dirty="0">
                <a:latin typeface="Times New Roman" panose="02020603050405020304" pitchFamily="18" charset="0"/>
                <a:cs typeface="Times New Roman" panose="02020603050405020304" pitchFamily="18" charset="0"/>
              </a:rPr>
              <a:t>Bien qu’il existe une grande variété de sauvegardes, les trois principaux types de sauvegarde sont les sauvegardes complètes, incrémentielles et différentielles. Chaque type effectue une sauvegarde unique qui aboutit à des résultats distincts.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59084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91C17-EE8F-402B-BFEE-391D1088F7D0}"/>
              </a:ext>
            </a:extLst>
          </p:cNvPr>
          <p:cNvSpPr>
            <a:spLocks noGrp="1"/>
          </p:cNvSpPr>
          <p:nvPr>
            <p:ph type="ctrTitle"/>
          </p:nvPr>
        </p:nvSpPr>
        <p:spPr>
          <a:xfrm>
            <a:off x="1524000" y="405353"/>
            <a:ext cx="9144000" cy="1696824"/>
          </a:xfrm>
        </p:spPr>
        <p:txBody>
          <a:bodyPr>
            <a:normAutofit/>
          </a:bodyPr>
          <a:lstStyle/>
          <a:p>
            <a:r>
              <a:rPr lang="en-US" sz="2700" dirty="0" err="1">
                <a:latin typeface="Times New Roman" panose="02020603050405020304" pitchFamily="18" charset="0"/>
                <a:cs typeface="Times New Roman" panose="02020603050405020304" pitchFamily="18" charset="0"/>
              </a:rPr>
              <a:t>Sauvegarde</a:t>
            </a:r>
            <a:r>
              <a:rPr lang="en-US" sz="2700" dirty="0">
                <a:latin typeface="Times New Roman" panose="02020603050405020304" pitchFamily="18" charset="0"/>
                <a:cs typeface="Times New Roman" panose="02020603050405020304" pitchFamily="18" charset="0"/>
              </a:rPr>
              <a:t> </a:t>
            </a:r>
            <a:r>
              <a:rPr lang="en-US" sz="2700" dirty="0" err="1">
                <a:latin typeface="Times New Roman" panose="02020603050405020304" pitchFamily="18" charset="0"/>
                <a:cs typeface="Times New Roman" panose="02020603050405020304" pitchFamily="18" charset="0"/>
              </a:rPr>
              <a:t>complète</a:t>
            </a:r>
            <a:br>
              <a:rPr lang="en-US" dirty="0"/>
            </a:br>
            <a:endParaRPr lang="en-US" dirty="0"/>
          </a:p>
        </p:txBody>
      </p:sp>
      <p:sp>
        <p:nvSpPr>
          <p:cNvPr id="3" name="Subtitle 2">
            <a:extLst>
              <a:ext uri="{FF2B5EF4-FFF2-40B4-BE49-F238E27FC236}">
                <a16:creationId xmlns:a16="http://schemas.microsoft.com/office/drawing/2014/main" id="{A1B13252-A4D7-4E3F-B43E-42D8DC1E821D}"/>
              </a:ext>
            </a:extLst>
          </p:cNvPr>
          <p:cNvSpPr>
            <a:spLocks noGrp="1"/>
          </p:cNvSpPr>
          <p:nvPr>
            <p:ph type="subTitle" idx="1"/>
          </p:nvPr>
        </p:nvSpPr>
        <p:spPr>
          <a:xfrm>
            <a:off x="1524000" y="1734532"/>
            <a:ext cx="9144000" cy="4392891"/>
          </a:xfrm>
        </p:spPr>
        <p:txBody>
          <a:bodyPr>
            <a:normAutofit lnSpcReduction="10000"/>
          </a:bodyPr>
          <a:lstStyle/>
          <a:p>
            <a:pPr algn="just">
              <a:lnSpc>
                <a:spcPct val="150000"/>
              </a:lnSpc>
            </a:pPr>
            <a:r>
              <a:rPr lang="fr-FR" dirty="0">
                <a:latin typeface="Times New Roman" panose="02020603050405020304" pitchFamily="18" charset="0"/>
                <a:cs typeface="Times New Roman" panose="02020603050405020304" pitchFamily="18" charset="0"/>
              </a:rPr>
              <a:t>Une sauvegarde complète est le type de sauvegarde le plus simple qui soit. Chaque fois qu’il effectue une sauvegarde, il fait une copie de l’ensemble des données. Cela va de la sauvegarde de fichiers et de dossiers de documents individuels à la sauvegarde d’images de systèmes d’exploitation entiers. Une seule sauvegarde complète doit être effectuée à la fois pour garantir que vous aurez accès à toutes vos informations numériques à partir du moment où l’opération de sauvegarde est terminée.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39794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9C279-33E8-480E-8086-CD63799DF05A}"/>
              </a:ext>
            </a:extLst>
          </p:cNvPr>
          <p:cNvSpPr>
            <a:spLocks noGrp="1"/>
          </p:cNvSpPr>
          <p:nvPr>
            <p:ph type="ctrTitle"/>
          </p:nvPr>
        </p:nvSpPr>
        <p:spPr>
          <a:xfrm>
            <a:off x="1524000" y="348793"/>
            <a:ext cx="9144000" cy="744716"/>
          </a:xfrm>
        </p:spPr>
        <p:txBody>
          <a:bodyPr>
            <a:normAutofit/>
          </a:bodyPr>
          <a:lstStyle/>
          <a:p>
            <a:r>
              <a:rPr lang="en-US" sz="2400" dirty="0" err="1">
                <a:latin typeface="Times New Roman" panose="02020603050405020304" pitchFamily="18" charset="0"/>
                <a:cs typeface="Times New Roman" panose="02020603050405020304" pitchFamily="18" charset="0"/>
              </a:rPr>
              <a:t>Avantage</a:t>
            </a:r>
            <a:endParaRPr lang="en-US" sz="2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7E31D262-CB9F-4885-A6B1-16885DE1E30A}"/>
              </a:ext>
            </a:extLst>
          </p:cNvPr>
          <p:cNvSpPr>
            <a:spLocks noGrp="1"/>
          </p:cNvSpPr>
          <p:nvPr>
            <p:ph type="subTitle" idx="1"/>
          </p:nvPr>
        </p:nvSpPr>
        <p:spPr>
          <a:xfrm>
            <a:off x="1524000" y="1743959"/>
            <a:ext cx="9144000" cy="4562573"/>
          </a:xfrm>
        </p:spPr>
        <p:txBody>
          <a:bodyPr>
            <a:normAutofit fontScale="92500" lnSpcReduction="10000"/>
          </a:bodyPr>
          <a:lstStyle/>
          <a:p>
            <a:pPr algn="just">
              <a:lnSpc>
                <a:spcPct val="150000"/>
              </a:lnSpc>
            </a:pPr>
            <a:r>
              <a:rPr lang="fr-FR" dirty="0">
                <a:latin typeface="Times New Roman" panose="02020603050405020304" pitchFamily="18" charset="0"/>
                <a:cs typeface="Times New Roman" panose="02020603050405020304" pitchFamily="18" charset="0"/>
              </a:rPr>
              <a:t>Les sauvegardes complètes sont bénéfiques car elles rendent la sauvegarde et la restauration des données faciles et directes. Ils sont également simples, car vous savez que toutes les données seront copiées à chaque fois qu’une opération est effectuée.</a:t>
            </a:r>
          </a:p>
          <a:p>
            <a:pPr algn="just">
              <a:lnSpc>
                <a:spcPct val="150000"/>
              </a:lnSpc>
            </a:pPr>
            <a:r>
              <a:rPr lang="fr-FR" dirty="0">
                <a:latin typeface="Times New Roman" panose="02020603050405020304" pitchFamily="18" charset="0"/>
                <a:cs typeface="Times New Roman" panose="02020603050405020304" pitchFamily="18" charset="0"/>
              </a:rPr>
              <a:t>L’exécution d’une restauration à partir d’une sauvegarde complète est directe et sans difficultés. Si vos données sont compromises et que vous devez les restaurer à leur état antérieur, l’utilisation d’une sauvegarde complète à jour signifie qu’il suffit d’une seule étape pour restaurer toutes vos informations numériques.</a:t>
            </a:r>
          </a:p>
          <a:p>
            <a:endParaRPr lang="en-US" dirty="0"/>
          </a:p>
        </p:txBody>
      </p:sp>
    </p:spTree>
    <p:extLst>
      <p:ext uri="{BB962C8B-B14F-4D97-AF65-F5344CB8AC3E}">
        <p14:creationId xmlns:p14="http://schemas.microsoft.com/office/powerpoint/2010/main" val="20409255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14BB7-A7D9-45D8-B290-A79481135F2A}"/>
              </a:ext>
            </a:extLst>
          </p:cNvPr>
          <p:cNvSpPr>
            <a:spLocks noGrp="1"/>
          </p:cNvSpPr>
          <p:nvPr>
            <p:ph type="ctrTitle"/>
          </p:nvPr>
        </p:nvSpPr>
        <p:spPr>
          <a:xfrm>
            <a:off x="1524000" y="311085"/>
            <a:ext cx="9144000" cy="1677971"/>
          </a:xfrm>
        </p:spPr>
        <p:txBody>
          <a:bodyPr>
            <a:normAutofit/>
          </a:bodyPr>
          <a:lstStyle/>
          <a:p>
            <a:r>
              <a:rPr lang="en-US" sz="2700" dirty="0" err="1">
                <a:latin typeface="Times New Roman" panose="02020603050405020304" pitchFamily="18" charset="0"/>
                <a:cs typeface="Times New Roman" panose="02020603050405020304" pitchFamily="18" charset="0"/>
              </a:rPr>
              <a:t>Sauvegarde</a:t>
            </a:r>
            <a:r>
              <a:rPr lang="en-US" sz="2700" dirty="0">
                <a:latin typeface="Times New Roman" panose="02020603050405020304" pitchFamily="18" charset="0"/>
                <a:cs typeface="Times New Roman" panose="02020603050405020304" pitchFamily="18" charset="0"/>
              </a:rPr>
              <a:t> </a:t>
            </a:r>
            <a:r>
              <a:rPr lang="en-US" sz="2700" dirty="0" err="1">
                <a:latin typeface="Times New Roman" panose="02020603050405020304" pitchFamily="18" charset="0"/>
                <a:cs typeface="Times New Roman" panose="02020603050405020304" pitchFamily="18" charset="0"/>
              </a:rPr>
              <a:t>incrémentielle</a:t>
            </a:r>
            <a:br>
              <a:rPr lang="en-US" dirty="0"/>
            </a:br>
            <a:endParaRPr lang="en-US" dirty="0"/>
          </a:p>
        </p:txBody>
      </p:sp>
      <p:sp>
        <p:nvSpPr>
          <p:cNvPr id="3" name="Subtitle 2">
            <a:extLst>
              <a:ext uri="{FF2B5EF4-FFF2-40B4-BE49-F238E27FC236}">
                <a16:creationId xmlns:a16="http://schemas.microsoft.com/office/drawing/2014/main" id="{86DB189E-34A9-4E66-A50E-C946DFBA796C}"/>
              </a:ext>
            </a:extLst>
          </p:cNvPr>
          <p:cNvSpPr>
            <a:spLocks noGrp="1"/>
          </p:cNvSpPr>
          <p:nvPr>
            <p:ph type="subTitle" idx="1"/>
          </p:nvPr>
        </p:nvSpPr>
        <p:spPr>
          <a:xfrm>
            <a:off x="1524000" y="2488675"/>
            <a:ext cx="9144000" cy="3246961"/>
          </a:xfrm>
        </p:spPr>
        <p:txBody>
          <a:bodyPr/>
          <a:lstStyle/>
          <a:p>
            <a:pPr algn="just">
              <a:lnSpc>
                <a:spcPct val="150000"/>
              </a:lnSpc>
            </a:pPr>
            <a:r>
              <a:rPr lang="fr-FR" dirty="0">
                <a:latin typeface="Times New Roman" panose="02020603050405020304" pitchFamily="18" charset="0"/>
                <a:cs typeface="Times New Roman" panose="02020603050405020304" pitchFamily="18" charset="0"/>
              </a:rPr>
              <a:t>En partant d’une sauvegarde complète, une sauvegarde incrémentale ne sauvegardera que les données modifiées depuis la dernière sauvegarde. Les sauvegardes incrémentielles suivantes n’enregistrent que les nouvelles modifications qui n’ont pas encore été sauvegardées, ce qui garantit que les données stockées restent à jour et cohérentes.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01028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7F561-566F-43A9-9A48-5003A4C16BC0}"/>
              </a:ext>
            </a:extLst>
          </p:cNvPr>
          <p:cNvSpPr>
            <a:spLocks noGrp="1"/>
          </p:cNvSpPr>
          <p:nvPr>
            <p:ph type="ctrTitle"/>
          </p:nvPr>
        </p:nvSpPr>
        <p:spPr>
          <a:xfrm>
            <a:off x="1524000" y="386499"/>
            <a:ext cx="9144000" cy="810705"/>
          </a:xfrm>
        </p:spPr>
        <p:txBody>
          <a:bodyPr>
            <a:normAutofit/>
          </a:bodyPr>
          <a:lstStyle/>
          <a:p>
            <a:r>
              <a:rPr lang="en-US" sz="2400" dirty="0" err="1">
                <a:latin typeface="Times New Roman" panose="02020603050405020304" pitchFamily="18" charset="0"/>
                <a:cs typeface="Times New Roman" panose="02020603050405020304" pitchFamily="18" charset="0"/>
              </a:rPr>
              <a:t>Avantage</a:t>
            </a:r>
            <a:endParaRPr lang="en-US" sz="2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97045AA0-DF9B-4C2B-AC9A-D9AA2371F1D9}"/>
              </a:ext>
            </a:extLst>
          </p:cNvPr>
          <p:cNvSpPr>
            <a:spLocks noGrp="1"/>
          </p:cNvSpPr>
          <p:nvPr>
            <p:ph type="subTitle" idx="1"/>
          </p:nvPr>
        </p:nvSpPr>
        <p:spPr>
          <a:xfrm>
            <a:off x="1524000" y="2139885"/>
            <a:ext cx="9144000" cy="3827282"/>
          </a:xfrm>
        </p:spPr>
        <p:txBody>
          <a:bodyPr>
            <a:normAutofit fontScale="85000" lnSpcReduction="20000"/>
          </a:bodyPr>
          <a:lstStyle/>
          <a:p>
            <a:pPr algn="just">
              <a:lnSpc>
                <a:spcPct val="150000"/>
              </a:lnSpc>
            </a:pPr>
            <a:r>
              <a:rPr lang="fr-FR" dirty="0">
                <a:latin typeface="Times New Roman" panose="02020603050405020304" pitchFamily="18" charset="0"/>
                <a:cs typeface="Times New Roman" panose="02020603050405020304" pitchFamily="18" charset="0"/>
              </a:rPr>
              <a:t>L’un des avantages des sauvegardes incrémentielles est que la quantité de stockage qu’elles occupent est bien moindre que celle des sauvegardes complètes ou différentielles. Par exemple, les copies de données sont de très petite taille puisque les sauvegardes incrémentielles ne font qu’une seule copie de toute modification de données.</a:t>
            </a:r>
          </a:p>
          <a:p>
            <a:pPr algn="just">
              <a:lnSpc>
                <a:spcPct val="150000"/>
              </a:lnSpc>
            </a:pPr>
            <a:r>
              <a:rPr lang="fr-FR" dirty="0">
                <a:latin typeface="Times New Roman" panose="02020603050405020304" pitchFamily="18" charset="0"/>
                <a:cs typeface="Times New Roman" panose="02020603050405020304" pitchFamily="18" charset="0"/>
              </a:rPr>
              <a:t>Un autre avantage des opérations de sauvegarde incrémentielle est la rapidité de la sauvegarde. Comme les modifications apportées aux données ne représentent qu’une fraction des données complètes, les sauvegardes incrémentielles sont effectuées en une fraction du temps par rapport aux sauvegardes complètes.</a:t>
            </a:r>
          </a:p>
          <a:p>
            <a:endParaRPr lang="en-US" dirty="0"/>
          </a:p>
        </p:txBody>
      </p:sp>
    </p:spTree>
    <p:extLst>
      <p:ext uri="{BB962C8B-B14F-4D97-AF65-F5344CB8AC3E}">
        <p14:creationId xmlns:p14="http://schemas.microsoft.com/office/powerpoint/2010/main" val="5170048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0BF43-CC82-409D-80E7-83952FF0E702}"/>
              </a:ext>
            </a:extLst>
          </p:cNvPr>
          <p:cNvSpPr>
            <a:spLocks noGrp="1"/>
          </p:cNvSpPr>
          <p:nvPr>
            <p:ph type="ctrTitle"/>
          </p:nvPr>
        </p:nvSpPr>
        <p:spPr>
          <a:xfrm>
            <a:off x="1524000" y="292231"/>
            <a:ext cx="9144000" cy="1404594"/>
          </a:xfrm>
        </p:spPr>
        <p:txBody>
          <a:bodyPr>
            <a:normAutofit/>
          </a:bodyPr>
          <a:lstStyle/>
          <a:p>
            <a:r>
              <a:rPr lang="en-US" sz="2700" dirty="0" err="1">
                <a:latin typeface="Times New Roman" panose="02020603050405020304" pitchFamily="18" charset="0"/>
                <a:cs typeface="Times New Roman" panose="02020603050405020304" pitchFamily="18" charset="0"/>
              </a:rPr>
              <a:t>Sauvegarde</a:t>
            </a:r>
            <a:r>
              <a:rPr lang="en-US" sz="2700" dirty="0">
                <a:latin typeface="Times New Roman" panose="02020603050405020304" pitchFamily="18" charset="0"/>
                <a:cs typeface="Times New Roman" panose="02020603050405020304" pitchFamily="18" charset="0"/>
              </a:rPr>
              <a:t> </a:t>
            </a:r>
            <a:r>
              <a:rPr lang="en-US" sz="2700" dirty="0" err="1">
                <a:latin typeface="Times New Roman" panose="02020603050405020304" pitchFamily="18" charset="0"/>
                <a:cs typeface="Times New Roman" panose="02020603050405020304" pitchFamily="18" charset="0"/>
              </a:rPr>
              <a:t>différentielle</a:t>
            </a:r>
            <a:br>
              <a:rPr lang="en-US" dirty="0"/>
            </a:br>
            <a:endParaRPr lang="en-US" dirty="0"/>
          </a:p>
        </p:txBody>
      </p:sp>
      <p:sp>
        <p:nvSpPr>
          <p:cNvPr id="3" name="Subtitle 2">
            <a:extLst>
              <a:ext uri="{FF2B5EF4-FFF2-40B4-BE49-F238E27FC236}">
                <a16:creationId xmlns:a16="http://schemas.microsoft.com/office/drawing/2014/main" id="{59645A72-A7CC-49CA-98CD-4BBF9901FDEE}"/>
              </a:ext>
            </a:extLst>
          </p:cNvPr>
          <p:cNvSpPr>
            <a:spLocks noGrp="1"/>
          </p:cNvSpPr>
          <p:nvPr>
            <p:ph type="subTitle" idx="1"/>
          </p:nvPr>
        </p:nvSpPr>
        <p:spPr>
          <a:xfrm>
            <a:off x="1524000" y="1602556"/>
            <a:ext cx="9144000" cy="4873657"/>
          </a:xfrm>
        </p:spPr>
        <p:txBody>
          <a:bodyPr>
            <a:normAutofit/>
          </a:bodyPr>
          <a:lstStyle/>
          <a:p>
            <a:pPr algn="just">
              <a:lnSpc>
                <a:spcPct val="150000"/>
              </a:lnSpc>
            </a:pPr>
            <a:r>
              <a:rPr lang="fr-FR" dirty="0">
                <a:latin typeface="Times New Roman" panose="02020603050405020304" pitchFamily="18" charset="0"/>
                <a:cs typeface="Times New Roman" panose="02020603050405020304" pitchFamily="18" charset="0"/>
              </a:rPr>
              <a:t>Les sauvegardes différentielles se situent entre les sauvegardes complètes et incrémentielles. Comme les sauvegardes incrémentielles, une sauvegarde différentielle commence également par une sauvegarde complète. Cependant, après la sauvegarde initiale complète, elle continue à copier et à inclure les modifications apportées à toute partie de la sauvegarde initiale complète. Les sauvegardes différentielles sauvegardent essentiellement toutes les modifications apportées aux données après une opération de sauvegarde complète.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64102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CFD77-B701-4AE2-987C-A7398887B4A0}"/>
              </a:ext>
            </a:extLst>
          </p:cNvPr>
          <p:cNvSpPr>
            <a:spLocks noGrp="1"/>
          </p:cNvSpPr>
          <p:nvPr>
            <p:ph type="ctrTitle"/>
          </p:nvPr>
        </p:nvSpPr>
        <p:spPr>
          <a:xfrm>
            <a:off x="1524000" y="131975"/>
            <a:ext cx="9144000" cy="575035"/>
          </a:xfrm>
        </p:spPr>
        <p:txBody>
          <a:bodyPr>
            <a:normAutofit/>
          </a:bodyPr>
          <a:lstStyle/>
          <a:p>
            <a:r>
              <a:rPr lang="en-US" sz="2400" dirty="0" err="1">
                <a:latin typeface="Times New Roman" panose="02020603050405020304" pitchFamily="18" charset="0"/>
                <a:cs typeface="Times New Roman" panose="02020603050405020304" pitchFamily="18" charset="0"/>
              </a:rPr>
              <a:t>Avantage</a:t>
            </a:r>
            <a:endParaRPr lang="en-US" sz="2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E1DB4707-1A17-4C29-B6B4-3D3031E75975}"/>
              </a:ext>
            </a:extLst>
          </p:cNvPr>
          <p:cNvSpPr>
            <a:spLocks noGrp="1"/>
          </p:cNvSpPr>
          <p:nvPr>
            <p:ph type="subTitle" idx="1"/>
          </p:nvPr>
        </p:nvSpPr>
        <p:spPr>
          <a:xfrm>
            <a:off x="981075" y="810705"/>
            <a:ext cx="9686925" cy="5637720"/>
          </a:xfrm>
        </p:spPr>
        <p:txBody>
          <a:bodyPr>
            <a:normAutofit/>
          </a:bodyPr>
          <a:lstStyle/>
          <a:p>
            <a:pPr algn="just">
              <a:lnSpc>
                <a:spcPct val="150000"/>
              </a:lnSpc>
            </a:pPr>
            <a:r>
              <a:rPr lang="fr-FR" dirty="0">
                <a:latin typeface="Times New Roman" panose="02020603050405020304" pitchFamily="18" charset="0"/>
                <a:cs typeface="Times New Roman" panose="02020603050405020304" pitchFamily="18" charset="0"/>
              </a:rPr>
              <a:t>Les sauvegardes différentielles offrent des avantages qui se situent entre les sauvegardes complètes et incrémentielles. La sauvegarde différentielle est beaucoup plus rapide que les sauvegardes complètes, mais pas aussi rapide que les sauvegardes incrémentielles.</a:t>
            </a:r>
          </a:p>
          <a:p>
            <a:pPr algn="just">
              <a:lnSpc>
                <a:spcPct val="150000"/>
              </a:lnSpc>
            </a:pPr>
            <a:r>
              <a:rPr lang="fr-FR" dirty="0">
                <a:latin typeface="Times New Roman" panose="02020603050405020304" pitchFamily="18" charset="0"/>
                <a:cs typeface="Times New Roman" panose="02020603050405020304" pitchFamily="18" charset="0"/>
              </a:rPr>
              <a:t>Un avantage important des sauvegardes différentielles est que la restauration des données est relativement facile, flexible et ne nécessite pas d’avoir un grand stockage. Quel que soit le jour où vous voulez ou devez effectuer une opération de restauration, il suffit de la dernière sauvegarde complète et de la dernière sauvegarde différentielle pour effectuer une sauvegarde complète.</a:t>
            </a:r>
          </a:p>
          <a:p>
            <a:endParaRPr lang="en-US" dirty="0"/>
          </a:p>
        </p:txBody>
      </p:sp>
    </p:spTree>
    <p:extLst>
      <p:ext uri="{BB962C8B-B14F-4D97-AF65-F5344CB8AC3E}">
        <p14:creationId xmlns:p14="http://schemas.microsoft.com/office/powerpoint/2010/main" val="4192104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3D923-9E96-4A37-AFB4-F150CB014F14}"/>
              </a:ext>
            </a:extLst>
          </p:cNvPr>
          <p:cNvSpPr>
            <a:spLocks noGrp="1"/>
          </p:cNvSpPr>
          <p:nvPr>
            <p:ph type="ctrTitle"/>
          </p:nvPr>
        </p:nvSpPr>
        <p:spPr>
          <a:xfrm>
            <a:off x="1524000" y="616099"/>
            <a:ext cx="9144000" cy="1071299"/>
          </a:xfrm>
        </p:spPr>
        <p:txBody>
          <a:bodyPr>
            <a:normAutofit/>
          </a:bodyPr>
          <a:lstStyle/>
          <a:p>
            <a:r>
              <a:rPr lang="fr-FR" sz="2400" dirty="0">
                <a:latin typeface="Times New Roman" panose="02020603050405020304" pitchFamily="18" charset="0"/>
                <a:cs typeface="Times New Roman" panose="02020603050405020304" pitchFamily="18" charset="0"/>
              </a:rPr>
              <a:t>Qu'est-ce qu'une stratégie de sauvegarde ?</a:t>
            </a:r>
            <a:endParaRPr lang="en-US" sz="2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0C7B86EA-43EE-4DE4-86F2-11BB4EFD28DA}"/>
              </a:ext>
            </a:extLst>
          </p:cNvPr>
          <p:cNvSpPr>
            <a:spLocks noGrp="1"/>
          </p:cNvSpPr>
          <p:nvPr>
            <p:ph type="subTitle" idx="1"/>
          </p:nvPr>
        </p:nvSpPr>
        <p:spPr>
          <a:xfrm>
            <a:off x="1524000" y="2337847"/>
            <a:ext cx="9144000" cy="2919953"/>
          </a:xfrm>
        </p:spPr>
        <p:txBody>
          <a:bodyPr/>
          <a:lstStyle/>
          <a:p>
            <a:pPr algn="just"/>
            <a:r>
              <a:rPr lang="fr-FR" dirty="0">
                <a:latin typeface="Times New Roman" panose="02020603050405020304" pitchFamily="18" charset="0"/>
                <a:cs typeface="Times New Roman" panose="02020603050405020304" pitchFamily="18" charset="0"/>
              </a:rPr>
              <a:t> Une stratégie de sauvegarde est un plan conçu pour garantir que les données essentielles de l'entreprise sont sauvegardées et prêtes à être restaurées en cas de perte de données.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68348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2CAF5-0F64-4A7F-B4D7-AD94183BD672}"/>
              </a:ext>
            </a:extLst>
          </p:cNvPr>
          <p:cNvSpPr>
            <a:spLocks noGrp="1"/>
          </p:cNvSpPr>
          <p:nvPr>
            <p:ph type="ctrTitle"/>
          </p:nvPr>
        </p:nvSpPr>
        <p:spPr>
          <a:xfrm>
            <a:off x="1524000" y="235671"/>
            <a:ext cx="9144000" cy="1364530"/>
          </a:xfrm>
        </p:spPr>
        <p:txBody>
          <a:bodyPr>
            <a:normAutofit/>
          </a:bodyPr>
          <a:lstStyle/>
          <a:p>
            <a:r>
              <a:rPr lang="fr-FR" sz="2700" dirty="0">
                <a:latin typeface="Times New Roman" panose="02020603050405020304" pitchFamily="18" charset="0"/>
                <a:cs typeface="Times New Roman" panose="02020603050405020304" pitchFamily="18" charset="0"/>
              </a:rPr>
              <a:t>Comment créer une stratégie de sauvegarde?</a:t>
            </a:r>
            <a:br>
              <a:rPr lang="fr-FR" dirty="0"/>
            </a:br>
            <a:endParaRPr lang="en-US" dirty="0"/>
          </a:p>
        </p:txBody>
      </p:sp>
      <p:sp>
        <p:nvSpPr>
          <p:cNvPr id="3" name="Subtitle 2">
            <a:extLst>
              <a:ext uri="{FF2B5EF4-FFF2-40B4-BE49-F238E27FC236}">
                <a16:creationId xmlns:a16="http://schemas.microsoft.com/office/drawing/2014/main" id="{77CB5158-BF8D-4CF8-8147-7D9FDC256FD5}"/>
              </a:ext>
            </a:extLst>
          </p:cNvPr>
          <p:cNvSpPr>
            <a:spLocks noGrp="1"/>
          </p:cNvSpPr>
          <p:nvPr>
            <p:ph type="subTitle" idx="1"/>
          </p:nvPr>
        </p:nvSpPr>
        <p:spPr>
          <a:xfrm>
            <a:off x="1524000" y="1018095"/>
            <a:ext cx="9144000" cy="5410985"/>
          </a:xfrm>
        </p:spPr>
        <p:txBody>
          <a:bodyPr/>
          <a:lstStyle/>
          <a:p>
            <a:pPr algn="just"/>
            <a:r>
              <a:rPr lang="fr-FR" dirty="0">
                <a:latin typeface="Times New Roman" panose="02020603050405020304" pitchFamily="18" charset="0"/>
                <a:cs typeface="Times New Roman" panose="02020603050405020304" pitchFamily="18" charset="0"/>
              </a:rPr>
              <a:t>L’élaboration d’une stratégie de sauvegarde peut sembler intimidante au départ, mais elle devient beaucoup plus facile à gérer lorsqu’elle est décomposée. Un bon point de départ consiste à utiliser un logiciel de sauvegarde spécifique, car les outils inclus dans le logiciel sont conçus pour faciliter les sauvegardes. Avec les bons outils en main, il est facile de créer une stratégie de sauvegarde.</a:t>
            </a:r>
          </a:p>
          <a:p>
            <a:pPr algn="just"/>
            <a:r>
              <a:rPr lang="fr-FR" dirty="0">
                <a:latin typeface="Times New Roman" panose="02020603050405020304" pitchFamily="18" charset="0"/>
                <a:cs typeface="Times New Roman" panose="02020603050405020304" pitchFamily="18" charset="0"/>
              </a:rPr>
              <a:t>Un plan couramment utilisé est la stratégie 3-2-1. Cela implique d’avoir au moins trois copies de vos données dans des endroits différents, deux copies sur des supports différents et une copie hors site. Cette stratégie vise à diversifier les lieux de stockage de vos sauvegardes afin de garantir la protection de vos données contre tout type de situation de perte de données.</a:t>
            </a:r>
          </a:p>
          <a:p>
            <a:endParaRPr lang="en-US" dirty="0"/>
          </a:p>
        </p:txBody>
      </p:sp>
    </p:spTree>
    <p:extLst>
      <p:ext uri="{BB962C8B-B14F-4D97-AF65-F5344CB8AC3E}">
        <p14:creationId xmlns:p14="http://schemas.microsoft.com/office/powerpoint/2010/main" val="7355344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30EA804-A5B9-455A-8479-103E353F1977}"/>
              </a:ext>
            </a:extLst>
          </p:cNvPr>
          <p:cNvSpPr/>
          <p:nvPr/>
        </p:nvSpPr>
        <p:spPr>
          <a:xfrm>
            <a:off x="1074656" y="820131"/>
            <a:ext cx="9596486" cy="2795958"/>
          </a:xfrm>
          <a:prstGeom prst="rect">
            <a:avLst/>
          </a:prstGeom>
        </p:spPr>
        <p:txBody>
          <a:bodyPr wrap="square">
            <a:spAutoFit/>
          </a:bodyPr>
          <a:lstStyle/>
          <a:p>
            <a:pPr algn="just">
              <a:lnSpc>
                <a:spcPct val="150000"/>
              </a:lnSpc>
            </a:pPr>
            <a:r>
              <a:rPr lang="fr-FR" sz="2400" b="0" i="0" dirty="0">
                <a:effectLst/>
                <a:latin typeface="Times New Roman" panose="02020603050405020304" pitchFamily="18" charset="0"/>
                <a:cs typeface="Times New Roman" panose="02020603050405020304" pitchFamily="18" charset="0"/>
              </a:rPr>
              <a:t>Il s’agit d’une excellente stratégie standard basée sur la stratégie de sauvegarde de votre entreprise. Mais, cette stratégie ne couvre que l’endroit où sont stockées vos sauvegardes. Vous devrez décider d’autres éléments qui auront un impact significatif sur le succès de votre stratégie de sauvegarde. Voici quatre étapes pour élaborer une stratégie de sauvegarde efficace :</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5021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6BDD3-09A0-4DA2-9568-8DB15608F5A0}"/>
              </a:ext>
            </a:extLst>
          </p:cNvPr>
          <p:cNvSpPr>
            <a:spLocks noGrp="1"/>
          </p:cNvSpPr>
          <p:nvPr>
            <p:ph type="ctrTitle"/>
          </p:nvPr>
        </p:nvSpPr>
        <p:spPr>
          <a:xfrm>
            <a:off x="1524000" y="150829"/>
            <a:ext cx="9144000" cy="1536569"/>
          </a:xfrm>
        </p:spPr>
        <p:txBody>
          <a:bodyPr>
            <a:normAutofit/>
          </a:bodyPr>
          <a:lstStyle/>
          <a:p>
            <a:r>
              <a:rPr lang="fr-FR" sz="2700" dirty="0">
                <a:latin typeface="Times New Roman" panose="02020603050405020304" pitchFamily="18" charset="0"/>
                <a:cs typeface="Times New Roman" panose="02020603050405020304" pitchFamily="18" charset="0"/>
              </a:rPr>
              <a:t>Déterminez l’importance et la disponibilité des données</a:t>
            </a:r>
            <a:br>
              <a:rPr lang="fr-FR" dirty="0"/>
            </a:br>
            <a:endParaRPr lang="en-US" dirty="0"/>
          </a:p>
        </p:txBody>
      </p:sp>
      <p:sp>
        <p:nvSpPr>
          <p:cNvPr id="3" name="Subtitle 2">
            <a:extLst>
              <a:ext uri="{FF2B5EF4-FFF2-40B4-BE49-F238E27FC236}">
                <a16:creationId xmlns:a16="http://schemas.microsoft.com/office/drawing/2014/main" id="{6C4CD69D-4773-46AA-A2AC-F4511B557BBC}"/>
              </a:ext>
            </a:extLst>
          </p:cNvPr>
          <p:cNvSpPr>
            <a:spLocks noGrp="1"/>
          </p:cNvSpPr>
          <p:nvPr>
            <p:ph type="subTitle" idx="1"/>
          </p:nvPr>
        </p:nvSpPr>
        <p:spPr>
          <a:xfrm>
            <a:off x="1524000" y="1376313"/>
            <a:ext cx="9144000" cy="4920792"/>
          </a:xfrm>
        </p:spPr>
        <p:txBody>
          <a:bodyPr/>
          <a:lstStyle/>
          <a:p>
            <a:pPr algn="just"/>
            <a:r>
              <a:rPr lang="fr-FR" dirty="0">
                <a:latin typeface="Times New Roman" panose="02020603050405020304" pitchFamily="18" charset="0"/>
                <a:cs typeface="Times New Roman" panose="02020603050405020304" pitchFamily="18" charset="0"/>
              </a:rPr>
              <a:t>Chaque secteur d’activité dispose de différents types de données qu’il collecte. Par conséquent, il est essentiel de savoir quelles données sont cruciales pour les opérations commerciales en cours, car vous pouvez alors donner la priorité à la sauvegarde de ces données particulières.</a:t>
            </a:r>
          </a:p>
          <a:p>
            <a:pPr algn="just"/>
            <a:r>
              <a:rPr lang="fr-FR" dirty="0">
                <a:latin typeface="Times New Roman" panose="02020603050405020304" pitchFamily="18" charset="0"/>
                <a:cs typeface="Times New Roman" panose="02020603050405020304" pitchFamily="18" charset="0"/>
              </a:rPr>
              <a:t>Les données commerciales essentielles doivent également être disponibles rapidement après une perte de données. Tout d’abord, décidez dans quel délai vous souhaitez que les données perdues soient disponibles et comparez-le avec le coût et les ressources nécessaires au déploiement et à la maintenance de sauvegardes de différentes tailles. Cela signifie souvent qu’il faut choisir entre des sauvegardes sur site, hors site ou sur le cloud.</a:t>
            </a:r>
          </a:p>
          <a:p>
            <a:endParaRPr lang="en-US" dirty="0"/>
          </a:p>
        </p:txBody>
      </p:sp>
    </p:spTree>
    <p:extLst>
      <p:ext uri="{BB962C8B-B14F-4D97-AF65-F5344CB8AC3E}">
        <p14:creationId xmlns:p14="http://schemas.microsoft.com/office/powerpoint/2010/main" val="19584051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E8E74-960F-4737-BCEB-E60F371FCCA3}"/>
              </a:ext>
            </a:extLst>
          </p:cNvPr>
          <p:cNvSpPr>
            <a:spLocks noGrp="1"/>
          </p:cNvSpPr>
          <p:nvPr>
            <p:ph type="ctrTitle"/>
          </p:nvPr>
        </p:nvSpPr>
        <p:spPr>
          <a:xfrm>
            <a:off x="1524000" y="433634"/>
            <a:ext cx="9144000" cy="1385740"/>
          </a:xfrm>
        </p:spPr>
        <p:txBody>
          <a:bodyPr>
            <a:normAutofit/>
          </a:bodyPr>
          <a:lstStyle/>
          <a:p>
            <a:r>
              <a:rPr lang="fr-FR" sz="2700" dirty="0">
                <a:latin typeface="Times New Roman" panose="02020603050405020304" pitchFamily="18" charset="0"/>
                <a:cs typeface="Times New Roman" panose="02020603050405020304" pitchFamily="18" charset="0"/>
              </a:rPr>
              <a:t>Décidez la fréquence et la régulation</a:t>
            </a:r>
            <a:br>
              <a:rPr lang="fr-FR" dirty="0"/>
            </a:br>
            <a:endParaRPr lang="en-US" dirty="0"/>
          </a:p>
        </p:txBody>
      </p:sp>
      <p:sp>
        <p:nvSpPr>
          <p:cNvPr id="3" name="Subtitle 2">
            <a:extLst>
              <a:ext uri="{FF2B5EF4-FFF2-40B4-BE49-F238E27FC236}">
                <a16:creationId xmlns:a16="http://schemas.microsoft.com/office/drawing/2014/main" id="{A2D30E39-55AF-4700-A3DB-316B08C6BD3E}"/>
              </a:ext>
            </a:extLst>
          </p:cNvPr>
          <p:cNvSpPr>
            <a:spLocks noGrp="1"/>
          </p:cNvSpPr>
          <p:nvPr>
            <p:ph type="subTitle" idx="1"/>
          </p:nvPr>
        </p:nvSpPr>
        <p:spPr>
          <a:xfrm>
            <a:off x="1524000" y="1366887"/>
            <a:ext cx="9144000" cy="5137607"/>
          </a:xfrm>
        </p:spPr>
        <p:txBody>
          <a:bodyPr>
            <a:normAutofit/>
          </a:bodyPr>
          <a:lstStyle/>
          <a:p>
            <a:pPr algn="just"/>
            <a:r>
              <a:rPr lang="fr-FR" dirty="0">
                <a:latin typeface="Times New Roman" panose="02020603050405020304" pitchFamily="18" charset="0"/>
                <a:cs typeface="Times New Roman" panose="02020603050405020304" pitchFamily="18" charset="0"/>
              </a:rPr>
              <a:t>Lorsqu’il s’agit de sauvegarder vos données, la régulation de la fréquence des sauvegardes a une grande importance. Vous pouvez choisir parmi plusieurs types de sauvegarde, et chacun d’eux peut avoir des fréquences différentes. Ainsi, par exemple, en cas de perte de données, les données que vous êtes en mesure de récupérer dépendent de la fréquence de vos sauvegardes. Vous ne pourrez donc conserver que les données les plus récemment sauvegardées. Tout ce qui a été fait depuis sera perdu, et vous devrez trouver un moyen de le récupérer.</a:t>
            </a:r>
          </a:p>
          <a:p>
            <a:pPr algn="just"/>
            <a:r>
              <a:rPr lang="fr-FR" dirty="0">
                <a:latin typeface="Times New Roman" panose="02020603050405020304" pitchFamily="18" charset="0"/>
                <a:cs typeface="Times New Roman" panose="02020603050405020304" pitchFamily="18" charset="0"/>
              </a:rPr>
              <a:t>C’est également là que la réglementation est essentielle. Pensez à la quantité de données dont dispose actuellement votre entreprise et à la quantité qu’elle produit. Ensuite, réfléchissez à la fréquence à laquelle toutes ces données doivent être sauvegardées. Enfin, la régulation de vos sauvegardes vous permet de prendre le contrôle et de maintenir la fréquence et la qualité de vos sauvegardes.</a:t>
            </a:r>
          </a:p>
          <a:p>
            <a:endParaRPr lang="en-US" dirty="0"/>
          </a:p>
        </p:txBody>
      </p:sp>
    </p:spTree>
    <p:extLst>
      <p:ext uri="{BB962C8B-B14F-4D97-AF65-F5344CB8AC3E}">
        <p14:creationId xmlns:p14="http://schemas.microsoft.com/office/powerpoint/2010/main" val="3805371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3AB3A-A970-4AD4-889B-77673F3C69FC}"/>
              </a:ext>
            </a:extLst>
          </p:cNvPr>
          <p:cNvSpPr>
            <a:spLocks noGrp="1"/>
          </p:cNvSpPr>
          <p:nvPr>
            <p:ph type="ctrTitle"/>
          </p:nvPr>
        </p:nvSpPr>
        <p:spPr>
          <a:xfrm>
            <a:off x="1627695" y="289874"/>
            <a:ext cx="9144000" cy="1310326"/>
          </a:xfrm>
        </p:spPr>
        <p:txBody>
          <a:bodyPr>
            <a:normAutofit fontScale="90000"/>
          </a:bodyPr>
          <a:lstStyle/>
          <a:p>
            <a:r>
              <a:rPr lang="en-US" dirty="0"/>
              <a:t> </a:t>
            </a:r>
            <a:r>
              <a:rPr lang="en-US" sz="2700" dirty="0" err="1">
                <a:latin typeface="Times New Roman" panose="02020603050405020304" pitchFamily="18" charset="0"/>
                <a:cs typeface="Times New Roman" panose="02020603050405020304" pitchFamily="18" charset="0"/>
              </a:rPr>
              <a:t>Déploiement</a:t>
            </a:r>
            <a:br>
              <a:rPr lang="en-US" dirty="0"/>
            </a:br>
            <a:endParaRPr lang="en-US" dirty="0"/>
          </a:p>
        </p:txBody>
      </p:sp>
      <p:sp>
        <p:nvSpPr>
          <p:cNvPr id="3" name="Subtitle 2">
            <a:extLst>
              <a:ext uri="{FF2B5EF4-FFF2-40B4-BE49-F238E27FC236}">
                <a16:creationId xmlns:a16="http://schemas.microsoft.com/office/drawing/2014/main" id="{B6BE6E7F-0FA5-46FC-B3E9-926762A88E0A}"/>
              </a:ext>
            </a:extLst>
          </p:cNvPr>
          <p:cNvSpPr>
            <a:spLocks noGrp="1"/>
          </p:cNvSpPr>
          <p:nvPr>
            <p:ph type="subTitle" idx="1"/>
          </p:nvPr>
        </p:nvSpPr>
        <p:spPr>
          <a:xfrm>
            <a:off x="1524000" y="1348033"/>
            <a:ext cx="9144000" cy="5109328"/>
          </a:xfrm>
        </p:spPr>
        <p:txBody>
          <a:bodyPr>
            <a:normAutofit lnSpcReduction="10000"/>
          </a:bodyPr>
          <a:lstStyle/>
          <a:p>
            <a:pPr algn="just">
              <a:lnSpc>
                <a:spcPct val="150000"/>
              </a:lnSpc>
            </a:pPr>
            <a:r>
              <a:rPr lang="fr-FR" dirty="0">
                <a:latin typeface="Times New Roman" panose="02020603050405020304" pitchFamily="18" charset="0"/>
                <a:cs typeface="Times New Roman" panose="02020603050405020304" pitchFamily="18" charset="0"/>
              </a:rPr>
              <a:t>L’étape suivante consiste à déployer vos sauvegardes après avoir réfléchi et planifié la façon dont vous allez sauvegarder vos données. Par exemple, allez-vous sauvegarder manuellement les informations ou les confier à un appareil ou à un système pour qu’il effectue la tâche ?</a:t>
            </a:r>
          </a:p>
          <a:p>
            <a:pPr algn="just">
              <a:lnSpc>
                <a:spcPct val="150000"/>
              </a:lnSpc>
            </a:pPr>
            <a:r>
              <a:rPr lang="fr-FR" dirty="0">
                <a:latin typeface="Times New Roman" panose="02020603050405020304" pitchFamily="18" charset="0"/>
                <a:cs typeface="Times New Roman" panose="02020603050405020304" pitchFamily="18" charset="0"/>
              </a:rPr>
              <a:t>Il serait préférable que vous créiez également un calendrier basé sur la fréquence des sauvegardes et la disponibilité des données que vous avez décidées précédemment. Assurez-vous que le nombre de fois où vous déployez vos sauvegardes correspond à vos objectifs dans le cadre de votre stratégie de sauvegarde.</a:t>
            </a:r>
          </a:p>
          <a:p>
            <a:endParaRPr lang="en-US" dirty="0"/>
          </a:p>
        </p:txBody>
      </p:sp>
    </p:spTree>
    <p:extLst>
      <p:ext uri="{BB962C8B-B14F-4D97-AF65-F5344CB8AC3E}">
        <p14:creationId xmlns:p14="http://schemas.microsoft.com/office/powerpoint/2010/main" val="12907776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04A3C-EDE2-489F-A895-C6B09547FABF}"/>
              </a:ext>
            </a:extLst>
          </p:cNvPr>
          <p:cNvSpPr>
            <a:spLocks noGrp="1"/>
          </p:cNvSpPr>
          <p:nvPr>
            <p:ph type="ctrTitle"/>
          </p:nvPr>
        </p:nvSpPr>
        <p:spPr>
          <a:xfrm>
            <a:off x="1524000" y="329939"/>
            <a:ext cx="9144000" cy="1270262"/>
          </a:xfrm>
        </p:spPr>
        <p:txBody>
          <a:bodyPr>
            <a:normAutofit fontScale="90000"/>
          </a:bodyPr>
          <a:lstStyle/>
          <a:p>
            <a:r>
              <a:rPr lang="fr-FR" sz="2700" dirty="0">
                <a:latin typeface="Times New Roman" panose="02020603050405020304" pitchFamily="18" charset="0"/>
                <a:cs typeface="Times New Roman" panose="02020603050405020304" pitchFamily="18" charset="0"/>
              </a:rPr>
              <a:t>Testez votre processus de restauration</a:t>
            </a:r>
            <a:br>
              <a:rPr lang="fr-FR" dirty="0"/>
            </a:br>
            <a:endParaRPr lang="en-US" dirty="0"/>
          </a:p>
        </p:txBody>
      </p:sp>
      <p:sp>
        <p:nvSpPr>
          <p:cNvPr id="3" name="Subtitle 2">
            <a:extLst>
              <a:ext uri="{FF2B5EF4-FFF2-40B4-BE49-F238E27FC236}">
                <a16:creationId xmlns:a16="http://schemas.microsoft.com/office/drawing/2014/main" id="{E3A8BEF6-4756-4547-B59E-4A38D43A0548}"/>
              </a:ext>
            </a:extLst>
          </p:cNvPr>
          <p:cNvSpPr>
            <a:spLocks noGrp="1"/>
          </p:cNvSpPr>
          <p:nvPr>
            <p:ph type="subTitle" idx="1"/>
          </p:nvPr>
        </p:nvSpPr>
        <p:spPr>
          <a:xfrm>
            <a:off x="1524000" y="1282045"/>
            <a:ext cx="9144000" cy="4779390"/>
          </a:xfrm>
        </p:spPr>
        <p:txBody>
          <a:bodyPr>
            <a:normAutofit/>
          </a:bodyPr>
          <a:lstStyle/>
          <a:p>
            <a:pPr algn="just"/>
            <a:r>
              <a:rPr lang="fr-FR" dirty="0">
                <a:latin typeface="Times New Roman" panose="02020603050405020304" pitchFamily="18" charset="0"/>
                <a:cs typeface="Times New Roman" panose="02020603050405020304" pitchFamily="18" charset="0"/>
              </a:rPr>
              <a:t>L’étape finale pour créer une stratégie de sauvegarde efficace est de s’assurer que votre procédure de sauvegarde fonctionne, en la testant. Il n’est jamais bon de supposer que votre stratégie de sauvegarde fonctionne sans l’essayer. Une stratégie de sauvegarde échoue en fin de compte si elle ne parvient pas à sauvegarder vos données et à les restaurer correctement de façon aisée.</a:t>
            </a:r>
          </a:p>
          <a:p>
            <a:pPr algn="just"/>
            <a:r>
              <a:rPr lang="fr-FR" dirty="0">
                <a:latin typeface="Times New Roman" panose="02020603050405020304" pitchFamily="18" charset="0"/>
                <a:cs typeface="Times New Roman" panose="02020603050405020304" pitchFamily="18" charset="0"/>
              </a:rPr>
              <a:t>Les tests peuvent être réalisés à l’aide de simulations. Les simulations reproduisent ce qui se passerait en cas de perte réelle de données. Lorsque les tests sont effectués, ils peuvent vous fournir des informations importantes, comme la rapidité avec laquelle vous pouvez remettre votre entreprise en marche. Il permet également de mettre en évidence tout problème lié au processus de sauvegarde et de restauration que vous auriez pu négliger ou ignorer auparavant.</a:t>
            </a:r>
          </a:p>
          <a:p>
            <a:endParaRPr lang="en-US" dirty="0"/>
          </a:p>
        </p:txBody>
      </p:sp>
    </p:spTree>
    <p:extLst>
      <p:ext uri="{BB962C8B-B14F-4D97-AF65-F5344CB8AC3E}">
        <p14:creationId xmlns:p14="http://schemas.microsoft.com/office/powerpoint/2010/main" val="21618298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DD53F-ABC7-4B30-B15F-1073565C5699}"/>
              </a:ext>
            </a:extLst>
          </p:cNvPr>
          <p:cNvSpPr>
            <a:spLocks noGrp="1"/>
          </p:cNvSpPr>
          <p:nvPr>
            <p:ph type="ctrTitle"/>
          </p:nvPr>
        </p:nvSpPr>
        <p:spPr>
          <a:xfrm>
            <a:off x="1524000" y="292231"/>
            <a:ext cx="9144000" cy="1121790"/>
          </a:xfrm>
        </p:spPr>
        <p:txBody>
          <a:bodyPr>
            <a:normAutofit/>
          </a:bodyPr>
          <a:lstStyle/>
          <a:p>
            <a:r>
              <a:rPr lang="en-US" sz="2400" dirty="0">
                <a:latin typeface="Times New Roman" panose="02020603050405020304" pitchFamily="18" charset="0"/>
                <a:cs typeface="Times New Roman" panose="02020603050405020304" pitchFamily="18" charset="0"/>
              </a:rPr>
              <a:t>PCA et PRA</a:t>
            </a:r>
          </a:p>
        </p:txBody>
      </p:sp>
      <p:sp>
        <p:nvSpPr>
          <p:cNvPr id="3" name="Subtitle 2">
            <a:extLst>
              <a:ext uri="{FF2B5EF4-FFF2-40B4-BE49-F238E27FC236}">
                <a16:creationId xmlns:a16="http://schemas.microsoft.com/office/drawing/2014/main" id="{F4B08CAF-CA2C-490A-A0DB-FACAC3C1E292}"/>
              </a:ext>
            </a:extLst>
          </p:cNvPr>
          <p:cNvSpPr>
            <a:spLocks noGrp="1"/>
          </p:cNvSpPr>
          <p:nvPr>
            <p:ph type="subTitle" idx="1"/>
          </p:nvPr>
        </p:nvSpPr>
        <p:spPr>
          <a:xfrm>
            <a:off x="1524000" y="1819373"/>
            <a:ext cx="9144000" cy="3476134"/>
          </a:xfrm>
        </p:spPr>
        <p:txBody>
          <a:bodyPr>
            <a:normAutofit/>
          </a:bodyPr>
          <a:lstStyle/>
          <a:p>
            <a:pPr algn="just">
              <a:lnSpc>
                <a:spcPct val="150000"/>
              </a:lnSpc>
            </a:pPr>
            <a:r>
              <a:rPr lang="fr-FR" b="1" dirty="0">
                <a:latin typeface="Times New Roman" panose="02020603050405020304" pitchFamily="18" charset="0"/>
                <a:cs typeface="Times New Roman" panose="02020603050405020304" pitchFamily="18" charset="0"/>
              </a:rPr>
              <a:t>PCA</a:t>
            </a:r>
            <a:r>
              <a:rPr lang="fr-FR" dirty="0">
                <a:latin typeface="Times New Roman" panose="02020603050405020304" pitchFamily="18" charset="0"/>
                <a:cs typeface="Times New Roman" panose="02020603050405020304" pitchFamily="18" charset="0"/>
              </a:rPr>
              <a:t> et PRA ont des objectifs différents. Les plans de continuité efficaces luttent contre les arrêts opérationnels. Les plans de reprise après sinistre préparent une remise en service la plus rapide possible après une interruption. Certaines entreprises peuvent intégrer des stratégies de reprise après sinistre dans le cadre de leurs PCA.</a:t>
            </a:r>
          </a:p>
        </p:txBody>
      </p:sp>
    </p:spTree>
    <p:extLst>
      <p:ext uri="{BB962C8B-B14F-4D97-AF65-F5344CB8AC3E}">
        <p14:creationId xmlns:p14="http://schemas.microsoft.com/office/powerpoint/2010/main" val="235633823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docProps/app.xml><?xml version="1.0" encoding="utf-8"?>
<Properties xmlns="http://schemas.openxmlformats.org/officeDocument/2006/extended-properties" xmlns:vt="http://schemas.openxmlformats.org/officeDocument/2006/docPropsVTypes">
  <Template>Office Theme</Template>
  <TotalTime>192</TotalTime>
  <Words>946</Words>
  <Application>Microsoft Office PowerPoint</Application>
  <PresentationFormat>Widescreen</PresentationFormat>
  <Paragraphs>48</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Times New Roman</vt:lpstr>
      <vt:lpstr>Office Theme</vt:lpstr>
      <vt:lpstr> DATA BACKUP AND DESEASTER RECOVERY</vt:lpstr>
      <vt:lpstr>Plan du cours</vt:lpstr>
      <vt:lpstr>la Sauvegarde des données</vt:lpstr>
      <vt:lpstr>Importance de la sauvegarde des données</vt:lpstr>
      <vt:lpstr>Types de sauvegarde (backup) </vt:lpstr>
      <vt:lpstr>Sauvegarde complète </vt:lpstr>
      <vt:lpstr>Avantage</vt:lpstr>
      <vt:lpstr>Sauvegarde incrémentielle </vt:lpstr>
      <vt:lpstr>Avantage</vt:lpstr>
      <vt:lpstr>Sauvegarde différentielle </vt:lpstr>
      <vt:lpstr>Avantage</vt:lpstr>
      <vt:lpstr>Qu'est-ce qu'une stratégie de sauvegarde ?</vt:lpstr>
      <vt:lpstr>Comment créer une stratégie de sauvegarde? </vt:lpstr>
      <vt:lpstr>PowerPoint Presentation</vt:lpstr>
      <vt:lpstr>Déterminez l’importance et la disponibilité des données </vt:lpstr>
      <vt:lpstr>Décidez la fréquence et la régulation </vt:lpstr>
      <vt:lpstr> Déploiement </vt:lpstr>
      <vt:lpstr>Testez votre processus de restauration </vt:lpstr>
      <vt:lpstr>PCA et PRA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Types de sauvegarde (backup)</dc:title>
  <dc:creator>hp</dc:creator>
  <cp:lastModifiedBy>hp</cp:lastModifiedBy>
  <cp:revision>15</cp:revision>
  <dcterms:created xsi:type="dcterms:W3CDTF">2024-02-09T18:01:28Z</dcterms:created>
  <dcterms:modified xsi:type="dcterms:W3CDTF">2024-12-11T08:20:11Z</dcterms:modified>
</cp:coreProperties>
</file>