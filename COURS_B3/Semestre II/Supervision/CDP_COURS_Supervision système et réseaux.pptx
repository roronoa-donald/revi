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50" r:id="rId1"/>
  </p:sldMasterIdLst>
  <p:notesMasterIdLst>
    <p:notesMasterId r:id="rId16"/>
  </p:notesMasterIdLst>
  <p:sldIdLst>
    <p:sldId id="256" r:id="rId2"/>
    <p:sldId id="348" r:id="rId3"/>
    <p:sldId id="560" r:id="rId4"/>
    <p:sldId id="559" r:id="rId5"/>
    <p:sldId id="349" r:id="rId6"/>
    <p:sldId id="350" r:id="rId7"/>
    <p:sldId id="621" r:id="rId8"/>
    <p:sldId id="622" r:id="rId9"/>
    <p:sldId id="623" r:id="rId10"/>
    <p:sldId id="624" r:id="rId11"/>
    <p:sldId id="625" r:id="rId12"/>
    <p:sldId id="626" r:id="rId13"/>
    <p:sldId id="628" r:id="rId14"/>
    <p:sldId id="62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51110C-4219-4EB4-B17B-39406971B367}" type="datetimeFigureOut">
              <a:rPr lang="fr-FR" smtClean="0"/>
              <a:t>16/04/2025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80FC1E-FD32-4A86-948B-90483BFC72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6928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74EC9-40E4-490B-9853-16A9015B1053}" type="datetime1">
              <a:rPr lang="en-US" smtClean="0"/>
              <a:t>4/16/2025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592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4E164-8E60-4C13-8119-C14DFFF7D4C9}" type="datetime1">
              <a:rPr lang="en-US" smtClean="0"/>
              <a:t>4/16/2025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591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318F7-0039-464C-8A03-A93F9D87C370}" type="datetime1">
              <a:rPr lang="en-US" smtClean="0"/>
              <a:t>4/16/2025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516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30226-A599-4294-BA2C-4E3C8A1C22B1}" type="datetime1">
              <a:rPr lang="en-US" smtClean="0"/>
              <a:t>4/16/2025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159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A959A-DBFD-4A91-927F-817CED282719}" type="datetime1">
              <a:rPr lang="en-US" smtClean="0"/>
              <a:t>4/16/2025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53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136A2-A46A-4DA2-91B1-20DB3E5165F0}" type="datetime1">
              <a:rPr lang="en-US" smtClean="0"/>
              <a:t>4/16/2025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718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9CB5B-3BBA-4FDE-ADAF-A7B96B21F161}" type="datetime1">
              <a:rPr lang="en-US" smtClean="0"/>
              <a:t>4/16/2025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7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C9B33-6C99-49F0-9479-A621B9235D3C}" type="datetime1">
              <a:rPr lang="en-US" smtClean="0"/>
              <a:t>4/16/2025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808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413A8-7656-45D6-9CE7-E58ED81BD524}" type="datetime1">
              <a:rPr lang="en-US" smtClean="0"/>
              <a:t>4/16/2025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439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3CA3D-C7B2-408B-8D06-759A7A575F31}" type="datetime1">
              <a:rPr lang="en-US" smtClean="0"/>
              <a:t>4/16/2025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772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0F13F-CC75-48E1-8783-CC5B89D449C9}" type="datetime1">
              <a:rPr lang="en-US" smtClean="0"/>
              <a:t>4/16/2025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606126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8728A-E692-49ED-8A37-5F5ECD17049C}" type="datetime1">
              <a:rPr lang="en-US" smtClean="0"/>
              <a:t>4/16/2025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1588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60A25-03EA-4940-8C44-833DF425108A}" type="datetime1">
              <a:rPr lang="en-US" smtClean="0"/>
              <a:t>4/16/2025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797826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5FA4C-0ED6-42FF-91E0-6F463CBE3B6C}" type="datetime1">
              <a:rPr lang="en-US" smtClean="0"/>
              <a:t>4/16/2025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2714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5383C-639C-4370-98A3-BDAF078B938A}" type="datetime1">
              <a:rPr lang="en-US" smtClean="0"/>
              <a:t>4/16/2025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523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E29BC-2110-43A9-959E-11E76E7EFD5B}" type="datetime1">
              <a:rPr lang="en-US" smtClean="0"/>
              <a:t>4/16/2025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385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3BCFCC-A5D1-43F5-9525-83C2A59A424D}" type="datetime1">
              <a:rPr lang="en-US" smtClean="0"/>
              <a:t>4/16/2025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356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655286" y="4068836"/>
            <a:ext cx="9927770" cy="1443917"/>
          </a:xfrm>
        </p:spPr>
        <p:txBody>
          <a:bodyPr>
            <a:normAutofit fontScale="90000"/>
          </a:bodyPr>
          <a:lstStyle/>
          <a:p>
            <a:r>
              <a:rPr lang="fr-FR" sz="4800" b="1" dirty="0">
                <a:solidFill>
                  <a:schemeClr val="tx1"/>
                </a:solidFill>
              </a:rPr>
              <a:t>Supervision Système et Réseaux</a:t>
            </a:r>
            <a:br>
              <a:rPr lang="fr-FR" sz="4800" b="1" dirty="0">
                <a:solidFill>
                  <a:schemeClr val="tx1"/>
                </a:solidFill>
              </a:rPr>
            </a:br>
            <a:endParaRPr lang="fr-FR" sz="4800" b="1" dirty="0">
              <a:solidFill>
                <a:schemeClr val="tx1"/>
              </a:solidFill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732418" y="5353936"/>
            <a:ext cx="8915399" cy="1126283"/>
          </a:xfrm>
        </p:spPr>
        <p:txBody>
          <a:bodyPr>
            <a:normAutofit lnSpcReduction="10000"/>
          </a:bodyPr>
          <a:lstStyle/>
          <a:p>
            <a:r>
              <a:rPr lang="fr-FR" b="1" dirty="0">
                <a:solidFill>
                  <a:schemeClr val="tx1"/>
                </a:solidFill>
              </a:rPr>
              <a:t>Collège de Paris </a:t>
            </a:r>
          </a:p>
          <a:p>
            <a:r>
              <a:rPr lang="fr-FR" b="1" dirty="0">
                <a:solidFill>
                  <a:schemeClr val="tx1"/>
                </a:solidFill>
              </a:rPr>
              <a:t>B3-RSI</a:t>
            </a:r>
          </a:p>
          <a:p>
            <a:r>
              <a:rPr lang="fr-FR" b="1" dirty="0">
                <a:solidFill>
                  <a:schemeClr val="tx1"/>
                </a:solidFill>
              </a:rPr>
              <a:t>Licence Semestre 2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1393577" y="6480219"/>
            <a:ext cx="5425235" cy="339241"/>
          </a:xfrm>
        </p:spPr>
        <p:txBody>
          <a:bodyPr/>
          <a:lstStyle/>
          <a:p>
            <a:r>
              <a:rPr lang="en-US" b="1" dirty="0"/>
              <a:t>Présenté par Essowaba AHOULOUMI Ingénieur en Informatique et réseaux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7" name="Image 6" descr="Picture background">
            <a:extLst>
              <a:ext uri="{FF2B5EF4-FFF2-40B4-BE49-F238E27FC236}">
                <a16:creationId xmlns:a16="http://schemas.microsoft.com/office/drawing/2014/main" id="{6FF2FD32-891E-EC9F-09B2-8F622D60D0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0416" y="38540"/>
            <a:ext cx="9731141" cy="38404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9479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INTRODUCTION DU </a:t>
            </a:r>
            <a:r>
              <a:rPr lang="fr-FR" b="1" dirty="0">
                <a:solidFill>
                  <a:srgbClr val="FF0000"/>
                </a:solidFill>
              </a:rPr>
              <a:t>COURS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685109"/>
            <a:ext cx="8915400" cy="4297679"/>
          </a:xfrm>
        </p:spPr>
        <p:txBody>
          <a:bodyPr>
            <a:noAutofit/>
          </a:bodyPr>
          <a:lstStyle/>
          <a:p>
            <a:r>
              <a:rPr lang="fr-FR" sz="3200" b="1" dirty="0">
                <a:solidFill>
                  <a:schemeClr val="tx1"/>
                </a:solidFill>
              </a:rPr>
              <a:t>Dans un </a:t>
            </a:r>
            <a:r>
              <a:rPr lang="fr-FR" sz="3200" b="1" dirty="0">
                <a:solidFill>
                  <a:srgbClr val="FF0000"/>
                </a:solidFill>
              </a:rPr>
              <a:t>environnement</a:t>
            </a:r>
            <a:r>
              <a:rPr lang="fr-FR" sz="3200" b="1" dirty="0">
                <a:solidFill>
                  <a:schemeClr val="tx1"/>
                </a:solidFill>
              </a:rPr>
              <a:t> informatique moderne, où la </a:t>
            </a:r>
            <a:r>
              <a:rPr lang="fr-FR" sz="3200" b="1" dirty="0">
                <a:solidFill>
                  <a:srgbClr val="FF0000"/>
                </a:solidFill>
              </a:rPr>
              <a:t>disponibilité</a:t>
            </a:r>
            <a:r>
              <a:rPr lang="fr-FR" sz="3200" b="1" dirty="0">
                <a:solidFill>
                  <a:schemeClr val="tx1"/>
                </a:solidFill>
              </a:rPr>
              <a:t>, la performance et la </a:t>
            </a:r>
            <a:r>
              <a:rPr lang="fr-FR" sz="3200" b="1" dirty="0">
                <a:solidFill>
                  <a:srgbClr val="FF0000"/>
                </a:solidFill>
              </a:rPr>
              <a:t>sécurité </a:t>
            </a:r>
            <a:r>
              <a:rPr lang="fr-FR" sz="3200" b="1" dirty="0">
                <a:solidFill>
                  <a:schemeClr val="tx1"/>
                </a:solidFill>
              </a:rPr>
              <a:t>des infrastructures sont des priorités majeures, la </a:t>
            </a:r>
            <a:r>
              <a:rPr lang="fr-FR" sz="3200" b="1" dirty="0">
                <a:solidFill>
                  <a:srgbClr val="FF0000"/>
                </a:solidFill>
              </a:rPr>
              <a:t>supervision </a:t>
            </a:r>
            <a:r>
              <a:rPr lang="fr-FR" sz="3200" b="1" dirty="0">
                <a:solidFill>
                  <a:schemeClr val="tx1"/>
                </a:solidFill>
              </a:rPr>
              <a:t>des systèmes et des réseaux occupe une place centrale. 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53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INTRODUCTION DU </a:t>
            </a:r>
            <a:r>
              <a:rPr lang="fr-FR" b="1" dirty="0">
                <a:solidFill>
                  <a:srgbClr val="FF0000"/>
                </a:solidFill>
              </a:rPr>
              <a:t>COURS </a:t>
            </a:r>
            <a:r>
              <a:rPr lang="fr-FR" b="1" dirty="0">
                <a:solidFill>
                  <a:schemeClr val="tx1"/>
                </a:solidFill>
              </a:rPr>
              <a:t>(Suite)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3200" b="1" dirty="0">
                <a:solidFill>
                  <a:schemeClr val="tx1"/>
                </a:solidFill>
              </a:rPr>
              <a:t>Ce </a:t>
            </a:r>
            <a:r>
              <a:rPr lang="fr-FR" sz="3200" b="1" dirty="0">
                <a:solidFill>
                  <a:srgbClr val="FF0000"/>
                </a:solidFill>
              </a:rPr>
              <a:t>cours</a:t>
            </a:r>
            <a:r>
              <a:rPr lang="fr-FR" sz="3200" b="1" dirty="0">
                <a:solidFill>
                  <a:schemeClr val="tx1"/>
                </a:solidFill>
              </a:rPr>
              <a:t> a pour </a:t>
            </a:r>
            <a:r>
              <a:rPr lang="fr-FR" sz="3200" b="1" dirty="0">
                <a:solidFill>
                  <a:srgbClr val="FF0000"/>
                </a:solidFill>
              </a:rPr>
              <a:t>objectif</a:t>
            </a:r>
            <a:r>
              <a:rPr lang="fr-FR" sz="3200" b="1" dirty="0">
                <a:solidFill>
                  <a:schemeClr val="tx1"/>
                </a:solidFill>
              </a:rPr>
              <a:t> d’initier les étudiants aux principes fondamentaux, aux </a:t>
            </a:r>
            <a:r>
              <a:rPr lang="fr-FR" sz="3200" b="1" dirty="0">
                <a:solidFill>
                  <a:srgbClr val="FF0000"/>
                </a:solidFill>
              </a:rPr>
              <a:t>outils</a:t>
            </a:r>
            <a:r>
              <a:rPr lang="fr-FR" sz="3200" b="1" dirty="0">
                <a:solidFill>
                  <a:schemeClr val="tx1"/>
                </a:solidFill>
              </a:rPr>
              <a:t> et aux </a:t>
            </a:r>
            <a:r>
              <a:rPr lang="fr-FR" sz="3200" b="1" dirty="0">
                <a:solidFill>
                  <a:srgbClr val="FF0000"/>
                </a:solidFill>
              </a:rPr>
              <a:t>pratiques</a:t>
            </a:r>
            <a:r>
              <a:rPr lang="fr-FR" sz="3200" b="1" dirty="0">
                <a:solidFill>
                  <a:schemeClr val="tx1"/>
                </a:solidFill>
              </a:rPr>
              <a:t> de supervision des </a:t>
            </a:r>
            <a:r>
              <a:rPr lang="fr-FR" sz="3200" b="1" dirty="0">
                <a:solidFill>
                  <a:srgbClr val="FF0000"/>
                </a:solidFill>
              </a:rPr>
              <a:t>infrastructures </a:t>
            </a:r>
            <a:r>
              <a:rPr lang="fr-FR" sz="3200" b="1" dirty="0">
                <a:solidFill>
                  <a:schemeClr val="tx1"/>
                </a:solidFill>
              </a:rPr>
              <a:t>informatiques.</a:t>
            </a:r>
            <a:endParaRPr lang="fr-FR" sz="3200" dirty="0">
              <a:solidFill>
                <a:schemeClr val="tx1"/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389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PLAN DE PRESENTATION</a:t>
            </a:r>
            <a:br>
              <a:rPr lang="fr-FR" b="1" dirty="0">
                <a:solidFill>
                  <a:schemeClr val="tx1"/>
                </a:solidFill>
              </a:rPr>
            </a:br>
            <a:r>
              <a:rPr lang="fr-FR" b="1" dirty="0">
                <a:solidFill>
                  <a:schemeClr val="tx1"/>
                </a:solidFill>
              </a:rPr>
              <a:t>DU </a:t>
            </a:r>
            <a:r>
              <a:rPr lang="fr-FR" b="1" dirty="0">
                <a:solidFill>
                  <a:srgbClr val="C00000"/>
                </a:solidFill>
              </a:rPr>
              <a:t>COURS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34527" y="2076994"/>
            <a:ext cx="9028481" cy="4058814"/>
          </a:xfrm>
        </p:spPr>
        <p:txBody>
          <a:bodyPr>
            <a:norm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CHAPITRE I :</a:t>
            </a:r>
            <a:r>
              <a:rPr lang="fr-FR" sz="2400" b="1" dirty="0">
                <a:solidFill>
                  <a:schemeClr val="tx1"/>
                </a:solidFill>
              </a:rPr>
              <a:t> Introduction à la supervision</a:t>
            </a:r>
          </a:p>
          <a:p>
            <a:r>
              <a:rPr lang="fr-FR" sz="2400" b="1" dirty="0">
                <a:solidFill>
                  <a:srgbClr val="FF0000"/>
                </a:solidFill>
              </a:rPr>
              <a:t>CHAPITRE II : </a:t>
            </a:r>
            <a:r>
              <a:rPr lang="fr-FR" sz="2400" b="1" dirty="0">
                <a:solidFill>
                  <a:schemeClr val="tx1"/>
                </a:solidFill>
              </a:rPr>
              <a:t>Architecture des systèmes de supervision</a:t>
            </a:r>
          </a:p>
          <a:p>
            <a:r>
              <a:rPr lang="fr-FR" sz="2400" b="1" dirty="0">
                <a:solidFill>
                  <a:srgbClr val="FF0000"/>
                </a:solidFill>
              </a:rPr>
              <a:t>CHAPITRE III : </a:t>
            </a:r>
            <a:r>
              <a:rPr lang="fr-FR" sz="2400" b="1" dirty="0">
                <a:solidFill>
                  <a:schemeClr val="tx1"/>
                </a:solidFill>
              </a:rPr>
              <a:t>Outils de supervision open source</a:t>
            </a:r>
          </a:p>
          <a:p>
            <a:r>
              <a:rPr lang="fr-FR" sz="2400" b="1" dirty="0">
                <a:solidFill>
                  <a:srgbClr val="FF0000"/>
                </a:solidFill>
              </a:rPr>
              <a:t>CHAPITRE IV : </a:t>
            </a:r>
            <a:r>
              <a:rPr lang="fr-FR" sz="2400" b="1" dirty="0">
                <a:solidFill>
                  <a:schemeClr val="tx1"/>
                </a:solidFill>
              </a:rPr>
              <a:t>Cas pratiques de supervision</a:t>
            </a:r>
          </a:p>
          <a:p>
            <a:r>
              <a:rPr lang="fr-FR" sz="2400" b="1" dirty="0">
                <a:solidFill>
                  <a:srgbClr val="FF0000"/>
                </a:solidFill>
              </a:rPr>
              <a:t>CHAPITRE V :</a:t>
            </a:r>
            <a:r>
              <a:rPr lang="fr-FR" sz="2400" b="1" dirty="0">
                <a:solidFill>
                  <a:schemeClr val="tx1"/>
                </a:solidFill>
              </a:rPr>
              <a:t> Bonnes pratiques et stratégie de supervision</a:t>
            </a:r>
          </a:p>
          <a:p>
            <a:endParaRPr lang="fr-FR" b="1" dirty="0">
              <a:solidFill>
                <a:schemeClr val="tx1"/>
              </a:solidFill>
            </a:endParaRPr>
          </a:p>
          <a:p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40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92925" y="329899"/>
            <a:ext cx="8911687" cy="1280890"/>
          </a:xfrm>
        </p:spPr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CHAPITRE I : INTRODUCTION A LA</a:t>
            </a:r>
            <a:br>
              <a:rPr lang="fr-FR" b="1" dirty="0">
                <a:solidFill>
                  <a:schemeClr val="tx1"/>
                </a:solidFill>
              </a:rPr>
            </a:br>
            <a:r>
              <a:rPr lang="fr-FR" b="1" dirty="0">
                <a:solidFill>
                  <a:schemeClr val="tx1"/>
                </a:solidFill>
              </a:rPr>
              <a:t>					   SUPERVISION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07933" y="1703672"/>
            <a:ext cx="9396679" cy="4432136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chemeClr val="tx1"/>
                </a:solidFill>
              </a:rPr>
              <a:t>Dans ce </a:t>
            </a:r>
            <a:r>
              <a:rPr lang="fr-FR" sz="3200" b="1" dirty="0">
                <a:solidFill>
                  <a:srgbClr val="FF0000"/>
                </a:solidFill>
              </a:rPr>
              <a:t>1</a:t>
            </a:r>
            <a:r>
              <a:rPr lang="fr-FR" sz="3200" b="1" baseline="30000" dirty="0">
                <a:solidFill>
                  <a:srgbClr val="FF0000"/>
                </a:solidFill>
              </a:rPr>
              <a:t>er</a:t>
            </a:r>
            <a:r>
              <a:rPr lang="fr-FR" sz="3200" b="1" dirty="0">
                <a:solidFill>
                  <a:schemeClr val="tx1"/>
                </a:solidFill>
              </a:rPr>
              <a:t> </a:t>
            </a:r>
            <a:r>
              <a:rPr lang="fr-FR" sz="3200" b="1" dirty="0">
                <a:solidFill>
                  <a:srgbClr val="FF0000"/>
                </a:solidFill>
              </a:rPr>
              <a:t>Chapitre</a:t>
            </a:r>
            <a:r>
              <a:rPr lang="fr-FR" sz="3200" b="1" dirty="0">
                <a:solidFill>
                  <a:schemeClr val="tx1"/>
                </a:solidFill>
              </a:rPr>
              <a:t>, nous allons dans un premier temps, </a:t>
            </a:r>
            <a:r>
              <a:rPr lang="fr-FR" sz="3200" b="1" dirty="0">
                <a:solidFill>
                  <a:srgbClr val="FF0000"/>
                </a:solidFill>
              </a:rPr>
              <a:t>définir</a:t>
            </a:r>
            <a:r>
              <a:rPr lang="fr-FR" sz="3200" b="1" dirty="0">
                <a:solidFill>
                  <a:schemeClr val="tx1"/>
                </a:solidFill>
              </a:rPr>
              <a:t> la </a:t>
            </a:r>
            <a:r>
              <a:rPr lang="fr-FR" sz="3200" b="1" dirty="0">
                <a:solidFill>
                  <a:srgbClr val="FF0000"/>
                </a:solidFill>
              </a:rPr>
              <a:t>supervision</a:t>
            </a:r>
            <a:r>
              <a:rPr lang="fr-FR" sz="3200" b="1" dirty="0">
                <a:solidFill>
                  <a:schemeClr val="tx1"/>
                </a:solidFill>
              </a:rPr>
              <a:t>. Ensuite nous allons lister ses objectifs. 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Par après, nous verrons la différence entre les termes, </a:t>
            </a:r>
            <a:r>
              <a:rPr lang="fr-FR" sz="3200" b="1" dirty="0">
                <a:solidFill>
                  <a:srgbClr val="FF0000"/>
                </a:solidFill>
              </a:rPr>
              <a:t>supervision</a:t>
            </a:r>
            <a:r>
              <a:rPr lang="fr-FR" sz="3200" b="1" dirty="0">
                <a:solidFill>
                  <a:schemeClr val="tx1"/>
                </a:solidFill>
              </a:rPr>
              <a:t>, </a:t>
            </a:r>
            <a:r>
              <a:rPr lang="fr-FR" sz="3200" b="1" dirty="0">
                <a:solidFill>
                  <a:srgbClr val="FF0000"/>
                </a:solidFill>
              </a:rPr>
              <a:t>monitoring</a:t>
            </a:r>
            <a:r>
              <a:rPr lang="fr-FR" sz="3200" b="1" dirty="0">
                <a:solidFill>
                  <a:schemeClr val="tx1"/>
                </a:solidFill>
              </a:rPr>
              <a:t>, </a:t>
            </a:r>
            <a:r>
              <a:rPr lang="fr-FR" sz="3200" b="1" dirty="0">
                <a:solidFill>
                  <a:srgbClr val="FF0000"/>
                </a:solidFill>
              </a:rPr>
              <a:t>métrologie</a:t>
            </a:r>
            <a:r>
              <a:rPr lang="fr-FR" sz="3200" b="1" dirty="0">
                <a:solidFill>
                  <a:schemeClr val="tx1"/>
                </a:solidFill>
              </a:rPr>
              <a:t> et </a:t>
            </a:r>
            <a:r>
              <a:rPr lang="fr-FR" sz="3200" b="1" dirty="0">
                <a:solidFill>
                  <a:srgbClr val="FF0000"/>
                </a:solidFill>
              </a:rPr>
              <a:t>Audit</a:t>
            </a:r>
            <a:r>
              <a:rPr lang="fr-FR" sz="3200" b="1" dirty="0">
                <a:solidFill>
                  <a:schemeClr val="tx1"/>
                </a:solidFill>
              </a:rPr>
              <a:t>.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Enfin nous parlerons des périmètres de supervision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400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Définition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1" y="1819175"/>
            <a:ext cx="8017829" cy="3850106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chemeClr val="tx1"/>
                </a:solidFill>
              </a:rPr>
              <a:t>La </a:t>
            </a:r>
            <a:r>
              <a:rPr lang="fr-FR" sz="3200" b="1" dirty="0">
                <a:solidFill>
                  <a:srgbClr val="FF0000"/>
                </a:solidFill>
              </a:rPr>
              <a:t>supervision </a:t>
            </a:r>
            <a:r>
              <a:rPr lang="fr-FR" sz="3200" b="1" dirty="0">
                <a:solidFill>
                  <a:schemeClr val="tx1"/>
                </a:solidFill>
              </a:rPr>
              <a:t>informatique </a:t>
            </a:r>
            <a:r>
              <a:rPr lang="fr-FR" sz="3200" b="1" dirty="0">
                <a:solidFill>
                  <a:srgbClr val="FF0000"/>
                </a:solidFill>
              </a:rPr>
              <a:t>désigne</a:t>
            </a:r>
            <a:r>
              <a:rPr lang="fr-FR" sz="3200" b="1" dirty="0">
                <a:solidFill>
                  <a:schemeClr val="tx1"/>
                </a:solidFill>
              </a:rPr>
              <a:t> l’</a:t>
            </a:r>
            <a:r>
              <a:rPr lang="fr-FR" sz="3200" b="1" dirty="0">
                <a:solidFill>
                  <a:srgbClr val="FF0000"/>
                </a:solidFill>
              </a:rPr>
              <a:t>ensemble </a:t>
            </a:r>
            <a:r>
              <a:rPr lang="fr-FR" sz="3200" b="1" dirty="0">
                <a:solidFill>
                  <a:schemeClr val="tx1"/>
                </a:solidFill>
              </a:rPr>
              <a:t>des moyens mis en œuvre pour </a:t>
            </a:r>
            <a:r>
              <a:rPr lang="fr-FR" sz="3200" b="1" dirty="0">
                <a:solidFill>
                  <a:srgbClr val="FF0000"/>
                </a:solidFill>
              </a:rPr>
              <a:t>surveiller</a:t>
            </a:r>
            <a:r>
              <a:rPr lang="fr-FR" sz="3200" b="1" dirty="0">
                <a:solidFill>
                  <a:schemeClr val="tx1"/>
                </a:solidFill>
              </a:rPr>
              <a:t> en </a:t>
            </a:r>
            <a:r>
              <a:rPr lang="fr-FR" sz="3200" b="1" dirty="0">
                <a:solidFill>
                  <a:srgbClr val="FF0000"/>
                </a:solidFill>
              </a:rPr>
              <a:t>temps réel </a:t>
            </a:r>
            <a:r>
              <a:rPr lang="fr-FR" sz="3200" b="1" dirty="0">
                <a:solidFill>
                  <a:schemeClr val="tx1"/>
                </a:solidFill>
              </a:rPr>
              <a:t>le bon </a:t>
            </a:r>
            <a:r>
              <a:rPr lang="fr-FR" sz="3200" b="1" dirty="0">
                <a:solidFill>
                  <a:srgbClr val="FF0000"/>
                </a:solidFill>
              </a:rPr>
              <a:t>fonctionnement </a:t>
            </a:r>
            <a:r>
              <a:rPr lang="fr-FR" sz="3200" b="1" dirty="0">
                <a:solidFill>
                  <a:schemeClr val="tx1"/>
                </a:solidFill>
              </a:rPr>
              <a:t>des </a:t>
            </a:r>
            <a:r>
              <a:rPr lang="fr-FR" sz="3200" b="1" dirty="0">
                <a:solidFill>
                  <a:srgbClr val="FF0000"/>
                </a:solidFill>
              </a:rPr>
              <a:t>infrastructures</a:t>
            </a:r>
            <a:r>
              <a:rPr lang="fr-FR" sz="3200" b="1" dirty="0">
                <a:solidFill>
                  <a:schemeClr val="tx1"/>
                </a:solidFill>
              </a:rPr>
              <a:t> informatiques (systèmes, réseaux, applications).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4900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Objectifs de la supervision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1" y="1809549"/>
            <a:ext cx="8720473" cy="3859732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chemeClr val="tx1"/>
                </a:solidFill>
              </a:rPr>
              <a:t>Assurer la </a:t>
            </a:r>
            <a:r>
              <a:rPr lang="fr-FR" sz="3200" b="1" dirty="0">
                <a:solidFill>
                  <a:srgbClr val="FF0000"/>
                </a:solidFill>
              </a:rPr>
              <a:t>disponibilité</a:t>
            </a:r>
            <a:r>
              <a:rPr lang="fr-FR" sz="3200" b="1" dirty="0">
                <a:solidFill>
                  <a:schemeClr val="tx1"/>
                </a:solidFill>
              </a:rPr>
              <a:t> des </a:t>
            </a:r>
            <a:r>
              <a:rPr lang="fr-FR" sz="3200" b="1" dirty="0">
                <a:solidFill>
                  <a:srgbClr val="FF0000"/>
                </a:solidFill>
              </a:rPr>
              <a:t>systèmes</a:t>
            </a:r>
            <a:r>
              <a:rPr lang="fr-FR" sz="3200" b="1" dirty="0">
                <a:solidFill>
                  <a:schemeClr val="tx1"/>
                </a:solidFill>
              </a:rPr>
              <a:t> et </a:t>
            </a:r>
            <a:r>
              <a:rPr lang="fr-FR" sz="3200" b="1" dirty="0">
                <a:solidFill>
                  <a:srgbClr val="FF0000"/>
                </a:solidFill>
              </a:rPr>
              <a:t>services </a:t>
            </a:r>
            <a:r>
              <a:rPr lang="fr-FR" sz="3200" b="1" dirty="0">
                <a:solidFill>
                  <a:schemeClr val="tx1"/>
                </a:solidFill>
              </a:rPr>
              <a:t>critiques.</a:t>
            </a:r>
          </a:p>
          <a:p>
            <a:r>
              <a:rPr lang="fr-FR" sz="3200" b="1" dirty="0">
                <a:solidFill>
                  <a:srgbClr val="FF0000"/>
                </a:solidFill>
              </a:rPr>
              <a:t>Détecter</a:t>
            </a:r>
            <a:r>
              <a:rPr lang="fr-FR" sz="3200" b="1" dirty="0">
                <a:solidFill>
                  <a:schemeClr val="tx1"/>
                </a:solidFill>
              </a:rPr>
              <a:t> rapidement les </a:t>
            </a:r>
            <a:r>
              <a:rPr lang="fr-FR" sz="3200" b="1" dirty="0">
                <a:solidFill>
                  <a:srgbClr val="FF0000"/>
                </a:solidFill>
              </a:rPr>
              <a:t>anomalies </a:t>
            </a:r>
            <a:r>
              <a:rPr lang="fr-FR" sz="3200" b="1" dirty="0">
                <a:solidFill>
                  <a:schemeClr val="tx1"/>
                </a:solidFill>
              </a:rPr>
              <a:t>ou </a:t>
            </a:r>
            <a:r>
              <a:rPr lang="fr-FR" sz="3200" b="1" dirty="0">
                <a:solidFill>
                  <a:srgbClr val="FF0000"/>
                </a:solidFill>
              </a:rPr>
              <a:t>incidents </a:t>
            </a:r>
            <a:r>
              <a:rPr lang="fr-FR" sz="3200" b="1" dirty="0">
                <a:solidFill>
                  <a:schemeClr val="tx1"/>
                </a:solidFill>
              </a:rPr>
              <a:t>(pannes, ralentissements, défaillances).</a:t>
            </a:r>
          </a:p>
          <a:p>
            <a:r>
              <a:rPr lang="fr-FR" sz="3200" b="1" dirty="0">
                <a:solidFill>
                  <a:srgbClr val="FF0000"/>
                </a:solidFill>
              </a:rPr>
              <a:t>Prévenir </a:t>
            </a:r>
            <a:r>
              <a:rPr lang="fr-FR" sz="3200" b="1" dirty="0">
                <a:solidFill>
                  <a:schemeClr val="tx1"/>
                </a:solidFill>
              </a:rPr>
              <a:t>les </a:t>
            </a:r>
            <a:r>
              <a:rPr lang="fr-FR" sz="3200" b="1" dirty="0">
                <a:solidFill>
                  <a:srgbClr val="FF0000"/>
                </a:solidFill>
              </a:rPr>
              <a:t>interruptions</a:t>
            </a:r>
            <a:r>
              <a:rPr lang="fr-FR" sz="3200" b="1" dirty="0">
                <a:solidFill>
                  <a:schemeClr val="tx1"/>
                </a:solidFill>
              </a:rPr>
              <a:t> de </a:t>
            </a:r>
            <a:r>
              <a:rPr lang="fr-FR" sz="3200" b="1" dirty="0">
                <a:solidFill>
                  <a:srgbClr val="FF0000"/>
                </a:solidFill>
              </a:rPr>
              <a:t>service </a:t>
            </a:r>
            <a:r>
              <a:rPr lang="fr-FR" sz="3200" b="1" dirty="0">
                <a:solidFill>
                  <a:schemeClr val="tx1"/>
                </a:solidFill>
              </a:rPr>
              <a:t>grâce à une surveillance proactive.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3034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Objectifs de la supervision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1" y="1819175"/>
            <a:ext cx="8835976" cy="3850106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chemeClr val="tx1"/>
                </a:solidFill>
              </a:rPr>
              <a:t>Optimiser les </a:t>
            </a:r>
            <a:r>
              <a:rPr lang="fr-FR" sz="3200" b="1" dirty="0">
                <a:solidFill>
                  <a:srgbClr val="FF0000"/>
                </a:solidFill>
              </a:rPr>
              <a:t>performances</a:t>
            </a:r>
            <a:r>
              <a:rPr lang="fr-FR" sz="3200" b="1" dirty="0">
                <a:solidFill>
                  <a:schemeClr val="tx1"/>
                </a:solidFill>
              </a:rPr>
              <a:t> des </a:t>
            </a:r>
            <a:r>
              <a:rPr lang="fr-FR" sz="3200" b="1" dirty="0">
                <a:solidFill>
                  <a:srgbClr val="FF0000"/>
                </a:solidFill>
              </a:rPr>
              <a:t>systèmes</a:t>
            </a:r>
            <a:r>
              <a:rPr lang="fr-FR" sz="3200" b="1" dirty="0">
                <a:solidFill>
                  <a:schemeClr val="tx1"/>
                </a:solidFill>
              </a:rPr>
              <a:t> en identifiant les goulets d’étranglement.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Générer des </a:t>
            </a:r>
            <a:r>
              <a:rPr lang="fr-FR" sz="3200" b="1" dirty="0">
                <a:solidFill>
                  <a:srgbClr val="FF0000"/>
                </a:solidFill>
              </a:rPr>
              <a:t>alertes</a:t>
            </a:r>
            <a:r>
              <a:rPr lang="fr-FR" sz="3200" b="1" dirty="0">
                <a:solidFill>
                  <a:schemeClr val="tx1"/>
                </a:solidFill>
              </a:rPr>
              <a:t> en </a:t>
            </a:r>
            <a:r>
              <a:rPr lang="fr-FR" sz="3200" b="1" dirty="0">
                <a:solidFill>
                  <a:srgbClr val="FF0000"/>
                </a:solidFill>
              </a:rPr>
              <a:t>temps réel </a:t>
            </a:r>
            <a:r>
              <a:rPr lang="fr-FR" sz="3200" b="1" dirty="0">
                <a:solidFill>
                  <a:schemeClr val="tx1"/>
                </a:solidFill>
              </a:rPr>
              <a:t>pour permettre une réaction rapide.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Produire des </a:t>
            </a:r>
            <a:r>
              <a:rPr lang="fr-FR" sz="3200" b="1" dirty="0">
                <a:solidFill>
                  <a:srgbClr val="FF0000"/>
                </a:solidFill>
              </a:rPr>
              <a:t>rapports </a:t>
            </a:r>
            <a:r>
              <a:rPr lang="fr-FR" sz="3200" b="1" dirty="0">
                <a:solidFill>
                  <a:schemeClr val="tx1"/>
                </a:solidFill>
              </a:rPr>
              <a:t>et </a:t>
            </a:r>
            <a:r>
              <a:rPr lang="fr-FR" sz="3200" b="1" dirty="0">
                <a:solidFill>
                  <a:srgbClr val="FF0000"/>
                </a:solidFill>
              </a:rPr>
              <a:t>tableaux de bord </a:t>
            </a:r>
            <a:r>
              <a:rPr lang="fr-FR" sz="3200" b="1" dirty="0">
                <a:solidFill>
                  <a:schemeClr val="tx1"/>
                </a:solidFill>
              </a:rPr>
              <a:t>pour aider à la prise de décision.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1277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748501" y="329899"/>
            <a:ext cx="8911687" cy="1280890"/>
          </a:xfrm>
        </p:spPr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Différences entre supervision, monitoring, métrologie et audit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243B9A23-8DC3-7506-D2DE-2E430B1E83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5975442"/>
              </p:ext>
            </p:extLst>
          </p:nvPr>
        </p:nvGraphicFramePr>
        <p:xfrm>
          <a:off x="2813035" y="1610789"/>
          <a:ext cx="6565929" cy="50498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88643">
                  <a:extLst>
                    <a:ext uri="{9D8B030D-6E8A-4147-A177-3AD203B41FA5}">
                      <a16:colId xmlns:a16="http://schemas.microsoft.com/office/drawing/2014/main" val="1568799294"/>
                    </a:ext>
                  </a:extLst>
                </a:gridCol>
                <a:gridCol w="2188643">
                  <a:extLst>
                    <a:ext uri="{9D8B030D-6E8A-4147-A177-3AD203B41FA5}">
                      <a16:colId xmlns:a16="http://schemas.microsoft.com/office/drawing/2014/main" val="159565381"/>
                    </a:ext>
                  </a:extLst>
                </a:gridCol>
                <a:gridCol w="2188643">
                  <a:extLst>
                    <a:ext uri="{9D8B030D-6E8A-4147-A177-3AD203B41FA5}">
                      <a16:colId xmlns:a16="http://schemas.microsoft.com/office/drawing/2014/main" val="4012707990"/>
                    </a:ext>
                  </a:extLst>
                </a:gridCol>
              </a:tblGrid>
              <a:tr h="2339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300">
                          <a:effectLst/>
                        </a:rPr>
                        <a:t>Terme</a:t>
                      </a:r>
                      <a:endParaRPr lang="fr-T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68" marR="651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300">
                          <a:effectLst/>
                        </a:rPr>
                        <a:t>Définition</a:t>
                      </a:r>
                      <a:endParaRPr lang="fr-T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68" marR="651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300">
                          <a:effectLst/>
                        </a:rPr>
                        <a:t>Objectif principal</a:t>
                      </a:r>
                      <a:endParaRPr lang="fr-T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68" marR="65168" marT="0" marB="0"/>
                </a:tc>
                <a:extLst>
                  <a:ext uri="{0D108BD9-81ED-4DB2-BD59-A6C34878D82A}">
                    <a16:rowId xmlns:a16="http://schemas.microsoft.com/office/drawing/2014/main" val="3728004484"/>
                  </a:ext>
                </a:extLst>
              </a:tr>
              <a:tr h="94938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300">
                          <a:effectLst/>
                        </a:rPr>
                        <a:t>Supervision</a:t>
                      </a:r>
                      <a:endParaRPr lang="fr-T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68" marR="651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300">
                          <a:effectLst/>
                        </a:rPr>
                        <a:t>Suivi en temps réel de l’état des systèmes et réseaux.</a:t>
                      </a:r>
                      <a:endParaRPr lang="fr-T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68" marR="651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300">
                          <a:effectLst/>
                        </a:rPr>
                        <a:t>Réagir rapidement aux incidents et assurer la disponibilité.</a:t>
                      </a:r>
                      <a:endParaRPr lang="fr-T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68" marR="65168" marT="0" marB="0"/>
                </a:tc>
                <a:extLst>
                  <a:ext uri="{0D108BD9-81ED-4DB2-BD59-A6C34878D82A}">
                    <a16:rowId xmlns:a16="http://schemas.microsoft.com/office/drawing/2014/main" val="824879784"/>
                  </a:ext>
                </a:extLst>
              </a:tr>
              <a:tr h="121815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300">
                          <a:effectLst/>
                        </a:rPr>
                        <a:t>Monitoring</a:t>
                      </a:r>
                      <a:endParaRPr lang="fr-T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68" marR="651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300">
                          <a:effectLst/>
                        </a:rPr>
                        <a:t>Terme anglophone souvent utilisé comme synonyme de supervision, mais parfois plus général.</a:t>
                      </a:r>
                      <a:endParaRPr lang="fr-T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68" marR="651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300">
                          <a:effectLst/>
                        </a:rPr>
                        <a:t>Surveiller divers aspects techniques (performance, disponibilité, logs, etc.).</a:t>
                      </a:r>
                      <a:endParaRPr lang="fr-T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68" marR="65168" marT="0" marB="0"/>
                </a:tc>
                <a:extLst>
                  <a:ext uri="{0D108BD9-81ED-4DB2-BD59-A6C34878D82A}">
                    <a16:rowId xmlns:a16="http://schemas.microsoft.com/office/drawing/2014/main" val="1991366026"/>
                  </a:ext>
                </a:extLst>
              </a:tr>
              <a:tr h="121815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300">
                          <a:effectLst/>
                        </a:rPr>
                        <a:t>Métrologie</a:t>
                      </a:r>
                      <a:endParaRPr lang="fr-T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68" marR="651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300">
                          <a:effectLst/>
                        </a:rPr>
                        <a:t>Collecte, analyse et visualisation de données de performance (CPU, RAM, trafic, etc.).</a:t>
                      </a:r>
                      <a:endParaRPr lang="fr-T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68" marR="651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300">
                          <a:effectLst/>
                        </a:rPr>
                        <a:t>Aide à l’optimisation, à la planification de capacité (capacity planning).</a:t>
                      </a:r>
                      <a:endParaRPr lang="fr-T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68" marR="65168" marT="0" marB="0"/>
                </a:tc>
                <a:extLst>
                  <a:ext uri="{0D108BD9-81ED-4DB2-BD59-A6C34878D82A}">
                    <a16:rowId xmlns:a16="http://schemas.microsoft.com/office/drawing/2014/main" val="3489863955"/>
                  </a:ext>
                </a:extLst>
              </a:tr>
              <a:tr h="14302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300">
                          <a:effectLst/>
                        </a:rPr>
                        <a:t>Audit</a:t>
                      </a:r>
                      <a:endParaRPr lang="fr-T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68" marR="651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300">
                          <a:effectLst/>
                        </a:rPr>
                        <a:t>Évaluation ponctuelle, souvent manuelle, d’un système, d’un réseau ou d’un processus.</a:t>
                      </a:r>
                      <a:endParaRPr lang="fr-T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68" marR="651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300" dirty="0">
                          <a:effectLst/>
                        </a:rPr>
                        <a:t>Vérifier la conformité, la sécurité ou la qualité d’un système.</a:t>
                      </a:r>
                      <a:endParaRPr lang="fr-TG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168" marR="65168" marT="0" marB="0"/>
                </a:tc>
                <a:extLst>
                  <a:ext uri="{0D108BD9-81ED-4DB2-BD59-A6C34878D82A}">
                    <a16:rowId xmlns:a16="http://schemas.microsoft.com/office/drawing/2014/main" val="3523248822"/>
                  </a:ext>
                </a:extLst>
              </a:tr>
            </a:tbl>
          </a:graphicData>
        </a:graphic>
      </p:graphicFrame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8619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Périmètre de la supervision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1" y="1819175"/>
            <a:ext cx="8835976" cy="3850106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chemeClr val="tx1"/>
                </a:solidFill>
              </a:rPr>
              <a:t>La </a:t>
            </a:r>
            <a:r>
              <a:rPr lang="fr-FR" sz="3200" b="1" dirty="0">
                <a:solidFill>
                  <a:srgbClr val="FF0000"/>
                </a:solidFill>
              </a:rPr>
              <a:t>supervision</a:t>
            </a:r>
            <a:r>
              <a:rPr lang="fr-FR" sz="3200" b="1" dirty="0">
                <a:solidFill>
                  <a:schemeClr val="tx1"/>
                </a:solidFill>
              </a:rPr>
              <a:t> couvre plusieurs </a:t>
            </a:r>
            <a:r>
              <a:rPr lang="fr-FR" sz="3200" b="1" dirty="0">
                <a:solidFill>
                  <a:srgbClr val="FF0000"/>
                </a:solidFill>
              </a:rPr>
              <a:t>couches </a:t>
            </a:r>
            <a:r>
              <a:rPr lang="fr-FR" sz="3200" b="1" dirty="0">
                <a:solidFill>
                  <a:schemeClr val="tx1"/>
                </a:solidFill>
              </a:rPr>
              <a:t>de l'</a:t>
            </a:r>
            <a:r>
              <a:rPr lang="fr-FR" sz="3200" b="1" dirty="0">
                <a:solidFill>
                  <a:srgbClr val="FF0000"/>
                </a:solidFill>
              </a:rPr>
              <a:t>infrastructure </a:t>
            </a:r>
            <a:r>
              <a:rPr lang="fr-FR" sz="3200" b="1" dirty="0">
                <a:solidFill>
                  <a:schemeClr val="tx1"/>
                </a:solidFill>
              </a:rPr>
              <a:t>informatique. Voici les principaux éléments concernés :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0177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Périmètre de la supervision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1" y="1819175"/>
            <a:ext cx="8835976" cy="448537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fr-FR" sz="3200" b="1" dirty="0">
                <a:solidFill>
                  <a:schemeClr val="tx1"/>
                </a:solidFill>
              </a:rPr>
              <a:t>Supervision des serveurs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Serveurs </a:t>
            </a:r>
            <a:r>
              <a:rPr lang="fr-FR" sz="3200" b="1" dirty="0">
                <a:solidFill>
                  <a:srgbClr val="FF0000"/>
                </a:solidFill>
              </a:rPr>
              <a:t>physiques </a:t>
            </a:r>
            <a:r>
              <a:rPr lang="fr-FR" sz="3200" b="1" dirty="0">
                <a:solidFill>
                  <a:schemeClr val="tx1"/>
                </a:solidFill>
              </a:rPr>
              <a:t>: température, alimentation, disponibilité matérielle.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Serveurs </a:t>
            </a:r>
            <a:r>
              <a:rPr lang="fr-FR" sz="3200" b="1" dirty="0">
                <a:solidFill>
                  <a:srgbClr val="FF0000"/>
                </a:solidFill>
              </a:rPr>
              <a:t>virtuels </a:t>
            </a:r>
            <a:r>
              <a:rPr lang="fr-FR" sz="3200" b="1" dirty="0">
                <a:solidFill>
                  <a:schemeClr val="tx1"/>
                </a:solidFill>
              </a:rPr>
              <a:t>: état des </a:t>
            </a:r>
            <a:r>
              <a:rPr lang="fr-FR" sz="3200" b="1" dirty="0" err="1">
                <a:solidFill>
                  <a:schemeClr val="tx1"/>
                </a:solidFill>
              </a:rPr>
              <a:t>VMs</a:t>
            </a:r>
            <a:r>
              <a:rPr lang="fr-FR" sz="3200" b="1" dirty="0">
                <a:solidFill>
                  <a:schemeClr val="tx1"/>
                </a:solidFill>
              </a:rPr>
              <a:t>, ressources allouées/utilisées.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Systèmes d’</a:t>
            </a:r>
            <a:r>
              <a:rPr lang="fr-FR" sz="3200" b="1" dirty="0">
                <a:solidFill>
                  <a:srgbClr val="FF0000"/>
                </a:solidFill>
              </a:rPr>
              <a:t>exploitation </a:t>
            </a:r>
            <a:r>
              <a:rPr lang="fr-FR" sz="3200" b="1" dirty="0">
                <a:solidFill>
                  <a:schemeClr val="tx1"/>
                </a:solidFill>
              </a:rPr>
              <a:t>: charge CPU, espace disque, mémoire RAM, processus actifs.</a:t>
            </a:r>
          </a:p>
          <a:p>
            <a:endParaRPr lang="fr-FR" sz="3200" b="1" dirty="0">
              <a:solidFill>
                <a:schemeClr val="tx1"/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5546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Périmètre de la supervision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261952" y="1854396"/>
            <a:ext cx="9153610" cy="437949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fr-FR" sz="3200" b="1" dirty="0">
                <a:solidFill>
                  <a:schemeClr val="tx1"/>
                </a:solidFill>
              </a:rPr>
              <a:t>Supervision des </a:t>
            </a:r>
            <a:r>
              <a:rPr lang="fr-FR" sz="3200" b="1" dirty="0">
                <a:solidFill>
                  <a:srgbClr val="FF0000"/>
                </a:solidFill>
              </a:rPr>
              <a:t>équipements</a:t>
            </a:r>
            <a:r>
              <a:rPr lang="fr-FR" sz="3200" b="1" dirty="0">
                <a:solidFill>
                  <a:schemeClr val="tx1"/>
                </a:solidFill>
              </a:rPr>
              <a:t> réseaux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Routeurs / </a:t>
            </a:r>
            <a:r>
              <a:rPr lang="fr-FR" sz="3200" b="1" dirty="0" err="1">
                <a:solidFill>
                  <a:schemeClr val="tx1"/>
                </a:solidFill>
              </a:rPr>
              <a:t>Switchs</a:t>
            </a:r>
            <a:r>
              <a:rPr lang="fr-FR" sz="3200" b="1" dirty="0">
                <a:solidFill>
                  <a:schemeClr val="tx1"/>
                </a:solidFill>
              </a:rPr>
              <a:t> / </a:t>
            </a:r>
            <a:r>
              <a:rPr lang="fr-FR" sz="3200" b="1" dirty="0" err="1">
                <a:solidFill>
                  <a:schemeClr val="tx1"/>
                </a:solidFill>
              </a:rPr>
              <a:t>Pare-feux</a:t>
            </a:r>
            <a:r>
              <a:rPr lang="fr-FR" sz="3200" b="1" dirty="0">
                <a:solidFill>
                  <a:schemeClr val="tx1"/>
                </a:solidFill>
              </a:rPr>
              <a:t> : état des </a:t>
            </a:r>
            <a:r>
              <a:rPr lang="fr-FR" sz="3200" b="1" dirty="0">
                <a:solidFill>
                  <a:srgbClr val="FF0000"/>
                </a:solidFill>
              </a:rPr>
              <a:t>interfaces</a:t>
            </a:r>
            <a:r>
              <a:rPr lang="fr-FR" sz="3200" b="1" dirty="0">
                <a:solidFill>
                  <a:schemeClr val="tx1"/>
                </a:solidFill>
              </a:rPr>
              <a:t>, trafic </a:t>
            </a:r>
            <a:r>
              <a:rPr lang="fr-FR" sz="3200" b="1" dirty="0">
                <a:solidFill>
                  <a:srgbClr val="FF0000"/>
                </a:solidFill>
              </a:rPr>
              <a:t>réseau</a:t>
            </a:r>
            <a:r>
              <a:rPr lang="fr-FR" sz="3200" b="1" dirty="0">
                <a:solidFill>
                  <a:schemeClr val="tx1"/>
                </a:solidFill>
              </a:rPr>
              <a:t>, erreurs de </a:t>
            </a:r>
            <a:r>
              <a:rPr lang="fr-FR" sz="3200" b="1" dirty="0">
                <a:solidFill>
                  <a:srgbClr val="FF0000"/>
                </a:solidFill>
              </a:rPr>
              <a:t>paquets</a:t>
            </a:r>
            <a:r>
              <a:rPr lang="fr-FR" sz="3200" b="1" dirty="0">
                <a:solidFill>
                  <a:schemeClr val="tx1"/>
                </a:solidFill>
              </a:rPr>
              <a:t>.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Access points / bornes Wi-Fi : couverture, utilisateurs </a:t>
            </a:r>
            <a:r>
              <a:rPr lang="fr-FR" sz="3200" b="1" dirty="0">
                <a:solidFill>
                  <a:srgbClr val="FF0000"/>
                </a:solidFill>
              </a:rPr>
              <a:t>connectés</a:t>
            </a:r>
            <a:r>
              <a:rPr lang="fr-FR" sz="32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7020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Périmètre de la supervision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261952" y="1854396"/>
            <a:ext cx="9153610" cy="437949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fr-FR" sz="3200" b="1" dirty="0">
                <a:solidFill>
                  <a:schemeClr val="tx1"/>
                </a:solidFill>
              </a:rPr>
              <a:t>Supervision des services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Disponibilité des </a:t>
            </a:r>
            <a:r>
              <a:rPr lang="fr-FR" sz="3200" b="1" dirty="0">
                <a:solidFill>
                  <a:srgbClr val="FF0000"/>
                </a:solidFill>
              </a:rPr>
              <a:t>services critiques </a:t>
            </a:r>
            <a:r>
              <a:rPr lang="fr-FR" sz="3200" b="1" dirty="0">
                <a:solidFill>
                  <a:schemeClr val="tx1"/>
                </a:solidFill>
              </a:rPr>
              <a:t>: HTTP/HTTPS, </a:t>
            </a:r>
            <a:r>
              <a:rPr lang="fr-FR" sz="3200" b="1" dirty="0">
                <a:solidFill>
                  <a:srgbClr val="FF0000"/>
                </a:solidFill>
              </a:rPr>
              <a:t>FTP</a:t>
            </a:r>
            <a:r>
              <a:rPr lang="fr-FR" sz="3200" b="1" dirty="0">
                <a:solidFill>
                  <a:schemeClr val="tx1"/>
                </a:solidFill>
              </a:rPr>
              <a:t>, SMTP, </a:t>
            </a:r>
            <a:r>
              <a:rPr lang="fr-FR" sz="3200" b="1" dirty="0">
                <a:solidFill>
                  <a:srgbClr val="FF0000"/>
                </a:solidFill>
              </a:rPr>
              <a:t>DNS</a:t>
            </a:r>
            <a:r>
              <a:rPr lang="fr-FR" sz="3200" b="1" dirty="0">
                <a:solidFill>
                  <a:schemeClr val="tx1"/>
                </a:solidFill>
              </a:rPr>
              <a:t>, DHCP, etc.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Surveillance applicative : fonctionnement des services métiers (</a:t>
            </a:r>
            <a:r>
              <a:rPr lang="fr-FR" sz="3200" b="1" dirty="0">
                <a:solidFill>
                  <a:srgbClr val="FF0000"/>
                </a:solidFill>
              </a:rPr>
              <a:t>ERP</a:t>
            </a:r>
            <a:r>
              <a:rPr lang="fr-FR" sz="3200" b="1" dirty="0">
                <a:solidFill>
                  <a:schemeClr val="tx1"/>
                </a:solidFill>
              </a:rPr>
              <a:t>, </a:t>
            </a:r>
            <a:r>
              <a:rPr lang="fr-FR" sz="3200" b="1" dirty="0">
                <a:solidFill>
                  <a:srgbClr val="FF0000"/>
                </a:solidFill>
              </a:rPr>
              <a:t>CRM</a:t>
            </a:r>
            <a:r>
              <a:rPr lang="fr-FR" sz="3200" b="1" dirty="0">
                <a:solidFill>
                  <a:schemeClr val="tx1"/>
                </a:solidFill>
              </a:rPr>
              <a:t>, </a:t>
            </a:r>
            <a:r>
              <a:rPr lang="fr-FR" sz="3200" b="1" dirty="0">
                <a:solidFill>
                  <a:srgbClr val="FF0000"/>
                </a:solidFill>
              </a:rPr>
              <a:t>base de données</a:t>
            </a:r>
            <a:r>
              <a:rPr lang="fr-FR" sz="3200" b="1" dirty="0">
                <a:solidFill>
                  <a:schemeClr val="tx1"/>
                </a:solidFill>
              </a:rPr>
              <a:t>).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Test de services via des requêtes automatisées (</a:t>
            </a:r>
            <a:r>
              <a:rPr lang="fr-FR" sz="3200" b="1" dirty="0">
                <a:solidFill>
                  <a:srgbClr val="FF0000"/>
                </a:solidFill>
              </a:rPr>
              <a:t>ping</a:t>
            </a:r>
            <a:r>
              <a:rPr lang="fr-FR" sz="3200" b="1" dirty="0">
                <a:solidFill>
                  <a:schemeClr val="tx1"/>
                </a:solidFill>
              </a:rPr>
              <a:t>, telnet, </a:t>
            </a:r>
            <a:r>
              <a:rPr lang="fr-FR" sz="3200" b="1" dirty="0" err="1">
                <a:solidFill>
                  <a:srgbClr val="FF0000"/>
                </a:solidFill>
              </a:rPr>
              <a:t>curl</a:t>
            </a:r>
            <a:r>
              <a:rPr lang="fr-FR" sz="3200" b="1" dirty="0">
                <a:solidFill>
                  <a:schemeClr val="tx1"/>
                </a:solidFill>
              </a:rPr>
              <a:t>, etc.).</a:t>
            </a:r>
          </a:p>
          <a:p>
            <a:pPr marL="0" indent="0">
              <a:buNone/>
            </a:pPr>
            <a:endParaRPr lang="fr-FR" sz="3200" b="1" dirty="0">
              <a:solidFill>
                <a:schemeClr val="tx1"/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9702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Périmètre de la supervision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261952" y="1854396"/>
            <a:ext cx="9153610" cy="437949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fr-FR" sz="3200" b="1" dirty="0">
                <a:solidFill>
                  <a:schemeClr val="tx1"/>
                </a:solidFill>
              </a:rPr>
              <a:t>Supervision des applications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Surveillance des </a:t>
            </a:r>
            <a:r>
              <a:rPr lang="fr-FR" sz="3200" b="1" dirty="0">
                <a:solidFill>
                  <a:srgbClr val="FF0000"/>
                </a:solidFill>
              </a:rPr>
              <a:t>logs </a:t>
            </a:r>
            <a:r>
              <a:rPr lang="fr-FR" sz="3200" b="1" dirty="0">
                <a:solidFill>
                  <a:schemeClr val="tx1"/>
                </a:solidFill>
              </a:rPr>
              <a:t>d’applications pour </a:t>
            </a:r>
            <a:r>
              <a:rPr lang="fr-FR" sz="3200" b="1" dirty="0">
                <a:solidFill>
                  <a:srgbClr val="FF0000"/>
                </a:solidFill>
              </a:rPr>
              <a:t>détecter</a:t>
            </a:r>
            <a:r>
              <a:rPr lang="fr-FR" sz="3200" b="1" dirty="0">
                <a:solidFill>
                  <a:schemeClr val="tx1"/>
                </a:solidFill>
              </a:rPr>
              <a:t> les </a:t>
            </a:r>
            <a:r>
              <a:rPr lang="fr-FR" sz="3200" b="1" dirty="0">
                <a:solidFill>
                  <a:srgbClr val="FF0000"/>
                </a:solidFill>
              </a:rPr>
              <a:t>erreurs</a:t>
            </a:r>
            <a:r>
              <a:rPr lang="fr-FR" sz="3200" b="1" dirty="0">
                <a:solidFill>
                  <a:schemeClr val="tx1"/>
                </a:solidFill>
              </a:rPr>
              <a:t> ou comportements anormaux.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Performance applicative (temps de réponse, disponibilité continue).</a:t>
            </a:r>
          </a:p>
          <a:p>
            <a:r>
              <a:rPr lang="fr-FR" sz="3200" b="1" dirty="0">
                <a:solidFill>
                  <a:schemeClr val="tx1"/>
                </a:solidFill>
              </a:rPr>
              <a:t>Intégration avec des outils comme </a:t>
            </a:r>
            <a:r>
              <a:rPr lang="fr-FR" sz="3200" b="1" dirty="0" err="1">
                <a:solidFill>
                  <a:schemeClr val="tx1"/>
                </a:solidFill>
              </a:rPr>
              <a:t>Grafana</a:t>
            </a:r>
            <a:r>
              <a:rPr lang="fr-FR" sz="3200" b="1" dirty="0">
                <a:solidFill>
                  <a:schemeClr val="tx1"/>
                </a:solidFill>
              </a:rPr>
              <a:t>, </a:t>
            </a:r>
            <a:r>
              <a:rPr lang="fr-FR" sz="3200" b="1" dirty="0" err="1">
                <a:solidFill>
                  <a:schemeClr val="tx1"/>
                </a:solidFill>
              </a:rPr>
              <a:t>Elastic</a:t>
            </a:r>
            <a:r>
              <a:rPr lang="fr-FR" sz="3200" b="1" dirty="0">
                <a:solidFill>
                  <a:schemeClr val="tx1"/>
                </a:solidFill>
              </a:rPr>
              <a:t> Stack (ELK) ou </a:t>
            </a:r>
            <a:r>
              <a:rPr lang="fr-FR" sz="3200" b="1" dirty="0" err="1">
                <a:solidFill>
                  <a:schemeClr val="tx1"/>
                </a:solidFill>
              </a:rPr>
              <a:t>Prometheus</a:t>
            </a:r>
            <a:r>
              <a:rPr lang="fr-FR" sz="3200" b="1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endParaRPr lang="fr-FR" sz="3200" b="1" dirty="0">
              <a:solidFill>
                <a:schemeClr val="tx1"/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6" name="Picture 2" descr="Question Smiley Vector Images (over 46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04503"/>
            <a:ext cx="2433637" cy="149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3848194"/>
      </p:ext>
    </p:extLst>
  </p:cSld>
  <p:clrMapOvr>
    <a:masterClrMapping/>
  </p:clrMapOvr>
</p:sld>
</file>

<file path=ppt/theme/theme1.xml><?xml version="1.0" encoding="utf-8"?>
<a:theme xmlns:a="http://schemas.openxmlformats.org/drawingml/2006/main" name="Brin">
  <a:themeElements>
    <a:clrScheme name="Brin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Brin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ri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25376</TotalTime>
  <Words>640</Words>
  <Application>Microsoft Office PowerPoint</Application>
  <PresentationFormat>Grand écran</PresentationFormat>
  <Paragraphs>80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Century Gothic</vt:lpstr>
      <vt:lpstr>Wingdings 3</vt:lpstr>
      <vt:lpstr>Brin</vt:lpstr>
      <vt:lpstr>Supervision Système et Réseaux </vt:lpstr>
      <vt:lpstr>INTRODUCTION DU COURS</vt:lpstr>
      <vt:lpstr>INTRODUCTION DU COURS (Suite)</vt:lpstr>
      <vt:lpstr>PLAN DE PRESENTATION DU COURS</vt:lpstr>
      <vt:lpstr>CHAPITRE I : INTRODUCTION A LA         SUPERVISION</vt:lpstr>
      <vt:lpstr>Définition </vt:lpstr>
      <vt:lpstr>Objectifs de la supervision </vt:lpstr>
      <vt:lpstr>Objectifs de la supervision </vt:lpstr>
      <vt:lpstr>Différences entre supervision, monitoring, métrologie et audit</vt:lpstr>
      <vt:lpstr>Périmètre de la supervision</vt:lpstr>
      <vt:lpstr>Périmètre de la supervision</vt:lpstr>
      <vt:lpstr>Périmètre de la supervision</vt:lpstr>
      <vt:lpstr>Périmètre de la supervision</vt:lpstr>
      <vt:lpstr>Périmètre de la supervision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PROTOCOLES SECURISES</dc:title>
  <dc:creator>Victor</dc:creator>
  <cp:lastModifiedBy>Essowaba AHOULOUMI</cp:lastModifiedBy>
  <cp:revision>400</cp:revision>
  <dcterms:created xsi:type="dcterms:W3CDTF">2021-05-25T16:16:57Z</dcterms:created>
  <dcterms:modified xsi:type="dcterms:W3CDTF">2025-04-17T08:51:25Z</dcterms:modified>
</cp:coreProperties>
</file>