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0" r:id="rId1"/>
  </p:sldMasterIdLst>
  <p:notesMasterIdLst>
    <p:notesMasterId r:id="rId88"/>
  </p:notesMasterIdLst>
  <p:sldIdLst>
    <p:sldId id="256" r:id="rId2"/>
    <p:sldId id="348" r:id="rId3"/>
    <p:sldId id="560" r:id="rId4"/>
    <p:sldId id="575" r:id="rId5"/>
    <p:sldId id="559" r:id="rId6"/>
    <p:sldId id="577" r:id="rId7"/>
    <p:sldId id="349" r:id="rId8"/>
    <p:sldId id="350" r:id="rId9"/>
    <p:sldId id="579" r:id="rId10"/>
    <p:sldId id="580" r:id="rId11"/>
    <p:sldId id="581" r:id="rId12"/>
    <p:sldId id="578" r:id="rId13"/>
    <p:sldId id="561" r:id="rId14"/>
    <p:sldId id="562" r:id="rId15"/>
    <p:sldId id="563" r:id="rId16"/>
    <p:sldId id="564" r:id="rId17"/>
    <p:sldId id="565" r:id="rId18"/>
    <p:sldId id="566" r:id="rId19"/>
    <p:sldId id="567" r:id="rId20"/>
    <p:sldId id="568" r:id="rId21"/>
    <p:sldId id="569" r:id="rId22"/>
    <p:sldId id="570" r:id="rId23"/>
    <p:sldId id="571" r:id="rId24"/>
    <p:sldId id="572" r:id="rId25"/>
    <p:sldId id="573" r:id="rId26"/>
    <p:sldId id="582" r:id="rId27"/>
    <p:sldId id="583" r:id="rId28"/>
    <p:sldId id="584" r:id="rId29"/>
    <p:sldId id="585" r:id="rId30"/>
    <p:sldId id="586" r:id="rId31"/>
    <p:sldId id="587" r:id="rId32"/>
    <p:sldId id="588" r:id="rId33"/>
    <p:sldId id="589" r:id="rId34"/>
    <p:sldId id="590" r:id="rId35"/>
    <p:sldId id="591" r:id="rId36"/>
    <p:sldId id="592" r:id="rId37"/>
    <p:sldId id="593" r:id="rId38"/>
    <p:sldId id="594" r:id="rId39"/>
    <p:sldId id="595" r:id="rId40"/>
    <p:sldId id="596" r:id="rId41"/>
    <p:sldId id="597" r:id="rId42"/>
    <p:sldId id="598" r:id="rId43"/>
    <p:sldId id="599" r:id="rId44"/>
    <p:sldId id="600" r:id="rId45"/>
    <p:sldId id="601" r:id="rId46"/>
    <p:sldId id="602" r:id="rId47"/>
    <p:sldId id="603" r:id="rId48"/>
    <p:sldId id="604" r:id="rId49"/>
    <p:sldId id="605" r:id="rId50"/>
    <p:sldId id="606" r:id="rId51"/>
    <p:sldId id="607" r:id="rId52"/>
    <p:sldId id="608" r:id="rId53"/>
    <p:sldId id="609" r:id="rId54"/>
    <p:sldId id="610" r:id="rId55"/>
    <p:sldId id="611" r:id="rId56"/>
    <p:sldId id="612" r:id="rId57"/>
    <p:sldId id="613" r:id="rId58"/>
    <p:sldId id="614" r:id="rId59"/>
    <p:sldId id="615" r:id="rId60"/>
    <p:sldId id="621" r:id="rId61"/>
    <p:sldId id="622" r:id="rId62"/>
    <p:sldId id="623" r:id="rId63"/>
    <p:sldId id="624" r:id="rId64"/>
    <p:sldId id="625" r:id="rId65"/>
    <p:sldId id="626" r:id="rId66"/>
    <p:sldId id="616" r:id="rId67"/>
    <p:sldId id="629" r:id="rId68"/>
    <p:sldId id="617" r:id="rId69"/>
    <p:sldId id="618" r:id="rId70"/>
    <p:sldId id="628" r:id="rId71"/>
    <p:sldId id="627" r:id="rId72"/>
    <p:sldId id="630" r:id="rId73"/>
    <p:sldId id="631" r:id="rId74"/>
    <p:sldId id="632" r:id="rId75"/>
    <p:sldId id="633" r:id="rId76"/>
    <p:sldId id="634" r:id="rId77"/>
    <p:sldId id="635" r:id="rId78"/>
    <p:sldId id="636" r:id="rId79"/>
    <p:sldId id="637" r:id="rId80"/>
    <p:sldId id="638" r:id="rId81"/>
    <p:sldId id="639" r:id="rId82"/>
    <p:sldId id="640" r:id="rId83"/>
    <p:sldId id="644" r:id="rId84"/>
    <p:sldId id="641" r:id="rId85"/>
    <p:sldId id="642" r:id="rId86"/>
    <p:sldId id="643"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8" y="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51110C-4219-4EB4-B17B-39406971B367}" type="datetimeFigureOut">
              <a:rPr lang="fr-FR" smtClean="0"/>
              <a:t>12/01/2026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80FC1E-FD32-4A86-948B-90483BFC7213}" type="slidenum">
              <a:rPr lang="fr-FR" smtClean="0"/>
              <a:t>‹N°›</a:t>
            </a:fld>
            <a:endParaRPr lang="fr-FR"/>
          </a:p>
        </p:txBody>
      </p:sp>
    </p:spTree>
    <p:extLst>
      <p:ext uri="{BB962C8B-B14F-4D97-AF65-F5344CB8AC3E}">
        <p14:creationId xmlns:p14="http://schemas.microsoft.com/office/powerpoint/2010/main" val="2656928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17374EC9-40E4-490B-9853-16A9015B1053}"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292592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DA4E164-8E60-4C13-8119-C14DFFF7D4C9}"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596591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31B318F7-0039-464C-8A03-A93F9D87C370}"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912516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E030226-A599-4294-BA2C-4E3C8A1C22B1}"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800159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75A959A-DBFD-4A91-927F-817CED282719}" type="datetime1">
              <a:rPr lang="en-US" smtClean="0"/>
              <a:t>1/12/2026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60353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F0136A2-A46A-4DA2-91B1-20DB3E5165F0}" type="datetime1">
              <a:rPr lang="en-US" smtClean="0"/>
              <a:t>1/12/2026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136718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D9CB5B-3BBA-4FDE-ADAF-A7B96B21F161}" type="datetime1">
              <a:rPr lang="en-US" smtClean="0"/>
              <a:t>1/12/2026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4547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920C9B33-6C99-49F0-9479-A621B9235D3C}"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016808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07E413A8-7656-45D6-9CE7-E58ED81BD524}"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44439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2FE3CA3D-C7B2-408B-8D06-759A7A575F31}"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57877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4100F13F-CC75-48E1-8783-CC5B89D449C9}"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60612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Modifier les styles du texte du masque</a:t>
            </a:r>
          </a:p>
        </p:txBody>
      </p:sp>
      <p:sp>
        <p:nvSpPr>
          <p:cNvPr id="5" name="Date Placeholder 4"/>
          <p:cNvSpPr>
            <a:spLocks noGrp="1"/>
          </p:cNvSpPr>
          <p:nvPr>
            <p:ph type="dt" sz="half" idx="10"/>
          </p:nvPr>
        </p:nvSpPr>
        <p:spPr/>
        <p:txBody>
          <a:bodyPr/>
          <a:lstStyle/>
          <a:p>
            <a:fld id="{3938728A-E692-49ED-8A37-5F5ECD17049C}"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599158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Modifier les styles du texte du masque</a:t>
            </a:r>
          </a:p>
        </p:txBody>
      </p:sp>
      <p:sp>
        <p:nvSpPr>
          <p:cNvPr id="5" name="Date Placeholder 4"/>
          <p:cNvSpPr>
            <a:spLocks noGrp="1"/>
          </p:cNvSpPr>
          <p:nvPr>
            <p:ph type="dt" sz="half" idx="10"/>
          </p:nvPr>
        </p:nvSpPr>
        <p:spPr/>
        <p:txBody>
          <a:bodyPr/>
          <a:lstStyle/>
          <a:p>
            <a:fld id="{50760A25-03EA-4940-8C44-833DF425108A}"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79782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Modifier les styles du texte du masque</a:t>
            </a:r>
          </a:p>
        </p:txBody>
      </p:sp>
      <p:sp>
        <p:nvSpPr>
          <p:cNvPr id="5" name="Date Placeholder 4"/>
          <p:cNvSpPr>
            <a:spLocks noGrp="1"/>
          </p:cNvSpPr>
          <p:nvPr>
            <p:ph type="dt" sz="half" idx="10"/>
          </p:nvPr>
        </p:nvSpPr>
        <p:spPr/>
        <p:txBody>
          <a:bodyPr/>
          <a:lstStyle/>
          <a:p>
            <a:fld id="{29D5FA4C-0ED6-42FF-91E0-6F463CBE3B6C}"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32127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D05383C-639C-4370-98A3-BDAF078B938A}"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19052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1E29BC-2110-43A9-959E-11E76E7EFD5B}"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307385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3BCFCC-A5D1-43F5-9525-83C2A59A424D}" type="datetime1">
              <a:rPr lang="en-US" smtClean="0"/>
              <a:t>1/12/2026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42735678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13.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5.jpeg"/><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7.png"/><Relationship Id="rId4" Type="http://schemas.microsoft.com/office/2007/relationships/hdphoto" Target="../media/hdphoto5.wdp"/></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20.jpeg"/><Relationship Id="rId5" Type="http://schemas.microsoft.com/office/2007/relationships/hdphoto" Target="../media/hdphoto7.wdp"/><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2.jpeg"/><Relationship Id="rId4" Type="http://schemas.microsoft.com/office/2007/relationships/hdphoto" Target="../media/hdphoto8.wdp"/></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27.jpeg"/><Relationship Id="rId5" Type="http://schemas.microsoft.com/office/2007/relationships/hdphoto" Target="../media/hdphoto10.wdp"/><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 Id="rId6" Type="http://schemas.microsoft.com/office/2007/relationships/hdphoto" Target="../media/hdphoto12.wdp"/><Relationship Id="rId5" Type="http://schemas.openxmlformats.org/officeDocument/2006/relationships/image" Target="../media/image29.png"/><Relationship Id="rId4" Type="http://schemas.microsoft.com/office/2007/relationships/hdphoto" Target="../media/hdphoto11.wdp"/></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32.png"/><Relationship Id="rId4" Type="http://schemas.microsoft.com/office/2007/relationships/hdphoto" Target="../media/hdphoto13.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4.wdp"/></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5.wdp"/></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6.wdp"/></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7.wdp"/></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8.wdp"/></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jpeg"/><Relationship Id="rId1" Type="http://schemas.openxmlformats.org/officeDocument/2006/relationships/slideLayout" Target="../slideLayouts/slideLayout2.xml"/><Relationship Id="rId4" Type="http://schemas.microsoft.com/office/2007/relationships/hdphoto" Target="../media/hdphoto19.wdp"/></Relationships>
</file>

<file path=ppt/slides/_rels/slide6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732418" y="3869356"/>
            <a:ext cx="9927770" cy="1583790"/>
          </a:xfrm>
        </p:spPr>
        <p:txBody>
          <a:bodyPr>
            <a:normAutofit/>
          </a:bodyPr>
          <a:lstStyle/>
          <a:p>
            <a:r>
              <a:rPr lang="fr-FR" sz="4800" b="1" dirty="0">
                <a:solidFill>
                  <a:schemeClr val="tx1"/>
                </a:solidFill>
              </a:rPr>
              <a:t>Réseaux Informatiques : Réseaux LAN/WAN et Interconnexion </a:t>
            </a:r>
          </a:p>
        </p:txBody>
      </p:sp>
      <p:sp>
        <p:nvSpPr>
          <p:cNvPr id="3" name="Sous-titre 2"/>
          <p:cNvSpPr>
            <a:spLocks noGrp="1"/>
          </p:cNvSpPr>
          <p:nvPr>
            <p:ph type="subTitle" idx="1"/>
          </p:nvPr>
        </p:nvSpPr>
        <p:spPr>
          <a:xfrm>
            <a:off x="1732418" y="5353936"/>
            <a:ext cx="8915399" cy="1126283"/>
          </a:xfrm>
        </p:spPr>
        <p:txBody>
          <a:bodyPr>
            <a:normAutofit lnSpcReduction="10000"/>
          </a:bodyPr>
          <a:lstStyle/>
          <a:p>
            <a:r>
              <a:rPr lang="fr-FR" b="1" dirty="0">
                <a:solidFill>
                  <a:schemeClr val="tx1"/>
                </a:solidFill>
              </a:rPr>
              <a:t>Collège de Paris </a:t>
            </a:r>
          </a:p>
          <a:p>
            <a:r>
              <a:rPr lang="fr-FR" b="1" dirty="0">
                <a:solidFill>
                  <a:schemeClr val="tx1"/>
                </a:solidFill>
              </a:rPr>
              <a:t>IT</a:t>
            </a:r>
          </a:p>
          <a:p>
            <a:r>
              <a:rPr lang="fr-FR" b="1" dirty="0">
                <a:solidFill>
                  <a:schemeClr val="tx1"/>
                </a:solidFill>
              </a:rPr>
              <a:t>Licence Semestre 5 et 6</a:t>
            </a:r>
          </a:p>
        </p:txBody>
      </p:sp>
      <p:sp>
        <p:nvSpPr>
          <p:cNvPr id="4" name="Espace réservé du pied de page 3"/>
          <p:cNvSpPr>
            <a:spLocks noGrp="1"/>
          </p:cNvSpPr>
          <p:nvPr>
            <p:ph type="ftr" sz="quarter" idx="11"/>
          </p:nvPr>
        </p:nvSpPr>
        <p:spPr>
          <a:xfrm>
            <a:off x="1393577" y="6480219"/>
            <a:ext cx="5425235" cy="339241"/>
          </a:xfrm>
        </p:spPr>
        <p:txBody>
          <a:bodyPr/>
          <a:lstStyle/>
          <a:p>
            <a:r>
              <a:rPr lang="en-US" b="1" dirty="0"/>
              <a:t>Présenté par Essowaba AHOULOUMI Ingénieur en Informatique et réseaux</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a:t>
            </a:fld>
            <a:endParaRPr lang="en-US" dirty="0"/>
          </a:p>
        </p:txBody>
      </p:sp>
      <p:pic>
        <p:nvPicPr>
          <p:cNvPr id="6" name="Image 5">
            <a:extLst>
              <a:ext uri="{FF2B5EF4-FFF2-40B4-BE49-F238E27FC236}">
                <a16:creationId xmlns:a16="http://schemas.microsoft.com/office/drawing/2014/main" id="{573F1D37-1DE9-B4BE-9086-8DE357D6D61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8050" y="265079"/>
            <a:ext cx="9144001" cy="3741252"/>
          </a:xfrm>
          <a:prstGeom prst="rect">
            <a:avLst/>
          </a:prstGeom>
          <a:noFill/>
        </p:spPr>
      </p:pic>
    </p:spTree>
    <p:extLst>
      <p:ext uri="{BB962C8B-B14F-4D97-AF65-F5344CB8AC3E}">
        <p14:creationId xmlns:p14="http://schemas.microsoft.com/office/powerpoint/2010/main" val="149947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solidFill>
                  <a:schemeClr val="tx1"/>
                </a:solidFill>
              </a:rPr>
              <a:t>INTRODUCTION DU </a:t>
            </a:r>
            <a:r>
              <a:rPr lang="fr-FR" b="1" dirty="0">
                <a:solidFill>
                  <a:srgbClr val="FF0000"/>
                </a:solidFill>
              </a:rPr>
              <a:t>COURS</a:t>
            </a:r>
          </a:p>
        </p:txBody>
      </p:sp>
      <p:sp>
        <p:nvSpPr>
          <p:cNvPr id="3" name="Espace réservé du contenu 2"/>
          <p:cNvSpPr>
            <a:spLocks noGrp="1"/>
          </p:cNvSpPr>
          <p:nvPr>
            <p:ph idx="1"/>
          </p:nvPr>
        </p:nvSpPr>
        <p:spPr>
          <a:xfrm>
            <a:off x="2589212" y="1685109"/>
            <a:ext cx="8915400" cy="4297679"/>
          </a:xfrm>
        </p:spPr>
        <p:txBody>
          <a:bodyPr>
            <a:noAutofit/>
          </a:bodyPr>
          <a:lstStyle/>
          <a:p>
            <a:r>
              <a:rPr lang="fr-FR" sz="3200" b="1" dirty="0">
                <a:solidFill>
                  <a:schemeClr val="tx1"/>
                </a:solidFill>
              </a:rPr>
              <a:t>Dans un monde toujours plus connecté, les réseaux informatiques jouent un rôle central dans le fonctionnement des entreprises. La maîtrise des réseaux (LAN et WAN) et des techniques d'interconnexion est devenue une compétence incontournable pour tout professionnel de l’informatique.</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5515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solidFill>
                  <a:schemeClr val="tx1"/>
                </a:solidFill>
              </a:rPr>
              <a:t>INTRODUCTION DU </a:t>
            </a:r>
            <a:r>
              <a:rPr lang="fr-FR" b="1" dirty="0">
                <a:solidFill>
                  <a:srgbClr val="FF0000"/>
                </a:solidFill>
              </a:rPr>
              <a:t>COURS </a:t>
            </a:r>
            <a:r>
              <a:rPr lang="fr-FR" b="1" dirty="0">
                <a:solidFill>
                  <a:schemeClr val="tx1"/>
                </a:solidFill>
              </a:rPr>
              <a:t>(Suite)</a:t>
            </a:r>
          </a:p>
        </p:txBody>
      </p:sp>
      <p:sp>
        <p:nvSpPr>
          <p:cNvPr id="3" name="Espace réservé du contenu 2"/>
          <p:cNvSpPr>
            <a:spLocks noGrp="1"/>
          </p:cNvSpPr>
          <p:nvPr>
            <p:ph idx="1"/>
          </p:nvPr>
        </p:nvSpPr>
        <p:spPr/>
        <p:txBody>
          <a:bodyPr>
            <a:normAutofit/>
          </a:bodyPr>
          <a:lstStyle/>
          <a:p>
            <a:r>
              <a:rPr lang="fr-FR" sz="3200" b="1" dirty="0">
                <a:solidFill>
                  <a:schemeClr val="tx1"/>
                </a:solidFill>
              </a:rPr>
              <a:t>Ce cours propose une immersion approfondie dans les bases et les mécanismes des réseaux informatiques, en mettant l’accent sur la conception, la configuration et la gestion des infrastructures LAN et WAN. </a:t>
            </a:r>
            <a:endParaRPr lang="fr-FR" sz="3200"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60338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solidFill>
                  <a:schemeClr val="tx1"/>
                </a:solidFill>
              </a:rPr>
              <a:t>OBJECTIF DU </a:t>
            </a:r>
            <a:r>
              <a:rPr lang="fr-FR" b="1" dirty="0">
                <a:solidFill>
                  <a:srgbClr val="FF0000"/>
                </a:solidFill>
              </a:rPr>
              <a:t>COURS</a:t>
            </a:r>
            <a:endParaRPr lang="fr-FR" b="1" dirty="0">
              <a:solidFill>
                <a:schemeClr val="tx1"/>
              </a:solidFill>
            </a:endParaRPr>
          </a:p>
        </p:txBody>
      </p:sp>
      <p:sp>
        <p:nvSpPr>
          <p:cNvPr id="3" name="Espace réservé du contenu 2"/>
          <p:cNvSpPr>
            <a:spLocks noGrp="1"/>
          </p:cNvSpPr>
          <p:nvPr>
            <p:ph idx="1"/>
          </p:nvPr>
        </p:nvSpPr>
        <p:spPr/>
        <p:txBody>
          <a:bodyPr>
            <a:normAutofit/>
          </a:bodyPr>
          <a:lstStyle/>
          <a:p>
            <a:r>
              <a:rPr lang="fr-FR" sz="3200" b="1" dirty="0">
                <a:solidFill>
                  <a:schemeClr val="tx1"/>
                </a:solidFill>
              </a:rPr>
              <a:t>L’</a:t>
            </a:r>
            <a:r>
              <a:rPr lang="fr-FR" sz="3200" b="1" dirty="0">
                <a:solidFill>
                  <a:srgbClr val="FF0000"/>
                </a:solidFill>
              </a:rPr>
              <a:t>objectif </a:t>
            </a:r>
            <a:r>
              <a:rPr lang="fr-FR" sz="3200" b="1" dirty="0">
                <a:solidFill>
                  <a:schemeClr val="tx1"/>
                </a:solidFill>
              </a:rPr>
              <a:t>de ce </a:t>
            </a:r>
            <a:r>
              <a:rPr lang="fr-FR" sz="3200" b="1" dirty="0">
                <a:solidFill>
                  <a:srgbClr val="FF0000"/>
                </a:solidFill>
              </a:rPr>
              <a:t>programme</a:t>
            </a:r>
            <a:r>
              <a:rPr lang="fr-FR" sz="3200" b="1" dirty="0">
                <a:solidFill>
                  <a:schemeClr val="tx1"/>
                </a:solidFill>
              </a:rPr>
              <a:t> est de </a:t>
            </a:r>
            <a:r>
              <a:rPr lang="fr-FR" sz="3200" b="1" dirty="0">
                <a:solidFill>
                  <a:srgbClr val="FF0000"/>
                </a:solidFill>
              </a:rPr>
              <a:t>permettre</a:t>
            </a:r>
            <a:r>
              <a:rPr lang="fr-FR" sz="3200" b="1" dirty="0">
                <a:solidFill>
                  <a:schemeClr val="tx1"/>
                </a:solidFill>
              </a:rPr>
              <a:t> à tout étudiant d’acquérir des compétences nécessaires pour analyser, construire et dépanner des environnements réseau adaptés aux besoins des entreprises modernes.</a:t>
            </a:r>
            <a:endParaRPr lang="fr-FR" sz="3200"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957724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solidFill>
                  <a:schemeClr val="tx1"/>
                </a:solidFill>
              </a:rPr>
              <a:t>PLAN DE PRESENTATION</a:t>
            </a:r>
            <a:br>
              <a:rPr lang="fr-FR" b="1" dirty="0">
                <a:solidFill>
                  <a:schemeClr val="tx1"/>
                </a:solidFill>
              </a:rPr>
            </a:br>
            <a:r>
              <a:rPr lang="fr-FR" b="1" dirty="0">
                <a:solidFill>
                  <a:schemeClr val="tx1"/>
                </a:solidFill>
              </a:rPr>
              <a:t>DU COURS: </a:t>
            </a:r>
            <a:r>
              <a:rPr lang="fr-FR" b="1" dirty="0">
                <a:solidFill>
                  <a:srgbClr val="FF0000"/>
                </a:solidFill>
              </a:rPr>
              <a:t>CCNA1</a:t>
            </a:r>
            <a:endParaRPr lang="fr-FR" b="1" dirty="0"/>
          </a:p>
        </p:txBody>
      </p:sp>
      <p:sp>
        <p:nvSpPr>
          <p:cNvPr id="3" name="Espace réservé du contenu 2"/>
          <p:cNvSpPr>
            <a:spLocks noGrp="1"/>
          </p:cNvSpPr>
          <p:nvPr>
            <p:ph idx="1"/>
          </p:nvPr>
        </p:nvSpPr>
        <p:spPr>
          <a:xfrm>
            <a:off x="2589212" y="2076994"/>
            <a:ext cx="8915400" cy="4058814"/>
          </a:xfrm>
        </p:spPr>
        <p:txBody>
          <a:bodyPr>
            <a:normAutofit/>
          </a:bodyPr>
          <a:lstStyle/>
          <a:p>
            <a:r>
              <a:rPr lang="fr-FR" sz="2400" b="1" dirty="0">
                <a:solidFill>
                  <a:srgbClr val="FF0000"/>
                </a:solidFill>
              </a:rPr>
              <a:t>CHAPITRE I :</a:t>
            </a:r>
            <a:r>
              <a:rPr lang="fr-FR" sz="2400" b="1" dirty="0">
                <a:solidFill>
                  <a:schemeClr val="tx1"/>
                </a:solidFill>
              </a:rPr>
              <a:t> GENERALITES SUR LES RESEAUX</a:t>
            </a:r>
          </a:p>
          <a:p>
            <a:pPr marL="0" indent="0">
              <a:buNone/>
            </a:pPr>
            <a:r>
              <a:rPr lang="fr-FR" sz="2400" b="1" dirty="0">
                <a:solidFill>
                  <a:schemeClr val="tx1"/>
                </a:solidFill>
              </a:rPr>
              <a:t>                          INFORMATIQUES</a:t>
            </a:r>
          </a:p>
          <a:p>
            <a:r>
              <a:rPr lang="fr-FR" sz="2400" b="1" dirty="0">
                <a:solidFill>
                  <a:srgbClr val="FF0000"/>
                </a:solidFill>
              </a:rPr>
              <a:t>CHAPITRE II : </a:t>
            </a:r>
            <a:r>
              <a:rPr lang="fr-FR" sz="2400" b="1" dirty="0">
                <a:solidFill>
                  <a:schemeClr val="tx1"/>
                </a:solidFill>
              </a:rPr>
              <a:t>RÉSEAUX LOCAUX (LAN)</a:t>
            </a:r>
          </a:p>
          <a:p>
            <a:r>
              <a:rPr lang="fr-FR" sz="2400" b="1" dirty="0">
                <a:solidFill>
                  <a:srgbClr val="FF0000"/>
                </a:solidFill>
              </a:rPr>
              <a:t>CHAPITRE III : </a:t>
            </a:r>
            <a:r>
              <a:rPr lang="fr-FR" sz="2400" b="1" dirty="0">
                <a:solidFill>
                  <a:schemeClr val="tx1"/>
                </a:solidFill>
              </a:rPr>
              <a:t>RÉSEAUX ÉTENDUS (WAN)</a:t>
            </a:r>
          </a:p>
          <a:p>
            <a:r>
              <a:rPr lang="fr-FR" sz="2400" b="1" dirty="0">
                <a:solidFill>
                  <a:srgbClr val="FF0000"/>
                </a:solidFill>
              </a:rPr>
              <a:t>CHAPITRE IV : </a:t>
            </a:r>
            <a:r>
              <a:rPr lang="fr-FR" sz="2400" b="1" dirty="0">
                <a:solidFill>
                  <a:schemeClr val="tx1"/>
                </a:solidFill>
              </a:rPr>
              <a:t>INTERCONNEXION DES RÉSEAUX</a:t>
            </a:r>
          </a:p>
          <a:p>
            <a:r>
              <a:rPr lang="fr-FR" sz="2400" b="1" dirty="0">
                <a:solidFill>
                  <a:srgbClr val="FF0000"/>
                </a:solidFill>
              </a:rPr>
              <a:t>CHAPITRE V :</a:t>
            </a:r>
            <a:r>
              <a:rPr lang="fr-FR" sz="2400" b="1" dirty="0">
                <a:solidFill>
                  <a:schemeClr val="tx1"/>
                </a:solidFill>
              </a:rPr>
              <a:t> SÉCURITÉ DANS LES RÉSEAUX LAN/WAN</a:t>
            </a:r>
          </a:p>
          <a:p>
            <a:r>
              <a:rPr lang="fr-FR" sz="2400" b="1" dirty="0">
                <a:solidFill>
                  <a:srgbClr val="FF0000"/>
                </a:solidFill>
              </a:rPr>
              <a:t>CHAPITRE VI : </a:t>
            </a:r>
            <a:r>
              <a:rPr lang="fr-FR" sz="2400" b="1" dirty="0">
                <a:solidFill>
                  <a:schemeClr val="tx1"/>
                </a:solidFill>
              </a:rPr>
              <a:t>APPLICATIONS PRATIQUES ET ÉTUDES</a:t>
            </a:r>
          </a:p>
          <a:p>
            <a:pPr marL="0" indent="0">
              <a:buNone/>
            </a:pPr>
            <a:r>
              <a:rPr lang="fr-FR" sz="2400" b="1" dirty="0">
                <a:solidFill>
                  <a:schemeClr val="tx1"/>
                </a:solidFill>
              </a:rPr>
              <a:t>                            DE CAS</a:t>
            </a:r>
            <a:endParaRPr lang="fr-FR" b="1" dirty="0">
              <a:solidFill>
                <a:schemeClr val="tx1"/>
              </a:solidFill>
            </a:endParaRPr>
          </a:p>
          <a:p>
            <a:endParaRPr lang="fr-FR" b="1" dirty="0">
              <a:solidFill>
                <a:schemeClr val="tx1"/>
              </a:solidFill>
            </a:endParaRPr>
          </a:p>
          <a:p>
            <a:endParaRPr lang="fr-FR"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23140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solidFill>
                  <a:schemeClr val="tx1"/>
                </a:solidFill>
              </a:rPr>
              <a:t>OBJECTIF DE CE </a:t>
            </a:r>
            <a:r>
              <a:rPr lang="fr-FR" b="1" dirty="0">
                <a:solidFill>
                  <a:srgbClr val="FF0000"/>
                </a:solidFill>
              </a:rPr>
              <a:t>CHAPITRE 1</a:t>
            </a:r>
          </a:p>
        </p:txBody>
      </p:sp>
      <p:sp>
        <p:nvSpPr>
          <p:cNvPr id="3" name="Espace réservé du contenu 2"/>
          <p:cNvSpPr>
            <a:spLocks noGrp="1"/>
          </p:cNvSpPr>
          <p:nvPr>
            <p:ph idx="1"/>
          </p:nvPr>
        </p:nvSpPr>
        <p:spPr/>
        <p:txBody>
          <a:bodyPr>
            <a:normAutofit/>
          </a:bodyPr>
          <a:lstStyle/>
          <a:p>
            <a:r>
              <a:rPr lang="fr-FR" sz="3200" b="1" dirty="0">
                <a:solidFill>
                  <a:schemeClr val="tx1"/>
                </a:solidFill>
              </a:rPr>
              <a:t>L’</a:t>
            </a:r>
            <a:r>
              <a:rPr lang="fr-FR" sz="3200" b="1" dirty="0">
                <a:solidFill>
                  <a:srgbClr val="FF0000"/>
                </a:solidFill>
              </a:rPr>
              <a:t>objectif</a:t>
            </a:r>
            <a:r>
              <a:rPr lang="fr-FR" sz="3200" b="1" dirty="0">
                <a:solidFill>
                  <a:schemeClr val="tx1"/>
                </a:solidFill>
              </a:rPr>
              <a:t> de ce </a:t>
            </a:r>
            <a:r>
              <a:rPr lang="fr-FR" sz="3200" b="1" dirty="0">
                <a:solidFill>
                  <a:srgbClr val="FF0000"/>
                </a:solidFill>
              </a:rPr>
              <a:t>chapitre</a:t>
            </a:r>
            <a:r>
              <a:rPr lang="fr-FR" sz="3200" b="1" dirty="0">
                <a:solidFill>
                  <a:schemeClr val="tx1"/>
                </a:solidFill>
              </a:rPr>
              <a:t> est non seulement de </a:t>
            </a:r>
            <a:r>
              <a:rPr lang="fr-FR" sz="3200" b="1" dirty="0">
                <a:solidFill>
                  <a:srgbClr val="FF0000"/>
                </a:solidFill>
              </a:rPr>
              <a:t>comprendre</a:t>
            </a:r>
            <a:r>
              <a:rPr lang="fr-FR" sz="3200" b="1" dirty="0">
                <a:solidFill>
                  <a:schemeClr val="tx1"/>
                </a:solidFill>
              </a:rPr>
              <a:t> ce qu’est un réseau </a:t>
            </a:r>
            <a:r>
              <a:rPr lang="fr-FR" sz="3200" b="1" dirty="0">
                <a:solidFill>
                  <a:srgbClr val="FF0000"/>
                </a:solidFill>
              </a:rPr>
              <a:t>informatique </a:t>
            </a:r>
            <a:r>
              <a:rPr lang="fr-FR" sz="3200" b="1" dirty="0">
                <a:solidFill>
                  <a:schemeClr val="tx1"/>
                </a:solidFill>
              </a:rPr>
              <a:t>mais aussi de </a:t>
            </a:r>
            <a:r>
              <a:rPr lang="fr-FR" sz="3200" b="1" dirty="0">
                <a:solidFill>
                  <a:srgbClr val="FF0000"/>
                </a:solidFill>
              </a:rPr>
              <a:t>connaître</a:t>
            </a:r>
            <a:r>
              <a:rPr lang="fr-FR" sz="3200" b="1" dirty="0">
                <a:solidFill>
                  <a:schemeClr val="tx1"/>
                </a:solidFill>
              </a:rPr>
              <a:t> toutes </a:t>
            </a:r>
            <a:r>
              <a:rPr lang="fr-FR" sz="3200" b="1" dirty="0">
                <a:solidFill>
                  <a:srgbClr val="FF0000"/>
                </a:solidFill>
              </a:rPr>
              <a:t>ses </a:t>
            </a:r>
            <a:r>
              <a:rPr lang="fr-FR" sz="3200" b="1" dirty="0">
                <a:solidFill>
                  <a:schemeClr val="tx1"/>
                </a:solidFill>
              </a:rPr>
              <a:t>composantes.</a:t>
            </a:r>
            <a:endParaRPr lang="fr-FR" sz="3200"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79563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CHAPITRE I : Généralités sur les réseaux informatiques</a:t>
            </a:r>
          </a:p>
        </p:txBody>
      </p:sp>
      <p:sp>
        <p:nvSpPr>
          <p:cNvPr id="3" name="Espace réservé du contenu 2"/>
          <p:cNvSpPr>
            <a:spLocks noGrp="1"/>
          </p:cNvSpPr>
          <p:nvPr>
            <p:ph idx="1"/>
          </p:nvPr>
        </p:nvSpPr>
        <p:spPr>
          <a:xfrm>
            <a:off x="2589212" y="1905000"/>
            <a:ext cx="8915400" cy="4230808"/>
          </a:xfrm>
        </p:spPr>
        <p:txBody>
          <a:bodyPr>
            <a:normAutofit/>
          </a:bodyPr>
          <a:lstStyle/>
          <a:p>
            <a:r>
              <a:rPr lang="fr-FR" sz="3200" b="1" dirty="0">
                <a:solidFill>
                  <a:schemeClr val="tx1"/>
                </a:solidFill>
              </a:rPr>
              <a:t>Dans ce </a:t>
            </a:r>
            <a:r>
              <a:rPr lang="fr-FR" sz="3200" b="1" dirty="0">
                <a:solidFill>
                  <a:srgbClr val="FF0000"/>
                </a:solidFill>
              </a:rPr>
              <a:t>1</a:t>
            </a:r>
            <a:r>
              <a:rPr lang="fr-FR" sz="3200" b="1" baseline="30000" dirty="0">
                <a:solidFill>
                  <a:srgbClr val="FF0000"/>
                </a:solidFill>
              </a:rPr>
              <a:t>er</a:t>
            </a:r>
            <a:r>
              <a:rPr lang="fr-FR" sz="3200" b="1" dirty="0">
                <a:solidFill>
                  <a:schemeClr val="tx1"/>
                </a:solidFill>
              </a:rPr>
              <a:t> </a:t>
            </a:r>
            <a:r>
              <a:rPr lang="fr-FR" sz="3200" b="1" dirty="0">
                <a:solidFill>
                  <a:srgbClr val="FF0000"/>
                </a:solidFill>
              </a:rPr>
              <a:t>Chapitre</a:t>
            </a:r>
            <a:r>
              <a:rPr lang="fr-FR" sz="3200" b="1" dirty="0">
                <a:solidFill>
                  <a:schemeClr val="tx1"/>
                </a:solidFill>
              </a:rPr>
              <a:t>, nous allons d’abord </a:t>
            </a:r>
            <a:r>
              <a:rPr lang="fr-FR" sz="3200" b="1" dirty="0">
                <a:solidFill>
                  <a:srgbClr val="FF0000"/>
                </a:solidFill>
              </a:rPr>
              <a:t>expliquer</a:t>
            </a:r>
            <a:r>
              <a:rPr lang="fr-FR" sz="3200" b="1" dirty="0">
                <a:solidFill>
                  <a:schemeClr val="tx1"/>
                </a:solidFill>
              </a:rPr>
              <a:t> les réseaux </a:t>
            </a:r>
            <a:r>
              <a:rPr lang="fr-FR" sz="3200" b="1" dirty="0">
                <a:solidFill>
                  <a:srgbClr val="FF0000"/>
                </a:solidFill>
              </a:rPr>
              <a:t>informatiques</a:t>
            </a:r>
            <a:r>
              <a:rPr lang="fr-FR" sz="3200" b="1" dirty="0">
                <a:solidFill>
                  <a:schemeClr val="tx1"/>
                </a:solidFill>
              </a:rPr>
              <a:t>. Par </a:t>
            </a:r>
            <a:r>
              <a:rPr lang="fr-FR" sz="3200" b="1" dirty="0">
                <a:solidFill>
                  <a:srgbClr val="FF0000"/>
                </a:solidFill>
              </a:rPr>
              <a:t>après</a:t>
            </a:r>
            <a:r>
              <a:rPr lang="fr-FR" sz="3200" b="1" dirty="0">
                <a:solidFill>
                  <a:schemeClr val="tx1"/>
                </a:solidFill>
              </a:rPr>
              <a:t>, nous allons voir </a:t>
            </a:r>
            <a:r>
              <a:rPr lang="fr-FR" sz="3200" b="1" dirty="0">
                <a:solidFill>
                  <a:srgbClr val="FF0000"/>
                </a:solidFill>
              </a:rPr>
              <a:t>toutes</a:t>
            </a:r>
            <a:r>
              <a:rPr lang="fr-FR" sz="3200" b="1" dirty="0">
                <a:solidFill>
                  <a:schemeClr val="tx1"/>
                </a:solidFill>
              </a:rPr>
              <a:t> les </a:t>
            </a:r>
            <a:r>
              <a:rPr lang="fr-FR" sz="3200" b="1" dirty="0">
                <a:solidFill>
                  <a:srgbClr val="FF0000"/>
                </a:solidFill>
              </a:rPr>
              <a:t>composantes </a:t>
            </a:r>
            <a:r>
              <a:rPr lang="fr-FR" sz="3200" b="1" dirty="0">
                <a:solidFill>
                  <a:schemeClr val="tx1"/>
                </a:solidFill>
              </a:rPr>
              <a:t>d’un </a:t>
            </a:r>
            <a:r>
              <a:rPr lang="fr-FR" sz="3200" b="1" dirty="0">
                <a:solidFill>
                  <a:srgbClr val="FF0000"/>
                </a:solidFill>
              </a:rPr>
              <a:t>réseau</a:t>
            </a:r>
            <a:r>
              <a:rPr lang="fr-FR" sz="3200" b="1" dirty="0">
                <a:solidFill>
                  <a:schemeClr val="tx1"/>
                </a:solidFill>
              </a:rPr>
              <a:t> informatique. </a:t>
            </a:r>
          </a:p>
          <a:p>
            <a:r>
              <a:rPr lang="fr-FR" sz="3200" b="1" dirty="0">
                <a:solidFill>
                  <a:schemeClr val="tx1"/>
                </a:solidFill>
              </a:rPr>
              <a:t>Les réseaux informatiques ne pouvant exister </a:t>
            </a:r>
            <a:r>
              <a:rPr lang="fr-FR" sz="3200" b="1" dirty="0">
                <a:solidFill>
                  <a:srgbClr val="FF0000"/>
                </a:solidFill>
              </a:rPr>
              <a:t>sans</a:t>
            </a:r>
            <a:r>
              <a:rPr lang="fr-FR" sz="3200" b="1" dirty="0">
                <a:solidFill>
                  <a:schemeClr val="tx1"/>
                </a:solidFill>
              </a:rPr>
              <a:t> les </a:t>
            </a:r>
            <a:r>
              <a:rPr lang="fr-FR" sz="3200" b="1" dirty="0">
                <a:solidFill>
                  <a:srgbClr val="FF0000"/>
                </a:solidFill>
              </a:rPr>
              <a:t>câblages</a:t>
            </a:r>
            <a:r>
              <a:rPr lang="fr-FR" sz="3200" b="1" dirty="0">
                <a:solidFill>
                  <a:schemeClr val="tx1"/>
                </a:solidFill>
              </a:rPr>
              <a:t>, alors nous </a:t>
            </a:r>
            <a:r>
              <a:rPr lang="fr-FR" sz="3200" b="1" dirty="0">
                <a:solidFill>
                  <a:srgbClr val="FF0000"/>
                </a:solidFill>
              </a:rPr>
              <a:t>finirons </a:t>
            </a:r>
            <a:r>
              <a:rPr lang="fr-FR" sz="3200" b="1" dirty="0">
                <a:solidFill>
                  <a:schemeClr val="tx1"/>
                </a:solidFill>
              </a:rPr>
              <a:t>par les différents </a:t>
            </a:r>
            <a:r>
              <a:rPr lang="fr-FR" sz="3200" b="1" dirty="0">
                <a:solidFill>
                  <a:srgbClr val="FF0000"/>
                </a:solidFill>
              </a:rPr>
              <a:t>types</a:t>
            </a:r>
            <a:r>
              <a:rPr lang="fr-FR" sz="3200" b="1" dirty="0">
                <a:solidFill>
                  <a:schemeClr val="tx1"/>
                </a:solidFill>
              </a:rPr>
              <a:t> de </a:t>
            </a:r>
            <a:r>
              <a:rPr lang="fr-FR" sz="3200" b="1" dirty="0">
                <a:solidFill>
                  <a:srgbClr val="FF0000"/>
                </a:solidFill>
              </a:rPr>
              <a:t>câblage</a:t>
            </a:r>
            <a:r>
              <a:rPr lang="fr-FR" sz="3200" b="1" dirty="0">
                <a:solidFill>
                  <a:schemeClr val="tx1"/>
                </a:solidFill>
              </a:rPr>
              <a:t> réseau </a:t>
            </a:r>
            <a:r>
              <a:rPr lang="fr-FR" sz="3200" b="1" dirty="0">
                <a:solidFill>
                  <a:srgbClr val="FF0000"/>
                </a:solidFill>
              </a:rPr>
              <a:t>existants</a:t>
            </a:r>
            <a:r>
              <a:rPr lang="fr-FR" sz="3200" b="1" dirty="0">
                <a:solidFill>
                  <a:schemeClr val="tx1"/>
                </a:solidFill>
              </a:rPr>
              <a: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933400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Historique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rgbClr val="FF0000"/>
                </a:solidFill>
              </a:rPr>
              <a:t>Télégraphe </a:t>
            </a:r>
            <a:r>
              <a:rPr lang="fr-FR" sz="3200" b="1" dirty="0">
                <a:solidFill>
                  <a:schemeClr val="tx1"/>
                </a:solidFill>
              </a:rPr>
              <a:t>de Claude Chappe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C:\Users\Victor\Pictures\Semaphore.PNG"/>
          <p:cNvPicPr/>
          <p:nvPr/>
        </p:nvPicPr>
        <p:blipFill>
          <a:blip r:embed="rId3">
            <a:extLst>
              <a:ext uri="{28A0092B-C50C-407E-A947-70E740481C1C}">
                <a14:useLocalDpi xmlns:a14="http://schemas.microsoft.com/office/drawing/2010/main" val="0"/>
              </a:ext>
            </a:extLst>
          </a:blip>
          <a:srcRect/>
          <a:stretch>
            <a:fillRect/>
          </a:stretch>
        </p:blipFill>
        <p:spPr bwMode="auto">
          <a:xfrm>
            <a:off x="5590903" y="2220686"/>
            <a:ext cx="2690948" cy="4432526"/>
          </a:xfrm>
          <a:prstGeom prst="rect">
            <a:avLst/>
          </a:prstGeom>
          <a:noFill/>
          <a:ln>
            <a:noFill/>
          </a:ln>
        </p:spPr>
      </p:pic>
    </p:spTree>
    <p:extLst>
      <p:ext uri="{BB962C8B-B14F-4D97-AF65-F5344CB8AC3E}">
        <p14:creationId xmlns:p14="http://schemas.microsoft.com/office/powerpoint/2010/main" val="3244900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Historique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rgbClr val="FF0000"/>
                </a:solidFill>
              </a:rPr>
              <a:t>Télégraphe</a:t>
            </a:r>
            <a:r>
              <a:rPr lang="fr-FR" sz="3200" b="1" dirty="0">
                <a:solidFill>
                  <a:schemeClr val="tx1"/>
                </a:solidFill>
              </a:rPr>
              <a:t> de Morse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descr="C:\Users\Victor\Pictures\morse-telegraphe-0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33703" y="2216432"/>
            <a:ext cx="3241266" cy="3074484"/>
          </a:xfrm>
          <a:prstGeom prst="rect">
            <a:avLst/>
          </a:prstGeom>
          <a:noFill/>
          <a:ln>
            <a:noFill/>
          </a:ln>
        </p:spPr>
      </p:pic>
    </p:spTree>
    <p:extLst>
      <p:ext uri="{BB962C8B-B14F-4D97-AF65-F5344CB8AC3E}">
        <p14:creationId xmlns:p14="http://schemas.microsoft.com/office/powerpoint/2010/main" val="2383366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Historique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rgbClr val="FF0000"/>
                </a:solidFill>
              </a:rPr>
              <a:t>Téléphone </a:t>
            </a:r>
            <a:r>
              <a:rPr lang="fr-FR" sz="3200" b="1" dirty="0">
                <a:solidFill>
                  <a:schemeClr val="tx1"/>
                </a:solidFill>
              </a:rPr>
              <a:t>de Bell</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C:\Users\Victor\Pictures\Téléphone de Bell.PNG"/>
          <p:cNvPicPr/>
          <p:nvPr/>
        </p:nvPicPr>
        <p:blipFill>
          <a:blip r:embed="rId3">
            <a:extLst>
              <a:ext uri="{28A0092B-C50C-407E-A947-70E740481C1C}">
                <a14:useLocalDpi xmlns:a14="http://schemas.microsoft.com/office/drawing/2010/main" val="0"/>
              </a:ext>
            </a:extLst>
          </a:blip>
          <a:srcRect/>
          <a:stretch>
            <a:fillRect/>
          </a:stretch>
        </p:blipFill>
        <p:spPr bwMode="auto">
          <a:xfrm>
            <a:off x="4898299" y="2278515"/>
            <a:ext cx="3200671" cy="3939405"/>
          </a:xfrm>
          <a:prstGeom prst="rect">
            <a:avLst/>
          </a:prstGeom>
          <a:noFill/>
          <a:ln>
            <a:noFill/>
          </a:ln>
        </p:spPr>
      </p:pic>
    </p:spTree>
    <p:extLst>
      <p:ext uri="{BB962C8B-B14F-4D97-AF65-F5344CB8AC3E}">
        <p14:creationId xmlns:p14="http://schemas.microsoft.com/office/powerpoint/2010/main" val="164055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Historique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rgbClr val="FF0000"/>
                </a:solidFill>
              </a:rPr>
              <a:t>ARPANET (</a:t>
            </a:r>
            <a:r>
              <a:rPr lang="fr-FR" sz="3200" b="1" dirty="0">
                <a:solidFill>
                  <a:schemeClr val="tx1"/>
                </a:solidFill>
              </a:rPr>
              <a:t>Début de l’internet</a:t>
            </a:r>
            <a:r>
              <a:rPr lang="fr-FR" sz="3200" b="1" dirty="0">
                <a:solidFill>
                  <a:srgbClr val="FF0000"/>
                </a:solidFill>
              </a:rPr>
              <a:t>)</a:t>
            </a: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descr="C:\Users\Victor\Pictures\ARPANET.PNG"/>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b="3446"/>
          <a:stretch/>
        </p:blipFill>
        <p:spPr bwMode="auto">
          <a:xfrm>
            <a:off x="3579222" y="2246812"/>
            <a:ext cx="5528355" cy="439646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50012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Qu'est-ce qu'un </a:t>
            </a:r>
            <a:r>
              <a:rPr lang="fr-FR" b="1" dirty="0">
                <a:solidFill>
                  <a:srgbClr val="FF0000"/>
                </a:solidFill>
              </a:rPr>
              <a:t>réseau informatique </a:t>
            </a:r>
            <a:r>
              <a:rPr lang="fr-FR" b="1" dirty="0"/>
              <a:t>?</a:t>
            </a:r>
            <a:endParaRPr lang="fr-FR" b="1" dirty="0">
              <a:solidFill>
                <a:schemeClr val="tx1"/>
              </a:solidFill>
            </a:endParaRP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Un </a:t>
            </a:r>
            <a:r>
              <a:rPr lang="fr-FR" sz="3200" b="1" dirty="0">
                <a:solidFill>
                  <a:srgbClr val="FF0000"/>
                </a:solidFill>
              </a:rPr>
              <a:t>réseau </a:t>
            </a:r>
            <a:r>
              <a:rPr lang="fr-FR" sz="3200" b="1" dirty="0">
                <a:solidFill>
                  <a:schemeClr val="tx1"/>
                </a:solidFill>
              </a:rPr>
              <a:t>est l’</a:t>
            </a:r>
            <a:r>
              <a:rPr lang="fr-FR" sz="3200" b="1" dirty="0">
                <a:solidFill>
                  <a:srgbClr val="FF0000"/>
                </a:solidFill>
              </a:rPr>
              <a:t>interconnexion </a:t>
            </a:r>
            <a:r>
              <a:rPr lang="fr-FR" sz="3200" b="1" dirty="0">
                <a:solidFill>
                  <a:schemeClr val="tx1"/>
                </a:solidFill>
              </a:rPr>
              <a:t>de </a:t>
            </a:r>
            <a:r>
              <a:rPr lang="fr-FR" sz="3200" b="1" dirty="0">
                <a:solidFill>
                  <a:srgbClr val="FF0000"/>
                </a:solidFill>
              </a:rPr>
              <a:t>matériels</a:t>
            </a:r>
            <a:r>
              <a:rPr lang="fr-FR" sz="3200" b="1" dirty="0">
                <a:solidFill>
                  <a:schemeClr val="tx1"/>
                </a:solidFill>
              </a:rPr>
              <a:t> informatiques dans l’optique de pouvoir s’échanger les informations.</a:t>
            </a:r>
          </a:p>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userscontent2.emaze.com/images/5a2b2c88-2896-4ad3-a2d4-0789065bac75/830281587f55bf34d1cc0e75d82f7e8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897" y="3291839"/>
            <a:ext cx="7001692" cy="339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886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51377"/>
            <a:ext cx="8911687" cy="1280890"/>
          </a:xfrm>
        </p:spPr>
        <p:txBody>
          <a:bodyPr/>
          <a:lstStyle/>
          <a:p>
            <a:r>
              <a:rPr lang="fr-FR" b="1" dirty="0">
                <a:solidFill>
                  <a:schemeClr val="tx1"/>
                </a:solidFill>
              </a:rPr>
              <a:t>Différentes composantes d’un </a:t>
            </a:r>
            <a:r>
              <a:rPr lang="fr-FR" b="1" dirty="0">
                <a:solidFill>
                  <a:srgbClr val="FF0000"/>
                </a:solidFill>
              </a:rPr>
              <a:t>réseau informatique </a:t>
            </a:r>
            <a:r>
              <a:rPr lang="fr-FR" b="1" dirty="0">
                <a:solidFill>
                  <a:schemeClr val="tx1"/>
                </a:solidFill>
              </a:rPr>
              <a:t>?</a:t>
            </a:r>
          </a:p>
        </p:txBody>
      </p:sp>
      <p:sp>
        <p:nvSpPr>
          <p:cNvPr id="3" name="Espace réservé du contenu 2"/>
          <p:cNvSpPr>
            <a:spLocks noGrp="1"/>
          </p:cNvSpPr>
          <p:nvPr>
            <p:ph idx="1"/>
          </p:nvPr>
        </p:nvSpPr>
        <p:spPr>
          <a:xfrm>
            <a:off x="2589212" y="1843000"/>
            <a:ext cx="8915400" cy="4585652"/>
          </a:xfrm>
        </p:spPr>
        <p:txBody>
          <a:bodyPr>
            <a:normAutofit fontScale="92500" lnSpcReduction="20000"/>
          </a:bodyPr>
          <a:lstStyle/>
          <a:p>
            <a:r>
              <a:rPr lang="fr-FR" sz="3200" b="1" dirty="0">
                <a:solidFill>
                  <a:schemeClr val="tx1"/>
                </a:solidFill>
              </a:rPr>
              <a:t>Périphérique terminal,</a:t>
            </a:r>
          </a:p>
          <a:p>
            <a:r>
              <a:rPr lang="fr-FR" sz="3200" b="1" dirty="0">
                <a:solidFill>
                  <a:schemeClr val="tx1"/>
                </a:solidFill>
              </a:rPr>
              <a:t>Routeur,</a:t>
            </a:r>
          </a:p>
          <a:p>
            <a:r>
              <a:rPr lang="fr-FR" sz="3200" b="1" dirty="0">
                <a:solidFill>
                  <a:schemeClr val="tx1"/>
                </a:solidFill>
              </a:rPr>
              <a:t>Commutateur de couche 2,</a:t>
            </a:r>
          </a:p>
          <a:p>
            <a:r>
              <a:rPr lang="fr-FR" sz="3200" b="1" dirty="0">
                <a:solidFill>
                  <a:schemeClr val="tx1"/>
                </a:solidFill>
              </a:rPr>
              <a:t>Commutateur de couche 3,</a:t>
            </a:r>
          </a:p>
          <a:p>
            <a:r>
              <a:rPr lang="fr-FR" sz="3200" b="1" dirty="0">
                <a:solidFill>
                  <a:schemeClr val="tx1"/>
                </a:solidFill>
              </a:rPr>
              <a:t>Ponts, Concentrateurs et Répéteurs,</a:t>
            </a:r>
          </a:p>
          <a:p>
            <a:r>
              <a:rPr lang="fr-FR" sz="3200" b="1" dirty="0">
                <a:solidFill>
                  <a:schemeClr val="tx1"/>
                </a:solidFill>
              </a:rPr>
              <a:t>Matériels sans fil,</a:t>
            </a:r>
          </a:p>
          <a:p>
            <a:r>
              <a:rPr lang="fr-FR" sz="3200" b="1" dirty="0">
                <a:solidFill>
                  <a:schemeClr val="tx1"/>
                </a:solidFill>
              </a:rPr>
              <a:t>Pare-feu,</a:t>
            </a:r>
          </a:p>
          <a:p>
            <a:r>
              <a:rPr lang="fr-FR" sz="3200" b="1" dirty="0">
                <a:solidFill>
                  <a:schemeClr val="tx1"/>
                </a:solidFill>
              </a:rPr>
              <a:t>IDS/IPS et</a:t>
            </a:r>
          </a:p>
          <a:p>
            <a:r>
              <a:rPr lang="fr-FR" sz="3200" b="1" dirty="0">
                <a:solidFill>
                  <a:schemeClr val="tx1"/>
                </a:solidFill>
              </a:rPr>
              <a:t>Supports de transmission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506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240563"/>
            <a:ext cx="8911687" cy="1280890"/>
          </a:xfrm>
        </p:spPr>
        <p:txBody>
          <a:bodyPr/>
          <a:lstStyle/>
          <a:p>
            <a:r>
              <a:rPr lang="fr-FR" b="1" dirty="0">
                <a:solidFill>
                  <a:schemeClr val="tx1"/>
                </a:solidFill>
              </a:rPr>
              <a:t>Périphérique terminal</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endParaRPr lang="fr-FR" sz="3200" b="1"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stretch>
            <a:fillRect/>
          </a:stretch>
        </p:blipFill>
        <p:spPr>
          <a:xfrm>
            <a:off x="2589212" y="1608511"/>
            <a:ext cx="3971925" cy="1990725"/>
          </a:xfrm>
          <a:prstGeom prst="rect">
            <a:avLst/>
          </a:prstGeom>
        </p:spPr>
      </p:pic>
      <p:pic>
        <p:nvPicPr>
          <p:cNvPr id="2050" name="Picture 2" descr="https://jooinn.com/images/picture-with-smartphone-3.jpg"/>
          <p:cNvPicPr>
            <a:picLocks noChangeAspect="1" noChangeArrowheads="1"/>
          </p:cNvPicPr>
          <p:nvPr/>
        </p:nvPicPr>
        <p:blipFill rotWithShape="1">
          <a:blip r:embed="rId4">
            <a:extLst>
              <a:ext uri="{28A0092B-C50C-407E-A947-70E740481C1C}">
                <a14:useLocalDpi xmlns:a14="http://schemas.microsoft.com/office/drawing/2010/main" val="0"/>
              </a:ext>
            </a:extLst>
          </a:blip>
          <a:srcRect l="29484" t="8063" r="31920"/>
          <a:stretch/>
        </p:blipFill>
        <p:spPr bwMode="auto">
          <a:xfrm>
            <a:off x="6561137" y="1584439"/>
            <a:ext cx="1456361" cy="22468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cdn.vox-cdn.com/thumbor/PUswy3EF3nojtrMhUWeYabQEi9A=/0x0:2039x1359/1200x800/filters:focal(0x0:2039x1359)/cdn.vox-cdn.com/uploads/chorus_image/image/52590407/jkastrenakes_161222_1339_A_0018__1_.0.0.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17498" y="1608511"/>
            <a:ext cx="3094098" cy="206273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www.designsupply.co.uk/wp-content/uploads/2021/09/61-tz7nALL._AC_SL1500_.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4827" y="3641612"/>
            <a:ext cx="2863294" cy="220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82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09870"/>
            <a:ext cx="8911687" cy="1161670"/>
          </a:xfrm>
        </p:spPr>
        <p:txBody>
          <a:bodyPr/>
          <a:lstStyle/>
          <a:p>
            <a:r>
              <a:rPr lang="fr-FR" b="1" dirty="0">
                <a:solidFill>
                  <a:schemeClr val="tx1"/>
                </a:solidFill>
              </a:rPr>
              <a:t>Routeur</a:t>
            </a:r>
            <a:endParaRPr lang="fr-FR" b="1" dirty="0">
              <a:solidFill>
                <a:srgbClr val="FF0000"/>
              </a:solidFill>
            </a:endParaRPr>
          </a:p>
        </p:txBody>
      </p:sp>
      <p:sp>
        <p:nvSpPr>
          <p:cNvPr id="3" name="Espace réservé du contenu 2"/>
          <p:cNvSpPr>
            <a:spLocks noGrp="1"/>
          </p:cNvSpPr>
          <p:nvPr>
            <p:ph idx="1"/>
          </p:nvPr>
        </p:nvSpPr>
        <p:spPr>
          <a:xfrm>
            <a:off x="2589212" y="1596126"/>
            <a:ext cx="8915400" cy="4315096"/>
          </a:xfrm>
        </p:spPr>
        <p:txBody>
          <a:bodyPr>
            <a:normAutofit/>
          </a:bodyPr>
          <a:lstStyle/>
          <a:p>
            <a:endParaRPr lang="fr-FR" sz="3200" b="1"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589212" y="1596126"/>
            <a:ext cx="2343150" cy="1362075"/>
          </a:xfrm>
          <a:prstGeom prst="rect">
            <a:avLst/>
          </a:prstGeom>
        </p:spPr>
      </p:pic>
      <p:pic>
        <p:nvPicPr>
          <p:cNvPr id="3074" name="Picture 2" descr="https://storage.googleapis.com/blogs-images/ciscoblogs/1/Cisco-4221-images-blog-post-11_8_16-v2.jpg"/>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932362" y="1596126"/>
            <a:ext cx="6832522" cy="3798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683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209870"/>
            <a:ext cx="8911687" cy="1280890"/>
          </a:xfrm>
        </p:spPr>
        <p:txBody>
          <a:bodyPr/>
          <a:lstStyle/>
          <a:p>
            <a:r>
              <a:rPr lang="fr-FR" b="1" dirty="0">
                <a:solidFill>
                  <a:schemeClr val="tx1"/>
                </a:solidFill>
              </a:rPr>
              <a:t>Commutateur de couche 2 ou </a:t>
            </a:r>
            <a:r>
              <a:rPr lang="fr-FR" b="1" dirty="0">
                <a:solidFill>
                  <a:srgbClr val="FF0000"/>
                </a:solidFill>
              </a:rPr>
              <a:t>Switch de niveau 2</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endParaRPr lang="fr-FR" sz="3200" b="1"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589212" y="1596126"/>
            <a:ext cx="2038350" cy="971550"/>
          </a:xfrm>
          <a:prstGeom prst="rect">
            <a:avLst/>
          </a:prstGeom>
        </p:spPr>
      </p:pic>
      <p:pic>
        <p:nvPicPr>
          <p:cNvPr id="4098" name="Picture 2" descr="https://www.usedcisco.de/media/image/65/51/c2/ws-c2960s-48td-l-10105388-014m8zUlDHhWCYyh_600x600@2x.jpg"/>
          <p:cNvPicPr>
            <a:picLocks noChangeAspect="1" noChangeArrowheads="1"/>
          </p:cNvPicPr>
          <p:nvPr/>
        </p:nvPicPr>
        <p:blipFill rotWithShape="1">
          <a:blip r:embed="rId5">
            <a:extLst>
              <a:ext uri="{28A0092B-C50C-407E-A947-70E740481C1C}">
                <a14:useLocalDpi xmlns:a14="http://schemas.microsoft.com/office/drawing/2010/main" val="0"/>
              </a:ext>
            </a:extLst>
          </a:blip>
          <a:srcRect t="20872" b="20594"/>
          <a:stretch/>
        </p:blipFill>
        <p:spPr bwMode="auto">
          <a:xfrm>
            <a:off x="4627562" y="1587175"/>
            <a:ext cx="6562725" cy="2881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855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Commutateur de couche 3 ou </a:t>
            </a:r>
            <a:r>
              <a:rPr lang="fr-FR" b="1" dirty="0">
                <a:solidFill>
                  <a:srgbClr val="FF0000"/>
                </a:solidFill>
              </a:rPr>
              <a:t>Switch de niveau 3</a:t>
            </a:r>
            <a:endParaRPr lang="fr-FR" b="1" dirty="0">
              <a:solidFill>
                <a:schemeClr val="tx1"/>
              </a:solidFill>
            </a:endParaRPr>
          </a:p>
        </p:txBody>
      </p:sp>
      <p:sp>
        <p:nvSpPr>
          <p:cNvPr id="3" name="Espace réservé du contenu 2"/>
          <p:cNvSpPr>
            <a:spLocks noGrp="1"/>
          </p:cNvSpPr>
          <p:nvPr>
            <p:ph idx="1"/>
          </p:nvPr>
        </p:nvSpPr>
        <p:spPr>
          <a:xfrm>
            <a:off x="2589212" y="2115733"/>
            <a:ext cx="8915400" cy="4363443"/>
          </a:xfrm>
        </p:spPr>
        <p:txBody>
          <a:bodyPr>
            <a:normAutofit/>
          </a:bodyPr>
          <a:lstStyle/>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s://tease-shop.de/media/69/fc/dd/1680497679/00d866e7a3e24f9cab967308a6d29dae.jp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589212" y="1980470"/>
            <a:ext cx="8915400" cy="1703256"/>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5995850" y="3818989"/>
            <a:ext cx="1933303" cy="1353902"/>
          </a:xfrm>
          <a:prstGeom prst="rect">
            <a:avLst/>
          </a:prstGeom>
        </p:spPr>
      </p:pic>
    </p:spTree>
    <p:extLst>
      <p:ext uri="{BB962C8B-B14F-4D97-AF65-F5344CB8AC3E}">
        <p14:creationId xmlns:p14="http://schemas.microsoft.com/office/powerpoint/2010/main" val="75137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Points d’Accès </a:t>
            </a:r>
            <a:r>
              <a:rPr lang="fr-FR" b="1" dirty="0">
                <a:solidFill>
                  <a:srgbClr val="FF0000"/>
                </a:solidFill>
              </a:rPr>
              <a:t>Wi-Fi </a:t>
            </a:r>
            <a:endParaRPr lang="fr-FR"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Espace réservé du contenu 6"/>
          <p:cNvPicPr>
            <a:picLocks noGrp="1"/>
          </p:cNvPicPr>
          <p:nvPr>
            <p:ph idx="1"/>
          </p:nvPr>
        </p:nvPicPr>
        <p:blipFill>
          <a:blip r:embed="rId3"/>
          <a:stretch>
            <a:fillRect/>
          </a:stretch>
        </p:blipFill>
        <p:spPr>
          <a:xfrm>
            <a:off x="2846523" y="2021251"/>
            <a:ext cx="2809875" cy="1314450"/>
          </a:xfrm>
          <a:prstGeom prst="rect">
            <a:avLst/>
          </a:prstGeom>
        </p:spPr>
      </p:pic>
      <p:pic>
        <p:nvPicPr>
          <p:cNvPr id="6146" name="Picture 2" descr="https://kirov.sidex.ru/images_offers/57/57246/cisco_airoeap602iek9_1.jpg"/>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7340145" y="1596126"/>
            <a:ext cx="2888071" cy="288807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i.pinimg.com/originals/55/c2/d2/55c2d287a6663869a7663c53389dbbb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4845" y="3699716"/>
            <a:ext cx="3072969" cy="2316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963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74320"/>
            <a:ext cx="8911687" cy="1136469"/>
          </a:xfrm>
        </p:spPr>
        <p:txBody>
          <a:bodyPr/>
          <a:lstStyle/>
          <a:p>
            <a:r>
              <a:rPr lang="fr-FR" b="1" dirty="0">
                <a:solidFill>
                  <a:schemeClr val="tx1"/>
                </a:solidFill>
              </a:rPr>
              <a:t>Contrôleur </a:t>
            </a:r>
            <a:r>
              <a:rPr lang="fr-FR" b="1" dirty="0">
                <a:solidFill>
                  <a:srgbClr val="FF0000"/>
                </a:solidFill>
              </a:rPr>
              <a:t>Wi-Fi</a:t>
            </a:r>
          </a:p>
        </p:txBody>
      </p:sp>
      <p:sp>
        <p:nvSpPr>
          <p:cNvPr id="3" name="Espace réservé du contenu 2"/>
          <p:cNvSpPr>
            <a:spLocks noGrp="1"/>
          </p:cNvSpPr>
          <p:nvPr>
            <p:ph idx="1"/>
          </p:nvPr>
        </p:nvSpPr>
        <p:spPr>
          <a:xfrm>
            <a:off x="2589212" y="1596125"/>
            <a:ext cx="8915400" cy="4883051"/>
          </a:xfrm>
        </p:spPr>
        <p:txBody>
          <a:bodyPr>
            <a:normAutofit/>
          </a:bodyPr>
          <a:lstStyle/>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022849" y="1359625"/>
            <a:ext cx="3019425" cy="1866900"/>
          </a:xfrm>
          <a:prstGeom prst="rect">
            <a:avLst/>
          </a:prstGeom>
        </p:spPr>
      </p:pic>
      <p:pic>
        <p:nvPicPr>
          <p:cNvPr id="7170" name="Picture 2" descr="https://utmnetwork.ru/upload/iblock/8da/8dae66d30b1dfa95f96be3edd7f1e99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6912" y="3226525"/>
            <a:ext cx="762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501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15234"/>
            <a:ext cx="8911687" cy="1280890"/>
          </a:xfrm>
        </p:spPr>
        <p:txBody>
          <a:bodyPr/>
          <a:lstStyle/>
          <a:p>
            <a:r>
              <a:rPr lang="fr-FR" b="1" dirty="0">
                <a:solidFill>
                  <a:schemeClr val="tx1"/>
                </a:solidFill>
              </a:rPr>
              <a:t>Pare-Feu</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Espace réservé du contenu 6"/>
          <p:cNvPicPr>
            <a:picLocks noGrp="1"/>
          </p:cNvPicPr>
          <p:nvPr>
            <p:ph idx="1"/>
          </p:nvPr>
        </p:nvPicPr>
        <p:blipFill>
          <a:blip r:embed="rId3"/>
          <a:stretch>
            <a:fillRect/>
          </a:stretch>
        </p:blipFill>
        <p:spPr>
          <a:xfrm>
            <a:off x="5623899" y="1097242"/>
            <a:ext cx="1943100" cy="1419225"/>
          </a:xfrm>
          <a:prstGeom prst="rect">
            <a:avLst/>
          </a:prstGeom>
        </p:spPr>
      </p:pic>
      <p:pic>
        <p:nvPicPr>
          <p:cNvPr id="8194" name="Picture 2" descr="https://pbs.twimg.com/media/D59of2_WAAAft4L.jpg:large"/>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487783" y="2903570"/>
            <a:ext cx="6215332" cy="349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088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87384"/>
            <a:ext cx="8911687" cy="1214846"/>
          </a:xfrm>
        </p:spPr>
        <p:txBody>
          <a:bodyPr/>
          <a:lstStyle/>
          <a:p>
            <a:r>
              <a:rPr lang="fr-FR" b="1" dirty="0">
                <a:solidFill>
                  <a:schemeClr val="tx1"/>
                </a:solidFill>
              </a:rPr>
              <a:t>IDS/IPS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p:nvPr/>
        </p:nvPicPr>
        <p:blipFill>
          <a:blip r:embed="rId3"/>
          <a:stretch>
            <a:fillRect/>
          </a:stretch>
        </p:blipFill>
        <p:spPr>
          <a:xfrm>
            <a:off x="5965916" y="1300162"/>
            <a:ext cx="1409700" cy="1514475"/>
          </a:xfrm>
          <a:prstGeom prst="rect">
            <a:avLst/>
          </a:prstGeom>
        </p:spPr>
      </p:pic>
      <p:pic>
        <p:nvPicPr>
          <p:cNvPr id="9218" name="Picture 2" descr="https://fiverr-res.cloudinary.com/images/t_main1,q_auto,f_auto,q_auto,f_auto/gigs/168115540/original/7619b568c26c9a373d50ba0ea7834098d0d4cac4/assist-to-config-cisco-paloalto-f5-sophos-firewall-utm-ftd.jpg"/>
          <p:cNvPicPr>
            <a:picLocks noGrp="1" noChangeAspect="1" noChangeArrowheads="1"/>
          </p:cNvPicPr>
          <p:nvPr>
            <p:ph idx="1"/>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914771" y="2952206"/>
            <a:ext cx="6039126" cy="340600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s://static22.tgcnt.ru/posts/_0/27/27e719b29a3677c499ca2dc9e1df0b7f.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4675" y="936453"/>
            <a:ext cx="3207658" cy="174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313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Supports de transmission</a:t>
            </a:r>
          </a:p>
        </p:txBody>
      </p:sp>
      <p:sp>
        <p:nvSpPr>
          <p:cNvPr id="3" name="Espace réservé du contenu 2"/>
          <p:cNvSpPr>
            <a:spLocks noGrp="1"/>
          </p:cNvSpPr>
          <p:nvPr>
            <p:ph idx="1"/>
          </p:nvPr>
        </p:nvSpPr>
        <p:spPr>
          <a:xfrm>
            <a:off x="2589212" y="1596125"/>
            <a:ext cx="8915400" cy="4883051"/>
          </a:xfrm>
        </p:spPr>
        <p:txBody>
          <a:bodyPr>
            <a:normAutofit/>
          </a:bodyPr>
          <a:lstStyle/>
          <a:p>
            <a:pPr marL="514350" indent="-514350">
              <a:buFont typeface="+mj-lt"/>
              <a:buAutoNum type="arabicPeriod"/>
            </a:pPr>
            <a:r>
              <a:rPr lang="fr-FR" sz="3200" b="1" dirty="0">
                <a:solidFill>
                  <a:schemeClr val="tx1"/>
                </a:solidFill>
              </a:rPr>
              <a:t>Câbles à paires torsadées</a:t>
            </a:r>
          </a:p>
          <a:p>
            <a:pPr marL="514350" indent="-514350">
              <a:buFont typeface="+mj-lt"/>
              <a:buAutoNum type="arabicPeriod"/>
            </a:pPr>
            <a:r>
              <a:rPr lang="fr-FR" sz="3200" b="1" dirty="0">
                <a:solidFill>
                  <a:schemeClr val="tx1"/>
                </a:solidFill>
              </a:rPr>
              <a:t>Fibre Optique</a:t>
            </a:r>
          </a:p>
          <a:p>
            <a:pPr marL="514350" indent="-514350">
              <a:buFont typeface="+mj-lt"/>
              <a:buAutoNum type="arabicPeriod"/>
            </a:pPr>
            <a:r>
              <a:rPr lang="fr-FR" sz="3200" b="1" dirty="0">
                <a:solidFill>
                  <a:schemeClr val="tx1"/>
                </a:solidFill>
              </a:rPr>
              <a:t>Ondes Radio </a:t>
            </a:r>
          </a:p>
          <a:p>
            <a:pPr marL="514350" indent="-514350">
              <a:buFont typeface="+mj-lt"/>
              <a:buAutoNum type="arabicPeriod"/>
            </a:pPr>
            <a:r>
              <a:rPr lang="fr-FR" sz="3200" b="1" dirty="0">
                <a:solidFill>
                  <a:schemeClr val="tx1"/>
                </a:solidFill>
              </a:rPr>
              <a:t>Infra-rouge (</a:t>
            </a:r>
            <a:r>
              <a:rPr lang="fr-FR" sz="3200" b="1" dirty="0">
                <a:solidFill>
                  <a:srgbClr val="FF0000"/>
                </a:solidFill>
              </a:rPr>
              <a:t>Optionnel</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8473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Câbles à paires torsadées</a:t>
            </a:r>
            <a:endParaRPr lang="fr-FR" b="1" dirty="0">
              <a:solidFill>
                <a:srgbClr val="FF0000"/>
              </a:solidFill>
            </a:endParaRPr>
          </a:p>
        </p:txBody>
      </p:sp>
      <p:sp>
        <p:nvSpPr>
          <p:cNvPr id="3" name="Espace réservé du contenu 2"/>
          <p:cNvSpPr>
            <a:spLocks noGrp="1"/>
          </p:cNvSpPr>
          <p:nvPr>
            <p:ph idx="1"/>
          </p:nvPr>
        </p:nvSpPr>
        <p:spPr>
          <a:xfrm>
            <a:off x="2589212" y="1596125"/>
            <a:ext cx="8915400" cy="4883051"/>
          </a:xfrm>
        </p:spPr>
        <p:txBody>
          <a:bodyPr>
            <a:normAutofit/>
          </a:bodyPr>
          <a:lstStyle/>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E:\Documents and Settings\Administrateur\Mes documents\Mes images\Nouvelle image (13).png"/>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Lst>
          </a:blip>
          <a:srcRect/>
          <a:stretch>
            <a:fillRect/>
          </a:stretch>
        </p:blipFill>
        <p:spPr bwMode="auto">
          <a:xfrm>
            <a:off x="2585499" y="1610789"/>
            <a:ext cx="3886200" cy="3562350"/>
          </a:xfrm>
          <a:prstGeom prst="rect">
            <a:avLst/>
          </a:prstGeom>
          <a:noFill/>
          <a:ln w="9525">
            <a:noFill/>
            <a:miter lim="800000"/>
            <a:headEnd/>
            <a:tailEnd/>
          </a:ln>
        </p:spPr>
      </p:pic>
      <p:pic>
        <p:nvPicPr>
          <p:cNvPr id="8" name="Image 7" descr="https://magazun.com/images/detailed/250/7422d000-9813-11e9-a20f-7085c2a4485b.jpg"/>
          <p:cNvPicPr/>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471699" y="1610789"/>
            <a:ext cx="3357154" cy="3184673"/>
          </a:xfrm>
          <a:prstGeom prst="rect">
            <a:avLst/>
          </a:prstGeom>
          <a:noFill/>
          <a:ln w="12700">
            <a:solidFill>
              <a:schemeClr val="tx1"/>
            </a:solidFill>
          </a:ln>
        </p:spPr>
      </p:pic>
    </p:spTree>
    <p:extLst>
      <p:ext uri="{BB962C8B-B14F-4D97-AF65-F5344CB8AC3E}">
        <p14:creationId xmlns:p14="http://schemas.microsoft.com/office/powerpoint/2010/main" val="3905845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Fibre Optique</a:t>
            </a:r>
            <a:endParaRPr lang="fr-FR" b="1" dirty="0">
              <a:solidFill>
                <a:srgbClr val="FF0000"/>
              </a:solidFill>
            </a:endParaRPr>
          </a:p>
        </p:txBody>
      </p:sp>
      <p:sp>
        <p:nvSpPr>
          <p:cNvPr id="3" name="Espace réservé du contenu 2"/>
          <p:cNvSpPr>
            <a:spLocks noGrp="1"/>
          </p:cNvSpPr>
          <p:nvPr>
            <p:ph idx="1"/>
          </p:nvPr>
        </p:nvSpPr>
        <p:spPr>
          <a:xfrm>
            <a:off x="2589212" y="1596125"/>
            <a:ext cx="8915400" cy="4883051"/>
          </a:xfrm>
        </p:spPr>
        <p:txBody>
          <a:bodyPr>
            <a:normAutofit/>
          </a:bodyPr>
          <a:lstStyle/>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https://www.navegalo.com/wp-content/uploads/2019/12/fiberoptic.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5499" y="1596124"/>
            <a:ext cx="6336484" cy="422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292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Ondes Radio</a:t>
            </a:r>
            <a:endParaRPr lang="fr-FR" b="1" dirty="0">
              <a:solidFill>
                <a:srgbClr val="FF0000"/>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https://i.pinimg.com/originals/fa/07/c8/fa07c81b86bf1f1dcbadfc0b28be10a5.jpg"/>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585499" y="1575658"/>
            <a:ext cx="4808078" cy="282220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s://www.dlf.pt/dfpng/middlepng/69-695897_onde-radio-png-transparent-png.png"/>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7393577" y="1575658"/>
            <a:ext cx="4342520" cy="3095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90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Introduction aux Modèles </a:t>
            </a:r>
            <a:r>
              <a:rPr lang="fr-FR" b="1" dirty="0">
                <a:solidFill>
                  <a:srgbClr val="FF0000"/>
                </a:solidFill>
              </a:rPr>
              <a:t>TCP/IP</a:t>
            </a:r>
            <a:r>
              <a:rPr lang="fr-FR" b="1" dirty="0">
                <a:solidFill>
                  <a:schemeClr val="tx1"/>
                </a:solidFill>
              </a:rPr>
              <a:t> et </a:t>
            </a:r>
            <a:r>
              <a:rPr lang="fr-FR" b="1" dirty="0">
                <a:solidFill>
                  <a:srgbClr val="FF0000"/>
                </a:solidFill>
              </a:rPr>
              <a:t>OSI</a:t>
            </a:r>
            <a:r>
              <a:rPr lang="fr-FR" b="1" dirty="0">
                <a:solidFill>
                  <a:schemeClr val="tx1"/>
                </a:solidFill>
              </a:rPr>
              <a:t>.</a:t>
            </a:r>
          </a:p>
        </p:txBody>
      </p:sp>
      <p:sp>
        <p:nvSpPr>
          <p:cNvPr id="3" name="Espace réservé du contenu 2"/>
          <p:cNvSpPr>
            <a:spLocks noGrp="1"/>
          </p:cNvSpPr>
          <p:nvPr>
            <p:ph idx="1"/>
          </p:nvPr>
        </p:nvSpPr>
        <p:spPr>
          <a:xfrm>
            <a:off x="2589212" y="1905000"/>
            <a:ext cx="8915400" cy="4230808"/>
          </a:xfrm>
        </p:spPr>
        <p:txBody>
          <a:bodyPr>
            <a:normAutofit/>
          </a:bodyPr>
          <a:lstStyle/>
          <a:p>
            <a:r>
              <a:rPr lang="fr-FR" sz="3200" b="1" dirty="0">
                <a:solidFill>
                  <a:schemeClr val="tx1"/>
                </a:solidFill>
              </a:rPr>
              <a:t>En </a:t>
            </a:r>
            <a:r>
              <a:rPr lang="fr-FR" sz="3200" b="1" dirty="0">
                <a:solidFill>
                  <a:srgbClr val="FF0000"/>
                </a:solidFill>
              </a:rPr>
              <a:t>informatique</a:t>
            </a:r>
            <a:r>
              <a:rPr lang="fr-FR" sz="3200" b="1" dirty="0">
                <a:solidFill>
                  <a:schemeClr val="tx1"/>
                </a:solidFill>
              </a:rPr>
              <a:t>, tout est régi par les protocoles. </a:t>
            </a:r>
            <a:r>
              <a:rPr lang="fr-FR" sz="3200" b="1" dirty="0">
                <a:solidFill>
                  <a:srgbClr val="FF0000"/>
                </a:solidFill>
              </a:rPr>
              <a:t>Ces derniers </a:t>
            </a:r>
            <a:r>
              <a:rPr lang="fr-FR" sz="3200" b="1" dirty="0">
                <a:solidFill>
                  <a:schemeClr val="tx1"/>
                </a:solidFill>
              </a:rPr>
              <a:t>sont un ensemble de </a:t>
            </a:r>
            <a:r>
              <a:rPr lang="fr-FR" sz="3200" b="1" dirty="0">
                <a:solidFill>
                  <a:srgbClr val="FF0000"/>
                </a:solidFill>
              </a:rPr>
              <a:t>règles</a:t>
            </a:r>
            <a:r>
              <a:rPr lang="fr-FR" sz="3200" b="1" dirty="0">
                <a:solidFill>
                  <a:schemeClr val="tx1"/>
                </a:solidFill>
              </a:rPr>
              <a:t> définies et qui régissent le bon fonctionnement des systèmes informatiques. </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1684429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Introduction aux Modèles </a:t>
            </a:r>
            <a:r>
              <a:rPr lang="fr-FR" b="1" dirty="0">
                <a:solidFill>
                  <a:srgbClr val="FF0000"/>
                </a:solidFill>
              </a:rPr>
              <a:t>TCP/IP</a:t>
            </a:r>
            <a:r>
              <a:rPr lang="fr-FR" b="1" dirty="0">
                <a:solidFill>
                  <a:schemeClr val="tx1"/>
                </a:solidFill>
              </a:rPr>
              <a:t> et </a:t>
            </a:r>
            <a:r>
              <a:rPr lang="fr-FR" b="1" dirty="0">
                <a:solidFill>
                  <a:srgbClr val="FF0000"/>
                </a:solidFill>
              </a:rPr>
              <a:t>OSI</a:t>
            </a:r>
            <a:r>
              <a:rPr lang="fr-FR" b="1" dirty="0">
                <a:solidFill>
                  <a:schemeClr val="tx1"/>
                </a:solidFill>
              </a:rPr>
              <a:t>.</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Pour qu’un </a:t>
            </a:r>
            <a:r>
              <a:rPr lang="fr-FR" sz="3200" b="1" dirty="0">
                <a:solidFill>
                  <a:srgbClr val="FF0000"/>
                </a:solidFill>
              </a:rPr>
              <a:t>réseau</a:t>
            </a:r>
            <a:r>
              <a:rPr lang="fr-FR" sz="3200" b="1" dirty="0">
                <a:solidFill>
                  <a:schemeClr val="tx1"/>
                </a:solidFill>
              </a:rPr>
              <a:t> informatique </a:t>
            </a:r>
            <a:r>
              <a:rPr lang="fr-FR" sz="3200" b="1" dirty="0">
                <a:solidFill>
                  <a:srgbClr val="FF0000"/>
                </a:solidFill>
              </a:rPr>
              <a:t>fonctionne</a:t>
            </a:r>
            <a:r>
              <a:rPr lang="fr-FR" sz="3200" b="1" dirty="0">
                <a:solidFill>
                  <a:schemeClr val="tx1"/>
                </a:solidFill>
              </a:rPr>
              <a:t> correctement, des </a:t>
            </a:r>
            <a:r>
              <a:rPr lang="fr-FR" sz="3200" b="1" dirty="0">
                <a:solidFill>
                  <a:srgbClr val="FF0000"/>
                </a:solidFill>
              </a:rPr>
              <a:t>protocoles</a:t>
            </a:r>
            <a:r>
              <a:rPr lang="fr-FR" sz="3200" b="1" dirty="0">
                <a:solidFill>
                  <a:schemeClr val="tx1"/>
                </a:solidFill>
              </a:rPr>
              <a:t> sont définis. Parmi ces protocoles, nous avons deux qui dominent :</a:t>
            </a:r>
          </a:p>
          <a:p>
            <a:r>
              <a:rPr lang="fr-FR" sz="3200" b="1" dirty="0">
                <a:solidFill>
                  <a:srgbClr val="FF0000"/>
                </a:solidFill>
              </a:rPr>
              <a:t>TCP/IP</a:t>
            </a:r>
            <a:r>
              <a:rPr lang="fr-FR" sz="3200" b="1" dirty="0">
                <a:solidFill>
                  <a:schemeClr val="tx1"/>
                </a:solidFill>
              </a:rPr>
              <a:t> et</a:t>
            </a:r>
          </a:p>
          <a:p>
            <a:r>
              <a:rPr lang="fr-FR" sz="3200" b="1" dirty="0">
                <a:solidFill>
                  <a:srgbClr val="FF0000"/>
                </a:solidFill>
              </a:rPr>
              <a:t>OSI</a:t>
            </a:r>
            <a:r>
              <a:rPr lang="fr-FR" sz="3200" b="1" dirty="0">
                <a:solidFill>
                  <a:schemeClr val="tx1"/>
                </a:solidFill>
              </a:rPr>
              <a:t>.</a:t>
            </a:r>
          </a:p>
          <a:p>
            <a:pPr marL="0" indent="0">
              <a:buNone/>
            </a:pPr>
            <a:endParaRPr lang="fr-FR" sz="3200" b="1" dirty="0">
              <a:solidFill>
                <a:schemeClr val="tx1"/>
              </a:solidFill>
            </a:endParaRP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3064505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Introduction aux Modèles </a:t>
            </a:r>
            <a:r>
              <a:rPr lang="fr-FR" b="1" dirty="0">
                <a:solidFill>
                  <a:srgbClr val="FF0000"/>
                </a:solidFill>
              </a:rPr>
              <a:t>TCP/IP</a:t>
            </a:r>
            <a:r>
              <a:rPr lang="fr-FR" b="1" dirty="0">
                <a:solidFill>
                  <a:schemeClr val="tx1"/>
                </a:solidFill>
              </a:rPr>
              <a:t> et </a:t>
            </a:r>
            <a:r>
              <a:rPr lang="fr-FR" b="1" dirty="0">
                <a:solidFill>
                  <a:srgbClr val="FF0000"/>
                </a:solidFill>
              </a:rPr>
              <a:t>OSI</a:t>
            </a:r>
            <a:r>
              <a:rPr lang="fr-FR" b="1" dirty="0">
                <a:solidFill>
                  <a:schemeClr val="tx1"/>
                </a:solidFill>
              </a:rPr>
              <a:t>.</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Dans ce </a:t>
            </a:r>
            <a:r>
              <a:rPr lang="fr-FR" sz="3200" b="1" dirty="0">
                <a:solidFill>
                  <a:srgbClr val="FF0000"/>
                </a:solidFill>
              </a:rPr>
              <a:t>second </a:t>
            </a:r>
            <a:r>
              <a:rPr lang="fr-FR" sz="3200" b="1" dirty="0">
                <a:solidFill>
                  <a:schemeClr val="tx1"/>
                </a:solidFill>
              </a:rPr>
              <a:t>chapitre, nous allons </a:t>
            </a:r>
            <a:r>
              <a:rPr lang="fr-FR" sz="3200" b="1" dirty="0">
                <a:solidFill>
                  <a:srgbClr val="FF0000"/>
                </a:solidFill>
              </a:rPr>
              <a:t>définir</a:t>
            </a:r>
            <a:r>
              <a:rPr lang="fr-FR" sz="3200" b="1" dirty="0">
                <a:solidFill>
                  <a:schemeClr val="tx1"/>
                </a:solidFill>
              </a:rPr>
              <a:t> ce qu’est le </a:t>
            </a:r>
            <a:r>
              <a:rPr lang="fr-FR" sz="3200" b="1" dirty="0">
                <a:solidFill>
                  <a:srgbClr val="FF0000"/>
                </a:solidFill>
              </a:rPr>
              <a:t>modèle</a:t>
            </a:r>
            <a:r>
              <a:rPr lang="fr-FR" sz="3200" b="1" dirty="0">
                <a:solidFill>
                  <a:schemeClr val="tx1"/>
                </a:solidFill>
              </a:rPr>
              <a:t> TCP/IP, ensuite faire la comparaison avec le modèle </a:t>
            </a:r>
            <a:r>
              <a:rPr lang="fr-FR" sz="3200" b="1" dirty="0">
                <a:solidFill>
                  <a:srgbClr val="FF0000"/>
                </a:solidFill>
              </a:rPr>
              <a:t>OSI</a:t>
            </a:r>
            <a:r>
              <a:rPr lang="fr-FR" sz="3200" b="1" dirty="0">
                <a:solidFill>
                  <a:schemeClr val="tx1"/>
                </a:solidFill>
              </a:rPr>
              <a: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3802895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rgbClr val="FF0000"/>
                </a:solidFill>
              </a:rPr>
              <a:t>Aujourd'hui</a:t>
            </a:r>
            <a:r>
              <a:rPr lang="fr-FR" sz="3200" b="1" dirty="0">
                <a:solidFill>
                  <a:schemeClr val="tx1"/>
                </a:solidFill>
              </a:rPr>
              <a:t>, le monde des réseaux informatiques </a:t>
            </a:r>
            <a:r>
              <a:rPr lang="fr-FR" sz="3200" b="1" dirty="0">
                <a:solidFill>
                  <a:srgbClr val="FF0000"/>
                </a:solidFill>
              </a:rPr>
              <a:t>utilise</a:t>
            </a:r>
            <a:r>
              <a:rPr lang="fr-FR" sz="3200" b="1" dirty="0">
                <a:solidFill>
                  <a:schemeClr val="tx1"/>
                </a:solidFill>
              </a:rPr>
              <a:t> le modèle </a:t>
            </a:r>
            <a:r>
              <a:rPr lang="fr-FR" sz="3200" b="1" dirty="0">
                <a:solidFill>
                  <a:srgbClr val="FF0000"/>
                </a:solidFill>
              </a:rPr>
              <a:t>TCP/IP</a:t>
            </a:r>
            <a:r>
              <a:rPr lang="fr-FR" sz="3200" b="1" dirty="0">
                <a:solidFill>
                  <a:schemeClr val="tx1"/>
                </a:solidFill>
              </a:rPr>
              <a:t>. Entre </a:t>
            </a:r>
            <a:r>
              <a:rPr lang="fr-FR" sz="3200" b="1" dirty="0">
                <a:solidFill>
                  <a:srgbClr val="FF0000"/>
                </a:solidFill>
              </a:rPr>
              <a:t>temps</a:t>
            </a:r>
            <a:r>
              <a:rPr lang="fr-FR" sz="3200" b="1" dirty="0">
                <a:solidFill>
                  <a:schemeClr val="tx1"/>
                </a:solidFill>
              </a:rPr>
              <a:t>, les modèles réseau TCP/IP ou </a:t>
            </a:r>
            <a:r>
              <a:rPr lang="fr-FR" sz="3200" b="1" dirty="0">
                <a:solidFill>
                  <a:srgbClr val="FF0000"/>
                </a:solidFill>
              </a:rPr>
              <a:t>OSI</a:t>
            </a:r>
            <a:r>
              <a:rPr lang="fr-FR" sz="3200" b="1" dirty="0">
                <a:solidFill>
                  <a:schemeClr val="tx1"/>
                </a:solidFill>
              </a:rPr>
              <a:t> n'</a:t>
            </a:r>
            <a:r>
              <a:rPr lang="fr-FR" sz="3200" b="1" dirty="0">
                <a:solidFill>
                  <a:srgbClr val="FF0000"/>
                </a:solidFill>
              </a:rPr>
              <a:t>existaient</a:t>
            </a:r>
            <a:r>
              <a:rPr lang="fr-FR" sz="3200" b="1" dirty="0">
                <a:solidFill>
                  <a:schemeClr val="tx1"/>
                </a:solidFill>
              </a:rPr>
              <a:t> pas.</a:t>
            </a:r>
          </a:p>
          <a:p>
            <a:r>
              <a:rPr lang="fr-FR" sz="3200" b="1" dirty="0">
                <a:solidFill>
                  <a:srgbClr val="FF0000"/>
                </a:solidFill>
              </a:rPr>
              <a:t>Chaque</a:t>
            </a:r>
            <a:r>
              <a:rPr lang="fr-FR" sz="3200" b="1" dirty="0">
                <a:solidFill>
                  <a:schemeClr val="tx1"/>
                </a:solidFill>
              </a:rPr>
              <a:t> constructeur de </a:t>
            </a:r>
            <a:r>
              <a:rPr lang="fr-FR" sz="3200" b="1" dirty="0">
                <a:solidFill>
                  <a:srgbClr val="FF0000"/>
                </a:solidFill>
              </a:rPr>
              <a:t>matériels</a:t>
            </a:r>
            <a:r>
              <a:rPr lang="fr-FR" sz="3200" b="1" dirty="0">
                <a:solidFill>
                  <a:schemeClr val="tx1"/>
                </a:solidFill>
              </a:rPr>
              <a:t> informatiques avait son </a:t>
            </a:r>
            <a:r>
              <a:rPr lang="fr-FR" sz="3200" b="1" dirty="0">
                <a:solidFill>
                  <a:srgbClr val="FF0000"/>
                </a:solidFill>
              </a:rPr>
              <a:t>propre</a:t>
            </a:r>
            <a:r>
              <a:rPr lang="fr-FR" sz="3200" b="1" dirty="0">
                <a:solidFill>
                  <a:schemeClr val="tx1"/>
                </a:solidFill>
              </a:rPr>
              <a:t> modèle qui lui </a:t>
            </a:r>
            <a:r>
              <a:rPr lang="fr-FR" sz="3200" b="1" dirty="0">
                <a:solidFill>
                  <a:srgbClr val="FF0000"/>
                </a:solidFill>
              </a:rPr>
              <a:t>permettait</a:t>
            </a:r>
            <a:r>
              <a:rPr lang="fr-FR" sz="3200" b="1" dirty="0">
                <a:solidFill>
                  <a:schemeClr val="tx1"/>
                </a:solidFill>
              </a:rPr>
              <a:t> de fabriquer ses matériels </a:t>
            </a:r>
            <a:r>
              <a:rPr lang="fr-FR" sz="3200" b="1" dirty="0">
                <a:solidFill>
                  <a:srgbClr val="FF0000"/>
                </a:solidFill>
              </a:rPr>
              <a:t>informatiques</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484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(Suite)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Cette </a:t>
            </a:r>
            <a:r>
              <a:rPr lang="fr-FR" sz="3200" b="1" dirty="0">
                <a:solidFill>
                  <a:srgbClr val="FF0000"/>
                </a:solidFill>
              </a:rPr>
              <a:t>façon</a:t>
            </a:r>
            <a:r>
              <a:rPr lang="fr-FR" sz="3200" b="1" dirty="0">
                <a:solidFill>
                  <a:schemeClr val="tx1"/>
                </a:solidFill>
              </a:rPr>
              <a:t> de faire avait des </a:t>
            </a:r>
            <a:r>
              <a:rPr lang="fr-FR" sz="3200" b="1" dirty="0">
                <a:solidFill>
                  <a:srgbClr val="FF0000"/>
                </a:solidFill>
              </a:rPr>
              <a:t>conséquences</a:t>
            </a:r>
            <a:r>
              <a:rPr lang="fr-FR" sz="3200" b="1" dirty="0">
                <a:solidFill>
                  <a:schemeClr val="tx1"/>
                </a:solidFill>
              </a:rPr>
              <a:t>.</a:t>
            </a:r>
          </a:p>
          <a:p>
            <a:r>
              <a:rPr lang="fr-FR" sz="3200" b="1" dirty="0">
                <a:solidFill>
                  <a:schemeClr val="tx1"/>
                </a:solidFill>
              </a:rPr>
              <a:t>Les </a:t>
            </a:r>
            <a:r>
              <a:rPr lang="fr-FR" sz="3200" b="1" dirty="0">
                <a:solidFill>
                  <a:srgbClr val="FF0000"/>
                </a:solidFill>
              </a:rPr>
              <a:t>matériels</a:t>
            </a:r>
            <a:r>
              <a:rPr lang="fr-FR" sz="3200" b="1" dirty="0">
                <a:solidFill>
                  <a:schemeClr val="tx1"/>
                </a:solidFill>
              </a:rPr>
              <a:t> informatiques de </a:t>
            </a:r>
            <a:r>
              <a:rPr lang="fr-FR" sz="3200" b="1" dirty="0">
                <a:solidFill>
                  <a:srgbClr val="FF0000"/>
                </a:solidFill>
              </a:rPr>
              <a:t>différents</a:t>
            </a:r>
            <a:r>
              <a:rPr lang="fr-FR" sz="3200" b="1" dirty="0">
                <a:solidFill>
                  <a:schemeClr val="tx1"/>
                </a:solidFill>
              </a:rPr>
              <a:t> constructeurs </a:t>
            </a:r>
            <a:r>
              <a:rPr lang="fr-FR" sz="3200" b="1" dirty="0">
                <a:solidFill>
                  <a:srgbClr val="FF0000"/>
                </a:solidFill>
              </a:rPr>
              <a:t>ne</a:t>
            </a:r>
            <a:r>
              <a:rPr lang="fr-FR" sz="3200" b="1" dirty="0">
                <a:solidFill>
                  <a:schemeClr val="tx1"/>
                </a:solidFill>
              </a:rPr>
              <a:t> pouvaient pas </a:t>
            </a:r>
            <a:r>
              <a:rPr lang="fr-FR" sz="3200" b="1" dirty="0">
                <a:solidFill>
                  <a:srgbClr val="FF0000"/>
                </a:solidFill>
              </a:rPr>
              <a:t>interagir</a:t>
            </a:r>
            <a:r>
              <a:rPr lang="fr-FR" sz="3200" b="1" dirty="0">
                <a:solidFill>
                  <a:schemeClr val="tx1"/>
                </a:solidFill>
              </a:rPr>
              <a:t>.</a:t>
            </a:r>
          </a:p>
          <a:p>
            <a:r>
              <a:rPr lang="fr-FR" sz="3200" b="1" dirty="0">
                <a:solidFill>
                  <a:schemeClr val="tx1"/>
                </a:solidFill>
              </a:rPr>
              <a:t>Cela coûtait très chers aux utilisateurs. Personne n’y gagnait en procédant ainsi.</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557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(Suite)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Il </a:t>
            </a:r>
            <a:r>
              <a:rPr lang="fr-FR" sz="3200" b="1" dirty="0">
                <a:solidFill>
                  <a:srgbClr val="FF0000"/>
                </a:solidFill>
              </a:rPr>
              <a:t>fallait</a:t>
            </a:r>
            <a:r>
              <a:rPr lang="fr-FR" sz="3200" b="1" dirty="0">
                <a:solidFill>
                  <a:schemeClr val="tx1"/>
                </a:solidFill>
              </a:rPr>
              <a:t> trouver un </a:t>
            </a:r>
            <a:r>
              <a:rPr lang="fr-FR" sz="3200" b="1" dirty="0">
                <a:solidFill>
                  <a:srgbClr val="FF0000"/>
                </a:solidFill>
              </a:rPr>
              <a:t>modèle</a:t>
            </a:r>
            <a:r>
              <a:rPr lang="fr-FR" sz="3200" b="1" dirty="0">
                <a:solidFill>
                  <a:schemeClr val="tx1"/>
                </a:solidFill>
              </a:rPr>
              <a:t> universel qui </a:t>
            </a:r>
            <a:r>
              <a:rPr lang="fr-FR" sz="3200" b="1" dirty="0">
                <a:solidFill>
                  <a:srgbClr val="FF0000"/>
                </a:solidFill>
              </a:rPr>
              <a:t>permettrait</a:t>
            </a:r>
            <a:r>
              <a:rPr lang="fr-FR" sz="3200" b="1" dirty="0">
                <a:solidFill>
                  <a:schemeClr val="tx1"/>
                </a:solidFill>
              </a:rPr>
              <a:t> aux constructeurs de matériels informatiques de pouvoir </a:t>
            </a:r>
            <a:r>
              <a:rPr lang="fr-FR" sz="3200" b="1" dirty="0">
                <a:solidFill>
                  <a:srgbClr val="FF0000"/>
                </a:solidFill>
              </a:rPr>
              <a:t>fabriquer</a:t>
            </a:r>
            <a:r>
              <a:rPr lang="fr-FR" sz="3200" b="1" dirty="0">
                <a:solidFill>
                  <a:schemeClr val="tx1"/>
                </a:solidFill>
              </a:rPr>
              <a:t> leurs </a:t>
            </a:r>
            <a:r>
              <a:rPr lang="fr-FR" sz="3200" b="1" dirty="0">
                <a:solidFill>
                  <a:srgbClr val="FF0000"/>
                </a:solidFill>
              </a:rPr>
              <a:t>équipements</a:t>
            </a:r>
            <a:r>
              <a:rPr lang="fr-FR" sz="3200" b="1" dirty="0">
                <a:solidFill>
                  <a:schemeClr val="tx1"/>
                </a:solidFill>
              </a:rPr>
              <a:t> informatiques.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534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(Suite)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D’où la </a:t>
            </a:r>
            <a:r>
              <a:rPr lang="fr-FR" sz="3200" b="1" dirty="0">
                <a:solidFill>
                  <a:srgbClr val="FF0000"/>
                </a:solidFill>
              </a:rPr>
              <a:t>naissance</a:t>
            </a:r>
            <a:r>
              <a:rPr lang="fr-FR" sz="3200" b="1" dirty="0">
                <a:solidFill>
                  <a:schemeClr val="tx1"/>
                </a:solidFill>
              </a:rPr>
              <a:t> du modèle </a:t>
            </a:r>
            <a:r>
              <a:rPr lang="fr-FR" sz="3200" b="1" dirty="0">
                <a:solidFill>
                  <a:srgbClr val="FF0000"/>
                </a:solidFill>
              </a:rPr>
              <a:t>OSI</a:t>
            </a:r>
            <a:r>
              <a:rPr lang="fr-FR" sz="3200" b="1" dirty="0">
                <a:solidFill>
                  <a:schemeClr val="tx1"/>
                </a:solidFill>
              </a:rPr>
              <a:t>.</a:t>
            </a:r>
          </a:p>
          <a:p>
            <a:r>
              <a:rPr lang="fr-FR" sz="3200" b="1" dirty="0">
                <a:solidFill>
                  <a:srgbClr val="FF0000"/>
                </a:solidFill>
              </a:rPr>
              <a:t>OSI</a:t>
            </a:r>
            <a:r>
              <a:rPr lang="fr-FR" sz="3200" b="1" dirty="0">
                <a:solidFill>
                  <a:schemeClr val="tx1"/>
                </a:solidFill>
              </a:rPr>
              <a:t>=Open </a:t>
            </a:r>
            <a:r>
              <a:rPr lang="fr-FR" sz="3200" b="1" dirty="0" err="1">
                <a:solidFill>
                  <a:schemeClr val="tx1"/>
                </a:solidFill>
              </a:rPr>
              <a:t>Systems</a:t>
            </a:r>
            <a:r>
              <a:rPr lang="fr-FR" sz="3200" b="1" dirty="0">
                <a:solidFill>
                  <a:schemeClr val="tx1"/>
                </a:solidFill>
              </a:rPr>
              <a:t> </a:t>
            </a:r>
            <a:r>
              <a:rPr lang="fr-FR" sz="3200" b="1" dirty="0" err="1">
                <a:solidFill>
                  <a:schemeClr val="tx1"/>
                </a:solidFill>
              </a:rPr>
              <a:t>Interconnection</a:t>
            </a:r>
            <a:r>
              <a:rPr lang="fr-FR" sz="3200" b="1" dirty="0">
                <a:solidFill>
                  <a:schemeClr val="tx1"/>
                </a:solidFill>
              </a:rPr>
              <a:t> </a:t>
            </a:r>
          </a:p>
          <a:p>
            <a:pPr marL="0" indent="0">
              <a:buNone/>
            </a:pPr>
            <a:r>
              <a:rPr lang="fr-FR" sz="3200" b="1" dirty="0">
                <a:solidFill>
                  <a:schemeClr val="tx1"/>
                </a:solidFill>
              </a:rPr>
              <a:t>Ou</a:t>
            </a:r>
          </a:p>
          <a:p>
            <a:r>
              <a:rPr lang="fr-FR" sz="3200" b="1" dirty="0">
                <a:solidFill>
                  <a:schemeClr val="tx1"/>
                </a:solidFill>
              </a:rPr>
              <a:t>Interconnexion des systèmes ouverts en </a:t>
            </a:r>
            <a:r>
              <a:rPr lang="fr-FR" sz="3200" b="1" dirty="0">
                <a:solidFill>
                  <a:srgbClr val="FF0000"/>
                </a:solidFill>
              </a:rPr>
              <a:t>Français</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327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(Suite)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Au </a:t>
            </a:r>
            <a:r>
              <a:rPr lang="fr-FR" sz="3200" b="1" dirty="0">
                <a:solidFill>
                  <a:srgbClr val="FF0000"/>
                </a:solidFill>
              </a:rPr>
              <a:t>même</a:t>
            </a:r>
            <a:r>
              <a:rPr lang="fr-FR" sz="3200" b="1" dirty="0">
                <a:solidFill>
                  <a:schemeClr val="tx1"/>
                </a:solidFill>
              </a:rPr>
              <a:t> moment, un second </a:t>
            </a:r>
            <a:r>
              <a:rPr lang="fr-FR" sz="3200" b="1" dirty="0">
                <a:solidFill>
                  <a:srgbClr val="FF0000"/>
                </a:solidFill>
              </a:rPr>
              <a:t>modèle</a:t>
            </a:r>
            <a:r>
              <a:rPr lang="fr-FR" sz="3200" b="1" dirty="0">
                <a:solidFill>
                  <a:schemeClr val="tx1"/>
                </a:solidFill>
              </a:rPr>
              <a:t> </a:t>
            </a:r>
            <a:r>
              <a:rPr lang="fr-FR" sz="3200" b="1" dirty="0">
                <a:solidFill>
                  <a:srgbClr val="FF0000"/>
                </a:solidFill>
              </a:rPr>
              <a:t>universel </a:t>
            </a:r>
            <a:r>
              <a:rPr lang="fr-FR" sz="3200" b="1" dirty="0">
                <a:solidFill>
                  <a:schemeClr val="tx1"/>
                </a:solidFill>
              </a:rPr>
              <a:t>avait été mis en place par le Département Américain de la Défense.</a:t>
            </a:r>
          </a:p>
          <a:p>
            <a:r>
              <a:rPr lang="fr-FR" sz="3200" b="1" dirty="0">
                <a:solidFill>
                  <a:srgbClr val="FF0000"/>
                </a:solidFill>
              </a:rPr>
              <a:t>Là</a:t>
            </a:r>
            <a:r>
              <a:rPr lang="fr-FR" sz="3200" b="1" dirty="0">
                <a:solidFill>
                  <a:schemeClr val="tx1"/>
                </a:solidFill>
              </a:rPr>
              <a:t> ce sont uniquement les </a:t>
            </a:r>
            <a:r>
              <a:rPr lang="fr-FR" sz="3200" b="1" dirty="0">
                <a:solidFill>
                  <a:srgbClr val="FF0000"/>
                </a:solidFill>
              </a:rPr>
              <a:t>chercheurs</a:t>
            </a:r>
            <a:r>
              <a:rPr lang="fr-FR" sz="3200" b="1" dirty="0">
                <a:solidFill>
                  <a:schemeClr val="tx1"/>
                </a:solidFill>
              </a:rPr>
              <a:t> américains qui ont </a:t>
            </a:r>
            <a:r>
              <a:rPr lang="fr-FR" sz="3200" b="1" dirty="0">
                <a:solidFill>
                  <a:srgbClr val="FF0000"/>
                </a:solidFill>
              </a:rPr>
              <a:t>travaillé</a:t>
            </a:r>
            <a:r>
              <a:rPr lang="fr-FR" sz="3200" b="1" dirty="0">
                <a:solidFill>
                  <a:schemeClr val="tx1"/>
                </a:solidFill>
              </a:rPr>
              <a:t> sur ce </a:t>
            </a:r>
            <a:r>
              <a:rPr lang="fr-FR" sz="3200" b="1" dirty="0">
                <a:solidFill>
                  <a:srgbClr val="FF0000"/>
                </a:solidFill>
              </a:rPr>
              <a:t>projet</a:t>
            </a:r>
            <a:r>
              <a:rPr lang="fr-FR" sz="3200" b="1" dirty="0">
                <a:solidFill>
                  <a:schemeClr val="tx1"/>
                </a:solidFill>
              </a:rPr>
              <a:t>.</a:t>
            </a:r>
          </a:p>
          <a:p>
            <a:r>
              <a:rPr lang="fr-FR" sz="3200" b="1" dirty="0">
                <a:solidFill>
                  <a:schemeClr val="tx1"/>
                </a:solidFill>
              </a:rPr>
              <a:t>Cela va </a:t>
            </a:r>
            <a:r>
              <a:rPr lang="fr-FR" sz="3200" b="1" dirty="0">
                <a:solidFill>
                  <a:srgbClr val="FF0000"/>
                </a:solidFill>
              </a:rPr>
              <a:t>aboutir</a:t>
            </a:r>
            <a:r>
              <a:rPr lang="fr-FR" sz="3200" b="1" dirty="0">
                <a:solidFill>
                  <a:schemeClr val="tx1"/>
                </a:solidFill>
              </a:rPr>
              <a:t> au Modèle </a:t>
            </a:r>
            <a:r>
              <a:rPr lang="fr-FR" sz="3200" b="1" dirty="0">
                <a:solidFill>
                  <a:srgbClr val="FF0000"/>
                </a:solidFill>
              </a:rPr>
              <a:t>TCP/IP</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932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Historique (Suite) !!</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Au </a:t>
            </a:r>
            <a:r>
              <a:rPr lang="fr-FR" sz="3200" b="1" dirty="0">
                <a:solidFill>
                  <a:srgbClr val="FF0000"/>
                </a:solidFill>
              </a:rPr>
              <a:t>cours</a:t>
            </a:r>
            <a:r>
              <a:rPr lang="fr-FR" sz="3200" b="1" dirty="0">
                <a:solidFill>
                  <a:schemeClr val="tx1"/>
                </a:solidFill>
              </a:rPr>
              <a:t> des années </a:t>
            </a:r>
            <a:r>
              <a:rPr lang="fr-FR" sz="3200" b="1" dirty="0">
                <a:solidFill>
                  <a:srgbClr val="FF0000"/>
                </a:solidFill>
              </a:rPr>
              <a:t>1990</a:t>
            </a:r>
            <a:r>
              <a:rPr lang="fr-FR" sz="3200" b="1" dirty="0">
                <a:solidFill>
                  <a:schemeClr val="tx1"/>
                </a:solidFill>
              </a:rPr>
              <a:t>, les constructeurs de matériels informatiques ont </a:t>
            </a:r>
            <a:r>
              <a:rPr lang="fr-FR" sz="3200" b="1" dirty="0">
                <a:solidFill>
                  <a:srgbClr val="FF0000"/>
                </a:solidFill>
              </a:rPr>
              <a:t>commencé</a:t>
            </a:r>
            <a:r>
              <a:rPr lang="fr-FR" sz="3200" b="1" dirty="0">
                <a:solidFill>
                  <a:schemeClr val="tx1"/>
                </a:solidFill>
              </a:rPr>
              <a:t> à utiliser soit </a:t>
            </a:r>
            <a:r>
              <a:rPr lang="fr-FR" sz="3200" b="1" dirty="0">
                <a:solidFill>
                  <a:srgbClr val="FF0000"/>
                </a:solidFill>
              </a:rPr>
              <a:t>OSI</a:t>
            </a:r>
            <a:r>
              <a:rPr lang="fr-FR" sz="3200" b="1" dirty="0">
                <a:solidFill>
                  <a:schemeClr val="tx1"/>
                </a:solidFill>
              </a:rPr>
              <a:t> ou TCP/IP. </a:t>
            </a:r>
          </a:p>
          <a:p>
            <a:r>
              <a:rPr lang="fr-FR" sz="3200" b="1" dirty="0">
                <a:solidFill>
                  <a:srgbClr val="FF0000"/>
                </a:solidFill>
              </a:rPr>
              <a:t>Cependant</a:t>
            </a:r>
            <a:r>
              <a:rPr lang="fr-FR" sz="3200" b="1" dirty="0">
                <a:solidFill>
                  <a:schemeClr val="tx1"/>
                </a:solidFill>
              </a:rPr>
              <a:t>, à la fin des années </a:t>
            </a:r>
            <a:r>
              <a:rPr lang="fr-FR" sz="3200" b="1" dirty="0">
                <a:solidFill>
                  <a:srgbClr val="FF0000"/>
                </a:solidFill>
              </a:rPr>
              <a:t>1990</a:t>
            </a:r>
            <a:r>
              <a:rPr lang="fr-FR" sz="3200" b="1" dirty="0">
                <a:solidFill>
                  <a:schemeClr val="tx1"/>
                </a:solidFill>
              </a:rPr>
              <a:t>, </a:t>
            </a:r>
            <a:r>
              <a:rPr lang="fr-FR" sz="3200" b="1" dirty="0">
                <a:solidFill>
                  <a:srgbClr val="FF0000"/>
                </a:solidFill>
              </a:rPr>
              <a:t>TCP/IP</a:t>
            </a:r>
            <a:r>
              <a:rPr lang="fr-FR" sz="3200" b="1" dirty="0">
                <a:solidFill>
                  <a:schemeClr val="tx1"/>
                </a:solidFill>
              </a:rPr>
              <a:t> était devenu le </a:t>
            </a:r>
            <a:r>
              <a:rPr lang="fr-FR" sz="3200" b="1" dirty="0">
                <a:solidFill>
                  <a:srgbClr val="FF0000"/>
                </a:solidFill>
              </a:rPr>
              <a:t>choix</a:t>
            </a:r>
            <a:r>
              <a:rPr lang="fr-FR" sz="3200" b="1" dirty="0">
                <a:solidFill>
                  <a:schemeClr val="tx1"/>
                </a:solidFill>
              </a:rPr>
              <a:t> courant et </a:t>
            </a:r>
            <a:r>
              <a:rPr lang="fr-FR" sz="3200" b="1" dirty="0">
                <a:solidFill>
                  <a:srgbClr val="FF0000"/>
                </a:solidFill>
              </a:rPr>
              <a:t>OSI</a:t>
            </a:r>
            <a:r>
              <a:rPr lang="fr-FR" sz="3200" b="1" dirty="0">
                <a:solidFill>
                  <a:schemeClr val="tx1"/>
                </a:solidFill>
              </a:rPr>
              <a:t> est </a:t>
            </a:r>
            <a:r>
              <a:rPr lang="fr-FR" sz="3200" b="1" dirty="0">
                <a:solidFill>
                  <a:srgbClr val="FF0000"/>
                </a:solidFill>
              </a:rPr>
              <a:t>tombé</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446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Il existe en effet deux modèles TCP/IP :</a:t>
            </a:r>
          </a:p>
          <a:p>
            <a:r>
              <a:rPr lang="fr-FR" sz="3200" b="1" dirty="0">
                <a:solidFill>
                  <a:schemeClr val="tx1"/>
                </a:solidFill>
              </a:rPr>
              <a:t>Le modèle à </a:t>
            </a:r>
            <a:r>
              <a:rPr lang="fr-FR" sz="3200" b="1" dirty="0">
                <a:solidFill>
                  <a:srgbClr val="FF0000"/>
                </a:solidFill>
              </a:rPr>
              <a:t>04 couches </a:t>
            </a:r>
            <a:r>
              <a:rPr lang="fr-FR" sz="3200" b="1" dirty="0">
                <a:solidFill>
                  <a:schemeClr val="tx1"/>
                </a:solidFill>
              </a:rPr>
              <a:t>et</a:t>
            </a:r>
          </a:p>
          <a:p>
            <a:r>
              <a:rPr lang="fr-FR" sz="3200" b="1" dirty="0">
                <a:solidFill>
                  <a:schemeClr val="tx1"/>
                </a:solidFill>
              </a:rPr>
              <a:t>Le modèle à </a:t>
            </a:r>
            <a:r>
              <a:rPr lang="fr-FR" sz="3200" b="1" dirty="0">
                <a:solidFill>
                  <a:srgbClr val="FF0000"/>
                </a:solidFill>
              </a:rPr>
              <a:t>05 couches</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905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 à 04 couches</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36</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2589212" y="1152908"/>
            <a:ext cx="8911687" cy="5584398"/>
          </a:xfrm>
          <a:prstGeom prst="rect">
            <a:avLst/>
          </a:prstGeom>
          <a:noFill/>
          <a:ln>
            <a:noFill/>
          </a:ln>
        </p:spPr>
      </p:pic>
    </p:spTree>
    <p:extLst>
      <p:ext uri="{BB962C8B-B14F-4D97-AF65-F5344CB8AC3E}">
        <p14:creationId xmlns:p14="http://schemas.microsoft.com/office/powerpoint/2010/main" val="311357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 à 04 couches</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Application,</a:t>
            </a:r>
          </a:p>
          <a:p>
            <a:r>
              <a:rPr lang="fr-FR" sz="3200" b="1" dirty="0">
                <a:solidFill>
                  <a:schemeClr val="tx1"/>
                </a:solidFill>
              </a:rPr>
              <a:t>Transport,</a:t>
            </a:r>
          </a:p>
          <a:p>
            <a:r>
              <a:rPr lang="fr-FR" sz="3200" b="1" dirty="0">
                <a:solidFill>
                  <a:schemeClr val="tx1"/>
                </a:solidFill>
              </a:rPr>
              <a:t>Internet et</a:t>
            </a:r>
          </a:p>
          <a:p>
            <a:r>
              <a:rPr lang="fr-FR" sz="3200" b="1" dirty="0">
                <a:solidFill>
                  <a:schemeClr val="tx1"/>
                </a:solidFill>
              </a:rPr>
              <a:t>Accès au Réseau.</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37</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564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application</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Elle est la couche de communication qui s’interface avec les utilisateurs.</a:t>
            </a:r>
          </a:p>
          <a:p>
            <a:r>
              <a:rPr lang="fr-FR" sz="3200" b="1" dirty="0">
                <a:solidFill>
                  <a:schemeClr val="tx1"/>
                </a:solidFill>
              </a:rPr>
              <a:t>Exemples de protocoles applicatifs : HTTP, DNS, DHCP, FTP, …</a:t>
            </a:r>
          </a:p>
          <a:p>
            <a:r>
              <a:rPr lang="fr-FR" sz="3200" b="1" dirty="0">
                <a:solidFill>
                  <a:schemeClr val="tx1"/>
                </a:solidFill>
              </a:rPr>
              <a:t>Elle s’exécute sur les machines hôtes.</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8005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Transport</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Elle est responsable du dialogue entre les hôtes terminaux d’une communication.</a:t>
            </a:r>
          </a:p>
          <a:p>
            <a:r>
              <a:rPr lang="fr-FR" sz="3200" b="1" dirty="0">
                <a:solidFill>
                  <a:schemeClr val="tx1"/>
                </a:solidFill>
              </a:rPr>
              <a:t>Les applications utiliseront TCP pour un transport fiable et UDP sans ce service.</a:t>
            </a:r>
          </a:p>
          <a:p>
            <a:r>
              <a:rPr lang="fr-FR" sz="3200" b="1" dirty="0">
                <a:solidFill>
                  <a:schemeClr val="tx1"/>
                </a:solidFill>
              </a:rPr>
              <a:t>Les routeurs NAT et les pare-feu opèrent un filtrage au niveau de la couche transport.</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39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401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Internet</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Elle permet de déterminer les meilleurs chemins à travers les réseaux en fonction des adresses IPv4 ou IPv6 à portée globale.</a:t>
            </a:r>
          </a:p>
          <a:p>
            <a:r>
              <a:rPr lang="fr-FR" sz="3200" b="1" dirty="0">
                <a:solidFill>
                  <a:schemeClr val="tx1"/>
                </a:solidFill>
              </a:rPr>
              <a:t>Les routeurs transfèrent le trafic IP qui ne leur est pas destiné.</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333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Accès au réseau</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TCP/IP ne s’occupe pas de l’Accès au Réseau.</a:t>
            </a:r>
          </a:p>
          <a:p>
            <a:r>
              <a:rPr lang="fr-FR" sz="3200" b="1" dirty="0">
                <a:solidFill>
                  <a:schemeClr val="tx1"/>
                </a:solidFill>
              </a:rPr>
              <a:t>Elle organise le flux binaire et identifie physiquement les hôtes.</a:t>
            </a:r>
          </a:p>
          <a:p>
            <a:r>
              <a:rPr lang="fr-FR" sz="3200" b="1" dirty="0">
                <a:solidFill>
                  <a:schemeClr val="tx1"/>
                </a:solidFill>
              </a:rPr>
              <a:t>Elle place le flux binaire sur les supports physiques.</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980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 à 05 couches</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Application,</a:t>
            </a:r>
          </a:p>
          <a:p>
            <a:r>
              <a:rPr lang="fr-FR" sz="3200" b="1" dirty="0">
                <a:solidFill>
                  <a:schemeClr val="tx1"/>
                </a:solidFill>
              </a:rPr>
              <a:t>Transport,</a:t>
            </a:r>
          </a:p>
          <a:p>
            <a:r>
              <a:rPr lang="fr-FR" sz="3200" b="1" dirty="0">
                <a:solidFill>
                  <a:schemeClr val="tx1"/>
                </a:solidFill>
              </a:rPr>
              <a:t>Internet</a:t>
            </a:r>
          </a:p>
          <a:p>
            <a:r>
              <a:rPr lang="fr-FR" sz="3200" b="1" dirty="0">
                <a:solidFill>
                  <a:schemeClr val="tx1"/>
                </a:solidFill>
              </a:rPr>
              <a:t>Liaison de données et</a:t>
            </a:r>
          </a:p>
          <a:p>
            <a:r>
              <a:rPr lang="fr-FR" sz="3200" b="1" dirty="0">
                <a:solidFill>
                  <a:schemeClr val="tx1"/>
                </a:solidFill>
              </a:rPr>
              <a:t>Physique.</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2439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 à 05 couches</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663440" y="1464128"/>
            <a:ext cx="3709851" cy="4447094"/>
          </a:xfrm>
          <a:prstGeom prst="rect">
            <a:avLst/>
          </a:prstGeom>
        </p:spPr>
      </p:pic>
    </p:spTree>
    <p:extLst>
      <p:ext uri="{BB962C8B-B14F-4D97-AF65-F5344CB8AC3E}">
        <p14:creationId xmlns:p14="http://schemas.microsoft.com/office/powerpoint/2010/main" val="4129560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TCP/IP à 05 couches</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Comparativement au modèle TCP/IP à 04 couches, la différence se situe au niveau de la couche Accès au Réseau qui a été éclaté en deux couches :</a:t>
            </a:r>
          </a:p>
          <a:p>
            <a:r>
              <a:rPr lang="fr-FR" sz="3200" b="1" dirty="0">
                <a:solidFill>
                  <a:schemeClr val="tx1"/>
                </a:solidFill>
              </a:rPr>
              <a:t>Liaison de données et</a:t>
            </a:r>
          </a:p>
          <a:p>
            <a:r>
              <a:rPr lang="fr-FR" sz="3200" b="1" dirty="0">
                <a:solidFill>
                  <a:schemeClr val="tx1"/>
                </a:solidFill>
              </a:rPr>
              <a:t>Physique.</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960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liaison de données</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Elle définit les méthodes de transmission des données entre les périphériques d’un même réseau local et gère la détection d’erreurs de transmission. </a:t>
            </a:r>
          </a:p>
          <a:p>
            <a:r>
              <a:rPr lang="fr-FR" sz="3200" b="1" dirty="0">
                <a:solidFill>
                  <a:schemeClr val="tx1"/>
                </a:solidFill>
              </a:rPr>
              <a:t>Les carte réseau et les switch sont des exemples parfaits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6037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liaison de données</a:t>
            </a:r>
          </a:p>
        </p:txBody>
      </p:sp>
      <p:sp>
        <p:nvSpPr>
          <p:cNvPr id="3" name="Espace réservé du contenu 2"/>
          <p:cNvSpPr>
            <a:spLocks noGrp="1"/>
          </p:cNvSpPr>
          <p:nvPr>
            <p:ph idx="1"/>
          </p:nvPr>
        </p:nvSpPr>
        <p:spPr>
          <a:xfrm>
            <a:off x="2589212" y="1596126"/>
            <a:ext cx="8915400" cy="4315096"/>
          </a:xfrm>
        </p:spPr>
        <p:txBody>
          <a:bodyPr>
            <a:normAutofit/>
          </a:bodyPr>
          <a:lstStyle/>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46</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C:\Users\Victor\Pictures\osi3.png"/>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589212" y="2217954"/>
            <a:ext cx="8540342" cy="2014411"/>
          </a:xfrm>
          <a:prstGeom prst="rect">
            <a:avLst/>
          </a:prstGeom>
          <a:noFill/>
          <a:ln>
            <a:noFill/>
          </a:ln>
        </p:spPr>
      </p:pic>
    </p:spTree>
    <p:extLst>
      <p:ext uri="{BB962C8B-B14F-4D97-AF65-F5344CB8AC3E}">
        <p14:creationId xmlns:p14="http://schemas.microsoft.com/office/powerpoint/2010/main" val="543354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Physique</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Elle est chargée de la transmission des bits de données (en binaire) sur les différents supports existants.</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47</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2031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Couche Physique</a:t>
            </a:r>
          </a:p>
        </p:txBody>
      </p:sp>
      <p:sp>
        <p:nvSpPr>
          <p:cNvPr id="3" name="Espace réservé du contenu 2"/>
          <p:cNvSpPr>
            <a:spLocks noGrp="1"/>
          </p:cNvSpPr>
          <p:nvPr>
            <p:ph idx="1"/>
          </p:nvPr>
        </p:nvSpPr>
        <p:spPr>
          <a:xfrm>
            <a:off x="2589212" y="1596126"/>
            <a:ext cx="8915400" cy="4315096"/>
          </a:xfrm>
        </p:spPr>
        <p:txBody>
          <a:bodyPr>
            <a:normAutofit/>
          </a:bodyPr>
          <a:lstStyle/>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C:\Users\Victor\Pictures\osi2.png"/>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585499" y="1596125"/>
            <a:ext cx="8915399" cy="1839405"/>
          </a:xfrm>
          <a:prstGeom prst="rect">
            <a:avLst/>
          </a:prstGeom>
          <a:noFill/>
          <a:ln>
            <a:noFill/>
          </a:ln>
        </p:spPr>
      </p:pic>
    </p:spTree>
    <p:extLst>
      <p:ext uri="{BB962C8B-B14F-4D97-AF65-F5344CB8AC3E}">
        <p14:creationId xmlns:p14="http://schemas.microsoft.com/office/powerpoint/2010/main" val="40027175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Modèle OSI</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49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C:\Users\Victor\Pictures\osi1.png"/>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767944" y="1596126"/>
            <a:ext cx="3644536" cy="4315096"/>
          </a:xfrm>
          <a:prstGeom prst="rect">
            <a:avLst/>
          </a:prstGeom>
          <a:noFill/>
          <a:ln>
            <a:noFill/>
          </a:ln>
        </p:spPr>
      </p:pic>
    </p:spTree>
    <p:extLst>
      <p:ext uri="{BB962C8B-B14F-4D97-AF65-F5344CB8AC3E}">
        <p14:creationId xmlns:p14="http://schemas.microsoft.com/office/powerpoint/2010/main" val="39810350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CHAPITRE II : RESEAUX LOCAUX (LAN)</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Dans ce </a:t>
            </a:r>
            <a:r>
              <a:rPr lang="fr-FR" sz="3200" b="1" dirty="0">
                <a:solidFill>
                  <a:srgbClr val="FF0000"/>
                </a:solidFill>
              </a:rPr>
              <a:t>deuxième </a:t>
            </a:r>
            <a:r>
              <a:rPr lang="fr-FR" sz="3200" b="1" dirty="0">
                <a:solidFill>
                  <a:schemeClr val="tx1"/>
                </a:solidFill>
              </a:rPr>
              <a:t>chapitre, nous </a:t>
            </a:r>
            <a:r>
              <a:rPr lang="fr-FR" sz="3200" b="1" dirty="0">
                <a:solidFill>
                  <a:srgbClr val="FF0000"/>
                </a:solidFill>
              </a:rPr>
              <a:t>verrons </a:t>
            </a:r>
            <a:r>
              <a:rPr lang="fr-FR" sz="3200" b="1" dirty="0">
                <a:solidFill>
                  <a:schemeClr val="tx1"/>
                </a:solidFill>
              </a:rPr>
              <a:t>dans un premier temps la définition d’un réseau LAN. Ensuite nous parlerons de l’importance du LAN dans une infrastructure moderne. Par après nous présenterons les différents protocoles au sein d’un LAN. Enfin nous parlerons des différentes architectures d’un LAN.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3564146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Qu’est-ce qu’un </a:t>
            </a:r>
            <a:r>
              <a:rPr lang="fr-FR" b="1" dirty="0">
                <a:solidFill>
                  <a:srgbClr val="FF0000"/>
                </a:solidFill>
              </a:rPr>
              <a:t>LAN</a:t>
            </a:r>
            <a:r>
              <a:rPr lang="fr-FR" b="1" dirty="0">
                <a:solidFill>
                  <a:schemeClr val="tx1"/>
                </a:solidFill>
              </a:rPr>
              <a:t>?</a:t>
            </a:r>
          </a:p>
        </p:txBody>
      </p:sp>
      <p:sp>
        <p:nvSpPr>
          <p:cNvPr id="3" name="Espace réservé du contenu 2"/>
          <p:cNvSpPr>
            <a:spLocks noGrp="1"/>
          </p:cNvSpPr>
          <p:nvPr>
            <p:ph idx="1"/>
          </p:nvPr>
        </p:nvSpPr>
        <p:spPr>
          <a:xfrm>
            <a:off x="2589212" y="1596125"/>
            <a:ext cx="8915400" cy="4602543"/>
          </a:xfrm>
        </p:spPr>
        <p:txBody>
          <a:bodyPr>
            <a:normAutofit/>
          </a:bodyPr>
          <a:lstStyle/>
          <a:p>
            <a:r>
              <a:rPr lang="fr-FR" sz="3200" b="1" dirty="0">
                <a:solidFill>
                  <a:schemeClr val="tx1"/>
                </a:solidFill>
              </a:rPr>
              <a:t>Un réseau </a:t>
            </a:r>
            <a:r>
              <a:rPr lang="fr-FR" sz="3200" b="1" dirty="0">
                <a:solidFill>
                  <a:srgbClr val="FF0000"/>
                </a:solidFill>
              </a:rPr>
              <a:t>local</a:t>
            </a:r>
            <a:r>
              <a:rPr lang="fr-FR" sz="3200" b="1" dirty="0">
                <a:solidFill>
                  <a:schemeClr val="tx1"/>
                </a:solidFill>
              </a:rPr>
              <a:t> est un ensemble de périphériques terminaux interconnectés dans une zone géographique limitée, telle qu'un bureau, une école ou une maison. </a:t>
            </a:r>
          </a:p>
          <a:p>
            <a:r>
              <a:rPr lang="fr-FR" sz="3200" b="1" dirty="0">
                <a:solidFill>
                  <a:schemeClr val="tx1"/>
                </a:solidFill>
              </a:rPr>
              <a:t>On pourrait résumer en disant clairement qu’un réseau local est un réseau informatique installé dans un </a:t>
            </a:r>
            <a:r>
              <a:rPr lang="fr-FR" sz="3200" b="1" dirty="0">
                <a:solidFill>
                  <a:srgbClr val="FF0000"/>
                </a:solidFill>
              </a:rPr>
              <a:t>bâtiment </a:t>
            </a:r>
            <a:r>
              <a:rPr lang="fr-FR" sz="3200" b="1" dirty="0">
                <a:solidFill>
                  <a:schemeClr val="tx1"/>
                </a:solidFill>
              </a:rPr>
              <a:t>ou bien sur un </a:t>
            </a:r>
            <a:r>
              <a:rPr lang="fr-FR" sz="3200" b="1" dirty="0">
                <a:solidFill>
                  <a:srgbClr val="FF0000"/>
                </a:solidFill>
              </a:rPr>
              <a:t>site</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5629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rgbClr val="FF0000"/>
                </a:solidFill>
              </a:rPr>
              <a:t>Importance</a:t>
            </a:r>
            <a:r>
              <a:rPr lang="fr-FR" b="1" dirty="0">
                <a:solidFill>
                  <a:schemeClr val="tx1"/>
                </a:solidFill>
              </a:rPr>
              <a:t> des LAN dans les infrastructures informatiques modernes</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Le LAN permet:</a:t>
            </a:r>
          </a:p>
          <a:p>
            <a:pPr>
              <a:buFont typeface="Wingdings" panose="05000000000000000000" pitchFamily="2" charset="2"/>
              <a:buChar char="q"/>
            </a:pPr>
            <a:r>
              <a:rPr lang="fr-FR" sz="3200" b="1" dirty="0">
                <a:solidFill>
                  <a:schemeClr val="tx1"/>
                </a:solidFill>
              </a:rPr>
              <a:t>Partage des ressources </a:t>
            </a:r>
          </a:p>
          <a:p>
            <a:pPr>
              <a:buFont typeface="Wingdings" panose="05000000000000000000" pitchFamily="2" charset="2"/>
              <a:buChar char="q"/>
            </a:pPr>
            <a:r>
              <a:rPr lang="fr-FR" sz="3200" b="1" dirty="0">
                <a:solidFill>
                  <a:schemeClr val="tx1"/>
                </a:solidFill>
              </a:rPr>
              <a:t>Facilitation de la collaboration </a:t>
            </a:r>
          </a:p>
          <a:p>
            <a:pPr>
              <a:buFont typeface="Wingdings" panose="05000000000000000000" pitchFamily="2" charset="2"/>
              <a:buChar char="q"/>
            </a:pPr>
            <a:r>
              <a:rPr lang="fr-FR" sz="3200" b="1" dirty="0">
                <a:solidFill>
                  <a:schemeClr val="tx1"/>
                </a:solidFill>
              </a:rPr>
              <a:t>Support des applications critiques</a:t>
            </a:r>
          </a:p>
          <a:p>
            <a:pPr>
              <a:buFont typeface="Wingdings" panose="05000000000000000000" pitchFamily="2" charset="2"/>
              <a:buChar char="q"/>
            </a:pPr>
            <a:r>
              <a:rPr lang="fr-FR" sz="3200" b="1" dirty="0">
                <a:solidFill>
                  <a:schemeClr val="tx1"/>
                </a:solidFill>
              </a:rPr>
              <a:t> Gestion centralisée </a:t>
            </a:r>
          </a:p>
          <a:p>
            <a:pPr>
              <a:buFont typeface="Wingdings" panose="05000000000000000000" pitchFamily="2" charset="2"/>
              <a:buChar char="q"/>
            </a:pPr>
            <a:r>
              <a:rPr lang="fr-FR" sz="3200" b="1" dirty="0">
                <a:solidFill>
                  <a:schemeClr val="tx1"/>
                </a:solidFill>
              </a:rPr>
              <a:t>Accès à Internet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475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rgbClr val="FF0000"/>
                </a:solidFill>
              </a:rPr>
              <a:t>Protocoles</a:t>
            </a:r>
            <a:r>
              <a:rPr lang="fr-FR" b="1" dirty="0">
                <a:solidFill>
                  <a:schemeClr val="tx1"/>
                </a:solidFill>
              </a:rPr>
              <a:t> au sein d’un réseau LAN </a:t>
            </a:r>
          </a:p>
        </p:txBody>
      </p:sp>
      <p:sp>
        <p:nvSpPr>
          <p:cNvPr id="3" name="Espace réservé du contenu 2"/>
          <p:cNvSpPr>
            <a:spLocks noGrp="1"/>
          </p:cNvSpPr>
          <p:nvPr>
            <p:ph idx="1"/>
          </p:nvPr>
        </p:nvSpPr>
        <p:spPr>
          <a:xfrm>
            <a:off x="2175309" y="1596126"/>
            <a:ext cx="9329303" cy="4467790"/>
          </a:xfrm>
        </p:spPr>
        <p:txBody>
          <a:bodyPr>
            <a:normAutofit/>
          </a:bodyPr>
          <a:lstStyle/>
          <a:p>
            <a:r>
              <a:rPr lang="fr-FR" sz="3200" b="1" dirty="0">
                <a:solidFill>
                  <a:schemeClr val="tx1"/>
                </a:solidFill>
              </a:rPr>
              <a:t>Définition: </a:t>
            </a:r>
          </a:p>
          <a:p>
            <a:pPr marL="0" indent="0">
              <a:buNone/>
            </a:pPr>
            <a:r>
              <a:rPr lang="fr-FR" sz="3200" b="1" dirty="0">
                <a:solidFill>
                  <a:schemeClr val="tx1"/>
                </a:solidFill>
              </a:rPr>
              <a:t>Un </a:t>
            </a:r>
            <a:r>
              <a:rPr lang="fr-FR" sz="3200" b="1" dirty="0">
                <a:solidFill>
                  <a:srgbClr val="FF0000"/>
                </a:solidFill>
              </a:rPr>
              <a:t>protocole</a:t>
            </a:r>
            <a:r>
              <a:rPr lang="fr-FR" sz="3200" b="1" dirty="0">
                <a:solidFill>
                  <a:schemeClr val="tx1"/>
                </a:solidFill>
              </a:rPr>
              <a:t> est un ensemble de règles qui régissent la manière dont des éléments interagissent ou communiquent entre eux.</a:t>
            </a:r>
          </a:p>
          <a:p>
            <a:pPr marL="0" indent="0">
              <a:buNone/>
            </a:pPr>
            <a:r>
              <a:rPr lang="fr-FR" sz="3200" b="1" dirty="0">
                <a:solidFill>
                  <a:schemeClr val="tx1"/>
                </a:solidFill>
              </a:rPr>
              <a:t>Ainsi, un protocole informatique est un ensemble de règles qui déterminent la manière dont les ordinateurs, serveurs ou autres dispositifs communiquent sur un réseau </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8012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rgbClr val="FF0000"/>
                </a:solidFill>
              </a:rPr>
              <a:t>Protocoles</a:t>
            </a:r>
            <a:r>
              <a:rPr lang="fr-FR" b="1" dirty="0">
                <a:solidFill>
                  <a:schemeClr val="tx1"/>
                </a:solidFill>
              </a:rPr>
              <a:t> au sein d’un réseau </a:t>
            </a:r>
            <a:r>
              <a:rPr lang="fr-FR" b="1" dirty="0">
                <a:solidFill>
                  <a:srgbClr val="FF0000"/>
                </a:solidFill>
              </a:rPr>
              <a:t>LAN</a:t>
            </a:r>
            <a:r>
              <a:rPr lang="fr-FR" b="1" dirty="0">
                <a:solidFill>
                  <a:schemeClr val="tx1"/>
                </a:solidFill>
              </a:rPr>
              <a:t> </a:t>
            </a:r>
          </a:p>
        </p:txBody>
      </p:sp>
      <p:sp>
        <p:nvSpPr>
          <p:cNvPr id="3" name="Espace réservé du contenu 2"/>
          <p:cNvSpPr>
            <a:spLocks noGrp="1"/>
          </p:cNvSpPr>
          <p:nvPr>
            <p:ph idx="1"/>
          </p:nvPr>
        </p:nvSpPr>
        <p:spPr>
          <a:xfrm>
            <a:off x="2589212" y="1596125"/>
            <a:ext cx="8915400" cy="4766173"/>
          </a:xfrm>
        </p:spPr>
        <p:txBody>
          <a:bodyPr>
            <a:normAutofit fontScale="70000" lnSpcReduction="20000"/>
          </a:bodyPr>
          <a:lstStyle/>
          <a:p>
            <a:r>
              <a:rPr lang="fr-FR" sz="3200" b="1" dirty="0">
                <a:solidFill>
                  <a:schemeClr val="tx1"/>
                </a:solidFill>
              </a:rPr>
              <a:t>Exemples de Protocoles dans un LAN:</a:t>
            </a:r>
          </a:p>
          <a:p>
            <a:pPr marL="514350" indent="-514350">
              <a:buFont typeface="+mj-lt"/>
              <a:buAutoNum type="arabicPeriod"/>
            </a:pPr>
            <a:r>
              <a:rPr lang="fr-FR" sz="3200" b="1" dirty="0">
                <a:solidFill>
                  <a:schemeClr val="tx1"/>
                </a:solidFill>
              </a:rPr>
              <a:t>Protocole Ethernet (IEEE 802.3),</a:t>
            </a:r>
          </a:p>
          <a:p>
            <a:pPr marL="514350" indent="-514350">
              <a:buFont typeface="+mj-lt"/>
              <a:buAutoNum type="arabicPeriod"/>
            </a:pPr>
            <a:r>
              <a:rPr lang="fr-FR" sz="3200" b="1" dirty="0">
                <a:solidFill>
                  <a:schemeClr val="tx1"/>
                </a:solidFill>
              </a:rPr>
              <a:t>Protocole Wi-Fi (IEEE 802.11),</a:t>
            </a:r>
          </a:p>
          <a:p>
            <a:pPr marL="514350" indent="-514350">
              <a:buFont typeface="+mj-lt"/>
              <a:buAutoNum type="arabicPeriod"/>
            </a:pPr>
            <a:r>
              <a:rPr lang="fr-FR" sz="3200" b="1" dirty="0">
                <a:solidFill>
                  <a:schemeClr val="tx1"/>
                </a:solidFill>
              </a:rPr>
              <a:t>Protocole </a:t>
            </a:r>
            <a:r>
              <a:rPr lang="fr-FR" sz="3200" b="1" dirty="0" err="1">
                <a:solidFill>
                  <a:schemeClr val="tx1"/>
                </a:solidFill>
              </a:rPr>
              <a:t>Address</a:t>
            </a:r>
            <a:r>
              <a:rPr lang="fr-FR" sz="3200" b="1" dirty="0">
                <a:solidFill>
                  <a:schemeClr val="tx1"/>
                </a:solidFill>
              </a:rPr>
              <a:t> </a:t>
            </a:r>
            <a:r>
              <a:rPr lang="fr-FR" sz="3200" b="1" dirty="0" err="1">
                <a:solidFill>
                  <a:schemeClr val="tx1"/>
                </a:solidFill>
              </a:rPr>
              <a:t>Resolution</a:t>
            </a:r>
            <a:r>
              <a:rPr lang="fr-FR" sz="3200" b="1" dirty="0">
                <a:solidFill>
                  <a:schemeClr val="tx1"/>
                </a:solidFill>
              </a:rPr>
              <a:t> Protocol (ARP),</a:t>
            </a:r>
          </a:p>
          <a:p>
            <a:pPr marL="514350" indent="-514350">
              <a:buFont typeface="+mj-lt"/>
              <a:buAutoNum type="arabicPeriod"/>
            </a:pPr>
            <a:r>
              <a:rPr lang="fr-FR" sz="3200" b="1" dirty="0">
                <a:solidFill>
                  <a:schemeClr val="tx1"/>
                </a:solidFill>
              </a:rPr>
              <a:t>Protocole </a:t>
            </a:r>
            <a:r>
              <a:rPr lang="fr-FR" sz="3200" b="1" dirty="0" err="1">
                <a:solidFill>
                  <a:schemeClr val="tx1"/>
                </a:solidFill>
              </a:rPr>
              <a:t>Spanning</a:t>
            </a:r>
            <a:r>
              <a:rPr lang="fr-FR" sz="3200" b="1" dirty="0">
                <a:solidFill>
                  <a:schemeClr val="tx1"/>
                </a:solidFill>
              </a:rPr>
              <a:t> </a:t>
            </a:r>
            <a:r>
              <a:rPr lang="fr-FR" sz="3200" b="1" dirty="0" err="1">
                <a:solidFill>
                  <a:schemeClr val="tx1"/>
                </a:solidFill>
              </a:rPr>
              <a:t>Tree</a:t>
            </a:r>
            <a:r>
              <a:rPr lang="fr-FR" sz="3200" b="1" dirty="0">
                <a:solidFill>
                  <a:schemeClr val="tx1"/>
                </a:solidFill>
              </a:rPr>
              <a:t> Protocol (STP, IEEE 802.1D),</a:t>
            </a:r>
          </a:p>
          <a:p>
            <a:pPr marL="514350" indent="-514350">
              <a:buFont typeface="+mj-lt"/>
              <a:buAutoNum type="arabicPeriod"/>
            </a:pPr>
            <a:r>
              <a:rPr lang="fr-FR" sz="3200" b="1" dirty="0">
                <a:solidFill>
                  <a:schemeClr val="tx1"/>
                </a:solidFill>
              </a:rPr>
              <a:t>Protocole Dynamic Host Configuration Protocol (DHCP),</a:t>
            </a:r>
          </a:p>
          <a:p>
            <a:pPr marL="514350" indent="-514350">
              <a:buFont typeface="+mj-lt"/>
              <a:buAutoNum type="arabicPeriod"/>
            </a:pPr>
            <a:r>
              <a:rPr lang="fr-FR" sz="3200" b="1" dirty="0">
                <a:solidFill>
                  <a:schemeClr val="tx1"/>
                </a:solidFill>
              </a:rPr>
              <a:t>Protocole VLAN (IEEE 802.1Q),</a:t>
            </a:r>
          </a:p>
          <a:p>
            <a:pPr marL="514350" indent="-514350">
              <a:buFont typeface="+mj-lt"/>
              <a:buAutoNum type="arabicPeriod"/>
            </a:pPr>
            <a:r>
              <a:rPr lang="fr-FR" sz="3200" b="1" dirty="0">
                <a:solidFill>
                  <a:schemeClr val="tx1"/>
                </a:solidFill>
              </a:rPr>
              <a:t>Protocole Simple Network Management Protocol (SNMP),</a:t>
            </a:r>
          </a:p>
          <a:p>
            <a:pPr marL="514350" indent="-514350">
              <a:buFont typeface="+mj-lt"/>
              <a:buAutoNum type="arabicPeriod"/>
            </a:pPr>
            <a:r>
              <a:rPr lang="fr-FR" sz="3200" b="1" dirty="0">
                <a:solidFill>
                  <a:schemeClr val="tx1"/>
                </a:solidFill>
              </a:rPr>
              <a:t>Protocole Internet Protocol (IP, IPv4/IPv6),</a:t>
            </a:r>
          </a:p>
          <a:p>
            <a:pPr marL="514350" indent="-514350">
              <a:buFont typeface="+mj-lt"/>
              <a:buAutoNum type="arabicPeriod"/>
            </a:pPr>
            <a:r>
              <a:rPr lang="fr-FR" sz="3200" b="1" dirty="0">
                <a:solidFill>
                  <a:schemeClr val="tx1"/>
                </a:solidFill>
              </a:rPr>
              <a:t>Protocole File Transfer Protocol (FTP) et autres protocoles applicatifs et</a:t>
            </a:r>
          </a:p>
          <a:p>
            <a:pPr marL="514350" indent="-514350">
              <a:buFont typeface="+mj-lt"/>
              <a:buAutoNum type="arabicPeriod"/>
            </a:pPr>
            <a:r>
              <a:rPr lang="fr-FR" sz="3200" b="1" dirty="0">
                <a:solidFill>
                  <a:schemeClr val="tx1"/>
                </a:solidFill>
              </a:rPr>
              <a:t>Protocole Network Time Protocol (NTP)</a:t>
            </a:r>
          </a:p>
          <a:p>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0572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Ethernet (</a:t>
            </a:r>
            <a:r>
              <a:rPr lang="fr-FR" sz="3600" b="1" dirty="0">
                <a:solidFill>
                  <a:srgbClr val="FF0000"/>
                </a:solidFill>
              </a:rPr>
              <a:t>IEEE 802.3</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Le Protocole Ethernet est une norme de communication utilisée dans les réseaux informatiques pour la transmission de données au niveau du câble (couche physique du modèle OSI).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0082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Wi-Fi (IEEE 802.11),</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Le protocole </a:t>
            </a:r>
            <a:r>
              <a:rPr lang="fr-FR" sz="3200" b="1" dirty="0">
                <a:solidFill>
                  <a:srgbClr val="FF0000"/>
                </a:solidFill>
              </a:rPr>
              <a:t>Wi-Fi</a:t>
            </a:r>
            <a:r>
              <a:rPr lang="fr-FR" sz="3200" b="1" dirty="0">
                <a:solidFill>
                  <a:schemeClr val="tx1"/>
                </a:solidFill>
              </a:rPr>
              <a:t> (Wireless </a:t>
            </a:r>
            <a:r>
              <a:rPr lang="fr-FR" sz="3200" b="1" dirty="0" err="1">
                <a:solidFill>
                  <a:schemeClr val="tx1"/>
                </a:solidFill>
              </a:rPr>
              <a:t>Fidelity</a:t>
            </a:r>
            <a:r>
              <a:rPr lang="fr-FR" sz="3200" b="1" dirty="0">
                <a:solidFill>
                  <a:schemeClr val="tx1"/>
                </a:solidFill>
              </a:rPr>
              <a:t>) est un ensemble de normes qui permet la communication sans fil entre des appareils, tels que des ordinateurs, smartphones, tablettes, routeurs, imprimantes et autres périphériques réseau, à travers des ondes radio.</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56</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869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a:t>
            </a:r>
            <a:r>
              <a:rPr lang="fr-FR" sz="3600" b="1" dirty="0" err="1">
                <a:solidFill>
                  <a:schemeClr val="tx1"/>
                </a:solidFill>
              </a:rPr>
              <a:t>Address</a:t>
            </a:r>
            <a:r>
              <a:rPr lang="fr-FR" sz="3600" b="1" dirty="0">
                <a:solidFill>
                  <a:schemeClr val="tx1"/>
                </a:solidFill>
              </a:rPr>
              <a:t> </a:t>
            </a:r>
            <a:r>
              <a:rPr lang="fr-FR" sz="3600" b="1" dirty="0" err="1">
                <a:solidFill>
                  <a:schemeClr val="tx1"/>
                </a:solidFill>
              </a:rPr>
              <a:t>Resolution</a:t>
            </a:r>
            <a:r>
              <a:rPr lang="fr-FR" sz="3600" b="1" dirty="0">
                <a:solidFill>
                  <a:schemeClr val="tx1"/>
                </a:solidFill>
              </a:rPr>
              <a:t> Protocol (</a:t>
            </a:r>
            <a:r>
              <a:rPr lang="fr-FR" sz="3600" b="1" dirty="0">
                <a:solidFill>
                  <a:srgbClr val="FF0000"/>
                </a:solidFill>
              </a:rPr>
              <a:t>ARP</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Le protocole </a:t>
            </a:r>
            <a:r>
              <a:rPr lang="fr-FR" sz="3200" b="1" dirty="0">
                <a:solidFill>
                  <a:srgbClr val="FF0000"/>
                </a:solidFill>
              </a:rPr>
              <a:t>ARP</a:t>
            </a:r>
            <a:r>
              <a:rPr lang="fr-FR" sz="3200" b="1" dirty="0">
                <a:solidFill>
                  <a:schemeClr val="tx1"/>
                </a:solidFill>
              </a:rPr>
              <a:t> est un </a:t>
            </a:r>
            <a:r>
              <a:rPr lang="fr-FR" sz="3200" b="1" dirty="0">
                <a:solidFill>
                  <a:srgbClr val="FF0000"/>
                </a:solidFill>
              </a:rPr>
              <a:t>protocole réseau </a:t>
            </a:r>
            <a:r>
              <a:rPr lang="fr-FR" sz="3200" b="1" dirty="0">
                <a:solidFill>
                  <a:schemeClr val="tx1"/>
                </a:solidFill>
              </a:rPr>
              <a:t>utilisé pour résoudre les adresses IP en adresses MAC sur un réseau local (LAN). C'est un protocole essentiel pour que les appareils d'un même réseau puissent communiquer entre eux en utilisant leurs </a:t>
            </a:r>
            <a:r>
              <a:rPr lang="fr-FR" sz="3200" b="1" dirty="0">
                <a:solidFill>
                  <a:srgbClr val="FF0000"/>
                </a:solidFill>
              </a:rPr>
              <a:t>adresses matérielles</a:t>
            </a:r>
            <a:r>
              <a:rPr lang="fr-FR" sz="3200" b="1" dirty="0">
                <a:solidFill>
                  <a:schemeClr val="tx1"/>
                </a:solidFill>
              </a:rPr>
              <a:t>.</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57</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4091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a:t>
            </a:r>
            <a:r>
              <a:rPr lang="fr-FR" sz="3600" b="1" dirty="0" err="1">
                <a:solidFill>
                  <a:schemeClr val="tx1"/>
                </a:solidFill>
              </a:rPr>
              <a:t>Spanning</a:t>
            </a:r>
            <a:r>
              <a:rPr lang="fr-FR" sz="3600" b="1" dirty="0">
                <a:solidFill>
                  <a:schemeClr val="tx1"/>
                </a:solidFill>
              </a:rPr>
              <a:t> </a:t>
            </a:r>
            <a:r>
              <a:rPr lang="fr-FR" sz="3600" b="1" dirty="0" err="1">
                <a:solidFill>
                  <a:schemeClr val="tx1"/>
                </a:solidFill>
              </a:rPr>
              <a:t>Tree</a:t>
            </a:r>
            <a:r>
              <a:rPr lang="fr-FR" sz="3600" b="1" dirty="0">
                <a:solidFill>
                  <a:schemeClr val="tx1"/>
                </a:solidFill>
              </a:rPr>
              <a:t> Protocol (</a:t>
            </a:r>
            <a:r>
              <a:rPr lang="fr-FR" sz="3600" b="1" dirty="0">
                <a:solidFill>
                  <a:srgbClr val="FF0000"/>
                </a:solidFill>
              </a:rPr>
              <a:t>STP, IEEE 802.1D</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a:bodyPr>
          <a:lstStyle/>
          <a:p>
            <a:r>
              <a:rPr lang="fr-FR" sz="3200" b="1" dirty="0">
                <a:solidFill>
                  <a:schemeClr val="tx1"/>
                </a:solidFill>
              </a:rPr>
              <a:t>Le </a:t>
            </a:r>
            <a:r>
              <a:rPr lang="fr-FR" sz="3200" b="1" dirty="0" err="1">
                <a:solidFill>
                  <a:schemeClr val="tx1"/>
                </a:solidFill>
              </a:rPr>
              <a:t>Spanning</a:t>
            </a:r>
            <a:r>
              <a:rPr lang="fr-FR" sz="3200" b="1" dirty="0">
                <a:solidFill>
                  <a:schemeClr val="tx1"/>
                </a:solidFill>
              </a:rPr>
              <a:t> </a:t>
            </a:r>
            <a:r>
              <a:rPr lang="fr-FR" sz="3200" b="1" dirty="0" err="1">
                <a:solidFill>
                  <a:schemeClr val="tx1"/>
                </a:solidFill>
              </a:rPr>
              <a:t>Tree</a:t>
            </a:r>
            <a:r>
              <a:rPr lang="fr-FR" sz="3200" b="1" dirty="0">
                <a:solidFill>
                  <a:schemeClr val="tx1"/>
                </a:solidFill>
              </a:rPr>
              <a:t> Protocol (STP), est un protocole réseau utilisé pour éviter les boucles dans les réseaux Ethernet en créant une topologie arborescente logique.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9936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Dynamic Host Configuration Protocol (</a:t>
            </a:r>
            <a:r>
              <a:rPr lang="fr-FR" sz="3600" b="1" dirty="0">
                <a:solidFill>
                  <a:srgbClr val="FF0000"/>
                </a:solidFill>
              </a:rPr>
              <a:t>DHCP</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Le Protocole DHCP est un protocole de gestion des adresses IP dans un réseau informatique. Il permet aux périphériques terminaux de recevoir automatiquement une adresse IP.</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59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29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VLAN (</a:t>
            </a:r>
            <a:r>
              <a:rPr lang="fr-FR" sz="3600" b="1" dirty="0">
                <a:solidFill>
                  <a:srgbClr val="FF0000"/>
                </a:solidFill>
              </a:rPr>
              <a:t>IEEE 802.1Q</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lnSpcReduction="10000"/>
          </a:bodyPr>
          <a:lstStyle/>
          <a:p>
            <a:pPr marL="0" indent="0">
              <a:buNone/>
            </a:pPr>
            <a:r>
              <a:rPr lang="fr-FR" sz="3200" b="1" dirty="0">
                <a:solidFill>
                  <a:schemeClr val="tx1"/>
                </a:solidFill>
              </a:rPr>
              <a:t>Le protocole VLAN est une technologie réseau qui permet de segmenter un réseau physique en plusieurs réseaux logiques distincts. Cela permet aux administrateurs de regrouper des appareils (ordinateurs, imprimantes, serveurs, etc.) dans des réseaux virtuels séparés, même s'ils sont physiquement connectés au même switch ou réseau physique.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72856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Simple Network Management Protocol (</a:t>
            </a:r>
            <a:r>
              <a:rPr lang="fr-FR" sz="3600" b="1" dirty="0">
                <a:solidFill>
                  <a:srgbClr val="FF0000"/>
                </a:solidFill>
              </a:rPr>
              <a:t>SNMP</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Le protocole SNMP est un protocole utilisé pour surveiller, gérer et contrôler les appareils connectés à un réseau. Il fonctionne au niveau de la couche application du modèle OSI et permet aux administrateurs réseau de superviser les performances, de détecter les problèmes et d'intervenir si nécessaire.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2720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Internet Protocol (</a:t>
            </a:r>
            <a:r>
              <a:rPr lang="fr-FR" sz="3600" b="1" dirty="0">
                <a:solidFill>
                  <a:srgbClr val="FF0000"/>
                </a:solidFill>
              </a:rPr>
              <a:t>IP, IPv4/IPv6</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lnSpcReduction="10000"/>
          </a:bodyPr>
          <a:lstStyle/>
          <a:p>
            <a:pPr marL="0" indent="0">
              <a:buNone/>
            </a:pPr>
            <a:r>
              <a:rPr lang="fr-FR" sz="3200" b="1" dirty="0">
                <a:solidFill>
                  <a:schemeClr val="tx1"/>
                </a:solidFill>
              </a:rPr>
              <a:t>Le protocole IP (Internet Protocol) est un protocole fondamental utilisé pour acheminer les données entre des dispositifs à travers un réseau, comme Internet ou un réseau local (LAN).</a:t>
            </a:r>
          </a:p>
          <a:p>
            <a:pPr marL="0" indent="0">
              <a:buNone/>
            </a:pPr>
            <a:r>
              <a:rPr lang="fr-FR" sz="3200" b="1" dirty="0">
                <a:solidFill>
                  <a:schemeClr val="tx1"/>
                </a:solidFill>
              </a:rPr>
              <a:t>Le rôle principal de l'IP est de fournir un système d'adressage logique qui permet aux appareils de se localiser et de communiquer entre eux dans un réseau.</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62</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2619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File Transfer Protocol (</a:t>
            </a:r>
            <a:r>
              <a:rPr lang="fr-FR" sz="3600" b="1" dirty="0">
                <a:solidFill>
                  <a:srgbClr val="FF0000"/>
                </a:solidFill>
              </a:rPr>
              <a:t>FTP</a:t>
            </a:r>
            <a:r>
              <a:rPr lang="fr-FR" sz="3600" b="1" dirty="0">
                <a:solidFill>
                  <a:schemeClr val="tx1"/>
                </a:solidFill>
              </a:rPr>
              <a:t>) et autres protocoles applicatifs</a:t>
            </a: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Le protocole FTP (File Transfer Protocol) est un protocole standard utilisé pour transférer des fichiers entre un client et un serveur sur un réseau, comme Internet ou un réseau local (LAN). Il fonctionne sur une architecture client-serveur et est basé sur le modèle TCP/IP pour garantir la fiabilité de la transmission.</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63</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4377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sz="3600" b="1" dirty="0">
                <a:solidFill>
                  <a:schemeClr val="tx1"/>
                </a:solidFill>
              </a:rPr>
              <a:t>Protocole Network Time Protocol (</a:t>
            </a:r>
            <a:r>
              <a:rPr lang="fr-FR" sz="3600" b="1" dirty="0">
                <a:solidFill>
                  <a:srgbClr val="FF0000"/>
                </a:solidFill>
              </a:rPr>
              <a:t>NTP</a:t>
            </a:r>
            <a:r>
              <a:rPr lang="fr-FR" sz="3600" b="1" dirty="0">
                <a:solidFill>
                  <a:schemeClr val="tx1"/>
                </a:solidFill>
              </a:rPr>
              <a:t>)</a:t>
            </a:r>
          </a:p>
        </p:txBody>
      </p:sp>
      <p:sp>
        <p:nvSpPr>
          <p:cNvPr id="3" name="Espace réservé du contenu 2"/>
          <p:cNvSpPr>
            <a:spLocks noGrp="1"/>
          </p:cNvSpPr>
          <p:nvPr>
            <p:ph idx="1"/>
          </p:nvPr>
        </p:nvSpPr>
        <p:spPr>
          <a:xfrm>
            <a:off x="2589212" y="1596126"/>
            <a:ext cx="8915400" cy="4315096"/>
          </a:xfrm>
        </p:spPr>
        <p:txBody>
          <a:bodyPr>
            <a:normAutofit lnSpcReduction="10000"/>
          </a:bodyPr>
          <a:lstStyle/>
          <a:p>
            <a:pPr marL="0" indent="0">
              <a:buNone/>
            </a:pPr>
            <a:r>
              <a:rPr lang="fr-FR" sz="3200" b="1" dirty="0">
                <a:solidFill>
                  <a:schemeClr val="tx1"/>
                </a:solidFill>
              </a:rPr>
              <a:t>Le protocole NTP (Network Time Protocol) est un protocole utilisé pour synchroniser l'horloge des appareils connectés à un réseau, comme des ordinateurs, des serveurs, des routeurs, ou des appareils IoT. Il garantit que tous les dispositifs d’un réseau partagent la même heure précise et cohérente, avec une précision souvent de l'ordre de quelques millisecondes. </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64</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6102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normAutofit/>
          </a:bodyPr>
          <a:lstStyle/>
          <a:p>
            <a:r>
              <a:rPr lang="fr-FR" sz="3600" b="1" dirty="0">
                <a:solidFill>
                  <a:srgbClr val="FF0000"/>
                </a:solidFill>
              </a:rPr>
              <a:t>Différentes architectures </a:t>
            </a:r>
            <a:r>
              <a:rPr lang="fr-FR" sz="3600" b="1" dirty="0">
                <a:solidFill>
                  <a:schemeClr val="tx1"/>
                </a:solidFill>
              </a:rPr>
              <a:t>d’un réseau local (LAN)</a:t>
            </a:r>
          </a:p>
        </p:txBody>
      </p:sp>
      <p:sp>
        <p:nvSpPr>
          <p:cNvPr id="3" name="Espace réservé du contenu 2"/>
          <p:cNvSpPr>
            <a:spLocks noGrp="1"/>
          </p:cNvSpPr>
          <p:nvPr>
            <p:ph idx="1"/>
          </p:nvPr>
        </p:nvSpPr>
        <p:spPr>
          <a:xfrm>
            <a:off x="2589212" y="1596126"/>
            <a:ext cx="8915400" cy="4315096"/>
          </a:xfrm>
        </p:spPr>
        <p:txBody>
          <a:bodyPr>
            <a:normAutofit/>
          </a:bodyPr>
          <a:lstStyle/>
          <a:p>
            <a:pPr>
              <a:buFont typeface="Wingdings" panose="05000000000000000000" pitchFamily="2" charset="2"/>
              <a:buChar char="q"/>
            </a:pPr>
            <a:r>
              <a:rPr lang="fr-FR" sz="3200" b="1" dirty="0">
                <a:solidFill>
                  <a:schemeClr val="tx1"/>
                </a:solidFill>
              </a:rPr>
              <a:t>Architecture </a:t>
            </a:r>
            <a:r>
              <a:rPr lang="fr-FR" sz="3200" b="1" dirty="0">
                <a:solidFill>
                  <a:srgbClr val="FF0000"/>
                </a:solidFill>
              </a:rPr>
              <a:t>SOHO</a:t>
            </a:r>
            <a:r>
              <a:rPr lang="fr-FR" sz="3200" b="1" dirty="0">
                <a:solidFill>
                  <a:schemeClr val="tx1"/>
                </a:solidFill>
              </a:rPr>
              <a:t> ou Petit bureau/bureau à domicile,</a:t>
            </a:r>
          </a:p>
          <a:p>
            <a:pPr>
              <a:buFont typeface="Wingdings" panose="05000000000000000000" pitchFamily="2" charset="2"/>
              <a:buChar char="q"/>
            </a:pPr>
            <a:r>
              <a:rPr lang="fr-FR" sz="3200" b="1" dirty="0">
                <a:solidFill>
                  <a:schemeClr val="tx1"/>
                </a:solidFill>
              </a:rPr>
              <a:t>Architecture </a:t>
            </a:r>
            <a:r>
              <a:rPr lang="fr-FR" sz="3200" b="1" dirty="0">
                <a:solidFill>
                  <a:srgbClr val="FF0000"/>
                </a:solidFill>
              </a:rPr>
              <a:t>2-tier</a:t>
            </a:r>
            <a:r>
              <a:rPr lang="fr-FR" sz="3200" b="1" dirty="0">
                <a:solidFill>
                  <a:schemeClr val="tx1"/>
                </a:solidFill>
              </a:rPr>
              <a:t> ou à deux niveaux</a:t>
            </a:r>
          </a:p>
          <a:p>
            <a:pPr>
              <a:buFont typeface="Wingdings" panose="05000000000000000000" pitchFamily="2" charset="2"/>
              <a:buChar char="q"/>
            </a:pPr>
            <a:r>
              <a:rPr lang="fr-FR" sz="3200" b="1" dirty="0">
                <a:solidFill>
                  <a:schemeClr val="tx1"/>
                </a:solidFill>
              </a:rPr>
              <a:t>Architecture </a:t>
            </a:r>
            <a:r>
              <a:rPr lang="fr-FR" sz="3200" b="1" dirty="0">
                <a:solidFill>
                  <a:srgbClr val="FF0000"/>
                </a:solidFill>
              </a:rPr>
              <a:t>3-tier </a:t>
            </a:r>
            <a:r>
              <a:rPr lang="fr-FR" sz="3200" b="1" dirty="0">
                <a:solidFill>
                  <a:schemeClr val="tx1"/>
                </a:solidFill>
              </a:rPr>
              <a:t>ou à trois niveaux.</a:t>
            </a:r>
          </a:p>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65</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0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b="1" dirty="0">
                <a:solidFill>
                  <a:srgbClr val="FF0000"/>
                </a:solidFill>
              </a:rPr>
              <a:t>SOHO</a:t>
            </a:r>
            <a:endParaRPr lang="fr-FR" b="1" dirty="0">
              <a:solidFill>
                <a:schemeClr val="tx1"/>
              </a:solidFill>
            </a:endParaRP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Il s’agit ici d’un réseau local qu’on peut installer à domicile.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66</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09359FC8-8E0B-44D2-9F2A-584DFC4F853D}"/>
              </a:ext>
            </a:extLst>
          </p:cNvPr>
          <p:cNvPicPr>
            <a:picLocks noChangeAspect="1"/>
          </p:cNvPicPr>
          <p:nvPr/>
        </p:nvPicPr>
        <p:blipFill>
          <a:blip r:embed="rId3"/>
          <a:stretch>
            <a:fillRect/>
          </a:stretch>
        </p:blipFill>
        <p:spPr>
          <a:xfrm>
            <a:off x="2842167" y="2877016"/>
            <a:ext cx="8791692" cy="3034206"/>
          </a:xfrm>
          <a:prstGeom prst="rect">
            <a:avLst/>
          </a:prstGeom>
        </p:spPr>
      </p:pic>
    </p:spTree>
    <p:extLst>
      <p:ext uri="{BB962C8B-B14F-4D97-AF65-F5344CB8AC3E}">
        <p14:creationId xmlns:p14="http://schemas.microsoft.com/office/powerpoint/2010/main" val="12201384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b="1" dirty="0">
                <a:solidFill>
                  <a:srgbClr val="FF0000"/>
                </a:solidFill>
              </a:rPr>
              <a:t>SOHO</a:t>
            </a:r>
            <a:endParaRPr lang="fr-FR" b="1" dirty="0">
              <a:solidFill>
                <a:schemeClr val="tx1"/>
              </a:solidFill>
            </a:endParaRPr>
          </a:p>
        </p:txBody>
      </p:sp>
      <p:sp>
        <p:nvSpPr>
          <p:cNvPr id="3" name="Espace réservé du contenu 2"/>
          <p:cNvSpPr>
            <a:spLocks noGrp="1"/>
          </p:cNvSpPr>
          <p:nvPr>
            <p:ph idx="1"/>
          </p:nvPr>
        </p:nvSpPr>
        <p:spPr>
          <a:xfrm>
            <a:off x="2589212" y="1596126"/>
            <a:ext cx="8915400" cy="4315096"/>
          </a:xfrm>
        </p:spPr>
        <p:txBody>
          <a:bodyPr>
            <a:normAutofit/>
          </a:bodyPr>
          <a:lstStyle/>
          <a:p>
            <a:pPr marL="0" indent="0">
              <a:buNone/>
            </a:pPr>
            <a:r>
              <a:rPr lang="fr-FR" sz="3200" b="1" dirty="0">
                <a:solidFill>
                  <a:schemeClr val="tx1"/>
                </a:solidFill>
              </a:rPr>
              <a:t>Il s’agit ici d’un réseau local qu’on peut installer à domicile.</a:t>
            </a: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67</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t="4970"/>
          <a:stretch/>
        </p:blipFill>
        <p:spPr bwMode="auto">
          <a:xfrm>
            <a:off x="2756263" y="2877016"/>
            <a:ext cx="8347166" cy="315802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748915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b="1" dirty="0">
                <a:solidFill>
                  <a:srgbClr val="FF0000"/>
                </a:solidFill>
              </a:rPr>
              <a:t>SOHO </a:t>
            </a:r>
            <a:r>
              <a:rPr lang="fr-FR" b="1" dirty="0">
                <a:solidFill>
                  <a:schemeClr val="tx1"/>
                </a:solidFill>
              </a:rPr>
              <a:t>(Suite)</a:t>
            </a:r>
          </a:p>
        </p:txBody>
      </p:sp>
      <p:sp>
        <p:nvSpPr>
          <p:cNvPr id="3" name="Espace réservé du contenu 2"/>
          <p:cNvSpPr>
            <a:spLocks noGrp="1"/>
          </p:cNvSpPr>
          <p:nvPr>
            <p:ph idx="1"/>
          </p:nvPr>
        </p:nvSpPr>
        <p:spPr>
          <a:xfrm>
            <a:off x="2798218" y="1610789"/>
            <a:ext cx="8915400" cy="4315096"/>
          </a:xfrm>
        </p:spPr>
        <p:txBody>
          <a:bodyPr>
            <a:normAutofit/>
          </a:bodyPr>
          <a:lstStyle/>
          <a:p>
            <a:pPr marL="0" indent="0">
              <a:buNone/>
            </a:pPr>
            <a:endParaRPr lang="fr-FR" sz="3200"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68</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798217" y="1610789"/>
            <a:ext cx="8911687" cy="3470662"/>
          </a:xfrm>
          <a:prstGeom prst="rect">
            <a:avLst/>
          </a:prstGeom>
        </p:spPr>
      </p:pic>
    </p:spTree>
    <p:extLst>
      <p:ext uri="{BB962C8B-B14F-4D97-AF65-F5344CB8AC3E}">
        <p14:creationId xmlns:p14="http://schemas.microsoft.com/office/powerpoint/2010/main" val="7824690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sz="3600" b="1" dirty="0">
                <a:solidFill>
                  <a:schemeClr val="tx1"/>
                </a:solidFill>
              </a:rPr>
              <a:t> </a:t>
            </a:r>
            <a:r>
              <a:rPr lang="fr-FR" sz="3600" b="1" dirty="0">
                <a:solidFill>
                  <a:srgbClr val="FF0000"/>
                </a:solidFill>
              </a:rPr>
              <a:t>2-tier</a:t>
            </a:r>
            <a:r>
              <a:rPr lang="fr-FR" sz="3600" b="1" dirty="0">
                <a:solidFill>
                  <a:schemeClr val="tx1"/>
                </a:solidFill>
              </a:rPr>
              <a:t> </a:t>
            </a:r>
            <a:endParaRPr lang="fr-FR"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69</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4" name="Espace réservé du contenu 3">
            <a:extLst>
              <a:ext uri="{FF2B5EF4-FFF2-40B4-BE49-F238E27FC236}">
                <a16:creationId xmlns:a16="http://schemas.microsoft.com/office/drawing/2014/main" id="{8DB2A8BE-28CA-BCFF-664E-FBA273631981}"/>
              </a:ext>
            </a:extLst>
          </p:cNvPr>
          <p:cNvPicPr>
            <a:picLocks noGrp="1" noChangeAspect="1"/>
          </p:cNvPicPr>
          <p:nvPr>
            <p:ph idx="1"/>
          </p:nvPr>
        </p:nvPicPr>
        <p:blipFill>
          <a:blip r:embed="rId3"/>
          <a:stretch>
            <a:fillRect/>
          </a:stretch>
        </p:blipFill>
        <p:spPr>
          <a:xfrm>
            <a:off x="2090784" y="1999931"/>
            <a:ext cx="8450125" cy="4448719"/>
          </a:xfrm>
          <a:prstGeom prst="rect">
            <a:avLst/>
          </a:prstGeom>
        </p:spPr>
      </p:pic>
    </p:spTree>
    <p:extLst>
      <p:ext uri="{BB962C8B-B14F-4D97-AF65-F5344CB8AC3E}">
        <p14:creationId xmlns:p14="http://schemas.microsoft.com/office/powerpoint/2010/main" val="21132779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sz="3600" b="1" dirty="0">
                <a:solidFill>
                  <a:schemeClr val="tx1"/>
                </a:solidFill>
              </a:rPr>
              <a:t> </a:t>
            </a:r>
            <a:r>
              <a:rPr lang="fr-FR" sz="3600" b="1" dirty="0">
                <a:solidFill>
                  <a:srgbClr val="FF0000"/>
                </a:solidFill>
              </a:rPr>
              <a:t>2-tier</a:t>
            </a:r>
            <a:r>
              <a:rPr lang="fr-FR" sz="3600" b="1" dirty="0">
                <a:solidFill>
                  <a:schemeClr val="tx1"/>
                </a:solidFill>
              </a:rPr>
              <a:t> </a:t>
            </a:r>
            <a:endParaRPr lang="fr-FR"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70</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Espace réservé du contenu 7">
            <a:extLst>
              <a:ext uri="{FF2B5EF4-FFF2-40B4-BE49-F238E27FC236}">
                <a16:creationId xmlns:a16="http://schemas.microsoft.com/office/drawing/2014/main" id="{F656E1F2-A9BD-C2F7-5A66-8212666AAEBD}"/>
              </a:ext>
            </a:extLst>
          </p:cNvPr>
          <p:cNvPicPr>
            <a:picLocks noGrp="1" noChangeAspect="1"/>
          </p:cNvPicPr>
          <p:nvPr>
            <p:ph idx="1"/>
          </p:nvPr>
        </p:nvPicPr>
        <p:blipFill>
          <a:blip r:embed="rId3"/>
          <a:stretch>
            <a:fillRect/>
          </a:stretch>
        </p:blipFill>
        <p:spPr>
          <a:xfrm>
            <a:off x="2088698" y="1821522"/>
            <a:ext cx="7339231" cy="4811584"/>
          </a:xfrm>
          <a:prstGeom prst="rect">
            <a:avLst/>
          </a:prstGeom>
        </p:spPr>
      </p:pic>
    </p:spTree>
    <p:extLst>
      <p:ext uri="{BB962C8B-B14F-4D97-AF65-F5344CB8AC3E}">
        <p14:creationId xmlns:p14="http://schemas.microsoft.com/office/powerpoint/2010/main" val="2540405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329899"/>
            <a:ext cx="8911687" cy="1280890"/>
          </a:xfrm>
        </p:spPr>
        <p:txBody>
          <a:bodyPr/>
          <a:lstStyle/>
          <a:p>
            <a:r>
              <a:rPr lang="fr-FR" b="1" dirty="0">
                <a:solidFill>
                  <a:schemeClr val="tx1"/>
                </a:solidFill>
              </a:rPr>
              <a:t>Réseaux locaux </a:t>
            </a:r>
            <a:r>
              <a:rPr lang="fr-FR" sz="3600" b="1" dirty="0">
                <a:solidFill>
                  <a:schemeClr val="tx1"/>
                </a:solidFill>
              </a:rPr>
              <a:t> </a:t>
            </a:r>
            <a:r>
              <a:rPr lang="fr-FR" sz="3600" b="1" dirty="0">
                <a:solidFill>
                  <a:srgbClr val="FF0000"/>
                </a:solidFill>
              </a:rPr>
              <a:t>3-tier</a:t>
            </a:r>
            <a:r>
              <a:rPr lang="fr-FR" sz="3600" b="1" dirty="0">
                <a:solidFill>
                  <a:schemeClr val="tx1"/>
                </a:solidFill>
              </a:rPr>
              <a:t> </a:t>
            </a:r>
            <a:endParaRPr lang="fr-FR" b="1" dirty="0">
              <a:solidFill>
                <a:schemeClr val="tx1"/>
              </a:solidFill>
            </a:endParaRPr>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71</a:t>
            </a:fld>
            <a:endParaRPr lang="en-US" dirty="0"/>
          </a:p>
        </p:txBody>
      </p:sp>
      <p:pic>
        <p:nvPicPr>
          <p:cNvPr id="6" name="Picture 2" descr="Question Smiley Vector Images (over 4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04503"/>
            <a:ext cx="2433637" cy="1491623"/>
          </a:xfrm>
          <a:prstGeom prst="rect">
            <a:avLst/>
          </a:prstGeom>
          <a:noFill/>
          <a:extLst>
            <a:ext uri="{909E8E84-426E-40DD-AFC4-6F175D3DCCD1}">
              <a14:hiddenFill xmlns:a14="http://schemas.microsoft.com/office/drawing/2010/main">
                <a:solidFill>
                  <a:srgbClr val="FFFFFF"/>
                </a:solidFill>
              </a14:hiddenFill>
            </a:ext>
          </a:extLst>
        </p:spPr>
      </p:pic>
      <p:pic>
        <p:nvPicPr>
          <p:cNvPr id="8" name="Espace réservé du contenu 7">
            <a:extLst>
              <a:ext uri="{FF2B5EF4-FFF2-40B4-BE49-F238E27FC236}">
                <a16:creationId xmlns:a16="http://schemas.microsoft.com/office/drawing/2014/main" id="{F7E3648B-C4D9-9E93-CEB1-5D7763BEFEF3}"/>
              </a:ext>
            </a:extLst>
          </p:cNvPr>
          <p:cNvPicPr>
            <a:picLocks noGrp="1" noChangeAspect="1"/>
          </p:cNvPicPr>
          <p:nvPr>
            <p:ph idx="1"/>
          </p:nvPr>
        </p:nvPicPr>
        <p:blipFill>
          <a:blip r:embed="rId3"/>
          <a:stretch>
            <a:fillRect/>
          </a:stretch>
        </p:blipFill>
        <p:spPr>
          <a:xfrm>
            <a:off x="2723950" y="1679736"/>
            <a:ext cx="7098436" cy="4848365"/>
          </a:xfrm>
          <a:prstGeom prst="rect">
            <a:avLst/>
          </a:prstGeom>
        </p:spPr>
      </p:pic>
    </p:spTree>
    <p:extLst>
      <p:ext uri="{BB962C8B-B14F-4D97-AF65-F5344CB8AC3E}">
        <p14:creationId xmlns:p14="http://schemas.microsoft.com/office/powerpoint/2010/main" val="679370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CHAPITRE III : RESEAUX ETENDUS (WAN)</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Nous allons dans un premier temps expliquer le concept </a:t>
            </a:r>
            <a:r>
              <a:rPr lang="fr-FR" sz="3200" b="1" dirty="0">
                <a:solidFill>
                  <a:srgbClr val="FF0000"/>
                </a:solidFill>
              </a:rPr>
              <a:t>d’Ethernet Métropolitain</a:t>
            </a:r>
            <a:r>
              <a:rPr lang="fr-FR" sz="3200" b="1" dirty="0">
                <a:solidFill>
                  <a:schemeClr val="tx1"/>
                </a:solidFill>
              </a:rPr>
              <a:t> (</a:t>
            </a:r>
            <a:r>
              <a:rPr lang="fr-FR" sz="3200" b="1" dirty="0">
                <a:solidFill>
                  <a:srgbClr val="FF0000"/>
                </a:solidFill>
              </a:rPr>
              <a:t>Metro Ethernet</a:t>
            </a:r>
            <a:r>
              <a:rPr lang="fr-FR" sz="3200" b="1" dirty="0">
                <a:solidFill>
                  <a:schemeClr val="tx1"/>
                </a:solidFill>
              </a:rPr>
              <a:t>). Ensuite nous allons présenter sa conception physique et topologie avec les normes afférées aux liens d’accès Ethernet. Par après nous présenterons les différents services offerts avec leurs topologies.</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72</a:t>
            </a:fld>
            <a:endParaRPr lang="en-US" dirty="0"/>
          </a:p>
        </p:txBody>
      </p:sp>
    </p:spTree>
    <p:extLst>
      <p:ext uri="{BB962C8B-B14F-4D97-AF65-F5344CB8AC3E}">
        <p14:creationId xmlns:p14="http://schemas.microsoft.com/office/powerpoint/2010/main" val="41764793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Ethernet métropolitain</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d’Ethernet Métropolitain (</a:t>
            </a:r>
            <a:r>
              <a:rPr lang="fr-FR" sz="3200" b="1" dirty="0">
                <a:solidFill>
                  <a:srgbClr val="FF0000"/>
                </a:solidFill>
              </a:rPr>
              <a:t>Metro Ethernet</a:t>
            </a:r>
            <a:r>
              <a:rPr lang="fr-FR" sz="3200" b="1" dirty="0">
                <a:solidFill>
                  <a:schemeClr val="tx1"/>
                </a:solidFill>
              </a:rPr>
              <a:t>) décrit le WAN depuis le Client jusqu’au Fournisseur.</a:t>
            </a:r>
            <a:br>
              <a:rPr lang="fr-FR" sz="3200" b="1" dirty="0">
                <a:solidFill>
                  <a:schemeClr val="tx1"/>
                </a:solidFill>
              </a:rPr>
            </a:br>
            <a:r>
              <a:rPr lang="fr-FR" sz="3200" b="1" dirty="0">
                <a:solidFill>
                  <a:schemeClr val="tx1"/>
                </a:solidFill>
              </a:rPr>
              <a:t>Le </a:t>
            </a:r>
            <a:r>
              <a:rPr lang="fr-FR" sz="3200" b="1" dirty="0">
                <a:solidFill>
                  <a:srgbClr val="FF0000"/>
                </a:solidFill>
              </a:rPr>
              <a:t>Metro Ethernet </a:t>
            </a:r>
            <a:r>
              <a:rPr lang="fr-FR" sz="3200" b="1" dirty="0">
                <a:solidFill>
                  <a:schemeClr val="tx1"/>
                </a:solidFill>
              </a:rPr>
              <a:t>permet d’offrir des services WAN aux Clients (Entreprises ou Particulier). Le Schéma ci-dessous en est une illustration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73</a:t>
            </a:fld>
            <a:endParaRPr lang="en-US" dirty="0"/>
          </a:p>
        </p:txBody>
      </p:sp>
    </p:spTree>
    <p:extLst>
      <p:ext uri="{BB962C8B-B14F-4D97-AF65-F5344CB8AC3E}">
        <p14:creationId xmlns:p14="http://schemas.microsoft.com/office/powerpoint/2010/main" val="20040487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Ethernet métropolitain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74</a:t>
            </a:fld>
            <a:endParaRPr lang="en-US" dirty="0"/>
          </a:p>
        </p:txBody>
      </p:sp>
      <p:pic>
        <p:nvPicPr>
          <p:cNvPr id="6" name="Espace réservé du contenu 5">
            <a:extLst>
              <a:ext uri="{FF2B5EF4-FFF2-40B4-BE49-F238E27FC236}">
                <a16:creationId xmlns:a16="http://schemas.microsoft.com/office/drawing/2014/main" id="{9F977D8B-6D03-676B-414E-37EE7CAB936E}"/>
              </a:ext>
            </a:extLst>
          </p:cNvPr>
          <p:cNvPicPr>
            <a:picLocks noGrp="1" noChangeAspect="1"/>
          </p:cNvPicPr>
          <p:nvPr>
            <p:ph idx="1"/>
          </p:nvPr>
        </p:nvPicPr>
        <p:blipFill>
          <a:blip r:embed="rId2"/>
          <a:stretch>
            <a:fillRect/>
          </a:stretch>
        </p:blipFill>
        <p:spPr>
          <a:xfrm>
            <a:off x="1243650" y="1905000"/>
            <a:ext cx="10064978" cy="3552524"/>
          </a:xfrm>
          <a:prstGeom prst="rect">
            <a:avLst/>
          </a:prstGeom>
        </p:spPr>
      </p:pic>
    </p:spTree>
    <p:extLst>
      <p:ext uri="{BB962C8B-B14F-4D97-AF65-F5344CB8AC3E}">
        <p14:creationId xmlns:p14="http://schemas.microsoft.com/office/powerpoint/2010/main" val="1130991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Conception </a:t>
            </a:r>
            <a:r>
              <a:rPr lang="fr-FR" b="1" dirty="0">
                <a:solidFill>
                  <a:srgbClr val="FF0000"/>
                </a:solidFill>
              </a:rPr>
              <a:t>physique</a:t>
            </a:r>
            <a:r>
              <a:rPr lang="fr-FR" b="1" dirty="0">
                <a:solidFill>
                  <a:schemeClr val="tx1"/>
                </a:solidFill>
              </a:rPr>
              <a:t> et </a:t>
            </a:r>
            <a:r>
              <a:rPr lang="fr-FR" b="1" dirty="0">
                <a:solidFill>
                  <a:srgbClr val="FF0000"/>
                </a:solidFill>
              </a:rPr>
              <a:t>topologie</a:t>
            </a:r>
            <a:r>
              <a:rPr lang="fr-FR" b="1" dirty="0">
                <a:solidFill>
                  <a:schemeClr val="tx1"/>
                </a:solidFill>
              </a:rPr>
              <a:t> de Metro Ethernet</a:t>
            </a:r>
          </a:p>
        </p:txBody>
      </p:sp>
      <p:sp>
        <p:nvSpPr>
          <p:cNvPr id="3" name="Espace réservé du contenu 2"/>
          <p:cNvSpPr>
            <a:spLocks noGrp="1"/>
          </p:cNvSpPr>
          <p:nvPr>
            <p:ph idx="1"/>
          </p:nvPr>
        </p:nvSpPr>
        <p:spPr>
          <a:xfrm>
            <a:off x="2589212" y="1905000"/>
            <a:ext cx="8915400" cy="4230808"/>
          </a:xfrm>
        </p:spPr>
        <p:txBody>
          <a:bodyPr>
            <a:normAutofit/>
          </a:bodyPr>
          <a:lstStyle/>
          <a:p>
            <a:pPr marL="0" indent="0">
              <a:buNone/>
            </a:pPr>
            <a:r>
              <a:rPr lang="fr-FR" sz="3200" b="1" dirty="0">
                <a:solidFill>
                  <a:schemeClr val="tx1"/>
                </a:solidFill>
              </a:rPr>
              <a:t>Pour bénéficier du service offert par le WAN Metro Ethernet, chaque site distant doit se connecter à une liaison Ethernet.</a:t>
            </a:r>
            <a:br>
              <a:rPr lang="fr-FR" sz="3200" b="1" dirty="0">
                <a:solidFill>
                  <a:schemeClr val="tx1"/>
                </a:solidFill>
              </a:rPr>
            </a:br>
            <a:r>
              <a:rPr lang="fr-FR" sz="3200" b="1" dirty="0">
                <a:solidFill>
                  <a:schemeClr val="tx1"/>
                </a:solidFill>
              </a:rPr>
              <a:t>La figure ci-dessous est une illustration: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75</a:t>
            </a:fld>
            <a:endParaRPr lang="en-US" dirty="0"/>
          </a:p>
        </p:txBody>
      </p:sp>
    </p:spTree>
    <p:extLst>
      <p:ext uri="{BB962C8B-B14F-4D97-AF65-F5344CB8AC3E}">
        <p14:creationId xmlns:p14="http://schemas.microsoft.com/office/powerpoint/2010/main" val="951851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Conception </a:t>
            </a:r>
            <a:r>
              <a:rPr lang="fr-FR" b="1" dirty="0">
                <a:solidFill>
                  <a:srgbClr val="FF0000"/>
                </a:solidFill>
              </a:rPr>
              <a:t>physique</a:t>
            </a:r>
            <a:r>
              <a:rPr lang="fr-FR" b="1" dirty="0">
                <a:solidFill>
                  <a:schemeClr val="tx1"/>
                </a:solidFill>
              </a:rPr>
              <a:t> et </a:t>
            </a:r>
            <a:r>
              <a:rPr lang="fr-FR" b="1" dirty="0">
                <a:solidFill>
                  <a:srgbClr val="FF0000"/>
                </a:solidFill>
              </a:rPr>
              <a:t>topologie</a:t>
            </a:r>
            <a:r>
              <a:rPr lang="fr-FR" b="1" dirty="0">
                <a:solidFill>
                  <a:schemeClr val="tx1"/>
                </a:solidFill>
              </a:rPr>
              <a:t> de Metro Ethernet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76</a:t>
            </a:fld>
            <a:endParaRPr lang="en-US" dirty="0"/>
          </a:p>
        </p:txBody>
      </p:sp>
      <p:pic>
        <p:nvPicPr>
          <p:cNvPr id="6" name="Espace réservé du contenu 5">
            <a:extLst>
              <a:ext uri="{FF2B5EF4-FFF2-40B4-BE49-F238E27FC236}">
                <a16:creationId xmlns:a16="http://schemas.microsoft.com/office/drawing/2014/main" id="{560CF7C0-D841-4EEA-48F2-6711AC109556}"/>
              </a:ext>
            </a:extLst>
          </p:cNvPr>
          <p:cNvPicPr>
            <a:picLocks noGrp="1" noChangeAspect="1"/>
          </p:cNvPicPr>
          <p:nvPr>
            <p:ph idx="1"/>
          </p:nvPr>
        </p:nvPicPr>
        <p:blipFill>
          <a:blip r:embed="rId2"/>
          <a:stretch>
            <a:fillRect/>
          </a:stretch>
        </p:blipFill>
        <p:spPr>
          <a:xfrm>
            <a:off x="1106906" y="1929063"/>
            <a:ext cx="10258942" cy="4682691"/>
          </a:xfrm>
          <a:prstGeom prst="rect">
            <a:avLst/>
          </a:prstGeom>
        </p:spPr>
      </p:pic>
    </p:spTree>
    <p:extLst>
      <p:ext uri="{BB962C8B-B14F-4D97-AF65-F5344CB8AC3E}">
        <p14:creationId xmlns:p14="http://schemas.microsoft.com/office/powerpoint/2010/main" val="40257435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Normes utilisées pour les </a:t>
            </a:r>
            <a:r>
              <a:rPr lang="fr-FR" b="1" dirty="0">
                <a:solidFill>
                  <a:srgbClr val="FF0000"/>
                </a:solidFill>
              </a:rPr>
              <a:t>liens d’accès </a:t>
            </a:r>
            <a:r>
              <a:rPr lang="fr-FR" b="1" dirty="0">
                <a:solidFill>
                  <a:schemeClr val="tx1"/>
                </a:solidFill>
              </a:rPr>
              <a:t>Ethernet Métropolitain</a:t>
            </a:r>
          </a:p>
        </p:txBody>
      </p:sp>
      <p:graphicFrame>
        <p:nvGraphicFramePr>
          <p:cNvPr id="6" name="Espace réservé du contenu 5">
            <a:extLst>
              <a:ext uri="{FF2B5EF4-FFF2-40B4-BE49-F238E27FC236}">
                <a16:creationId xmlns:a16="http://schemas.microsoft.com/office/drawing/2014/main" id="{32DE6750-A581-947A-72AE-E2C8BBC3D4AC}"/>
              </a:ext>
            </a:extLst>
          </p:cNvPr>
          <p:cNvGraphicFramePr>
            <a:graphicFrameLocks noGrp="1"/>
          </p:cNvGraphicFramePr>
          <p:nvPr>
            <p:ph idx="1"/>
            <p:extLst>
              <p:ext uri="{D42A27DB-BD31-4B8C-83A1-F6EECF244321}">
                <p14:modId xmlns:p14="http://schemas.microsoft.com/office/powerpoint/2010/main" val="1263728900"/>
              </p:ext>
            </p:extLst>
          </p:nvPr>
        </p:nvGraphicFramePr>
        <p:xfrm>
          <a:off x="2704699" y="2146435"/>
          <a:ext cx="8104472" cy="4354501"/>
        </p:xfrm>
        <a:graphic>
          <a:graphicData uri="http://schemas.openxmlformats.org/drawingml/2006/table">
            <a:tbl>
              <a:tblPr firstRow="1" firstCol="1" bandRow="1">
                <a:tableStyleId>{5C22544A-7EE6-4342-B048-85BDC9FD1C3A}</a:tableStyleId>
              </a:tblPr>
              <a:tblGrid>
                <a:gridCol w="2700894">
                  <a:extLst>
                    <a:ext uri="{9D8B030D-6E8A-4147-A177-3AD203B41FA5}">
                      <a16:colId xmlns:a16="http://schemas.microsoft.com/office/drawing/2014/main" val="4124849451"/>
                    </a:ext>
                  </a:extLst>
                </a:gridCol>
                <a:gridCol w="2701789">
                  <a:extLst>
                    <a:ext uri="{9D8B030D-6E8A-4147-A177-3AD203B41FA5}">
                      <a16:colId xmlns:a16="http://schemas.microsoft.com/office/drawing/2014/main" val="20288673"/>
                    </a:ext>
                  </a:extLst>
                </a:gridCol>
                <a:gridCol w="2701789">
                  <a:extLst>
                    <a:ext uri="{9D8B030D-6E8A-4147-A177-3AD203B41FA5}">
                      <a16:colId xmlns:a16="http://schemas.microsoft.com/office/drawing/2014/main" val="2259511621"/>
                    </a:ext>
                  </a:extLst>
                </a:gridCol>
              </a:tblGrid>
              <a:tr h="621835">
                <a:tc>
                  <a:txBody>
                    <a:bodyPr/>
                    <a:lstStyle/>
                    <a:p>
                      <a:pPr algn="just">
                        <a:lnSpc>
                          <a:spcPct val="150000"/>
                        </a:lnSpc>
                        <a:spcAft>
                          <a:spcPts val="800"/>
                        </a:spcAft>
                      </a:pPr>
                      <a:r>
                        <a:rPr lang="fr-FR" sz="2000" dirty="0">
                          <a:effectLst/>
                          <a:latin typeface="Times New Roman" panose="02020603050405020304" pitchFamily="18" charset="0"/>
                          <a:cs typeface="Times New Roman" panose="02020603050405020304" pitchFamily="18" charset="0"/>
                        </a:rPr>
                        <a:t>Nom</a:t>
                      </a:r>
                      <a:endParaRPr lang="fr-TG"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Vitesse</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Distance</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3354000"/>
                  </a:ext>
                </a:extLst>
              </a:tr>
              <a:tr h="622111">
                <a:tc>
                  <a:txBody>
                    <a:bodyPr/>
                    <a:lstStyle/>
                    <a:p>
                      <a:pPr algn="just">
                        <a:lnSpc>
                          <a:spcPct val="150000"/>
                        </a:lnSpc>
                        <a:spcAft>
                          <a:spcPts val="800"/>
                        </a:spcAft>
                      </a:pPr>
                      <a:r>
                        <a:rPr lang="fr-FR" sz="2000" dirty="0">
                          <a:effectLst/>
                          <a:latin typeface="Times New Roman" panose="02020603050405020304" pitchFamily="18" charset="0"/>
                          <a:cs typeface="Times New Roman" panose="02020603050405020304" pitchFamily="18" charset="0"/>
                        </a:rPr>
                        <a:t>100BASE-LX10</a:t>
                      </a:r>
                      <a:endParaRPr lang="fr-TG"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100 Mbps</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10 Km</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7723341"/>
                  </a:ext>
                </a:extLst>
              </a:tr>
              <a:tr h="622111">
                <a:tc>
                  <a:txBody>
                    <a:bodyPr/>
                    <a:lstStyle/>
                    <a:p>
                      <a:pPr algn="just">
                        <a:lnSpc>
                          <a:spcPct val="150000"/>
                        </a:lnSpc>
                        <a:spcAft>
                          <a:spcPts val="800"/>
                        </a:spcAft>
                      </a:pPr>
                      <a:r>
                        <a:rPr lang="fr-FR" sz="2000" dirty="0">
                          <a:effectLst/>
                          <a:latin typeface="Times New Roman" panose="02020603050405020304" pitchFamily="18" charset="0"/>
                          <a:cs typeface="Times New Roman" panose="02020603050405020304" pitchFamily="18" charset="0"/>
                        </a:rPr>
                        <a:t>1000BASE-LX</a:t>
                      </a:r>
                      <a:endParaRPr lang="fr-TG"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1 </a:t>
                      </a:r>
                      <a:r>
                        <a:rPr lang="fr-FR" sz="2000" b="1" dirty="0" err="1">
                          <a:effectLst/>
                          <a:latin typeface="Times New Roman" panose="02020603050405020304" pitchFamily="18" charset="0"/>
                          <a:cs typeface="Times New Roman" panose="02020603050405020304" pitchFamily="18" charset="0"/>
                        </a:rPr>
                        <a:t>Gbps</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5 Km</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9656388"/>
                  </a:ext>
                </a:extLst>
              </a:tr>
              <a:tr h="622111">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1000BASE-LX10</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1 </a:t>
                      </a:r>
                      <a:r>
                        <a:rPr lang="fr-FR" sz="2000" b="1" dirty="0" err="1">
                          <a:effectLst/>
                          <a:latin typeface="Times New Roman" panose="02020603050405020304" pitchFamily="18" charset="0"/>
                          <a:cs typeface="Times New Roman" panose="02020603050405020304" pitchFamily="18" charset="0"/>
                        </a:rPr>
                        <a:t>Gbps</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10 Km</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7076437"/>
                  </a:ext>
                </a:extLst>
              </a:tr>
              <a:tr h="622111">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1000BASE-ZX</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1 </a:t>
                      </a:r>
                      <a:r>
                        <a:rPr lang="fr-FR" sz="2000" b="1" dirty="0" err="1">
                          <a:effectLst/>
                          <a:latin typeface="Times New Roman" panose="02020603050405020304" pitchFamily="18" charset="0"/>
                          <a:cs typeface="Times New Roman" panose="02020603050405020304" pitchFamily="18" charset="0"/>
                        </a:rPr>
                        <a:t>Gbps</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100 Km</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89825413"/>
                  </a:ext>
                </a:extLst>
              </a:tr>
              <a:tr h="622111">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10GBASE-LR</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10 Gbps</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10 Km</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8850662"/>
                  </a:ext>
                </a:extLst>
              </a:tr>
              <a:tr h="622111">
                <a:tc>
                  <a:txBody>
                    <a:bodyPr/>
                    <a:lstStyle/>
                    <a:p>
                      <a:pPr algn="just">
                        <a:lnSpc>
                          <a:spcPct val="150000"/>
                        </a:lnSpc>
                        <a:spcAft>
                          <a:spcPts val="800"/>
                        </a:spcAft>
                      </a:pPr>
                      <a:r>
                        <a:rPr lang="fr-FR" sz="2000">
                          <a:effectLst/>
                          <a:latin typeface="Times New Roman" panose="02020603050405020304" pitchFamily="18" charset="0"/>
                          <a:cs typeface="Times New Roman" panose="02020603050405020304" pitchFamily="18" charset="0"/>
                        </a:rPr>
                        <a:t>10GBASE-ER</a:t>
                      </a:r>
                      <a:endParaRPr lang="fr-TG"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a:effectLst/>
                          <a:latin typeface="Times New Roman" panose="02020603050405020304" pitchFamily="18" charset="0"/>
                          <a:cs typeface="Times New Roman" panose="02020603050405020304" pitchFamily="18" charset="0"/>
                        </a:rPr>
                        <a:t>10 Gbps </a:t>
                      </a:r>
                      <a:endParaRPr lang="fr-TG" sz="20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fr-FR" sz="2000" b="1" dirty="0">
                          <a:effectLst/>
                          <a:latin typeface="Times New Roman" panose="02020603050405020304" pitchFamily="18" charset="0"/>
                          <a:cs typeface="Times New Roman" panose="02020603050405020304" pitchFamily="18" charset="0"/>
                        </a:rPr>
                        <a:t>40 Km</a:t>
                      </a:r>
                      <a:endParaRPr lang="fr-TG" sz="2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5739239"/>
                  </a:ext>
                </a:extLst>
              </a:tr>
            </a:tbl>
          </a:graphicData>
        </a:graphic>
      </p:graphicFrame>
      <p:sp>
        <p:nvSpPr>
          <p:cNvPr id="5" name="Espace réservé du numéro de diapositive 4"/>
          <p:cNvSpPr>
            <a:spLocks noGrp="1"/>
          </p:cNvSpPr>
          <p:nvPr>
            <p:ph type="sldNum" sz="quarter" idx="12"/>
          </p:nvPr>
        </p:nvSpPr>
        <p:spPr/>
        <p:txBody>
          <a:bodyPr/>
          <a:lstStyle/>
          <a:p>
            <a:fld id="{D57F1E4F-1CFF-5643-939E-217C01CDF565}" type="slidenum">
              <a:rPr lang="en-US" smtClean="0"/>
              <a:pPr/>
              <a:t>77</a:t>
            </a:fld>
            <a:endParaRPr lang="en-US" dirty="0"/>
          </a:p>
        </p:txBody>
      </p:sp>
    </p:spTree>
    <p:extLst>
      <p:ext uri="{BB962C8B-B14F-4D97-AF65-F5344CB8AC3E}">
        <p14:creationId xmlns:p14="http://schemas.microsoft.com/office/powerpoint/2010/main" val="38050072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FF0000"/>
                </a:solidFill>
              </a:rPr>
              <a:t>Services offerts </a:t>
            </a:r>
            <a:r>
              <a:rPr lang="fr-FR" b="1" dirty="0">
                <a:solidFill>
                  <a:schemeClr val="tx1"/>
                </a:solidFill>
              </a:rPr>
              <a:t>par Metro Ethernet et leurs topologies</a:t>
            </a:r>
          </a:p>
        </p:txBody>
      </p:sp>
      <p:sp>
        <p:nvSpPr>
          <p:cNvPr id="3" name="Espace réservé du contenu 2"/>
          <p:cNvSpPr>
            <a:spLocks noGrp="1"/>
          </p:cNvSpPr>
          <p:nvPr>
            <p:ph idx="1"/>
          </p:nvPr>
        </p:nvSpPr>
        <p:spPr>
          <a:xfrm>
            <a:off x="2589212" y="1905000"/>
            <a:ext cx="8915400" cy="4230808"/>
          </a:xfrm>
        </p:spPr>
        <p:txBody>
          <a:bodyPr>
            <a:normAutofit/>
          </a:bodyPr>
          <a:lstStyle/>
          <a:p>
            <a:r>
              <a:rPr lang="fr-FR" sz="3200" b="1" dirty="0">
                <a:solidFill>
                  <a:schemeClr val="tx1"/>
                </a:solidFill>
              </a:rPr>
              <a:t>Service de ligne Ethernet (point à point)</a:t>
            </a:r>
          </a:p>
          <a:p>
            <a:r>
              <a:rPr lang="fr-FR" sz="3200" b="1" dirty="0">
                <a:solidFill>
                  <a:schemeClr val="tx1"/>
                </a:solidFill>
              </a:rPr>
              <a:t>Service LAN Ethernet (maillage complet) et</a:t>
            </a:r>
          </a:p>
          <a:p>
            <a:r>
              <a:rPr lang="fr-FR" sz="3200" b="1" dirty="0">
                <a:solidFill>
                  <a:schemeClr val="tx1"/>
                </a:solidFill>
              </a:rPr>
              <a:t>Service d'arborescence Ethernet (Hub and </a:t>
            </a:r>
            <a:r>
              <a:rPr lang="fr-FR" sz="3200" b="1" dirty="0" err="1">
                <a:solidFill>
                  <a:schemeClr val="tx1"/>
                </a:solidFill>
              </a:rPr>
              <a:t>Spoke</a:t>
            </a:r>
            <a:r>
              <a:rPr lang="fr-FR" sz="3200" b="1" dirty="0">
                <a:solidFill>
                  <a:schemeClr val="tx1"/>
                </a:solidFill>
              </a:rPr>
              <a: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78</a:t>
            </a:fld>
            <a:endParaRPr lang="en-US" dirty="0"/>
          </a:p>
        </p:txBody>
      </p:sp>
    </p:spTree>
    <p:extLst>
      <p:ext uri="{BB962C8B-B14F-4D97-AF65-F5344CB8AC3E}">
        <p14:creationId xmlns:p14="http://schemas.microsoft.com/office/powerpoint/2010/main" val="7111425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Service de ligne Ethernet </a:t>
            </a:r>
            <a:br>
              <a:rPr lang="fr-FR" b="1" dirty="0">
                <a:solidFill>
                  <a:schemeClr val="tx1"/>
                </a:solidFill>
              </a:rPr>
            </a:br>
            <a:r>
              <a:rPr lang="fr-FR" b="1" dirty="0">
                <a:solidFill>
                  <a:schemeClr val="tx1"/>
                </a:solidFill>
              </a:rPr>
              <a:t>(</a:t>
            </a:r>
            <a:r>
              <a:rPr lang="fr-FR" b="1" dirty="0">
                <a:solidFill>
                  <a:srgbClr val="FF0000"/>
                </a:solidFill>
              </a:rPr>
              <a:t>point à point</a:t>
            </a:r>
            <a:r>
              <a:rPr lang="fr-FR" b="1" dirty="0">
                <a:solidFill>
                  <a:schemeClr val="tx1"/>
                </a:solidFill>
              </a:rPr>
              <a:t>)</a:t>
            </a:r>
          </a:p>
        </p:txBody>
      </p:sp>
      <p:sp>
        <p:nvSpPr>
          <p:cNvPr id="3" name="Espace réservé du contenu 2"/>
          <p:cNvSpPr>
            <a:spLocks noGrp="1"/>
          </p:cNvSpPr>
          <p:nvPr>
            <p:ph idx="1"/>
          </p:nvPr>
        </p:nvSpPr>
        <p:spPr>
          <a:xfrm>
            <a:off x="2589212" y="1905000"/>
            <a:ext cx="8915400" cy="4230808"/>
          </a:xfrm>
        </p:spPr>
        <p:txBody>
          <a:bodyPr>
            <a:normAutofit/>
          </a:bodyPr>
          <a:lstStyle/>
          <a:p>
            <a:r>
              <a:rPr lang="fr-FR" sz="3200" b="1" dirty="0">
                <a:solidFill>
                  <a:schemeClr val="tx1"/>
                </a:solidFill>
              </a:rPr>
              <a:t>Encore appelé E-Line, ce service consiste à interconnecter deux clients distants à l’aide d’un lien d’accès. La figure suivante en est une illustration de sa topologie.</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79</a:t>
            </a:fld>
            <a:endParaRPr lang="en-US" dirty="0"/>
          </a:p>
        </p:txBody>
      </p:sp>
    </p:spTree>
    <p:extLst>
      <p:ext uri="{BB962C8B-B14F-4D97-AF65-F5344CB8AC3E}">
        <p14:creationId xmlns:p14="http://schemas.microsoft.com/office/powerpoint/2010/main" val="14311742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Topologie </a:t>
            </a:r>
            <a:r>
              <a:rPr lang="fr-FR" b="1" dirty="0">
                <a:solidFill>
                  <a:srgbClr val="FF0000"/>
                </a:solidFill>
              </a:rPr>
              <a:t>E-Line</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80</a:t>
            </a:fld>
            <a:endParaRPr lang="en-US" dirty="0"/>
          </a:p>
        </p:txBody>
      </p:sp>
      <p:pic>
        <p:nvPicPr>
          <p:cNvPr id="6" name="Espace réservé du contenu 5">
            <a:extLst>
              <a:ext uri="{FF2B5EF4-FFF2-40B4-BE49-F238E27FC236}">
                <a16:creationId xmlns:a16="http://schemas.microsoft.com/office/drawing/2014/main" id="{972EF288-45EE-10C3-6417-4BEFDFE1B3CF}"/>
              </a:ext>
            </a:extLst>
          </p:cNvPr>
          <p:cNvPicPr>
            <a:picLocks noGrp="1" noChangeAspect="1"/>
          </p:cNvPicPr>
          <p:nvPr>
            <p:ph idx="1"/>
          </p:nvPr>
        </p:nvPicPr>
        <p:blipFill>
          <a:blip r:embed="rId2"/>
          <a:stretch>
            <a:fillRect/>
          </a:stretch>
        </p:blipFill>
        <p:spPr>
          <a:xfrm>
            <a:off x="711871" y="2002054"/>
            <a:ext cx="10768258" cy="2575561"/>
          </a:xfrm>
          <a:prstGeom prst="rect">
            <a:avLst/>
          </a:prstGeom>
        </p:spPr>
      </p:pic>
    </p:spTree>
    <p:extLst>
      <p:ext uri="{BB962C8B-B14F-4D97-AF65-F5344CB8AC3E}">
        <p14:creationId xmlns:p14="http://schemas.microsoft.com/office/powerpoint/2010/main" val="3200770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Rôle du service </a:t>
            </a:r>
            <a:r>
              <a:rPr lang="fr-FR" b="1" dirty="0">
                <a:solidFill>
                  <a:srgbClr val="FF0000"/>
                </a:solidFill>
              </a:rPr>
              <a:t>E-Line</a:t>
            </a:r>
          </a:p>
        </p:txBody>
      </p:sp>
      <p:sp>
        <p:nvSpPr>
          <p:cNvPr id="3" name="Espace réservé du contenu 2"/>
          <p:cNvSpPr>
            <a:spLocks noGrp="1"/>
          </p:cNvSpPr>
          <p:nvPr>
            <p:ph idx="1"/>
          </p:nvPr>
        </p:nvSpPr>
        <p:spPr>
          <a:xfrm>
            <a:off x="2589212" y="1905000"/>
            <a:ext cx="8915400" cy="4230808"/>
          </a:xfrm>
        </p:spPr>
        <p:txBody>
          <a:bodyPr>
            <a:normAutofit/>
          </a:bodyPr>
          <a:lstStyle/>
          <a:p>
            <a:r>
              <a:rPr lang="fr-FR" sz="3200" b="1" dirty="0">
                <a:solidFill>
                  <a:schemeClr val="tx1"/>
                </a:solidFill>
              </a:rPr>
              <a:t>Il </a:t>
            </a:r>
            <a:r>
              <a:rPr lang="fr-FR" sz="3200" b="1" dirty="0">
                <a:solidFill>
                  <a:srgbClr val="FF0000"/>
                </a:solidFill>
              </a:rPr>
              <a:t>s’agit</a:t>
            </a:r>
            <a:r>
              <a:rPr lang="fr-FR" sz="3200" b="1" dirty="0">
                <a:solidFill>
                  <a:schemeClr val="tx1"/>
                </a:solidFill>
              </a:rPr>
              <a:t> de faire circuler des </a:t>
            </a:r>
            <a:r>
              <a:rPr lang="fr-FR" sz="3200" b="1" dirty="0">
                <a:solidFill>
                  <a:srgbClr val="FF0000"/>
                </a:solidFill>
              </a:rPr>
              <a:t>trames Ethernet </a:t>
            </a:r>
            <a:r>
              <a:rPr lang="fr-FR" sz="3200" b="1" dirty="0">
                <a:solidFill>
                  <a:schemeClr val="tx1"/>
                </a:solidFill>
              </a:rPr>
              <a:t>entre les deux clients distants comme si les deux routeurs clients étaient reliés par un câble croisé assez long.</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81</a:t>
            </a:fld>
            <a:endParaRPr lang="en-US" dirty="0"/>
          </a:p>
        </p:txBody>
      </p:sp>
    </p:spTree>
    <p:extLst>
      <p:ext uri="{BB962C8B-B14F-4D97-AF65-F5344CB8AC3E}">
        <p14:creationId xmlns:p14="http://schemas.microsoft.com/office/powerpoint/2010/main" val="33625502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Service de ligne Ethernet </a:t>
            </a:r>
            <a:br>
              <a:rPr lang="fr-FR" b="1" dirty="0">
                <a:solidFill>
                  <a:schemeClr val="tx1"/>
                </a:solidFill>
              </a:rPr>
            </a:br>
            <a:r>
              <a:rPr lang="fr-FR" b="1" dirty="0">
                <a:solidFill>
                  <a:schemeClr val="tx1"/>
                </a:solidFill>
              </a:rPr>
              <a:t>(</a:t>
            </a:r>
            <a:r>
              <a:rPr lang="fr-FR" b="1" dirty="0">
                <a:solidFill>
                  <a:srgbClr val="FF0000"/>
                </a:solidFill>
              </a:rPr>
              <a:t>point to Multipoint</a:t>
            </a:r>
            <a:r>
              <a:rPr lang="fr-FR" b="1" dirty="0">
                <a:solidFill>
                  <a:schemeClr val="tx1"/>
                </a:solidFill>
              </a:rPr>
              <a: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82</a:t>
            </a:fld>
            <a:endParaRPr lang="en-US" dirty="0"/>
          </a:p>
        </p:txBody>
      </p:sp>
      <p:pic>
        <p:nvPicPr>
          <p:cNvPr id="6" name="Espace réservé du contenu 5">
            <a:extLst>
              <a:ext uri="{FF2B5EF4-FFF2-40B4-BE49-F238E27FC236}">
                <a16:creationId xmlns:a16="http://schemas.microsoft.com/office/drawing/2014/main" id="{4062A2CC-F52B-944B-8C9B-C9C533E9200D}"/>
              </a:ext>
            </a:extLst>
          </p:cNvPr>
          <p:cNvPicPr>
            <a:picLocks noGrp="1" noChangeAspect="1"/>
          </p:cNvPicPr>
          <p:nvPr>
            <p:ph idx="1"/>
          </p:nvPr>
        </p:nvPicPr>
        <p:blipFill>
          <a:blip r:embed="rId2"/>
          <a:stretch>
            <a:fillRect/>
          </a:stretch>
        </p:blipFill>
        <p:spPr>
          <a:xfrm>
            <a:off x="1168141" y="2223436"/>
            <a:ext cx="10108306" cy="3397718"/>
          </a:xfrm>
          <a:prstGeom prst="rect">
            <a:avLst/>
          </a:prstGeom>
        </p:spPr>
      </p:pic>
    </p:spTree>
    <p:extLst>
      <p:ext uri="{BB962C8B-B14F-4D97-AF65-F5344CB8AC3E}">
        <p14:creationId xmlns:p14="http://schemas.microsoft.com/office/powerpoint/2010/main" val="30996988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Service LAN Ethernet </a:t>
            </a:r>
            <a:br>
              <a:rPr lang="fr-FR" b="1" dirty="0">
                <a:solidFill>
                  <a:schemeClr val="tx1"/>
                </a:solidFill>
              </a:rPr>
            </a:br>
            <a:r>
              <a:rPr lang="fr-FR" b="1" dirty="0">
                <a:solidFill>
                  <a:schemeClr val="tx1"/>
                </a:solidFill>
              </a:rPr>
              <a:t>(</a:t>
            </a:r>
            <a:r>
              <a:rPr lang="fr-FR" b="1" dirty="0">
                <a:solidFill>
                  <a:srgbClr val="FF0000"/>
                </a:solidFill>
              </a:rPr>
              <a:t>maillage complet</a:t>
            </a:r>
            <a:r>
              <a:rPr lang="fr-FR" b="1" dirty="0">
                <a:solidFill>
                  <a:schemeClr val="tx1"/>
                </a:solidFill>
              </a:rPr>
              <a:t>) ou E-LAN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83</a:t>
            </a:fld>
            <a:endParaRPr lang="en-US" dirty="0"/>
          </a:p>
        </p:txBody>
      </p:sp>
      <p:sp>
        <p:nvSpPr>
          <p:cNvPr id="7" name="Espace réservé du contenu 6">
            <a:extLst>
              <a:ext uri="{FF2B5EF4-FFF2-40B4-BE49-F238E27FC236}">
                <a16:creationId xmlns:a16="http://schemas.microsoft.com/office/drawing/2014/main" id="{CE79A32C-2BE8-AAD4-98BC-99580A934A66}"/>
              </a:ext>
            </a:extLst>
          </p:cNvPr>
          <p:cNvSpPr>
            <a:spLocks noGrp="1"/>
          </p:cNvSpPr>
          <p:nvPr>
            <p:ph idx="1"/>
          </p:nvPr>
        </p:nvSpPr>
        <p:spPr/>
        <p:txBody>
          <a:bodyPr>
            <a:normAutofit/>
          </a:bodyPr>
          <a:lstStyle/>
          <a:p>
            <a:pPr marL="0" indent="0">
              <a:buNone/>
            </a:pPr>
            <a:r>
              <a:rPr lang="fr-FR" sz="2800" b="1" dirty="0">
                <a:solidFill>
                  <a:schemeClr val="tx1"/>
                </a:solidFill>
              </a:rPr>
              <a:t>Le service E-LAN permettre à tous les périphériques d'envoyer des trames directement à tous les autres périphériques. La Figure ci-dessous en est une illustration</a:t>
            </a:r>
            <a:endParaRPr lang="fr-TG" sz="2800" b="1" dirty="0">
              <a:solidFill>
                <a:schemeClr val="tx1"/>
              </a:solidFill>
            </a:endParaRPr>
          </a:p>
        </p:txBody>
      </p:sp>
    </p:spTree>
    <p:extLst>
      <p:ext uri="{BB962C8B-B14F-4D97-AF65-F5344CB8AC3E}">
        <p14:creationId xmlns:p14="http://schemas.microsoft.com/office/powerpoint/2010/main" val="27738948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Service LAN Ethernet </a:t>
            </a:r>
            <a:br>
              <a:rPr lang="fr-FR" b="1" dirty="0">
                <a:solidFill>
                  <a:schemeClr val="tx1"/>
                </a:solidFill>
              </a:rPr>
            </a:br>
            <a:r>
              <a:rPr lang="fr-FR" b="1" dirty="0">
                <a:solidFill>
                  <a:schemeClr val="tx1"/>
                </a:solidFill>
              </a:rPr>
              <a:t>(</a:t>
            </a:r>
            <a:r>
              <a:rPr lang="fr-FR" b="1" dirty="0">
                <a:solidFill>
                  <a:srgbClr val="FF0000"/>
                </a:solidFill>
              </a:rPr>
              <a:t>maillage complet</a:t>
            </a:r>
            <a:r>
              <a:rPr lang="fr-FR" b="1" dirty="0">
                <a:solidFill>
                  <a:schemeClr val="tx1"/>
                </a:solidFill>
              </a:rPr>
              <a:t>) ou E-LAN</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84</a:t>
            </a:fld>
            <a:endParaRPr lang="en-US" dirty="0"/>
          </a:p>
        </p:txBody>
      </p:sp>
      <p:pic>
        <p:nvPicPr>
          <p:cNvPr id="6" name="Espace réservé du contenu 5">
            <a:extLst>
              <a:ext uri="{FF2B5EF4-FFF2-40B4-BE49-F238E27FC236}">
                <a16:creationId xmlns:a16="http://schemas.microsoft.com/office/drawing/2014/main" id="{C1931927-FBBD-A628-C0BB-356FE1325B44}"/>
              </a:ext>
            </a:extLst>
          </p:cNvPr>
          <p:cNvPicPr>
            <a:picLocks noGrp="1" noChangeAspect="1"/>
          </p:cNvPicPr>
          <p:nvPr>
            <p:ph idx="1"/>
          </p:nvPr>
        </p:nvPicPr>
        <p:blipFill>
          <a:blip r:embed="rId2"/>
          <a:stretch>
            <a:fillRect/>
          </a:stretch>
        </p:blipFill>
        <p:spPr>
          <a:xfrm>
            <a:off x="1776738" y="2463087"/>
            <a:ext cx="8432473" cy="3340945"/>
          </a:xfrm>
          <a:prstGeom prst="rect">
            <a:avLst/>
          </a:prstGeom>
        </p:spPr>
      </p:pic>
    </p:spTree>
    <p:extLst>
      <p:ext uri="{BB962C8B-B14F-4D97-AF65-F5344CB8AC3E}">
        <p14:creationId xmlns:p14="http://schemas.microsoft.com/office/powerpoint/2010/main" val="11725845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09"/>
            <a:ext cx="8911687" cy="1507201"/>
          </a:xfrm>
        </p:spPr>
        <p:txBody>
          <a:bodyPr>
            <a:normAutofit fontScale="90000"/>
          </a:bodyPr>
          <a:lstStyle/>
          <a:p>
            <a:r>
              <a:rPr lang="fr-FR" b="1" dirty="0">
                <a:solidFill>
                  <a:schemeClr val="tx1"/>
                </a:solidFill>
              </a:rPr>
              <a:t>Service d'arborescence Ethernet </a:t>
            </a:r>
            <a:br>
              <a:rPr lang="fr-FR" b="1" dirty="0">
                <a:solidFill>
                  <a:schemeClr val="tx1"/>
                </a:solidFill>
              </a:rPr>
            </a:br>
            <a:r>
              <a:rPr lang="fr-FR" b="1" dirty="0">
                <a:solidFill>
                  <a:schemeClr val="tx1"/>
                </a:solidFill>
              </a:rPr>
              <a:t>(</a:t>
            </a:r>
            <a:r>
              <a:rPr lang="fr-FR" b="1" dirty="0">
                <a:solidFill>
                  <a:srgbClr val="FF0000"/>
                </a:solidFill>
              </a:rPr>
              <a:t>Hub and </a:t>
            </a:r>
            <a:r>
              <a:rPr lang="fr-FR" b="1" dirty="0" err="1">
                <a:solidFill>
                  <a:srgbClr val="FF0000"/>
                </a:solidFill>
              </a:rPr>
              <a:t>Spoke</a:t>
            </a:r>
            <a:r>
              <a:rPr lang="fr-FR" b="1" dirty="0">
                <a:solidFill>
                  <a:schemeClr val="tx1"/>
                </a:solidFill>
              </a:rPr>
              <a:t>) ou E-</a:t>
            </a:r>
            <a:r>
              <a:rPr lang="fr-FR" b="1" dirty="0" err="1">
                <a:solidFill>
                  <a:schemeClr val="tx1"/>
                </a:solidFill>
              </a:rPr>
              <a:t>Tree</a:t>
            </a:r>
            <a:r>
              <a:rPr lang="fr-FR" b="1" dirty="0">
                <a:solidFill>
                  <a:schemeClr val="tx1"/>
                </a:solidFill>
              </a:rPr>
              <a:t> ou Point to Multipoint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85</a:t>
            </a:fld>
            <a:endParaRPr lang="en-US" dirty="0"/>
          </a:p>
        </p:txBody>
      </p:sp>
      <p:sp>
        <p:nvSpPr>
          <p:cNvPr id="10" name="Espace réservé du contenu 9">
            <a:extLst>
              <a:ext uri="{FF2B5EF4-FFF2-40B4-BE49-F238E27FC236}">
                <a16:creationId xmlns:a16="http://schemas.microsoft.com/office/drawing/2014/main" id="{04702CFE-5224-E44C-2DB3-43EEFE839132}"/>
              </a:ext>
            </a:extLst>
          </p:cNvPr>
          <p:cNvSpPr>
            <a:spLocks noGrp="1"/>
          </p:cNvSpPr>
          <p:nvPr>
            <p:ph idx="1"/>
          </p:nvPr>
        </p:nvSpPr>
        <p:spPr/>
        <p:txBody>
          <a:bodyPr>
            <a:normAutofit/>
          </a:bodyPr>
          <a:lstStyle/>
          <a:p>
            <a:pPr marL="0" indent="0">
              <a:buNone/>
            </a:pPr>
            <a:r>
              <a:rPr lang="fr-FR" sz="3200" b="1" dirty="0">
                <a:solidFill>
                  <a:schemeClr val="tx1"/>
                </a:solidFill>
                <a:effectLst/>
                <a:latin typeface="+mj-lt"/>
                <a:ea typeface="Calibri" panose="020F0502020204030204" pitchFamily="34" charset="0"/>
              </a:rPr>
              <a:t>Le service E-</a:t>
            </a:r>
            <a:r>
              <a:rPr lang="fr-FR" sz="3200" b="1" dirty="0" err="1">
                <a:solidFill>
                  <a:schemeClr val="tx1"/>
                </a:solidFill>
                <a:effectLst/>
                <a:latin typeface="+mj-lt"/>
                <a:ea typeface="Calibri" panose="020F0502020204030204" pitchFamily="34" charset="0"/>
              </a:rPr>
              <a:t>Tree</a:t>
            </a:r>
            <a:r>
              <a:rPr lang="fr-FR" sz="3200" b="1" dirty="0">
                <a:solidFill>
                  <a:schemeClr val="tx1"/>
                </a:solidFill>
                <a:latin typeface="+mj-lt"/>
                <a:ea typeface="Calibri" panose="020F0502020204030204" pitchFamily="34" charset="0"/>
              </a:rPr>
              <a:t> </a:t>
            </a:r>
            <a:r>
              <a:rPr lang="fr-FR" sz="3200" b="1" dirty="0">
                <a:solidFill>
                  <a:schemeClr val="tx1"/>
                </a:solidFill>
                <a:effectLst/>
                <a:latin typeface="+mj-lt"/>
                <a:ea typeface="Calibri" panose="020F0502020204030204" pitchFamily="34" charset="0"/>
              </a:rPr>
              <a:t>crée une </a:t>
            </a:r>
            <a:r>
              <a:rPr lang="fr-FR" sz="3200" b="1" dirty="0">
                <a:solidFill>
                  <a:srgbClr val="FF0000"/>
                </a:solidFill>
                <a:effectLst/>
                <a:latin typeface="+mj-lt"/>
                <a:ea typeface="Calibri" panose="020F0502020204030204" pitchFamily="34" charset="0"/>
              </a:rPr>
              <a:t>topologie</a:t>
            </a:r>
            <a:r>
              <a:rPr lang="fr-FR" sz="3200" b="1" dirty="0">
                <a:solidFill>
                  <a:schemeClr val="tx1"/>
                </a:solidFill>
                <a:effectLst/>
                <a:latin typeface="+mj-lt"/>
                <a:ea typeface="Calibri" panose="020F0502020204030204" pitchFamily="34" charset="0"/>
              </a:rPr>
              <a:t> WAN dans laquelle le périphérique du </a:t>
            </a:r>
            <a:r>
              <a:rPr lang="fr-FR" sz="3200" b="1" dirty="0">
                <a:solidFill>
                  <a:srgbClr val="FF0000"/>
                </a:solidFill>
                <a:effectLst/>
                <a:latin typeface="+mj-lt"/>
                <a:ea typeface="Calibri" panose="020F0502020204030204" pitchFamily="34" charset="0"/>
              </a:rPr>
              <a:t>site central </a:t>
            </a:r>
            <a:r>
              <a:rPr lang="fr-FR" sz="3200" b="1" dirty="0">
                <a:solidFill>
                  <a:schemeClr val="tx1"/>
                </a:solidFill>
                <a:effectLst/>
                <a:latin typeface="+mj-lt"/>
                <a:ea typeface="Calibri" panose="020F0502020204030204" pitchFamily="34" charset="0"/>
              </a:rPr>
              <a:t>peut envoyer des trames Ethernet directement à chaque site distant, mais les sites distants ne peuvent envoyer des trames qu'au site central. La Figure suivante est une illustration.</a:t>
            </a:r>
            <a:endParaRPr lang="fr-TG" sz="3200" b="1" dirty="0">
              <a:solidFill>
                <a:schemeClr val="tx1"/>
              </a:solidFill>
              <a:latin typeface="+mj-lt"/>
            </a:endParaRPr>
          </a:p>
        </p:txBody>
      </p:sp>
    </p:spTree>
    <p:extLst>
      <p:ext uri="{BB962C8B-B14F-4D97-AF65-F5344CB8AC3E}">
        <p14:creationId xmlns:p14="http://schemas.microsoft.com/office/powerpoint/2010/main" val="27307168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09"/>
            <a:ext cx="8911687" cy="1507201"/>
          </a:xfrm>
        </p:spPr>
        <p:txBody>
          <a:bodyPr>
            <a:normAutofit fontScale="90000"/>
          </a:bodyPr>
          <a:lstStyle/>
          <a:p>
            <a:r>
              <a:rPr lang="fr-FR" b="1" dirty="0">
                <a:solidFill>
                  <a:schemeClr val="tx1"/>
                </a:solidFill>
              </a:rPr>
              <a:t>Service d'arborescence Ethernet </a:t>
            </a:r>
            <a:br>
              <a:rPr lang="fr-FR" b="1" dirty="0">
                <a:solidFill>
                  <a:schemeClr val="tx1"/>
                </a:solidFill>
              </a:rPr>
            </a:br>
            <a:r>
              <a:rPr lang="fr-FR" b="1" dirty="0">
                <a:solidFill>
                  <a:schemeClr val="tx1"/>
                </a:solidFill>
              </a:rPr>
              <a:t>(</a:t>
            </a:r>
            <a:r>
              <a:rPr lang="fr-FR" b="1" dirty="0">
                <a:solidFill>
                  <a:srgbClr val="FF0000"/>
                </a:solidFill>
              </a:rPr>
              <a:t>Hub and </a:t>
            </a:r>
            <a:r>
              <a:rPr lang="fr-FR" b="1" dirty="0" err="1">
                <a:solidFill>
                  <a:srgbClr val="FF0000"/>
                </a:solidFill>
              </a:rPr>
              <a:t>Spoke</a:t>
            </a:r>
            <a:r>
              <a:rPr lang="fr-FR" b="1" dirty="0">
                <a:solidFill>
                  <a:schemeClr val="tx1"/>
                </a:solidFill>
              </a:rPr>
              <a:t>) ou E-</a:t>
            </a:r>
            <a:r>
              <a:rPr lang="fr-FR" b="1" dirty="0" err="1">
                <a:solidFill>
                  <a:schemeClr val="tx1"/>
                </a:solidFill>
              </a:rPr>
              <a:t>Tree</a:t>
            </a:r>
            <a:r>
              <a:rPr lang="fr-FR" b="1" dirty="0">
                <a:solidFill>
                  <a:schemeClr val="tx1"/>
                </a:solidFill>
              </a:rPr>
              <a:t> ou Point to Multipoint</a:t>
            </a:r>
          </a:p>
        </p:txBody>
      </p:sp>
      <p:sp>
        <p:nvSpPr>
          <p:cNvPr id="4" name="Espace réservé du pied de page 3"/>
          <p:cNvSpPr>
            <a:spLocks noGrp="1"/>
          </p:cNvSpPr>
          <p:nvPr>
            <p:ph type="ftr" sz="quarter" idx="11"/>
          </p:nvPr>
        </p:nvSpPr>
        <p:spPr/>
        <p:txBody>
          <a:bodyPr/>
          <a:lstStyle/>
          <a:p>
            <a:endParaRPr lang="en-US" dirty="0"/>
          </a:p>
        </p:txBody>
      </p:sp>
      <p:sp>
        <p:nvSpPr>
          <p:cNvPr id="5" name="Espace réservé du numéro de diapositive 4"/>
          <p:cNvSpPr>
            <a:spLocks noGrp="1"/>
          </p:cNvSpPr>
          <p:nvPr>
            <p:ph type="sldNum" sz="quarter" idx="12"/>
          </p:nvPr>
        </p:nvSpPr>
        <p:spPr/>
        <p:txBody>
          <a:bodyPr/>
          <a:lstStyle/>
          <a:p>
            <a:fld id="{D57F1E4F-1CFF-5643-939E-217C01CDF565}" type="slidenum">
              <a:rPr lang="en-US" smtClean="0"/>
              <a:pPr/>
              <a:t>86</a:t>
            </a:fld>
            <a:endParaRPr lang="en-US" dirty="0"/>
          </a:p>
        </p:txBody>
      </p:sp>
      <p:pic>
        <p:nvPicPr>
          <p:cNvPr id="8" name="Espace réservé du contenu 7">
            <a:extLst>
              <a:ext uri="{FF2B5EF4-FFF2-40B4-BE49-F238E27FC236}">
                <a16:creationId xmlns:a16="http://schemas.microsoft.com/office/drawing/2014/main" id="{089F5596-9FAC-DB80-2EA2-5BF80E14D41E}"/>
              </a:ext>
            </a:extLst>
          </p:cNvPr>
          <p:cNvPicPr>
            <a:picLocks noGrp="1" noChangeAspect="1"/>
          </p:cNvPicPr>
          <p:nvPr>
            <p:ph idx="1"/>
          </p:nvPr>
        </p:nvPicPr>
        <p:blipFill>
          <a:blip r:embed="rId2"/>
          <a:stretch>
            <a:fillRect/>
          </a:stretch>
        </p:blipFill>
        <p:spPr>
          <a:xfrm>
            <a:off x="2676597" y="2637322"/>
            <a:ext cx="7675661" cy="2433207"/>
          </a:xfrm>
          <a:prstGeom prst="rect">
            <a:avLst/>
          </a:prstGeom>
        </p:spPr>
      </p:pic>
    </p:spTree>
    <p:extLst>
      <p:ext uri="{BB962C8B-B14F-4D97-AF65-F5344CB8AC3E}">
        <p14:creationId xmlns:p14="http://schemas.microsoft.com/office/powerpoint/2010/main" val="2470631580"/>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26899</TotalTime>
  <Words>2510</Words>
  <Application>Microsoft Office PowerPoint</Application>
  <PresentationFormat>Grand écran</PresentationFormat>
  <Paragraphs>327</Paragraphs>
  <Slides>86</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86</vt:i4>
      </vt:variant>
    </vt:vector>
  </HeadingPairs>
  <TitlesOfParts>
    <vt:vector size="93" baseType="lpstr">
      <vt:lpstr>Arial</vt:lpstr>
      <vt:lpstr>Calibri</vt:lpstr>
      <vt:lpstr>Century Gothic</vt:lpstr>
      <vt:lpstr>Times New Roman</vt:lpstr>
      <vt:lpstr>Wingdings</vt:lpstr>
      <vt:lpstr>Wingdings 3</vt:lpstr>
      <vt:lpstr>Brin</vt:lpstr>
      <vt:lpstr>Réseaux Informatiques : Réseaux LAN/WAN et Interconnexion </vt:lpstr>
      <vt:lpstr>INTRODUCTION DU COURS</vt:lpstr>
      <vt:lpstr>INTRODUCTION DU COURS (Suite)</vt:lpstr>
      <vt:lpstr>OBJECTIF DU COURS</vt:lpstr>
      <vt:lpstr>PLAN DE PRESENTATION DU COURS: CCNA1</vt:lpstr>
      <vt:lpstr>OBJECTIF DE CE CHAPITRE 1</vt:lpstr>
      <vt:lpstr>CHAPITRE I : Généralités sur les réseaux informatiques</vt:lpstr>
      <vt:lpstr>Historique !!!</vt:lpstr>
      <vt:lpstr>Historique !!!</vt:lpstr>
      <vt:lpstr>Historique !!!</vt:lpstr>
      <vt:lpstr>Historique !!!</vt:lpstr>
      <vt:lpstr>Qu'est-ce qu'un réseau informatique ?</vt:lpstr>
      <vt:lpstr>Différentes composantes d’un réseau informatique ?</vt:lpstr>
      <vt:lpstr>Périphérique terminal</vt:lpstr>
      <vt:lpstr>Routeur</vt:lpstr>
      <vt:lpstr>Commutateur de couche 2 ou Switch de niveau 2</vt:lpstr>
      <vt:lpstr>Commutateur de couche 3 ou Switch de niveau 3</vt:lpstr>
      <vt:lpstr>Points d’Accès Wi-Fi </vt:lpstr>
      <vt:lpstr>Contrôleur Wi-Fi</vt:lpstr>
      <vt:lpstr>Pare-Feu</vt:lpstr>
      <vt:lpstr>IDS/IPS</vt:lpstr>
      <vt:lpstr>Supports de transmission</vt:lpstr>
      <vt:lpstr>Câbles à paires torsadées</vt:lpstr>
      <vt:lpstr>Fibre Optique</vt:lpstr>
      <vt:lpstr>Ondes Radio</vt:lpstr>
      <vt:lpstr>Introduction aux Modèles TCP/IP et OSI.</vt:lpstr>
      <vt:lpstr>Introduction aux Modèles TCP/IP et OSI.</vt:lpstr>
      <vt:lpstr>Introduction aux Modèles TCP/IP et OSI.</vt:lpstr>
      <vt:lpstr>Historique !!</vt:lpstr>
      <vt:lpstr>Historique (Suite) !!</vt:lpstr>
      <vt:lpstr>Historique (Suite) !!</vt:lpstr>
      <vt:lpstr>Historique (Suite) !!</vt:lpstr>
      <vt:lpstr>Historique (Suite) !!</vt:lpstr>
      <vt:lpstr>Historique (Suite) !!</vt:lpstr>
      <vt:lpstr>Modèle TCP/IP</vt:lpstr>
      <vt:lpstr>Modèle TCP/IP à 04 couches</vt:lpstr>
      <vt:lpstr>Modèle TCP/IP à 04 couches</vt:lpstr>
      <vt:lpstr>Couche application</vt:lpstr>
      <vt:lpstr>Couche Transport</vt:lpstr>
      <vt:lpstr>Couche Internet</vt:lpstr>
      <vt:lpstr>Couche Accès au réseau</vt:lpstr>
      <vt:lpstr>Modèle TCP/IP à 05 couches</vt:lpstr>
      <vt:lpstr>Modèle TCP/IP à 05 couches</vt:lpstr>
      <vt:lpstr>Modèle TCP/IP à 05 couches</vt:lpstr>
      <vt:lpstr>Couche liaison de données</vt:lpstr>
      <vt:lpstr>Couche liaison de données</vt:lpstr>
      <vt:lpstr>Couche Physique</vt:lpstr>
      <vt:lpstr>Couche Physique</vt:lpstr>
      <vt:lpstr>Modèle OSI</vt:lpstr>
      <vt:lpstr>CHAPITRE II : RESEAUX LOCAUX (LAN)</vt:lpstr>
      <vt:lpstr>Qu’est-ce qu’un LAN?</vt:lpstr>
      <vt:lpstr>Importance des LAN dans les infrastructures informatiques modernes</vt:lpstr>
      <vt:lpstr>Protocoles au sein d’un réseau LAN </vt:lpstr>
      <vt:lpstr>Protocoles au sein d’un réseau LAN </vt:lpstr>
      <vt:lpstr>Protocole Ethernet (IEEE 802.3),</vt:lpstr>
      <vt:lpstr>Protocole Wi-Fi (IEEE 802.11),</vt:lpstr>
      <vt:lpstr>Protocole Address Resolution Protocol (ARP),</vt:lpstr>
      <vt:lpstr>Protocole Spanning Tree Protocol (STP, IEEE 802.1D),</vt:lpstr>
      <vt:lpstr>Protocole Dynamic Host Configuration Protocol (DHCP),</vt:lpstr>
      <vt:lpstr>Protocole VLAN (IEEE 802.1Q),</vt:lpstr>
      <vt:lpstr>Protocole Simple Network Management Protocol (SNMP)</vt:lpstr>
      <vt:lpstr>Protocole Internet Protocol (IP, IPv4/IPv6)</vt:lpstr>
      <vt:lpstr>Protocole File Transfer Protocol (FTP) et autres protocoles applicatifs</vt:lpstr>
      <vt:lpstr>Protocole Network Time Protocol (NTP)</vt:lpstr>
      <vt:lpstr>Différentes architectures d’un réseau local (LAN)</vt:lpstr>
      <vt:lpstr>Réseaux locaux SOHO</vt:lpstr>
      <vt:lpstr>Réseaux locaux SOHO</vt:lpstr>
      <vt:lpstr>Réseaux locaux SOHO (Suite)</vt:lpstr>
      <vt:lpstr>Réseaux locaux  2-tier </vt:lpstr>
      <vt:lpstr>Réseaux locaux  2-tier </vt:lpstr>
      <vt:lpstr>Réseaux locaux  3-tier </vt:lpstr>
      <vt:lpstr>CHAPITRE III : RESEAUX ETENDUS (WAN)</vt:lpstr>
      <vt:lpstr>Ethernet métropolitain</vt:lpstr>
      <vt:lpstr>Ethernet métropolitain</vt:lpstr>
      <vt:lpstr>Conception physique et topologie de Metro Ethernet</vt:lpstr>
      <vt:lpstr>Conception physique et topologie de Metro Ethernet</vt:lpstr>
      <vt:lpstr>Normes utilisées pour les liens d’accès Ethernet Métropolitain</vt:lpstr>
      <vt:lpstr>Services offerts par Metro Ethernet et leurs topologies</vt:lpstr>
      <vt:lpstr>Service de ligne Ethernet  (point à point)</vt:lpstr>
      <vt:lpstr>Topologie E-Line</vt:lpstr>
      <vt:lpstr>Rôle du service E-Line</vt:lpstr>
      <vt:lpstr>Service de ligne Ethernet  (point to Multipoint)</vt:lpstr>
      <vt:lpstr>Service LAN Ethernet  (maillage complet) ou E-LAN</vt:lpstr>
      <vt:lpstr>Service LAN Ethernet  (maillage complet) ou E-LAN</vt:lpstr>
      <vt:lpstr>Service d'arborescence Ethernet  (Hub and Spoke) ou E-Tree ou Point to Multipoint</vt:lpstr>
      <vt:lpstr>Service d'arborescence Ethernet  (Hub and Spoke) ou E-Tree ou Point to Multipoint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PROTOCOLES SECURISES</dc:title>
  <dc:creator>Victor</dc:creator>
  <cp:lastModifiedBy>Essowaba AHOULOUMI</cp:lastModifiedBy>
  <cp:revision>404</cp:revision>
  <dcterms:created xsi:type="dcterms:W3CDTF">2021-05-25T16:16:57Z</dcterms:created>
  <dcterms:modified xsi:type="dcterms:W3CDTF">2026-01-13T18:39:02Z</dcterms:modified>
</cp:coreProperties>
</file>