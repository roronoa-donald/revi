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458" autoAdjust="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8A322-6129-4416-B75A-DD95CD6442A7}" type="datetimeFigureOut">
              <a:rPr lang="fr-FR" smtClean="0"/>
              <a:t>22/11/2025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4CF85-3350-46AD-85A8-03A081241A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201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💡 </a:t>
            </a:r>
            <a:r>
              <a:rPr lang="fr-FR" b="1" dirty="0"/>
              <a:t>Analogie</a:t>
            </a:r>
            <a:r>
              <a:rPr lang="fr-FR" dirty="0"/>
              <a:t> :</a:t>
            </a:r>
            <a:br>
              <a:rPr lang="fr-FR" dirty="0"/>
            </a:br>
            <a:r>
              <a:rPr lang="fr-FR" i="1" dirty="0"/>
              <a:t>Imaginez un immeuble avec des appartements. Chaque locataire (utilisateur) a sa clé, son espace privé, et ne peut pas entrer chez les autres — sauf s’il a une autorisation explicite (groupe ou permission partagée).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4CF85-3350-46AD-85A8-03A081241AA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4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7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7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9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1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7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5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70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3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05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 concept génétique abstrait">
            <a:extLst>
              <a:ext uri="{FF2B5EF4-FFF2-40B4-BE49-F238E27FC236}">
                <a16:creationId xmlns:a16="http://schemas.microsoft.com/office/drawing/2014/main" id="{2540508A-9A82-2321-B76C-FB893289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13" b="18137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F915D80-06F1-AF4C-547A-367F88932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ctr"/>
            <a:r>
              <a:rPr lang="fr-FR" b="1" dirty="0"/>
              <a:t>Gestion des utilisateurs</a:t>
            </a:r>
            <a:br>
              <a:rPr lang="fr-FR" b="1" dirty="0"/>
            </a:br>
            <a:r>
              <a:rPr lang="fr-FR" b="1" dirty="0"/>
              <a:t> et </a:t>
            </a:r>
            <a:br>
              <a:rPr lang="fr-FR" b="1" dirty="0"/>
            </a:br>
            <a:r>
              <a:rPr lang="fr-FR" b="1" dirty="0"/>
              <a:t>des groupes</a:t>
            </a:r>
            <a:br>
              <a:rPr lang="fr-FR" b="1" dirty="0"/>
            </a:br>
            <a:endParaRPr lang="fr-FR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809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1386104"/>
            <a:ext cx="10632067" cy="4844246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Isolation des tâches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→ Chaque utilisateur a son environnement, ses fichiers, ses processus.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→ Empêche qu’une erreur ou une compromission ne se propage à tout le système.</a:t>
            </a:r>
          </a:p>
          <a:p>
            <a:r>
              <a:rPr lang="fr-FR" b="1" dirty="0">
                <a:solidFill>
                  <a:srgbClr val="FF0000"/>
                </a:solidFill>
              </a:rPr>
              <a:t>Traçabilité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→ Toute action (connexion, modification, exécution) est liée à un UID (User ID).</a:t>
            </a:r>
          </a:p>
          <a:p>
            <a:r>
              <a:rPr lang="fr-FR" dirty="0">
                <a:solidFill>
                  <a:schemeClr val="tx1"/>
                </a:solidFill>
              </a:rPr>
              <a:t>→ Les logs (/var/log/auth.log, </a:t>
            </a:r>
            <a:r>
              <a:rPr lang="fr-FR" dirty="0" err="1">
                <a:solidFill>
                  <a:schemeClr val="tx1"/>
                </a:solidFill>
              </a:rPr>
              <a:t>journalctl</a:t>
            </a:r>
            <a:r>
              <a:rPr lang="fr-FR" dirty="0">
                <a:solidFill>
                  <a:schemeClr val="tx1"/>
                </a:solidFill>
              </a:rPr>
              <a:t>) permettent d’identifier qui a fait quoi et quand.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0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</a:rPr>
              <a:t>Pourquoi gérer les utilisateurs ?</a:t>
            </a:r>
          </a:p>
        </p:txBody>
      </p:sp>
    </p:spTree>
    <p:extLst>
      <p:ext uri="{BB962C8B-B14F-4D97-AF65-F5344CB8AC3E}">
        <p14:creationId xmlns:p14="http://schemas.microsoft.com/office/powerpoint/2010/main" val="65403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432" y="1580113"/>
            <a:ext cx="6309478" cy="26477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Sécurité par défaut</a:t>
            </a:r>
          </a:p>
          <a:p>
            <a:r>
              <a:rPr lang="fr-FR" sz="2400" dirty="0"/>
              <a:t>→ Par exemple, un service web (ex: Apache) tourne sous un utilisateur dédié (www-data) </a:t>
            </a:r>
          </a:p>
          <a:p>
            <a:r>
              <a:rPr lang="fr-FR" sz="2400" dirty="0"/>
              <a:t>→ même s’il est piraté, l’attaquant n’a pas accès au compte root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15" name="Image 14" descr="Une image contenant dessin, croquis, porte, peinture">
            <a:extLst>
              <a:ext uri="{FF2B5EF4-FFF2-40B4-BE49-F238E27FC236}">
                <a16:creationId xmlns:a16="http://schemas.microsoft.com/office/drawing/2014/main" id="{701ED76B-F74A-E0D9-59C9-F712BF6F8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8" r="8078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1D69CA46-6D2A-F126-3EDF-EEE917F80F9A}"/>
              </a:ext>
            </a:extLst>
          </p:cNvPr>
          <p:cNvSpPr txBox="1"/>
          <p:nvPr/>
        </p:nvSpPr>
        <p:spPr>
          <a:xfrm>
            <a:off x="640828" y="68039"/>
            <a:ext cx="59391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</a:rPr>
              <a:t>Pourquoi gérer les utilisateurs ?</a:t>
            </a:r>
          </a:p>
        </p:txBody>
      </p:sp>
    </p:spTree>
    <p:extLst>
      <p:ext uri="{BB962C8B-B14F-4D97-AF65-F5344CB8AC3E}">
        <p14:creationId xmlns:p14="http://schemas.microsoft.com/office/powerpoint/2010/main" val="214303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1386104"/>
            <a:ext cx="10632067" cy="484424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Commandes essentielles</a:t>
            </a:r>
          </a:p>
          <a:p>
            <a:r>
              <a:rPr lang="fr-FR" b="1" dirty="0"/>
              <a:t># Crée un utilisateur avec :</a:t>
            </a:r>
          </a:p>
          <a:p>
            <a:r>
              <a:rPr lang="fr-FR" b="1" dirty="0"/>
              <a:t># -m : crée le répertoire /home/</a:t>
            </a:r>
            <a:r>
              <a:rPr lang="fr-FR" b="1" dirty="0" err="1"/>
              <a:t>alice</a:t>
            </a:r>
            <a:endParaRPr lang="fr-FR" b="1" dirty="0"/>
          </a:p>
          <a:p>
            <a:r>
              <a:rPr lang="fr-FR" b="1" dirty="0"/>
              <a:t># -s /bin/</a:t>
            </a:r>
            <a:r>
              <a:rPr lang="fr-FR" b="1" dirty="0" err="1"/>
              <a:t>bash</a:t>
            </a:r>
            <a:r>
              <a:rPr lang="fr-FR" b="1" dirty="0"/>
              <a:t> : définit le </a:t>
            </a:r>
            <a:r>
              <a:rPr lang="fr-FR" b="1" dirty="0" err="1"/>
              <a:t>shell</a:t>
            </a:r>
            <a:r>
              <a:rPr lang="fr-FR" b="1" dirty="0"/>
              <a:t> interactif</a:t>
            </a:r>
          </a:p>
          <a:p>
            <a:r>
              <a:rPr lang="fr-FR" b="1" dirty="0"/>
              <a:t># -c "Alice Dubois" : commentaire (nom complet)</a:t>
            </a:r>
          </a:p>
          <a:p>
            <a:r>
              <a:rPr lang="fr-FR" b="1" dirty="0" err="1">
                <a:solidFill>
                  <a:schemeClr val="tx1"/>
                </a:solidFill>
              </a:rPr>
              <a:t>useradd</a:t>
            </a:r>
            <a:r>
              <a:rPr lang="fr-FR" b="1" dirty="0">
                <a:solidFill>
                  <a:schemeClr val="tx1"/>
                </a:solidFill>
              </a:rPr>
              <a:t> -m -s /bin/</a:t>
            </a:r>
            <a:r>
              <a:rPr lang="fr-FR" b="1" dirty="0" err="1">
                <a:solidFill>
                  <a:schemeClr val="tx1"/>
                </a:solidFill>
              </a:rPr>
              <a:t>bash</a:t>
            </a:r>
            <a:r>
              <a:rPr lang="fr-FR" b="1" dirty="0">
                <a:solidFill>
                  <a:schemeClr val="tx1"/>
                </a:solidFill>
              </a:rPr>
              <a:t> -c "Alice Dubois" </a:t>
            </a:r>
            <a:r>
              <a:rPr lang="fr-FR" b="1" dirty="0" err="1">
                <a:solidFill>
                  <a:schemeClr val="tx1"/>
                </a:solidFill>
              </a:rPr>
              <a:t>alice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727075" y="0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fr-FR" dirty="0">
                <a:solidFill>
                  <a:srgbClr val="002060"/>
                </a:solidFill>
              </a:rPr>
              <a:t>Création et gestion des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369466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1386104"/>
            <a:ext cx="10632067" cy="484424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Commandes essentielles</a:t>
            </a:r>
          </a:p>
          <a:p>
            <a:r>
              <a:rPr lang="fr-FR" b="1" dirty="0"/>
              <a:t># Modifie un utilisateur existant</a:t>
            </a:r>
          </a:p>
          <a:p>
            <a:r>
              <a:rPr lang="fr-FR" b="1" dirty="0" err="1">
                <a:solidFill>
                  <a:schemeClr val="tx1"/>
                </a:solidFill>
              </a:rPr>
              <a:t>usermod</a:t>
            </a:r>
            <a:r>
              <a:rPr lang="fr-FR" b="1" dirty="0">
                <a:solidFill>
                  <a:schemeClr val="tx1"/>
                </a:solidFill>
              </a:rPr>
              <a:t> -</a:t>
            </a:r>
            <a:r>
              <a:rPr lang="fr-FR" b="1" dirty="0" err="1">
                <a:solidFill>
                  <a:schemeClr val="tx1"/>
                </a:solidFill>
              </a:rPr>
              <a:t>aG</a:t>
            </a:r>
            <a:r>
              <a:rPr lang="fr-FR" b="1" dirty="0">
                <a:solidFill>
                  <a:schemeClr val="tx1"/>
                </a:solidFill>
              </a:rPr>
              <a:t> dev </a:t>
            </a:r>
            <a:r>
              <a:rPr lang="fr-FR" b="1" dirty="0" err="1">
                <a:solidFill>
                  <a:schemeClr val="tx1"/>
                </a:solidFill>
              </a:rPr>
              <a:t>alice</a:t>
            </a:r>
            <a:r>
              <a:rPr lang="fr-FR" b="1" dirty="0">
                <a:solidFill>
                  <a:schemeClr val="tx1"/>
                </a:solidFill>
              </a:rPr>
              <a:t>     </a:t>
            </a:r>
          </a:p>
          <a:p>
            <a:r>
              <a:rPr lang="fr-FR" b="1" dirty="0"/>
              <a:t># -</a:t>
            </a:r>
            <a:r>
              <a:rPr lang="fr-FR" b="1" dirty="0" err="1"/>
              <a:t>aG</a:t>
            </a:r>
            <a:r>
              <a:rPr lang="fr-FR" b="1" dirty="0"/>
              <a:t> = ajoute au groupe SANS supprimer les autres</a:t>
            </a:r>
          </a:p>
          <a:p>
            <a:r>
              <a:rPr lang="fr-FR" b="1" dirty="0" err="1">
                <a:solidFill>
                  <a:schemeClr val="tx1"/>
                </a:solidFill>
              </a:rPr>
              <a:t>usermod</a:t>
            </a:r>
            <a:r>
              <a:rPr lang="fr-FR" b="1" dirty="0">
                <a:solidFill>
                  <a:schemeClr val="tx1"/>
                </a:solidFill>
              </a:rPr>
              <a:t> -e 2025-12-31 </a:t>
            </a:r>
            <a:r>
              <a:rPr lang="fr-FR" b="1" dirty="0" err="1">
                <a:solidFill>
                  <a:schemeClr val="tx1"/>
                </a:solidFill>
              </a:rPr>
              <a:t>alice</a:t>
            </a:r>
            <a:r>
              <a:rPr lang="fr-FR" b="1" dirty="0">
                <a:solidFill>
                  <a:schemeClr val="tx1"/>
                </a:solidFill>
              </a:rPr>
              <a:t>  </a:t>
            </a:r>
          </a:p>
          <a:p>
            <a:r>
              <a:rPr lang="fr-FR" b="1" dirty="0"/>
              <a:t># compte expiré à date fixe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fr-FR" dirty="0">
                <a:solidFill>
                  <a:srgbClr val="002060"/>
                </a:solidFill>
              </a:rPr>
              <a:t>Création et gestion des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346705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1386104"/>
            <a:ext cx="10632067" cy="484424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Analysons un peu ce qui se passe en coulisses : </a:t>
            </a:r>
          </a:p>
          <a:p>
            <a:endParaRPr lang="fr-FR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/>
                </a:solidFill>
              </a:rPr>
              <a:t>useradd</a:t>
            </a:r>
            <a:r>
              <a:rPr lang="fr-FR" dirty="0">
                <a:solidFill>
                  <a:schemeClr val="tx1"/>
                </a:solidFill>
              </a:rPr>
              <a:t> édite automatiquement /</a:t>
            </a:r>
            <a:r>
              <a:rPr lang="fr-FR" dirty="0" err="1">
                <a:solidFill>
                  <a:schemeClr val="tx1"/>
                </a:solidFill>
              </a:rPr>
              <a:t>etc</a:t>
            </a:r>
            <a:r>
              <a:rPr lang="fr-FR" dirty="0">
                <a:solidFill>
                  <a:schemeClr val="tx1"/>
                </a:solidFill>
              </a:rPr>
              <a:t>/</a:t>
            </a:r>
            <a:r>
              <a:rPr lang="fr-FR" dirty="0" err="1">
                <a:solidFill>
                  <a:schemeClr val="tx1"/>
                </a:solidFill>
              </a:rPr>
              <a:t>passwd</a:t>
            </a:r>
            <a:r>
              <a:rPr lang="fr-FR" dirty="0">
                <a:solidFill>
                  <a:schemeClr val="tx1"/>
                </a:solidFill>
              </a:rPr>
              <a:t>, /</a:t>
            </a:r>
            <a:r>
              <a:rPr lang="fr-FR" dirty="0" err="1">
                <a:solidFill>
                  <a:schemeClr val="tx1"/>
                </a:solidFill>
              </a:rPr>
              <a:t>etc</a:t>
            </a:r>
            <a:r>
              <a:rPr lang="fr-FR" dirty="0">
                <a:solidFill>
                  <a:schemeClr val="tx1"/>
                </a:solidFill>
              </a:rPr>
              <a:t>/</a:t>
            </a:r>
            <a:r>
              <a:rPr lang="fr-FR" dirty="0" err="1">
                <a:solidFill>
                  <a:schemeClr val="tx1"/>
                </a:solidFill>
              </a:rPr>
              <a:t>shadow</a:t>
            </a:r>
            <a:r>
              <a:rPr lang="fr-FR" dirty="0">
                <a:solidFill>
                  <a:schemeClr val="tx1"/>
                </a:solidFill>
              </a:rPr>
              <a:t>, /</a:t>
            </a:r>
            <a:r>
              <a:rPr lang="fr-FR" dirty="0" err="1">
                <a:solidFill>
                  <a:schemeClr val="tx1"/>
                </a:solidFill>
              </a:rPr>
              <a:t>etc</a:t>
            </a:r>
            <a:r>
              <a:rPr lang="fr-FR" dirty="0">
                <a:solidFill>
                  <a:schemeClr val="tx1"/>
                </a:solidFill>
              </a:rPr>
              <a:t>/group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Le UID est attribué automatiquement (à partir de 1000 sur la plupart des </a:t>
            </a:r>
            <a:r>
              <a:rPr lang="fr-FR" dirty="0" err="1">
                <a:solidFill>
                  <a:schemeClr val="tx1"/>
                </a:solidFill>
              </a:rPr>
              <a:t>distros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Le GID primaire = même numéro que l’UID (sauf précision via -g)</a:t>
            </a:r>
          </a:p>
          <a:p>
            <a:r>
              <a:rPr lang="fr-FR" b="1" dirty="0">
                <a:solidFill>
                  <a:srgbClr val="FF0000"/>
                </a:solidFill>
              </a:rPr>
              <a:t>   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FF0000"/>
                </a:solidFill>
              </a:defRPr>
            </a:lvl1pPr>
          </a:lstStyle>
          <a:p>
            <a:r>
              <a:rPr lang="fr-FR" dirty="0">
                <a:solidFill>
                  <a:srgbClr val="002060"/>
                </a:solidFill>
              </a:rPr>
              <a:t>Création et gestion des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2220177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800100"/>
            <a:ext cx="10632067" cy="543025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Deux types de groupes</a:t>
            </a:r>
            <a:r>
              <a:rPr lang="fr-FR" dirty="0">
                <a:solidFill>
                  <a:srgbClr val="FF0000"/>
                </a:solidFill>
              </a:rPr>
              <a:t> :</a:t>
            </a:r>
          </a:p>
          <a:p>
            <a:endParaRPr lang="fr-FR" b="1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</a:rPr>
              <a:t>Primaire : chaque utilisateur a un seul groupe primaire (défini dans /</a:t>
            </a:r>
            <a:r>
              <a:rPr lang="fr-FR" sz="2800" dirty="0" err="1">
                <a:solidFill>
                  <a:schemeClr val="tx1"/>
                </a:solidFill>
              </a:rPr>
              <a:t>etc</a:t>
            </a:r>
            <a:r>
              <a:rPr lang="fr-FR" sz="2800" dirty="0">
                <a:solidFill>
                  <a:schemeClr val="tx1"/>
                </a:solidFill>
              </a:rPr>
              <a:t>/</a:t>
            </a:r>
            <a:r>
              <a:rPr lang="fr-FR" sz="2800" dirty="0" err="1">
                <a:solidFill>
                  <a:schemeClr val="tx1"/>
                </a:solidFill>
              </a:rPr>
              <a:t>passwd</a:t>
            </a:r>
            <a:r>
              <a:rPr lang="fr-FR" sz="2800" dirty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</a:rPr>
              <a:t>Secondaires : groupes supplémentaires (pour partager des ressources)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dirty="0"/>
              <a:t>Gestion </a:t>
            </a:r>
            <a:r>
              <a:rPr lang="fr-FR"/>
              <a:t>des groupes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953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800100"/>
            <a:ext cx="10632067" cy="5430250"/>
          </a:xfrm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chemeClr val="tx1"/>
                </a:solidFill>
              </a:rPr>
              <a:t>→  </a:t>
            </a:r>
            <a:r>
              <a:rPr lang="fr-FR" b="1" dirty="0" err="1">
                <a:solidFill>
                  <a:schemeClr val="tx1"/>
                </a:solidFill>
              </a:rPr>
              <a:t>groupadd</a:t>
            </a:r>
            <a:r>
              <a:rPr lang="fr-FR" b="1" dirty="0">
                <a:solidFill>
                  <a:schemeClr val="tx1"/>
                </a:solidFill>
              </a:rPr>
              <a:t> -g 1500 </a:t>
            </a:r>
            <a:r>
              <a:rPr lang="fr-FR" b="1" dirty="0" err="1">
                <a:solidFill>
                  <a:schemeClr val="tx1"/>
                </a:solidFill>
              </a:rPr>
              <a:t>webdev</a:t>
            </a:r>
            <a:r>
              <a:rPr lang="fr-FR" b="1" dirty="0">
                <a:solidFill>
                  <a:schemeClr val="tx1"/>
                </a:solidFill>
              </a:rPr>
              <a:t>     </a:t>
            </a:r>
          </a:p>
          <a:p>
            <a:pPr marL="0" lvl="1">
              <a:lnSpc>
                <a:spcPct val="130000"/>
              </a:lnSpc>
              <a:spcBef>
                <a:spcPts val="1000"/>
              </a:spcBef>
            </a:pPr>
            <a:r>
              <a:rPr lang="fr-FR" sz="2400" b="1" dirty="0"/>
              <a:t># -g = GID personnalisé</a:t>
            </a:r>
          </a:p>
          <a:p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sz="2400" b="1" dirty="0">
                <a:solidFill>
                  <a:schemeClr val="tx1"/>
                </a:solidFill>
              </a:rPr>
              <a:t>→ </a:t>
            </a:r>
            <a:r>
              <a:rPr lang="fr-FR" b="1" dirty="0" err="1">
                <a:solidFill>
                  <a:schemeClr val="tx1"/>
                </a:solidFill>
              </a:rPr>
              <a:t>groupdel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webdev</a:t>
            </a:r>
            <a:r>
              <a:rPr lang="fr-FR" b="1" dirty="0">
                <a:solidFill>
                  <a:schemeClr val="tx1"/>
                </a:solidFill>
              </a:rPr>
              <a:t>              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fr-FR" sz="2400" b="1" dirty="0"/>
              <a:t># Échoue si des utilisateurs en dépendent</a:t>
            </a:r>
          </a:p>
          <a:p>
            <a:pPr marL="0" lvl="1">
              <a:spcBef>
                <a:spcPts val="1000"/>
              </a:spcBef>
            </a:pPr>
            <a:r>
              <a:rPr lang="fr-FR" sz="2400" b="1" dirty="0">
                <a:solidFill>
                  <a:schemeClr val="tx1"/>
                </a:solidFill>
              </a:rPr>
              <a:t>→ id </a:t>
            </a:r>
            <a:r>
              <a:rPr lang="fr-FR" sz="2400" b="1" dirty="0" err="1">
                <a:solidFill>
                  <a:schemeClr val="tx1"/>
                </a:solidFill>
              </a:rPr>
              <a:t>alice</a:t>
            </a:r>
            <a:r>
              <a:rPr lang="fr-FR" sz="2400" b="1" dirty="0">
                <a:solidFill>
                  <a:schemeClr val="tx1"/>
                </a:solidFill>
              </a:rPr>
              <a:t>        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fr-FR" sz="2400" b="1" dirty="0"/>
              <a:t># Affiche UID, GID primaire, groupes secondaires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fr-FR" sz="2400" b="1" dirty="0">
                <a:solidFill>
                  <a:schemeClr val="tx1"/>
                </a:solidFill>
              </a:rPr>
              <a:t>→ groups </a:t>
            </a:r>
            <a:r>
              <a:rPr lang="fr-FR" sz="2400" b="1" dirty="0" err="1">
                <a:solidFill>
                  <a:schemeClr val="tx1"/>
                </a:solidFill>
              </a:rPr>
              <a:t>alice</a:t>
            </a:r>
            <a:r>
              <a:rPr lang="fr-FR" sz="2400" b="1" dirty="0">
                <a:solidFill>
                  <a:schemeClr val="tx1"/>
                </a:solidFill>
              </a:rPr>
              <a:t>    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fr-FR" sz="2400" b="1" dirty="0"/>
              <a:t># Liste uniquement les groupes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dirty="0"/>
              <a:t>Gestion </a:t>
            </a:r>
            <a:r>
              <a:rPr lang="fr-FR"/>
              <a:t>des groupes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528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800100"/>
            <a:ext cx="10632067" cy="543025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Format de /</a:t>
            </a:r>
            <a:r>
              <a:rPr lang="fr-FR" b="1" dirty="0" err="1">
                <a:solidFill>
                  <a:srgbClr val="FF0000"/>
                </a:solidFill>
              </a:rPr>
              <a:t>etc</a:t>
            </a:r>
            <a:r>
              <a:rPr lang="fr-FR" b="1" dirty="0">
                <a:solidFill>
                  <a:srgbClr val="FF0000"/>
                </a:solidFill>
              </a:rPr>
              <a:t>/</a:t>
            </a:r>
            <a:r>
              <a:rPr lang="fr-FR" b="1" dirty="0" err="1">
                <a:solidFill>
                  <a:srgbClr val="FF0000"/>
                </a:solidFill>
              </a:rPr>
              <a:t>passwd</a:t>
            </a:r>
            <a:r>
              <a:rPr lang="fr-FR" b="1" dirty="0">
                <a:solidFill>
                  <a:srgbClr val="FF0000"/>
                </a:solidFill>
              </a:rPr>
              <a:t> (séparateur « : »)</a:t>
            </a:r>
          </a:p>
          <a:p>
            <a:endParaRPr lang="fr-FR" b="1" dirty="0">
              <a:solidFill>
                <a:srgbClr val="FF0000"/>
              </a:solidFill>
            </a:endParaRPr>
          </a:p>
          <a:p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b="1" dirty="0"/>
              <a:t>Les fichiers système clés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09D49D-F66A-19D6-988C-798A94C48A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89"/>
          <a:stretch/>
        </p:blipFill>
        <p:spPr>
          <a:xfrm>
            <a:off x="363682" y="1683327"/>
            <a:ext cx="11763077" cy="359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6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800100"/>
            <a:ext cx="10632067" cy="543025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Format de /</a:t>
            </a:r>
            <a:r>
              <a:rPr lang="fr-FR" b="1" dirty="0" err="1">
                <a:solidFill>
                  <a:srgbClr val="FF0000"/>
                </a:solidFill>
              </a:rPr>
              <a:t>etc</a:t>
            </a:r>
            <a:r>
              <a:rPr lang="fr-FR" b="1" dirty="0">
                <a:solidFill>
                  <a:srgbClr val="FF0000"/>
                </a:solidFill>
              </a:rPr>
              <a:t>/</a:t>
            </a:r>
            <a:r>
              <a:rPr lang="fr-FR" b="1" dirty="0" err="1">
                <a:solidFill>
                  <a:srgbClr val="FF0000"/>
                </a:solidFill>
              </a:rPr>
              <a:t>shadow</a:t>
            </a:r>
            <a:endParaRPr lang="fr-FR" b="1" dirty="0">
              <a:solidFill>
                <a:srgbClr val="FF0000"/>
              </a:solidFill>
            </a:endParaRPr>
          </a:p>
          <a:p>
            <a:endParaRPr lang="fr-FR" b="1" dirty="0">
              <a:solidFill>
                <a:srgbClr val="FF0000"/>
              </a:solidFill>
            </a:endParaRPr>
          </a:p>
          <a:p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b="1" dirty="0"/>
              <a:t>Les fichiers système clés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C02CAB-30A4-A484-350D-3FC742C3D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0" y="1526164"/>
            <a:ext cx="11291473" cy="33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1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800100"/>
            <a:ext cx="10632067" cy="543025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Droits classiques (</a:t>
            </a:r>
            <a:r>
              <a:rPr lang="fr-FR" b="1" dirty="0" err="1">
                <a:solidFill>
                  <a:srgbClr val="FF0000"/>
                </a:solidFill>
              </a:rPr>
              <a:t>rwx</a:t>
            </a:r>
            <a:r>
              <a:rPr lang="fr-FR" b="1" dirty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fr-FR" sz="2800" dirty="0">
                <a:solidFill>
                  <a:schemeClr val="tx1"/>
                </a:solidFill>
              </a:rPr>
              <a:t>Utilisateur (u), Groupe (g), Autres (o)</a:t>
            </a:r>
          </a:p>
          <a:p>
            <a:pPr lvl="2"/>
            <a:r>
              <a:rPr lang="fr-FR" sz="2800" dirty="0">
                <a:solidFill>
                  <a:schemeClr val="tx1"/>
                </a:solidFill>
              </a:rPr>
              <a:t>    chmod 750 fichier = </a:t>
            </a:r>
            <a:r>
              <a:rPr lang="fr-FR" sz="2800" dirty="0" err="1">
                <a:solidFill>
                  <a:schemeClr val="tx1"/>
                </a:solidFill>
              </a:rPr>
              <a:t>rwxr</a:t>
            </a:r>
            <a:r>
              <a:rPr lang="fr-FR" sz="2800" dirty="0">
                <a:solidFill>
                  <a:schemeClr val="tx1"/>
                </a:solidFill>
              </a:rPr>
              <a:t>-x---</a:t>
            </a:r>
          </a:p>
          <a:p>
            <a:pPr lvl="2"/>
            <a:r>
              <a:rPr lang="fr-FR" sz="2800" dirty="0">
                <a:solidFill>
                  <a:schemeClr val="tx1"/>
                </a:solidFill>
              </a:rPr>
              <a:t>        Propriétaire : lecture, écriture, exécution</a:t>
            </a:r>
          </a:p>
          <a:p>
            <a:pPr lvl="2"/>
            <a:r>
              <a:rPr lang="fr-FR" sz="2800" dirty="0">
                <a:solidFill>
                  <a:schemeClr val="tx1"/>
                </a:solidFill>
              </a:rPr>
              <a:t>        Groupe : lecture + exécution</a:t>
            </a:r>
          </a:p>
          <a:p>
            <a:pPr lvl="2"/>
            <a:r>
              <a:rPr lang="fr-FR" sz="2800" dirty="0">
                <a:solidFill>
                  <a:schemeClr val="tx1"/>
                </a:solidFill>
              </a:rPr>
              <a:t>        Autres : aucun accès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b="1" dirty="0" err="1">
                <a:solidFill>
                  <a:schemeClr val="tx1"/>
                </a:solidFill>
              </a:rPr>
              <a:t>chown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alice:webdev</a:t>
            </a:r>
            <a:r>
              <a:rPr lang="fr-FR" b="1" dirty="0">
                <a:solidFill>
                  <a:schemeClr val="tx1"/>
                </a:solidFill>
              </a:rPr>
              <a:t> script.sh    </a:t>
            </a:r>
            <a:r>
              <a:rPr lang="fr-F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Change propriétaire + groupe</a:t>
            </a:r>
            <a:endParaRPr lang="fr-F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b="1" dirty="0" err="1">
                <a:solidFill>
                  <a:schemeClr val="tx1"/>
                </a:solidFill>
              </a:rPr>
              <a:t>chgrp</a:t>
            </a:r>
            <a:r>
              <a:rPr lang="fr-FR" b="1" dirty="0">
                <a:solidFill>
                  <a:schemeClr val="tx1"/>
                </a:solidFill>
              </a:rPr>
              <a:t> dev dossier/              </a:t>
            </a:r>
            <a:r>
              <a:rPr lang="fr-F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Change uniquement le groupe</a:t>
            </a:r>
            <a:endParaRPr lang="fr-F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chmod </a:t>
            </a:r>
            <a:r>
              <a:rPr lang="fr-FR" b="1" dirty="0" err="1">
                <a:solidFill>
                  <a:schemeClr val="tx1"/>
                </a:solidFill>
              </a:rPr>
              <a:t>g+s</a:t>
            </a:r>
            <a:r>
              <a:rPr lang="fr-FR" b="1" dirty="0">
                <a:solidFill>
                  <a:schemeClr val="tx1"/>
                </a:solidFill>
              </a:rPr>
              <a:t> /</a:t>
            </a:r>
            <a:r>
              <a:rPr lang="fr-FR" b="1" dirty="0" err="1">
                <a:solidFill>
                  <a:schemeClr val="tx1"/>
                </a:solidFill>
              </a:rPr>
              <a:t>srv</a:t>
            </a:r>
            <a:r>
              <a:rPr lang="fr-FR" b="1" dirty="0">
                <a:solidFill>
                  <a:schemeClr val="tx1"/>
                </a:solidFill>
              </a:rPr>
              <a:t>/web     </a:t>
            </a:r>
            <a:r>
              <a:rPr lang="fr-F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Active le bit </a:t>
            </a:r>
            <a:r>
              <a:rPr lang="fr-FR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setgid</a:t>
            </a:r>
            <a:r>
              <a:rPr lang="fr-F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→ les nouveaux fichiers héritent du groupe</a:t>
            </a:r>
            <a:endParaRPr lang="fr-F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b="1" dirty="0"/>
              <a:t>Permissions et propriété</a:t>
            </a:r>
          </a:p>
        </p:txBody>
      </p:sp>
    </p:spTree>
    <p:extLst>
      <p:ext uri="{BB962C8B-B14F-4D97-AF65-F5344CB8AC3E}">
        <p14:creationId xmlns:p14="http://schemas.microsoft.com/office/powerpoint/2010/main" val="1985759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800100"/>
            <a:ext cx="10632067" cy="543025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Outils clés</a:t>
            </a:r>
          </a:p>
          <a:p>
            <a:r>
              <a:rPr lang="fr-FR" b="1" dirty="0" err="1">
                <a:solidFill>
                  <a:schemeClr val="tx1"/>
                </a:solidFill>
              </a:rPr>
              <a:t>chage</a:t>
            </a:r>
            <a:r>
              <a:rPr lang="fr-FR" b="1" dirty="0">
                <a:solidFill>
                  <a:schemeClr val="tx1"/>
                </a:solidFill>
              </a:rPr>
              <a:t> -M 90 </a:t>
            </a:r>
            <a:r>
              <a:rPr lang="fr-FR" b="1" dirty="0" err="1">
                <a:solidFill>
                  <a:schemeClr val="tx1"/>
                </a:solidFill>
              </a:rPr>
              <a:t>alice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→ mot de passe expire dans 90 jours</a:t>
            </a:r>
          </a:p>
          <a:p>
            <a:r>
              <a:rPr lang="fr-FR" b="1" dirty="0" err="1">
                <a:solidFill>
                  <a:schemeClr val="tx1"/>
                </a:solidFill>
              </a:rPr>
              <a:t>passwd</a:t>
            </a:r>
            <a:r>
              <a:rPr lang="fr-FR" b="1" dirty="0">
                <a:solidFill>
                  <a:schemeClr val="tx1"/>
                </a:solidFill>
              </a:rPr>
              <a:t> -l </a:t>
            </a:r>
            <a:r>
              <a:rPr lang="fr-FR" b="1" dirty="0" err="1">
                <a:solidFill>
                  <a:schemeClr val="tx1"/>
                </a:solidFill>
              </a:rPr>
              <a:t>alice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→ verrouille le compte</a:t>
            </a:r>
          </a:p>
          <a:p>
            <a:r>
              <a:rPr lang="fr-FR" b="1" dirty="0" err="1">
                <a:solidFill>
                  <a:schemeClr val="tx1"/>
                </a:solidFill>
              </a:rPr>
              <a:t>passwd</a:t>
            </a:r>
            <a:r>
              <a:rPr lang="fr-FR" b="1" dirty="0">
                <a:solidFill>
                  <a:schemeClr val="tx1"/>
                </a:solidFill>
              </a:rPr>
              <a:t> -e </a:t>
            </a:r>
            <a:r>
              <a:rPr lang="fr-FR" b="1" dirty="0" err="1">
                <a:solidFill>
                  <a:schemeClr val="tx1"/>
                </a:solidFill>
              </a:rPr>
              <a:t>alice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→ force changement au prochain login</a:t>
            </a:r>
          </a:p>
          <a:p>
            <a:r>
              <a:rPr lang="fr-FR" b="1" dirty="0">
                <a:solidFill>
                  <a:srgbClr val="FF0000"/>
                </a:solidFill>
              </a:rPr>
              <a:t>Configuration avancée (via PAM)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password requisite pam_pwquality.so </a:t>
            </a:r>
            <a:r>
              <a:rPr lang="en-US" sz="2000" b="1" dirty="0" err="1">
                <a:solidFill>
                  <a:schemeClr val="tx1"/>
                </a:solidFill>
              </a:rPr>
              <a:t>minlen</a:t>
            </a:r>
            <a:r>
              <a:rPr lang="en-US" sz="2000" b="1" dirty="0">
                <a:solidFill>
                  <a:schemeClr val="tx1"/>
                </a:solidFill>
              </a:rPr>
              <a:t>=12 </a:t>
            </a:r>
            <a:r>
              <a:rPr lang="en-US" sz="2000" b="1" dirty="0" err="1">
                <a:solidFill>
                  <a:schemeClr val="tx1"/>
                </a:solidFill>
              </a:rPr>
              <a:t>dcredit</a:t>
            </a:r>
            <a:r>
              <a:rPr lang="en-US" sz="2000" b="1" dirty="0">
                <a:solidFill>
                  <a:schemeClr val="tx1"/>
                </a:solidFill>
              </a:rPr>
              <a:t>=-1 </a:t>
            </a:r>
            <a:r>
              <a:rPr lang="en-US" sz="2000" b="1" dirty="0" err="1">
                <a:solidFill>
                  <a:schemeClr val="tx1"/>
                </a:solidFill>
              </a:rPr>
              <a:t>ucredit</a:t>
            </a:r>
            <a:r>
              <a:rPr lang="en-US" sz="2000" b="1" dirty="0">
                <a:solidFill>
                  <a:schemeClr val="tx1"/>
                </a:solidFill>
              </a:rPr>
              <a:t>=-1 </a:t>
            </a:r>
            <a:r>
              <a:rPr lang="en-US" sz="2000" b="1" dirty="0" err="1">
                <a:solidFill>
                  <a:schemeClr val="tx1"/>
                </a:solidFill>
              </a:rPr>
              <a:t>lcredit</a:t>
            </a:r>
            <a:r>
              <a:rPr lang="en-US" sz="2000" b="1" dirty="0">
                <a:solidFill>
                  <a:schemeClr val="tx1"/>
                </a:solidFill>
              </a:rPr>
              <a:t>=-1</a:t>
            </a:r>
          </a:p>
          <a:p>
            <a:r>
              <a:rPr lang="fr-FR" sz="2000" dirty="0">
                <a:solidFill>
                  <a:schemeClr val="tx1"/>
                </a:solidFill>
              </a:rPr>
              <a:t>→ Exige au moins :   </a:t>
            </a:r>
          </a:p>
          <a:p>
            <a:r>
              <a:rPr lang="fr-FR" sz="2000" dirty="0">
                <a:solidFill>
                  <a:schemeClr val="tx1"/>
                </a:solidFill>
              </a:rPr>
              <a:t>    12 caractères (</a:t>
            </a:r>
            <a:r>
              <a:rPr lang="fr-FR" sz="2000" dirty="0" err="1">
                <a:solidFill>
                  <a:schemeClr val="tx1"/>
                </a:solidFill>
              </a:rPr>
              <a:t>minlen</a:t>
            </a:r>
            <a:r>
              <a:rPr lang="fr-FR" sz="2000" dirty="0">
                <a:solidFill>
                  <a:schemeClr val="tx1"/>
                </a:solidFill>
              </a:rPr>
              <a:t>=12)  </a:t>
            </a:r>
          </a:p>
          <a:p>
            <a:r>
              <a:rPr lang="fr-FR" sz="2000" dirty="0">
                <a:solidFill>
                  <a:schemeClr val="tx1"/>
                </a:solidFill>
              </a:rPr>
              <a:t>    1 chiffre (</a:t>
            </a:r>
            <a:r>
              <a:rPr lang="fr-FR" sz="2000" dirty="0" err="1">
                <a:solidFill>
                  <a:schemeClr val="tx1"/>
                </a:solidFill>
              </a:rPr>
              <a:t>dcredit</a:t>
            </a:r>
            <a:r>
              <a:rPr lang="fr-FR" sz="2000" dirty="0">
                <a:solidFill>
                  <a:schemeClr val="tx1"/>
                </a:solidFill>
              </a:rPr>
              <a:t>=-1)  </a:t>
            </a:r>
          </a:p>
          <a:p>
            <a:r>
              <a:rPr lang="fr-FR" sz="2000" dirty="0">
                <a:solidFill>
                  <a:schemeClr val="tx1"/>
                </a:solidFill>
              </a:rPr>
              <a:t>    1 majuscule (</a:t>
            </a:r>
            <a:r>
              <a:rPr lang="fr-FR" sz="2000" dirty="0" err="1">
                <a:solidFill>
                  <a:schemeClr val="tx1"/>
                </a:solidFill>
              </a:rPr>
              <a:t>ucredit</a:t>
            </a:r>
            <a:r>
              <a:rPr lang="fr-FR" sz="2000" dirty="0">
                <a:solidFill>
                  <a:schemeClr val="tx1"/>
                </a:solidFill>
              </a:rPr>
              <a:t>=-1)  </a:t>
            </a:r>
          </a:p>
          <a:p>
            <a:r>
              <a:rPr lang="fr-FR" sz="2000" dirty="0">
                <a:solidFill>
                  <a:schemeClr val="tx1"/>
                </a:solidFill>
              </a:rPr>
              <a:t>    1 minuscule (</a:t>
            </a:r>
            <a:r>
              <a:rPr lang="fr-FR" sz="2000" dirty="0" err="1">
                <a:solidFill>
                  <a:schemeClr val="tx1"/>
                </a:solidFill>
              </a:rPr>
              <a:t>lcredit</a:t>
            </a:r>
            <a:r>
              <a:rPr lang="fr-FR" sz="2000" dirty="0">
                <a:solidFill>
                  <a:schemeClr val="tx1"/>
                </a:solidFill>
              </a:rPr>
              <a:t>=-1)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b="1" dirty="0"/>
              <a:t>Politiques de mot de passe</a:t>
            </a:r>
          </a:p>
        </p:txBody>
      </p:sp>
    </p:spTree>
    <p:extLst>
      <p:ext uri="{BB962C8B-B14F-4D97-AF65-F5344CB8AC3E}">
        <p14:creationId xmlns:p14="http://schemas.microsoft.com/office/powerpoint/2010/main" val="4022153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b="1" dirty="0"/>
              <a:t>Gestion fine des droits avec </a:t>
            </a:r>
            <a:r>
              <a:rPr lang="fr-FR" b="1" dirty="0" err="1"/>
              <a:t>sudo</a:t>
            </a:r>
            <a:endParaRPr lang="fr-FR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9D7EA1-EB60-9F97-E72A-016DBE85D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7998" y="988295"/>
            <a:ext cx="113753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solidFill>
                  <a:schemeClr val="tx1"/>
                </a:solidFill>
              </a:rPr>
              <a:t>→ Utilisez </a:t>
            </a:r>
            <a:r>
              <a:rPr lang="fr-FR" altLang="fr-FR" dirty="0" err="1">
                <a:solidFill>
                  <a:schemeClr val="tx1"/>
                </a:solidFill>
              </a:rPr>
              <a:t>visudo</a:t>
            </a:r>
            <a:r>
              <a:rPr lang="fr-FR" altLang="fr-FR" dirty="0">
                <a:solidFill>
                  <a:schemeClr val="tx1"/>
                </a:solidFill>
              </a:rPr>
              <a:t> → vérifie la syntaxe avant enregistrement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2877F4-8078-80DF-6F92-E20076CA231C}"/>
              </a:ext>
            </a:extLst>
          </p:cNvPr>
          <p:cNvSpPr txBox="1"/>
          <p:nvPr/>
        </p:nvSpPr>
        <p:spPr>
          <a:xfrm>
            <a:off x="636725" y="1810605"/>
            <a:ext cx="51016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# Utilisateur spécifique</a:t>
            </a:r>
          </a:p>
          <a:p>
            <a:r>
              <a:rPr lang="fr-FR" dirty="0" err="1"/>
              <a:t>alice</a:t>
            </a:r>
            <a:r>
              <a:rPr lang="fr-FR" dirty="0"/>
              <a:t>  ALL=(root) /</a:t>
            </a:r>
            <a:r>
              <a:rPr lang="fr-FR" dirty="0" err="1"/>
              <a:t>usr</a:t>
            </a:r>
            <a:r>
              <a:rPr lang="fr-FR" dirty="0"/>
              <a:t>/bin/</a:t>
            </a:r>
            <a:r>
              <a:rPr lang="fr-FR" dirty="0" err="1"/>
              <a:t>systemctl</a:t>
            </a:r>
            <a:r>
              <a:rPr lang="fr-FR" dirty="0"/>
              <a:t> </a:t>
            </a:r>
            <a:r>
              <a:rPr lang="fr-FR" dirty="0" err="1"/>
              <a:t>status</a:t>
            </a:r>
            <a:r>
              <a:rPr lang="fr-FR" dirty="0"/>
              <a:t> </a:t>
            </a:r>
            <a:r>
              <a:rPr lang="fr-FR" dirty="0" err="1"/>
              <a:t>nginx</a:t>
            </a:r>
            <a:endParaRPr lang="fr-FR" dirty="0"/>
          </a:p>
          <a:p>
            <a:endParaRPr lang="fr-FR" dirty="0"/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# Groupe entier</a:t>
            </a:r>
          </a:p>
          <a:p>
            <a:r>
              <a:rPr lang="fr-FR" dirty="0"/>
              <a:t>%admin ALL=(ALL:ALL) ALL</a:t>
            </a:r>
          </a:p>
          <a:p>
            <a:endParaRPr lang="fr-FR" dirty="0"/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# Sans mot de passe (à limiter !)</a:t>
            </a:r>
          </a:p>
          <a:p>
            <a:endParaRPr lang="fr-FR" dirty="0"/>
          </a:p>
          <a:p>
            <a:r>
              <a:rPr lang="fr-FR" sz="1600" dirty="0"/>
              <a:t>backup ALL=(ALL) NOPASSWD: /</a:t>
            </a:r>
            <a:r>
              <a:rPr lang="fr-FR" sz="1600" dirty="0" err="1"/>
              <a:t>usr</a:t>
            </a:r>
            <a:r>
              <a:rPr lang="fr-FR" sz="1600" dirty="0"/>
              <a:t>/bin/</a:t>
            </a:r>
            <a:r>
              <a:rPr lang="fr-FR" sz="1600" dirty="0" err="1"/>
              <a:t>rsync</a:t>
            </a:r>
            <a:endParaRPr lang="fr-FR" sz="16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A58D296-1404-130B-EC48-769B3F4573DD}"/>
              </a:ext>
            </a:extLst>
          </p:cNvPr>
          <p:cNvSpPr txBox="1"/>
          <p:nvPr/>
        </p:nvSpPr>
        <p:spPr>
          <a:xfrm>
            <a:off x="6224154" y="1672105"/>
            <a:ext cx="560849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 err="1"/>
              <a:t>alice</a:t>
            </a:r>
            <a:r>
              <a:rPr lang="fr-FR" sz="1100" dirty="0"/>
              <a:t> : règle ciblée pour l’utilisateur </a:t>
            </a:r>
            <a:r>
              <a:rPr lang="fr-FR" sz="1100" dirty="0" err="1"/>
              <a:t>alice</a:t>
            </a:r>
            <a:r>
              <a:rPr lang="fr-FR" sz="1100" dirty="0"/>
              <a:t>.</a:t>
            </a:r>
          </a:p>
          <a:p>
            <a:endParaRPr lang="fr-FR" sz="1100" dirty="0"/>
          </a:p>
          <a:p>
            <a:r>
              <a:rPr lang="fr-FR" sz="1100" dirty="0"/>
              <a:t>ALL : elle peut exécuter cette règle depuis n’importe quel hôte (utile dans des environnements distribués).</a:t>
            </a:r>
          </a:p>
          <a:p>
            <a:endParaRPr lang="fr-FR" sz="1100" dirty="0"/>
          </a:p>
          <a:p>
            <a:r>
              <a:rPr lang="fr-FR" sz="1100" dirty="0"/>
              <a:t>(root) : la commande sera exécutée avec les privilèges de root.</a:t>
            </a:r>
          </a:p>
          <a:p>
            <a:endParaRPr lang="fr-FR" sz="1100" dirty="0"/>
          </a:p>
          <a:p>
            <a:r>
              <a:rPr lang="fr-FR" sz="1100" dirty="0"/>
              <a:t>/</a:t>
            </a:r>
            <a:r>
              <a:rPr lang="fr-FR" sz="1100" dirty="0" err="1"/>
              <a:t>usr</a:t>
            </a:r>
            <a:r>
              <a:rPr lang="fr-FR" sz="1100" dirty="0"/>
              <a:t>/bin/</a:t>
            </a:r>
            <a:r>
              <a:rPr lang="fr-FR" sz="1100" dirty="0" err="1"/>
              <a:t>systemctl</a:t>
            </a:r>
            <a:r>
              <a:rPr lang="fr-FR" sz="1100" dirty="0"/>
              <a:t> </a:t>
            </a:r>
            <a:r>
              <a:rPr lang="fr-FR" sz="1100" dirty="0" err="1"/>
              <a:t>status</a:t>
            </a:r>
            <a:r>
              <a:rPr lang="fr-FR" sz="1100" dirty="0"/>
              <a:t> </a:t>
            </a:r>
            <a:r>
              <a:rPr lang="fr-FR" sz="1100" dirty="0" err="1"/>
              <a:t>nginx</a:t>
            </a:r>
            <a:r>
              <a:rPr lang="fr-FR" sz="1100" dirty="0"/>
              <a:t> : </a:t>
            </a:r>
            <a:r>
              <a:rPr lang="fr-FR" sz="1100" dirty="0" err="1"/>
              <a:t>alice</a:t>
            </a:r>
            <a:r>
              <a:rPr lang="fr-FR" sz="1100" dirty="0"/>
              <a:t> est autorisée à consulter l’état du service Nginx, pas plus.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490EBB4-83A2-3195-CDB3-554E68450B5A}"/>
              </a:ext>
            </a:extLst>
          </p:cNvPr>
          <p:cNvSpPr txBox="1"/>
          <p:nvPr/>
        </p:nvSpPr>
        <p:spPr>
          <a:xfrm>
            <a:off x="6096000" y="3431569"/>
            <a:ext cx="59158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%admin : cela concerne tous les membres du groupe admin.</a:t>
            </a:r>
          </a:p>
          <a:p>
            <a:endParaRPr lang="fr-FR" sz="1200" dirty="0"/>
          </a:p>
          <a:p>
            <a:r>
              <a:rPr lang="fr-FR" sz="1200" dirty="0"/>
              <a:t>ALL : applicable depuis n’importe quel hôte.</a:t>
            </a:r>
          </a:p>
          <a:p>
            <a:endParaRPr lang="fr-FR" sz="1200" dirty="0"/>
          </a:p>
          <a:p>
            <a:r>
              <a:rPr lang="fr-FR" sz="1200" dirty="0"/>
              <a:t>(ALL:ALL) :  premier ALL → peut se substituer à tout utilisateur,</a:t>
            </a:r>
          </a:p>
          <a:p>
            <a:endParaRPr lang="fr-FR" sz="1200" dirty="0"/>
          </a:p>
          <a:p>
            <a:r>
              <a:rPr lang="fr-FR" sz="1200" dirty="0"/>
              <a:t>deuxième ALL → peut également adopter le groupe de n’importe qui.</a:t>
            </a:r>
          </a:p>
          <a:p>
            <a:endParaRPr lang="fr-FR" sz="1200" dirty="0"/>
          </a:p>
          <a:p>
            <a:r>
              <a:rPr lang="fr-FR" sz="1200" dirty="0"/>
              <a:t>ALL : ce groupe peut exécuter toutes les commandes.</a:t>
            </a:r>
          </a:p>
        </p:txBody>
      </p:sp>
    </p:spTree>
    <p:extLst>
      <p:ext uri="{BB962C8B-B14F-4D97-AF65-F5344CB8AC3E}">
        <p14:creationId xmlns:p14="http://schemas.microsoft.com/office/powerpoint/2010/main" val="3377388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6489B4-598D-D30A-AE20-CBE4B7464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25" y="800100"/>
            <a:ext cx="10632067" cy="543025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A faire: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Auditer les comptes avec </a:t>
            </a:r>
            <a:r>
              <a:rPr lang="fr-FR" dirty="0" err="1">
                <a:solidFill>
                  <a:schemeClr val="tx1"/>
                </a:solidFill>
              </a:rPr>
              <a:t>getent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passwd</a:t>
            </a:r>
            <a:r>
              <a:rPr lang="fr-FR" dirty="0">
                <a:solidFill>
                  <a:schemeClr val="tx1"/>
                </a:solidFill>
              </a:rPr>
              <a:t> ou </a:t>
            </a:r>
            <a:r>
              <a:rPr lang="fr-FR" dirty="0" err="1">
                <a:solidFill>
                  <a:schemeClr val="tx1"/>
                </a:solidFill>
              </a:rPr>
              <a:t>awk</a:t>
            </a:r>
            <a:r>
              <a:rPr lang="fr-FR" dirty="0">
                <a:solidFill>
                  <a:schemeClr val="tx1"/>
                </a:solidFill>
              </a:rPr>
              <a:t> -F: '$3 &gt;= 1000 {</a:t>
            </a:r>
            <a:r>
              <a:rPr lang="fr-FR" dirty="0" err="1">
                <a:solidFill>
                  <a:schemeClr val="tx1"/>
                </a:solidFill>
              </a:rPr>
              <a:t>print</a:t>
            </a:r>
            <a:r>
              <a:rPr lang="fr-FR" dirty="0">
                <a:solidFill>
                  <a:schemeClr val="tx1"/>
                </a:solidFill>
              </a:rPr>
              <a:t> $1}' /</a:t>
            </a:r>
            <a:r>
              <a:rPr lang="fr-FR" dirty="0" err="1">
                <a:solidFill>
                  <a:schemeClr val="tx1"/>
                </a:solidFill>
              </a:rPr>
              <a:t>etc</a:t>
            </a:r>
            <a:r>
              <a:rPr lang="fr-FR" dirty="0">
                <a:solidFill>
                  <a:schemeClr val="tx1"/>
                </a:solidFill>
              </a:rPr>
              <a:t>/</a:t>
            </a:r>
            <a:r>
              <a:rPr lang="fr-FR" dirty="0" err="1">
                <a:solidFill>
                  <a:schemeClr val="tx1"/>
                </a:solidFill>
              </a:rPr>
              <a:t>passwd</a:t>
            </a:r>
            <a:endParaRPr lang="fr-FR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 Utiliser des groupes plutôt que des permissions individuelles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 Journaliser les accès </a:t>
            </a:r>
            <a:r>
              <a:rPr lang="fr-FR" dirty="0" err="1">
                <a:solidFill>
                  <a:schemeClr val="tx1"/>
                </a:solidFill>
              </a:rPr>
              <a:t>sudo</a:t>
            </a:r>
            <a:r>
              <a:rPr lang="fr-FR" dirty="0">
                <a:solidFill>
                  <a:schemeClr val="tx1"/>
                </a:solidFill>
              </a:rPr>
              <a:t> (Defaults </a:t>
            </a:r>
            <a:r>
              <a:rPr lang="fr-FR" dirty="0" err="1">
                <a:solidFill>
                  <a:schemeClr val="tx1"/>
                </a:solidFill>
              </a:rPr>
              <a:t>logfile</a:t>
            </a:r>
            <a:r>
              <a:rPr lang="fr-FR" dirty="0">
                <a:solidFill>
                  <a:schemeClr val="tx1"/>
                </a:solidFill>
              </a:rPr>
              <a:t>="/var/log/sudo.log" dans </a:t>
            </a:r>
            <a:r>
              <a:rPr lang="fr-FR" dirty="0" err="1">
                <a:solidFill>
                  <a:schemeClr val="tx1"/>
                </a:solidFill>
              </a:rPr>
              <a:t>visudo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r>
              <a:rPr lang="fr-FR" b="1" dirty="0">
                <a:solidFill>
                  <a:srgbClr val="FF0000"/>
                </a:solidFill>
              </a:rPr>
              <a:t>A ne jamais faire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chmod 777 → ouvre la porte à tout le monde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 Éditer /</a:t>
            </a:r>
            <a:r>
              <a:rPr lang="fr-FR" dirty="0" err="1">
                <a:solidFill>
                  <a:schemeClr val="tx1"/>
                </a:solidFill>
              </a:rPr>
              <a:t>etc</a:t>
            </a:r>
            <a:r>
              <a:rPr lang="fr-FR" dirty="0">
                <a:solidFill>
                  <a:schemeClr val="tx1"/>
                </a:solidFill>
              </a:rPr>
              <a:t>/</a:t>
            </a:r>
            <a:r>
              <a:rPr lang="fr-FR" dirty="0" err="1">
                <a:solidFill>
                  <a:schemeClr val="tx1"/>
                </a:solidFill>
              </a:rPr>
              <a:t>passwd</a:t>
            </a:r>
            <a:r>
              <a:rPr lang="fr-FR" dirty="0">
                <a:solidFill>
                  <a:schemeClr val="tx1"/>
                </a:solidFill>
              </a:rPr>
              <a:t> à la main → risque de corruption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 Laisser des comptes de test (test, admin123) en production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CD25A6-C46A-EC4E-8523-E247AB7020DE}"/>
              </a:ext>
            </a:extLst>
          </p:cNvPr>
          <p:cNvSpPr txBox="1"/>
          <p:nvPr/>
        </p:nvSpPr>
        <p:spPr>
          <a:xfrm>
            <a:off x="636725" y="42875"/>
            <a:ext cx="10737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fr-FR" b="1" dirty="0"/>
              <a:t>Bonnes pratiques &amp; erreurs à éviter</a:t>
            </a:r>
          </a:p>
        </p:txBody>
      </p:sp>
    </p:spTree>
    <p:extLst>
      <p:ext uri="{BB962C8B-B14F-4D97-AF65-F5344CB8AC3E}">
        <p14:creationId xmlns:p14="http://schemas.microsoft.com/office/powerpoint/2010/main" val="19628774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925</Words>
  <Application>Microsoft Office PowerPoint</Application>
  <PresentationFormat>Grand écran</PresentationFormat>
  <Paragraphs>111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Calisto MT</vt:lpstr>
      <vt:lpstr>Univers Condensed</vt:lpstr>
      <vt:lpstr>ChronicleVTI</vt:lpstr>
      <vt:lpstr>Gestion des utilisateurs  et  des groupes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TOGOCOM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 Tété Gaël   Sewavi</dc:creator>
  <cp:lastModifiedBy>Yao Tété Gaël   Sewavi</cp:lastModifiedBy>
  <cp:revision>2</cp:revision>
  <dcterms:created xsi:type="dcterms:W3CDTF">2025-11-22T05:24:16Z</dcterms:created>
  <dcterms:modified xsi:type="dcterms:W3CDTF">2025-11-22T07:20:59Z</dcterms:modified>
</cp:coreProperties>
</file>