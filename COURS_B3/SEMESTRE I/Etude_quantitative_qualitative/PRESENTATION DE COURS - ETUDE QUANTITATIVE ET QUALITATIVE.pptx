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6" r:id="rId2"/>
    <p:sldId id="257" r:id="rId3"/>
    <p:sldId id="312"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3" r:id="rId18"/>
    <p:sldId id="298" r:id="rId19"/>
    <p:sldId id="275" r:id="rId20"/>
    <p:sldId id="277" r:id="rId21"/>
    <p:sldId id="278" r:id="rId22"/>
    <p:sldId id="279" r:id="rId23"/>
    <p:sldId id="280" r:id="rId24"/>
    <p:sldId id="267" r:id="rId25"/>
    <p:sldId id="272" r:id="rId26"/>
    <p:sldId id="276" r:id="rId27"/>
    <p:sldId id="281" r:id="rId28"/>
    <p:sldId id="282" r:id="rId29"/>
    <p:sldId id="284" r:id="rId30"/>
    <p:sldId id="286" r:id="rId31"/>
    <p:sldId id="287" r:id="rId32"/>
    <p:sldId id="290" r:id="rId33"/>
    <p:sldId id="288" r:id="rId34"/>
    <p:sldId id="291" r:id="rId35"/>
    <p:sldId id="292" r:id="rId36"/>
    <p:sldId id="289" r:id="rId37"/>
    <p:sldId id="285" r:id="rId38"/>
    <p:sldId id="294" r:id="rId39"/>
    <p:sldId id="295" r:id="rId40"/>
    <p:sldId id="296" r:id="rId41"/>
    <p:sldId id="299" r:id="rId42"/>
    <p:sldId id="300" r:id="rId43"/>
    <p:sldId id="297" r:id="rId44"/>
    <p:sldId id="293" r:id="rId45"/>
    <p:sldId id="301" r:id="rId46"/>
    <p:sldId id="302" r:id="rId47"/>
    <p:sldId id="303" r:id="rId48"/>
    <p:sldId id="304" r:id="rId49"/>
    <p:sldId id="305" r:id="rId50"/>
    <p:sldId id="306" r:id="rId51"/>
    <p:sldId id="309" r:id="rId52"/>
    <p:sldId id="308" r:id="rId53"/>
    <p:sldId id="307" r:id="rId54"/>
    <p:sldId id="310" r:id="rId55"/>
    <p:sldId id="311" r:id="rId56"/>
  </p:sldIdLst>
  <p:sldSz cx="12192000" cy="6858000"/>
  <p:notesSz cx="6858000" cy="9144000"/>
  <p:defaultText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TG"/>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6ED912-A023-4F1C-B5BF-9DE745717465}" type="datetimeFigureOut">
              <a:rPr lang="fr-TG" smtClean="0"/>
              <a:t>04/11/2025</a:t>
            </a:fld>
            <a:endParaRPr lang="fr-TG"/>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TG"/>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TG"/>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2758A3-6E34-4750-B618-B9253A734577}" type="slidenum">
              <a:rPr lang="fr-TG" smtClean="0"/>
              <a:t>‹N°›</a:t>
            </a:fld>
            <a:endParaRPr lang="fr-TG"/>
          </a:p>
        </p:txBody>
      </p:sp>
    </p:spTree>
    <p:extLst>
      <p:ext uri="{BB962C8B-B14F-4D97-AF65-F5344CB8AC3E}">
        <p14:creationId xmlns:p14="http://schemas.microsoft.com/office/powerpoint/2010/main" val="621338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TG"/>
          </a:p>
        </p:txBody>
      </p:sp>
      <p:sp>
        <p:nvSpPr>
          <p:cNvPr id="4" name="Espace réservé du numéro de diapositive 3"/>
          <p:cNvSpPr>
            <a:spLocks noGrp="1"/>
          </p:cNvSpPr>
          <p:nvPr>
            <p:ph type="sldNum" sz="quarter" idx="5"/>
          </p:nvPr>
        </p:nvSpPr>
        <p:spPr/>
        <p:txBody>
          <a:bodyPr/>
          <a:lstStyle/>
          <a:p>
            <a:fld id="{942758A3-6E34-4750-B618-B9253A734577}" type="slidenum">
              <a:rPr lang="fr-TG" smtClean="0"/>
              <a:t>9</a:t>
            </a:fld>
            <a:endParaRPr lang="fr-TG"/>
          </a:p>
        </p:txBody>
      </p:sp>
    </p:spTree>
    <p:extLst>
      <p:ext uri="{BB962C8B-B14F-4D97-AF65-F5344CB8AC3E}">
        <p14:creationId xmlns:p14="http://schemas.microsoft.com/office/powerpoint/2010/main" val="1738836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1CD1C-99B5-00FA-7280-A518F670B57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5D6C02-AD7D-B41B-0FC1-D6B175A52FD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769CAB8-EF60-0383-2C28-6B0648502893}"/>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76AEC42C-DA88-1D2C-948F-8383464ECFF1}"/>
              </a:ext>
            </a:extLst>
          </p:cNvPr>
          <p:cNvSpPr>
            <a:spLocks noGrp="1"/>
          </p:cNvSpPr>
          <p:nvPr>
            <p:ph type="sldNum" sz="quarter" idx="5"/>
          </p:nvPr>
        </p:nvSpPr>
        <p:spPr/>
        <p:txBody>
          <a:bodyPr/>
          <a:lstStyle/>
          <a:p>
            <a:fld id="{942758A3-6E34-4750-B618-B9253A734577}" type="slidenum">
              <a:rPr lang="fr-TG" smtClean="0"/>
              <a:t>10</a:t>
            </a:fld>
            <a:endParaRPr lang="fr-TG"/>
          </a:p>
        </p:txBody>
      </p:sp>
    </p:spTree>
    <p:extLst>
      <p:ext uri="{BB962C8B-B14F-4D97-AF65-F5344CB8AC3E}">
        <p14:creationId xmlns:p14="http://schemas.microsoft.com/office/powerpoint/2010/main" val="2564633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AF467-68B1-7ED7-1659-880112188DC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51084E3-7C3B-C8FD-D193-DB4C425416C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C061D82-E449-9749-31AB-2EAA60B96C8A}"/>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CAAE72F9-6A83-70E2-C9FB-2A6F48A9EF75}"/>
              </a:ext>
            </a:extLst>
          </p:cNvPr>
          <p:cNvSpPr>
            <a:spLocks noGrp="1"/>
          </p:cNvSpPr>
          <p:nvPr>
            <p:ph type="sldNum" sz="quarter" idx="5"/>
          </p:nvPr>
        </p:nvSpPr>
        <p:spPr/>
        <p:txBody>
          <a:bodyPr/>
          <a:lstStyle/>
          <a:p>
            <a:fld id="{942758A3-6E34-4750-B618-B9253A734577}" type="slidenum">
              <a:rPr lang="fr-TG" smtClean="0"/>
              <a:t>11</a:t>
            </a:fld>
            <a:endParaRPr lang="fr-TG"/>
          </a:p>
        </p:txBody>
      </p:sp>
    </p:spTree>
    <p:extLst>
      <p:ext uri="{BB962C8B-B14F-4D97-AF65-F5344CB8AC3E}">
        <p14:creationId xmlns:p14="http://schemas.microsoft.com/office/powerpoint/2010/main" val="17120305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1E88-FCD4-4197-2477-D1A6E166B10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21AA71-EA0F-494D-07F8-87354E0A887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A18FFDE-4931-7BD4-CD5E-73C10FD33CA9}"/>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06075DD2-1564-28F7-0A39-9746E665CDDE}"/>
              </a:ext>
            </a:extLst>
          </p:cNvPr>
          <p:cNvSpPr>
            <a:spLocks noGrp="1"/>
          </p:cNvSpPr>
          <p:nvPr>
            <p:ph type="sldNum" sz="quarter" idx="5"/>
          </p:nvPr>
        </p:nvSpPr>
        <p:spPr/>
        <p:txBody>
          <a:bodyPr/>
          <a:lstStyle/>
          <a:p>
            <a:fld id="{942758A3-6E34-4750-B618-B9253A734577}" type="slidenum">
              <a:rPr lang="fr-TG" smtClean="0"/>
              <a:t>12</a:t>
            </a:fld>
            <a:endParaRPr lang="fr-TG"/>
          </a:p>
        </p:txBody>
      </p:sp>
    </p:spTree>
    <p:extLst>
      <p:ext uri="{BB962C8B-B14F-4D97-AF65-F5344CB8AC3E}">
        <p14:creationId xmlns:p14="http://schemas.microsoft.com/office/powerpoint/2010/main" val="184190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68D7B-CF62-5010-651B-30DC64DD62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38EC0EB-259B-0181-6640-8DC7E700FB8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915E0DB-9B3A-B7EB-D70C-B0B3C863CBC9}"/>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BFA49DB2-ABC8-858C-4196-4E8E6AFE6F21}"/>
              </a:ext>
            </a:extLst>
          </p:cNvPr>
          <p:cNvSpPr>
            <a:spLocks noGrp="1"/>
          </p:cNvSpPr>
          <p:nvPr>
            <p:ph type="sldNum" sz="quarter" idx="5"/>
          </p:nvPr>
        </p:nvSpPr>
        <p:spPr/>
        <p:txBody>
          <a:bodyPr/>
          <a:lstStyle/>
          <a:p>
            <a:fld id="{942758A3-6E34-4750-B618-B9253A734577}" type="slidenum">
              <a:rPr lang="fr-TG" smtClean="0"/>
              <a:t>13</a:t>
            </a:fld>
            <a:endParaRPr lang="fr-TG"/>
          </a:p>
        </p:txBody>
      </p:sp>
    </p:spTree>
    <p:extLst>
      <p:ext uri="{BB962C8B-B14F-4D97-AF65-F5344CB8AC3E}">
        <p14:creationId xmlns:p14="http://schemas.microsoft.com/office/powerpoint/2010/main" val="2130229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833E0-2A26-F473-7950-854EE5C9FF6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D56250-2F05-03A6-C546-ADA761D0E22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ABF0877-5571-8E96-0D9D-47196584F2B1}"/>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CA5078AF-FFC5-AC75-7749-5838B72288F3}"/>
              </a:ext>
            </a:extLst>
          </p:cNvPr>
          <p:cNvSpPr>
            <a:spLocks noGrp="1"/>
          </p:cNvSpPr>
          <p:nvPr>
            <p:ph type="sldNum" sz="quarter" idx="5"/>
          </p:nvPr>
        </p:nvSpPr>
        <p:spPr/>
        <p:txBody>
          <a:bodyPr/>
          <a:lstStyle/>
          <a:p>
            <a:fld id="{942758A3-6E34-4750-B618-B9253A734577}" type="slidenum">
              <a:rPr lang="fr-TG" smtClean="0"/>
              <a:t>14</a:t>
            </a:fld>
            <a:endParaRPr lang="fr-TG"/>
          </a:p>
        </p:txBody>
      </p:sp>
    </p:spTree>
    <p:extLst>
      <p:ext uri="{BB962C8B-B14F-4D97-AF65-F5344CB8AC3E}">
        <p14:creationId xmlns:p14="http://schemas.microsoft.com/office/powerpoint/2010/main" val="408119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C6AE6-F57D-36F8-0A17-D960C6E4171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2CB8792-3B4A-5390-B7B9-ADB44BC17D2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DA38121-7389-8D28-24FE-92938F56B393}"/>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430E7BD3-19D3-BB35-B76D-41F993B34970}"/>
              </a:ext>
            </a:extLst>
          </p:cNvPr>
          <p:cNvSpPr>
            <a:spLocks noGrp="1"/>
          </p:cNvSpPr>
          <p:nvPr>
            <p:ph type="sldNum" sz="quarter" idx="5"/>
          </p:nvPr>
        </p:nvSpPr>
        <p:spPr/>
        <p:txBody>
          <a:bodyPr/>
          <a:lstStyle/>
          <a:p>
            <a:fld id="{942758A3-6E34-4750-B618-B9253A734577}" type="slidenum">
              <a:rPr lang="fr-TG" smtClean="0"/>
              <a:t>15</a:t>
            </a:fld>
            <a:endParaRPr lang="fr-TG"/>
          </a:p>
        </p:txBody>
      </p:sp>
    </p:spTree>
    <p:extLst>
      <p:ext uri="{BB962C8B-B14F-4D97-AF65-F5344CB8AC3E}">
        <p14:creationId xmlns:p14="http://schemas.microsoft.com/office/powerpoint/2010/main" val="3035919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082F4-86D9-C137-7076-E32DDB76DE1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0ACB04D-B9A4-7807-6649-FD91037D823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B7907AE-434D-FA41-B985-2C7A69B0FFEA}"/>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8B3EEB12-01B9-E379-8350-181843CD58B4}"/>
              </a:ext>
            </a:extLst>
          </p:cNvPr>
          <p:cNvSpPr>
            <a:spLocks noGrp="1"/>
          </p:cNvSpPr>
          <p:nvPr>
            <p:ph type="sldNum" sz="quarter" idx="5"/>
          </p:nvPr>
        </p:nvSpPr>
        <p:spPr/>
        <p:txBody>
          <a:bodyPr/>
          <a:lstStyle/>
          <a:p>
            <a:fld id="{942758A3-6E34-4750-B618-B9253A734577}" type="slidenum">
              <a:rPr lang="fr-TG" smtClean="0"/>
              <a:t>16</a:t>
            </a:fld>
            <a:endParaRPr lang="fr-TG"/>
          </a:p>
        </p:txBody>
      </p:sp>
    </p:spTree>
    <p:extLst>
      <p:ext uri="{BB962C8B-B14F-4D97-AF65-F5344CB8AC3E}">
        <p14:creationId xmlns:p14="http://schemas.microsoft.com/office/powerpoint/2010/main" val="850427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7F789-B410-B0B0-64A9-1C73903E106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1837C24-4B91-6034-B1E6-CF181385D67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A484695-A0E1-1FE6-0815-D559DD8BFDAF}"/>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B30FD13B-F392-7FF9-C1D4-DF1E1EBBB4B1}"/>
              </a:ext>
            </a:extLst>
          </p:cNvPr>
          <p:cNvSpPr>
            <a:spLocks noGrp="1"/>
          </p:cNvSpPr>
          <p:nvPr>
            <p:ph type="sldNum" sz="quarter" idx="5"/>
          </p:nvPr>
        </p:nvSpPr>
        <p:spPr/>
        <p:txBody>
          <a:bodyPr/>
          <a:lstStyle/>
          <a:p>
            <a:fld id="{942758A3-6E34-4750-B618-B9253A734577}" type="slidenum">
              <a:rPr lang="fr-TG" smtClean="0"/>
              <a:t>17</a:t>
            </a:fld>
            <a:endParaRPr lang="fr-TG"/>
          </a:p>
        </p:txBody>
      </p:sp>
    </p:spTree>
    <p:extLst>
      <p:ext uri="{BB962C8B-B14F-4D97-AF65-F5344CB8AC3E}">
        <p14:creationId xmlns:p14="http://schemas.microsoft.com/office/powerpoint/2010/main" val="24025023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14174-3643-1390-46A6-985A4954E0C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A8E9A70-100E-D643-025D-26B36FE9EC2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328A988-16D1-5166-470C-4DD71ED05493}"/>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D4F5BA02-11D8-54F8-8355-5C4E338FF9E7}"/>
              </a:ext>
            </a:extLst>
          </p:cNvPr>
          <p:cNvSpPr>
            <a:spLocks noGrp="1"/>
          </p:cNvSpPr>
          <p:nvPr>
            <p:ph type="sldNum" sz="quarter" idx="5"/>
          </p:nvPr>
        </p:nvSpPr>
        <p:spPr/>
        <p:txBody>
          <a:bodyPr/>
          <a:lstStyle/>
          <a:p>
            <a:fld id="{942758A3-6E34-4750-B618-B9253A734577}" type="slidenum">
              <a:rPr lang="fr-TG" smtClean="0"/>
              <a:t>18</a:t>
            </a:fld>
            <a:endParaRPr lang="fr-TG"/>
          </a:p>
        </p:txBody>
      </p:sp>
    </p:spTree>
    <p:extLst>
      <p:ext uri="{BB962C8B-B14F-4D97-AF65-F5344CB8AC3E}">
        <p14:creationId xmlns:p14="http://schemas.microsoft.com/office/powerpoint/2010/main" val="122702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68612-5D44-D504-1960-C97C078A24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05F679-E35D-231A-0149-99A215E57BC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67E277A-2515-BFF9-C669-46010A6FDD61}"/>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E238922B-C421-757A-7A92-39AACD892703}"/>
              </a:ext>
            </a:extLst>
          </p:cNvPr>
          <p:cNvSpPr>
            <a:spLocks noGrp="1"/>
          </p:cNvSpPr>
          <p:nvPr>
            <p:ph type="sldNum" sz="quarter" idx="5"/>
          </p:nvPr>
        </p:nvSpPr>
        <p:spPr/>
        <p:txBody>
          <a:bodyPr/>
          <a:lstStyle/>
          <a:p>
            <a:fld id="{942758A3-6E34-4750-B618-B9253A734577}" type="slidenum">
              <a:rPr lang="fr-TG" smtClean="0"/>
              <a:t>19</a:t>
            </a:fld>
            <a:endParaRPr lang="fr-TG"/>
          </a:p>
        </p:txBody>
      </p:sp>
    </p:spTree>
    <p:extLst>
      <p:ext uri="{BB962C8B-B14F-4D97-AF65-F5344CB8AC3E}">
        <p14:creationId xmlns:p14="http://schemas.microsoft.com/office/powerpoint/2010/main" val="34739736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A174C-9FF5-AE13-3396-2B323D90643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DEC8029-9C4C-D93C-5924-7BCACF46CD8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9D5F404-AD71-AE43-1531-4769F0BDC09E}"/>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2C68C5FA-070D-DEB7-2F81-B407358A8495}"/>
              </a:ext>
            </a:extLst>
          </p:cNvPr>
          <p:cNvSpPr>
            <a:spLocks noGrp="1"/>
          </p:cNvSpPr>
          <p:nvPr>
            <p:ph type="sldNum" sz="quarter" idx="5"/>
          </p:nvPr>
        </p:nvSpPr>
        <p:spPr/>
        <p:txBody>
          <a:bodyPr/>
          <a:lstStyle/>
          <a:p>
            <a:fld id="{942758A3-6E34-4750-B618-B9253A734577}" type="slidenum">
              <a:rPr lang="fr-TG" smtClean="0"/>
              <a:t>20</a:t>
            </a:fld>
            <a:endParaRPr lang="fr-TG"/>
          </a:p>
        </p:txBody>
      </p:sp>
    </p:spTree>
    <p:extLst>
      <p:ext uri="{BB962C8B-B14F-4D97-AF65-F5344CB8AC3E}">
        <p14:creationId xmlns:p14="http://schemas.microsoft.com/office/powerpoint/2010/main" val="3964791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DF1EE-5DF6-97A6-306F-ABF069A678B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65C722C-F8CD-E2EF-CC21-42D3093FC7F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0AB9CEF-B4CD-F800-FB98-5854BFE6F16C}"/>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3061E242-408C-22D9-F942-4729C2C4384E}"/>
              </a:ext>
            </a:extLst>
          </p:cNvPr>
          <p:cNvSpPr>
            <a:spLocks noGrp="1"/>
          </p:cNvSpPr>
          <p:nvPr>
            <p:ph type="sldNum" sz="quarter" idx="5"/>
          </p:nvPr>
        </p:nvSpPr>
        <p:spPr/>
        <p:txBody>
          <a:bodyPr/>
          <a:lstStyle/>
          <a:p>
            <a:fld id="{942758A3-6E34-4750-B618-B9253A734577}" type="slidenum">
              <a:rPr lang="fr-TG" smtClean="0"/>
              <a:t>21</a:t>
            </a:fld>
            <a:endParaRPr lang="fr-TG"/>
          </a:p>
        </p:txBody>
      </p:sp>
    </p:spTree>
    <p:extLst>
      <p:ext uri="{BB962C8B-B14F-4D97-AF65-F5344CB8AC3E}">
        <p14:creationId xmlns:p14="http://schemas.microsoft.com/office/powerpoint/2010/main" val="3443163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17839-F44E-8B5F-5F32-87BEAA671F6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CD4C02D-C3C0-8F48-5E65-75E1635683E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AF4F62B-2D6B-A4AB-17C0-AE641A2C6084}"/>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570A2235-EC6B-169B-977D-9652C3FAE01E}"/>
              </a:ext>
            </a:extLst>
          </p:cNvPr>
          <p:cNvSpPr>
            <a:spLocks noGrp="1"/>
          </p:cNvSpPr>
          <p:nvPr>
            <p:ph type="sldNum" sz="quarter" idx="5"/>
          </p:nvPr>
        </p:nvSpPr>
        <p:spPr/>
        <p:txBody>
          <a:bodyPr/>
          <a:lstStyle/>
          <a:p>
            <a:fld id="{942758A3-6E34-4750-B618-B9253A734577}" type="slidenum">
              <a:rPr lang="fr-TG" smtClean="0"/>
              <a:t>22</a:t>
            </a:fld>
            <a:endParaRPr lang="fr-TG"/>
          </a:p>
        </p:txBody>
      </p:sp>
    </p:spTree>
    <p:extLst>
      <p:ext uri="{BB962C8B-B14F-4D97-AF65-F5344CB8AC3E}">
        <p14:creationId xmlns:p14="http://schemas.microsoft.com/office/powerpoint/2010/main" val="21009937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D8FF2-D4D3-74DF-028D-603D0565FA5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AAE6F2A-46A2-9259-293C-5AEB7277342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C3CF4AD-07D9-C25E-3421-3971C6BEE418}"/>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962393BE-227A-41BE-3725-E6C60C5CD31B}"/>
              </a:ext>
            </a:extLst>
          </p:cNvPr>
          <p:cNvSpPr>
            <a:spLocks noGrp="1"/>
          </p:cNvSpPr>
          <p:nvPr>
            <p:ph type="sldNum" sz="quarter" idx="5"/>
          </p:nvPr>
        </p:nvSpPr>
        <p:spPr/>
        <p:txBody>
          <a:bodyPr/>
          <a:lstStyle/>
          <a:p>
            <a:fld id="{942758A3-6E34-4750-B618-B9253A734577}" type="slidenum">
              <a:rPr lang="fr-TG" smtClean="0"/>
              <a:t>23</a:t>
            </a:fld>
            <a:endParaRPr lang="fr-TG"/>
          </a:p>
        </p:txBody>
      </p:sp>
    </p:spTree>
    <p:extLst>
      <p:ext uri="{BB962C8B-B14F-4D97-AF65-F5344CB8AC3E}">
        <p14:creationId xmlns:p14="http://schemas.microsoft.com/office/powerpoint/2010/main" val="24264060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4A97F-ACB2-B211-606E-6E2E83B77FB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D616208-8E89-3E34-3CCE-3B54F77993C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07342C5-0436-4AFB-059E-80711E58071A}"/>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903615DB-3FC4-7155-0CC7-A80DAA3C457C}"/>
              </a:ext>
            </a:extLst>
          </p:cNvPr>
          <p:cNvSpPr>
            <a:spLocks noGrp="1"/>
          </p:cNvSpPr>
          <p:nvPr>
            <p:ph type="sldNum" sz="quarter" idx="5"/>
          </p:nvPr>
        </p:nvSpPr>
        <p:spPr/>
        <p:txBody>
          <a:bodyPr/>
          <a:lstStyle/>
          <a:p>
            <a:fld id="{942758A3-6E34-4750-B618-B9253A734577}" type="slidenum">
              <a:rPr lang="fr-TG" smtClean="0"/>
              <a:t>24</a:t>
            </a:fld>
            <a:endParaRPr lang="fr-TG"/>
          </a:p>
        </p:txBody>
      </p:sp>
    </p:spTree>
    <p:extLst>
      <p:ext uri="{BB962C8B-B14F-4D97-AF65-F5344CB8AC3E}">
        <p14:creationId xmlns:p14="http://schemas.microsoft.com/office/powerpoint/2010/main" val="30031570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1A754-A7D6-662C-8E90-A421E8BB0E9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628BEB6-085D-0D60-8225-8364B74FCFD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5F433AA-B735-6367-A182-8366F5DAA146}"/>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C9B769C8-D02D-E591-8A95-B5FAD136845D}"/>
              </a:ext>
            </a:extLst>
          </p:cNvPr>
          <p:cNvSpPr>
            <a:spLocks noGrp="1"/>
          </p:cNvSpPr>
          <p:nvPr>
            <p:ph type="sldNum" sz="quarter" idx="5"/>
          </p:nvPr>
        </p:nvSpPr>
        <p:spPr/>
        <p:txBody>
          <a:bodyPr/>
          <a:lstStyle/>
          <a:p>
            <a:fld id="{942758A3-6E34-4750-B618-B9253A734577}" type="slidenum">
              <a:rPr lang="fr-TG" smtClean="0"/>
              <a:t>25</a:t>
            </a:fld>
            <a:endParaRPr lang="fr-TG"/>
          </a:p>
        </p:txBody>
      </p:sp>
    </p:spTree>
    <p:extLst>
      <p:ext uri="{BB962C8B-B14F-4D97-AF65-F5344CB8AC3E}">
        <p14:creationId xmlns:p14="http://schemas.microsoft.com/office/powerpoint/2010/main" val="39651212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76A54-7570-2EC2-235F-3E626766ACB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C97EAC2-3A92-2D92-D005-0AED1EE56B35}"/>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08DD370-8D53-1FB5-D12A-EA817A7E75AD}"/>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0E097172-4EC2-66F2-6E81-214E4EA3C832}"/>
              </a:ext>
            </a:extLst>
          </p:cNvPr>
          <p:cNvSpPr>
            <a:spLocks noGrp="1"/>
          </p:cNvSpPr>
          <p:nvPr>
            <p:ph type="sldNum" sz="quarter" idx="5"/>
          </p:nvPr>
        </p:nvSpPr>
        <p:spPr/>
        <p:txBody>
          <a:bodyPr/>
          <a:lstStyle/>
          <a:p>
            <a:fld id="{942758A3-6E34-4750-B618-B9253A734577}" type="slidenum">
              <a:rPr lang="fr-TG" smtClean="0"/>
              <a:t>26</a:t>
            </a:fld>
            <a:endParaRPr lang="fr-TG"/>
          </a:p>
        </p:txBody>
      </p:sp>
    </p:spTree>
    <p:extLst>
      <p:ext uri="{BB962C8B-B14F-4D97-AF65-F5344CB8AC3E}">
        <p14:creationId xmlns:p14="http://schemas.microsoft.com/office/powerpoint/2010/main" val="787456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68776-0BED-3096-F77E-E8D1C78661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4F1DF78-C285-E212-8ADA-7662F02D52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2662987-24E5-6CC1-89B1-B11D89C57558}"/>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6E723221-4948-1808-7332-0E15B0C0AFF6}"/>
              </a:ext>
            </a:extLst>
          </p:cNvPr>
          <p:cNvSpPr>
            <a:spLocks noGrp="1"/>
          </p:cNvSpPr>
          <p:nvPr>
            <p:ph type="sldNum" sz="quarter" idx="5"/>
          </p:nvPr>
        </p:nvSpPr>
        <p:spPr/>
        <p:txBody>
          <a:bodyPr/>
          <a:lstStyle/>
          <a:p>
            <a:fld id="{942758A3-6E34-4750-B618-B9253A734577}" type="slidenum">
              <a:rPr lang="fr-TG" smtClean="0"/>
              <a:t>27</a:t>
            </a:fld>
            <a:endParaRPr lang="fr-TG"/>
          </a:p>
        </p:txBody>
      </p:sp>
    </p:spTree>
    <p:extLst>
      <p:ext uri="{BB962C8B-B14F-4D97-AF65-F5344CB8AC3E}">
        <p14:creationId xmlns:p14="http://schemas.microsoft.com/office/powerpoint/2010/main" val="28903156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E849D-9018-F7F8-F5B1-7CF943F9AA7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B720B71-B2C2-9C2F-6CF2-FE9D651397E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E8754D7-9DA6-66BA-1DB4-A39722D9C06E}"/>
              </a:ext>
            </a:extLst>
          </p:cNvPr>
          <p:cNvSpPr>
            <a:spLocks noGrp="1"/>
          </p:cNvSpPr>
          <p:nvPr>
            <p:ph type="body" idx="1"/>
          </p:nvPr>
        </p:nvSpPr>
        <p:spPr/>
        <p:txBody>
          <a:bodyPr/>
          <a:lstStyle/>
          <a:p>
            <a:endParaRPr lang="fr-TG"/>
          </a:p>
        </p:txBody>
      </p:sp>
      <p:sp>
        <p:nvSpPr>
          <p:cNvPr id="4" name="Espace réservé du numéro de diapositive 3">
            <a:extLst>
              <a:ext uri="{FF2B5EF4-FFF2-40B4-BE49-F238E27FC236}">
                <a16:creationId xmlns:a16="http://schemas.microsoft.com/office/drawing/2014/main" id="{CB46F022-6CE1-91F1-5026-B53AD42F97C8}"/>
              </a:ext>
            </a:extLst>
          </p:cNvPr>
          <p:cNvSpPr>
            <a:spLocks noGrp="1"/>
          </p:cNvSpPr>
          <p:nvPr>
            <p:ph type="sldNum" sz="quarter" idx="5"/>
          </p:nvPr>
        </p:nvSpPr>
        <p:spPr/>
        <p:txBody>
          <a:bodyPr/>
          <a:lstStyle/>
          <a:p>
            <a:fld id="{942758A3-6E34-4750-B618-B9253A734577}" type="slidenum">
              <a:rPr lang="fr-TG" smtClean="0"/>
              <a:t>28</a:t>
            </a:fld>
            <a:endParaRPr lang="fr-TG"/>
          </a:p>
        </p:txBody>
      </p:sp>
    </p:spTree>
    <p:extLst>
      <p:ext uri="{BB962C8B-B14F-4D97-AF65-F5344CB8AC3E}">
        <p14:creationId xmlns:p14="http://schemas.microsoft.com/office/powerpoint/2010/main" val="878178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C649C0-AB2F-3281-96CD-843319C722C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TG"/>
          </a:p>
        </p:txBody>
      </p:sp>
      <p:sp>
        <p:nvSpPr>
          <p:cNvPr id="3" name="Sous-titre 2">
            <a:extLst>
              <a:ext uri="{FF2B5EF4-FFF2-40B4-BE49-F238E27FC236}">
                <a16:creationId xmlns:a16="http://schemas.microsoft.com/office/drawing/2014/main" id="{E02B7831-AA66-F822-5CB1-BE54718DEC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TG"/>
          </a:p>
        </p:txBody>
      </p:sp>
      <p:sp>
        <p:nvSpPr>
          <p:cNvPr id="4" name="Espace réservé de la date 3">
            <a:extLst>
              <a:ext uri="{FF2B5EF4-FFF2-40B4-BE49-F238E27FC236}">
                <a16:creationId xmlns:a16="http://schemas.microsoft.com/office/drawing/2014/main" id="{62DE21B2-19F3-D21A-67CD-05FE9D819C04}"/>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5" name="Espace réservé du pied de page 4">
            <a:extLst>
              <a:ext uri="{FF2B5EF4-FFF2-40B4-BE49-F238E27FC236}">
                <a16:creationId xmlns:a16="http://schemas.microsoft.com/office/drawing/2014/main" id="{C25EE838-0DB8-917D-A1DA-B1B4F2D8F6DC}"/>
              </a:ext>
            </a:extLst>
          </p:cNvPr>
          <p:cNvSpPr>
            <a:spLocks noGrp="1"/>
          </p:cNvSpPr>
          <p:nvPr>
            <p:ph type="ftr" sz="quarter" idx="11"/>
          </p:nvPr>
        </p:nvSpPr>
        <p:spPr/>
        <p:txBody>
          <a:bodyPr/>
          <a:lstStyle/>
          <a:p>
            <a:endParaRPr lang="fr-TG"/>
          </a:p>
        </p:txBody>
      </p:sp>
      <p:sp>
        <p:nvSpPr>
          <p:cNvPr id="6" name="Espace réservé du numéro de diapositive 5">
            <a:extLst>
              <a:ext uri="{FF2B5EF4-FFF2-40B4-BE49-F238E27FC236}">
                <a16:creationId xmlns:a16="http://schemas.microsoft.com/office/drawing/2014/main" id="{5DB33DAB-3907-2618-86A3-C9348E77894B}"/>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2022479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F05277-AB98-A59A-7CD9-39578D076EFC}"/>
              </a:ext>
            </a:extLst>
          </p:cNvPr>
          <p:cNvSpPr>
            <a:spLocks noGrp="1"/>
          </p:cNvSpPr>
          <p:nvPr>
            <p:ph type="title"/>
          </p:nvPr>
        </p:nvSpPr>
        <p:spPr/>
        <p:txBody>
          <a:bodyPr/>
          <a:lstStyle/>
          <a:p>
            <a:r>
              <a:rPr lang="fr-FR"/>
              <a:t>Modifiez le style du titre</a:t>
            </a:r>
            <a:endParaRPr lang="fr-TG"/>
          </a:p>
        </p:txBody>
      </p:sp>
      <p:sp>
        <p:nvSpPr>
          <p:cNvPr id="3" name="Espace réservé du contenu 2">
            <a:extLst>
              <a:ext uri="{FF2B5EF4-FFF2-40B4-BE49-F238E27FC236}">
                <a16:creationId xmlns:a16="http://schemas.microsoft.com/office/drawing/2014/main" id="{F4133925-9514-3A70-C9BC-31E96F62143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e la date 3">
            <a:extLst>
              <a:ext uri="{FF2B5EF4-FFF2-40B4-BE49-F238E27FC236}">
                <a16:creationId xmlns:a16="http://schemas.microsoft.com/office/drawing/2014/main" id="{E4C74FB3-3E73-500A-F3DC-5D497609B562}"/>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5" name="Espace réservé du pied de page 4">
            <a:extLst>
              <a:ext uri="{FF2B5EF4-FFF2-40B4-BE49-F238E27FC236}">
                <a16:creationId xmlns:a16="http://schemas.microsoft.com/office/drawing/2014/main" id="{5252DDA0-BD85-85B5-C89C-1885D9CB7A77}"/>
              </a:ext>
            </a:extLst>
          </p:cNvPr>
          <p:cNvSpPr>
            <a:spLocks noGrp="1"/>
          </p:cNvSpPr>
          <p:nvPr>
            <p:ph type="ftr" sz="quarter" idx="11"/>
          </p:nvPr>
        </p:nvSpPr>
        <p:spPr/>
        <p:txBody>
          <a:bodyPr/>
          <a:lstStyle/>
          <a:p>
            <a:endParaRPr lang="fr-TG"/>
          </a:p>
        </p:txBody>
      </p:sp>
      <p:sp>
        <p:nvSpPr>
          <p:cNvPr id="6" name="Espace réservé du numéro de diapositive 5">
            <a:extLst>
              <a:ext uri="{FF2B5EF4-FFF2-40B4-BE49-F238E27FC236}">
                <a16:creationId xmlns:a16="http://schemas.microsoft.com/office/drawing/2014/main" id="{E2BC3570-4CF8-5118-A95B-C0B7D03888E2}"/>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2570638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62C031-6719-6E59-272C-EE7651DA9E3E}"/>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TG"/>
          </a:p>
        </p:txBody>
      </p:sp>
      <p:sp>
        <p:nvSpPr>
          <p:cNvPr id="3" name="Espace réservé du texte 2">
            <a:extLst>
              <a:ext uri="{FF2B5EF4-FFF2-40B4-BE49-F238E27FC236}">
                <a16:creationId xmlns:a16="http://schemas.microsoft.com/office/drawing/2014/main" id="{CB896F66-DA43-02C3-B6AC-D1E1C8E8B3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DC99C89-09D2-0147-D85B-612851407E6E}"/>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5" name="Espace réservé du pied de page 4">
            <a:extLst>
              <a:ext uri="{FF2B5EF4-FFF2-40B4-BE49-F238E27FC236}">
                <a16:creationId xmlns:a16="http://schemas.microsoft.com/office/drawing/2014/main" id="{01C8E9BF-0235-A33A-E4B7-2DB7EE4AEA35}"/>
              </a:ext>
            </a:extLst>
          </p:cNvPr>
          <p:cNvSpPr>
            <a:spLocks noGrp="1"/>
          </p:cNvSpPr>
          <p:nvPr>
            <p:ph type="ftr" sz="quarter" idx="11"/>
          </p:nvPr>
        </p:nvSpPr>
        <p:spPr/>
        <p:txBody>
          <a:bodyPr/>
          <a:lstStyle/>
          <a:p>
            <a:endParaRPr lang="fr-TG"/>
          </a:p>
        </p:txBody>
      </p:sp>
      <p:sp>
        <p:nvSpPr>
          <p:cNvPr id="6" name="Espace réservé du numéro de diapositive 5">
            <a:extLst>
              <a:ext uri="{FF2B5EF4-FFF2-40B4-BE49-F238E27FC236}">
                <a16:creationId xmlns:a16="http://schemas.microsoft.com/office/drawing/2014/main" id="{DDC84DB1-550B-553A-1372-EA3F7AB604EE}"/>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1294334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DA9439-69B4-E4ED-E2EA-D771D8E60208}"/>
              </a:ext>
            </a:extLst>
          </p:cNvPr>
          <p:cNvSpPr>
            <a:spLocks noGrp="1"/>
          </p:cNvSpPr>
          <p:nvPr>
            <p:ph type="title"/>
          </p:nvPr>
        </p:nvSpPr>
        <p:spPr/>
        <p:txBody>
          <a:bodyPr/>
          <a:lstStyle/>
          <a:p>
            <a:r>
              <a:rPr lang="fr-FR"/>
              <a:t>Modifiez le style du titre</a:t>
            </a:r>
            <a:endParaRPr lang="fr-TG"/>
          </a:p>
        </p:txBody>
      </p:sp>
      <p:sp>
        <p:nvSpPr>
          <p:cNvPr id="3" name="Espace réservé du contenu 2">
            <a:extLst>
              <a:ext uri="{FF2B5EF4-FFF2-40B4-BE49-F238E27FC236}">
                <a16:creationId xmlns:a16="http://schemas.microsoft.com/office/drawing/2014/main" id="{95CE5268-A15F-17F0-75ED-591CEB53F9D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u contenu 3">
            <a:extLst>
              <a:ext uri="{FF2B5EF4-FFF2-40B4-BE49-F238E27FC236}">
                <a16:creationId xmlns:a16="http://schemas.microsoft.com/office/drawing/2014/main" id="{75ADA95A-B9D5-6F3F-12CD-766DE4D1A6FA}"/>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5" name="Espace réservé de la date 4">
            <a:extLst>
              <a:ext uri="{FF2B5EF4-FFF2-40B4-BE49-F238E27FC236}">
                <a16:creationId xmlns:a16="http://schemas.microsoft.com/office/drawing/2014/main" id="{74A79014-7DFC-7590-645E-DDE6975B84C3}"/>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6" name="Espace réservé du pied de page 5">
            <a:extLst>
              <a:ext uri="{FF2B5EF4-FFF2-40B4-BE49-F238E27FC236}">
                <a16:creationId xmlns:a16="http://schemas.microsoft.com/office/drawing/2014/main" id="{71A1E95C-2EB0-0984-8D3F-2149DED41966}"/>
              </a:ext>
            </a:extLst>
          </p:cNvPr>
          <p:cNvSpPr>
            <a:spLocks noGrp="1"/>
          </p:cNvSpPr>
          <p:nvPr>
            <p:ph type="ftr" sz="quarter" idx="11"/>
          </p:nvPr>
        </p:nvSpPr>
        <p:spPr/>
        <p:txBody>
          <a:bodyPr/>
          <a:lstStyle/>
          <a:p>
            <a:endParaRPr lang="fr-TG"/>
          </a:p>
        </p:txBody>
      </p:sp>
      <p:sp>
        <p:nvSpPr>
          <p:cNvPr id="7" name="Espace réservé du numéro de diapositive 6">
            <a:extLst>
              <a:ext uri="{FF2B5EF4-FFF2-40B4-BE49-F238E27FC236}">
                <a16:creationId xmlns:a16="http://schemas.microsoft.com/office/drawing/2014/main" id="{002B6206-7488-F963-9EC4-BF6FB74488B4}"/>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1662062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9EEDD0-0C20-3973-F8E7-36FC139C12FE}"/>
              </a:ext>
            </a:extLst>
          </p:cNvPr>
          <p:cNvSpPr>
            <a:spLocks noGrp="1"/>
          </p:cNvSpPr>
          <p:nvPr>
            <p:ph type="title"/>
          </p:nvPr>
        </p:nvSpPr>
        <p:spPr>
          <a:xfrm>
            <a:off x="839788" y="365125"/>
            <a:ext cx="10515600" cy="1325563"/>
          </a:xfrm>
        </p:spPr>
        <p:txBody>
          <a:bodyPr/>
          <a:lstStyle/>
          <a:p>
            <a:r>
              <a:rPr lang="fr-FR"/>
              <a:t>Modifiez le style du titre</a:t>
            </a:r>
            <a:endParaRPr lang="fr-TG"/>
          </a:p>
        </p:txBody>
      </p:sp>
      <p:sp>
        <p:nvSpPr>
          <p:cNvPr id="3" name="Espace réservé du texte 2">
            <a:extLst>
              <a:ext uri="{FF2B5EF4-FFF2-40B4-BE49-F238E27FC236}">
                <a16:creationId xmlns:a16="http://schemas.microsoft.com/office/drawing/2014/main" id="{14557396-373C-C4FA-A464-71CCEADCEF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0C71F8E-65F3-571A-23C7-4F1231C044B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5" name="Espace réservé du texte 4">
            <a:extLst>
              <a:ext uri="{FF2B5EF4-FFF2-40B4-BE49-F238E27FC236}">
                <a16:creationId xmlns:a16="http://schemas.microsoft.com/office/drawing/2014/main" id="{28EF1C82-FB18-BDBD-E427-2592DA9644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26A1FFB-ACA3-67DE-08F1-F2F44A4AFDD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7" name="Espace réservé de la date 6">
            <a:extLst>
              <a:ext uri="{FF2B5EF4-FFF2-40B4-BE49-F238E27FC236}">
                <a16:creationId xmlns:a16="http://schemas.microsoft.com/office/drawing/2014/main" id="{57113F85-F4AB-B8E8-8709-98188A9F2B81}"/>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8" name="Espace réservé du pied de page 7">
            <a:extLst>
              <a:ext uri="{FF2B5EF4-FFF2-40B4-BE49-F238E27FC236}">
                <a16:creationId xmlns:a16="http://schemas.microsoft.com/office/drawing/2014/main" id="{F84CB32C-1B06-9B0A-581D-8CAB94D6257F}"/>
              </a:ext>
            </a:extLst>
          </p:cNvPr>
          <p:cNvSpPr>
            <a:spLocks noGrp="1"/>
          </p:cNvSpPr>
          <p:nvPr>
            <p:ph type="ftr" sz="quarter" idx="11"/>
          </p:nvPr>
        </p:nvSpPr>
        <p:spPr/>
        <p:txBody>
          <a:bodyPr/>
          <a:lstStyle/>
          <a:p>
            <a:endParaRPr lang="fr-TG"/>
          </a:p>
        </p:txBody>
      </p:sp>
      <p:sp>
        <p:nvSpPr>
          <p:cNvPr id="9" name="Espace réservé du numéro de diapositive 8">
            <a:extLst>
              <a:ext uri="{FF2B5EF4-FFF2-40B4-BE49-F238E27FC236}">
                <a16:creationId xmlns:a16="http://schemas.microsoft.com/office/drawing/2014/main" id="{310858E9-CB84-B3C9-F679-2D0AD807B8EC}"/>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3719315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510C7D-8186-3F1D-0C9F-FCC2B89CE821}"/>
              </a:ext>
            </a:extLst>
          </p:cNvPr>
          <p:cNvSpPr>
            <a:spLocks noGrp="1"/>
          </p:cNvSpPr>
          <p:nvPr>
            <p:ph type="title"/>
          </p:nvPr>
        </p:nvSpPr>
        <p:spPr/>
        <p:txBody>
          <a:bodyPr/>
          <a:lstStyle/>
          <a:p>
            <a:r>
              <a:rPr lang="fr-FR"/>
              <a:t>Modifiez le style du titre</a:t>
            </a:r>
            <a:endParaRPr lang="fr-TG"/>
          </a:p>
        </p:txBody>
      </p:sp>
      <p:sp>
        <p:nvSpPr>
          <p:cNvPr id="3" name="Espace réservé de la date 2">
            <a:extLst>
              <a:ext uri="{FF2B5EF4-FFF2-40B4-BE49-F238E27FC236}">
                <a16:creationId xmlns:a16="http://schemas.microsoft.com/office/drawing/2014/main" id="{A77CB34A-7AB9-A272-CE73-7E6CD3EC6103}"/>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4" name="Espace réservé du pied de page 3">
            <a:extLst>
              <a:ext uri="{FF2B5EF4-FFF2-40B4-BE49-F238E27FC236}">
                <a16:creationId xmlns:a16="http://schemas.microsoft.com/office/drawing/2014/main" id="{B015097A-09C9-4DF6-749D-9206DF401891}"/>
              </a:ext>
            </a:extLst>
          </p:cNvPr>
          <p:cNvSpPr>
            <a:spLocks noGrp="1"/>
          </p:cNvSpPr>
          <p:nvPr>
            <p:ph type="ftr" sz="quarter" idx="11"/>
          </p:nvPr>
        </p:nvSpPr>
        <p:spPr/>
        <p:txBody>
          <a:bodyPr/>
          <a:lstStyle/>
          <a:p>
            <a:endParaRPr lang="fr-TG"/>
          </a:p>
        </p:txBody>
      </p:sp>
      <p:sp>
        <p:nvSpPr>
          <p:cNvPr id="5" name="Espace réservé du numéro de diapositive 4">
            <a:extLst>
              <a:ext uri="{FF2B5EF4-FFF2-40B4-BE49-F238E27FC236}">
                <a16:creationId xmlns:a16="http://schemas.microsoft.com/office/drawing/2014/main" id="{A8317428-CD38-AE7A-CE53-FF968475FE6E}"/>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3175373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E6B29CA-C618-5298-5807-A978634191EF}"/>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3" name="Espace réservé du pied de page 2">
            <a:extLst>
              <a:ext uri="{FF2B5EF4-FFF2-40B4-BE49-F238E27FC236}">
                <a16:creationId xmlns:a16="http://schemas.microsoft.com/office/drawing/2014/main" id="{DEA6F3EF-61D5-028F-2AD2-731C23E4C715}"/>
              </a:ext>
            </a:extLst>
          </p:cNvPr>
          <p:cNvSpPr>
            <a:spLocks noGrp="1"/>
          </p:cNvSpPr>
          <p:nvPr>
            <p:ph type="ftr" sz="quarter" idx="11"/>
          </p:nvPr>
        </p:nvSpPr>
        <p:spPr/>
        <p:txBody>
          <a:bodyPr/>
          <a:lstStyle/>
          <a:p>
            <a:endParaRPr lang="fr-TG"/>
          </a:p>
        </p:txBody>
      </p:sp>
      <p:sp>
        <p:nvSpPr>
          <p:cNvPr id="4" name="Espace réservé du numéro de diapositive 3">
            <a:extLst>
              <a:ext uri="{FF2B5EF4-FFF2-40B4-BE49-F238E27FC236}">
                <a16:creationId xmlns:a16="http://schemas.microsoft.com/office/drawing/2014/main" id="{2C5B395B-A76D-6C55-202E-634B4A68CEAE}"/>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2584359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CC579C-5BE3-2B04-5BC8-FB9C00A18A3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TG"/>
          </a:p>
        </p:txBody>
      </p:sp>
      <p:sp>
        <p:nvSpPr>
          <p:cNvPr id="3" name="Espace réservé du contenu 2">
            <a:extLst>
              <a:ext uri="{FF2B5EF4-FFF2-40B4-BE49-F238E27FC236}">
                <a16:creationId xmlns:a16="http://schemas.microsoft.com/office/drawing/2014/main" id="{7ECA8810-2026-0072-0EE3-C7FB398F9C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u texte 3">
            <a:extLst>
              <a:ext uri="{FF2B5EF4-FFF2-40B4-BE49-F238E27FC236}">
                <a16:creationId xmlns:a16="http://schemas.microsoft.com/office/drawing/2014/main" id="{2A04891A-43C9-B132-CE50-1843DF2425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1093A6D-9562-80AD-EFDB-5B1934405D89}"/>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6" name="Espace réservé du pied de page 5">
            <a:extLst>
              <a:ext uri="{FF2B5EF4-FFF2-40B4-BE49-F238E27FC236}">
                <a16:creationId xmlns:a16="http://schemas.microsoft.com/office/drawing/2014/main" id="{155A6EA5-1455-25CB-7651-3A1554C6063A}"/>
              </a:ext>
            </a:extLst>
          </p:cNvPr>
          <p:cNvSpPr>
            <a:spLocks noGrp="1"/>
          </p:cNvSpPr>
          <p:nvPr>
            <p:ph type="ftr" sz="quarter" idx="11"/>
          </p:nvPr>
        </p:nvSpPr>
        <p:spPr/>
        <p:txBody>
          <a:bodyPr/>
          <a:lstStyle/>
          <a:p>
            <a:endParaRPr lang="fr-TG"/>
          </a:p>
        </p:txBody>
      </p:sp>
      <p:sp>
        <p:nvSpPr>
          <p:cNvPr id="7" name="Espace réservé du numéro de diapositive 6">
            <a:extLst>
              <a:ext uri="{FF2B5EF4-FFF2-40B4-BE49-F238E27FC236}">
                <a16:creationId xmlns:a16="http://schemas.microsoft.com/office/drawing/2014/main" id="{A7937CDB-44FC-12AA-25BF-7B1AFD2D2B42}"/>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1134459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689E82-2AE7-F825-2724-B190254E14C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TG"/>
          </a:p>
        </p:txBody>
      </p:sp>
      <p:sp>
        <p:nvSpPr>
          <p:cNvPr id="3" name="Espace réservé pour une image  2">
            <a:extLst>
              <a:ext uri="{FF2B5EF4-FFF2-40B4-BE49-F238E27FC236}">
                <a16:creationId xmlns:a16="http://schemas.microsoft.com/office/drawing/2014/main" id="{6BA5BB8F-78AA-2505-F253-0BBC52FAE8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TG"/>
          </a:p>
        </p:txBody>
      </p:sp>
      <p:sp>
        <p:nvSpPr>
          <p:cNvPr id="4" name="Espace réservé du texte 3">
            <a:extLst>
              <a:ext uri="{FF2B5EF4-FFF2-40B4-BE49-F238E27FC236}">
                <a16:creationId xmlns:a16="http://schemas.microsoft.com/office/drawing/2014/main" id="{A5675540-AFBA-9AA6-398F-A39B2C86B1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2BA86D3-2BB7-9DBC-DAAD-2E38761E38B0}"/>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6" name="Espace réservé du pied de page 5">
            <a:extLst>
              <a:ext uri="{FF2B5EF4-FFF2-40B4-BE49-F238E27FC236}">
                <a16:creationId xmlns:a16="http://schemas.microsoft.com/office/drawing/2014/main" id="{BA9EDF5C-A2A2-5A09-288C-FCC99DA9945B}"/>
              </a:ext>
            </a:extLst>
          </p:cNvPr>
          <p:cNvSpPr>
            <a:spLocks noGrp="1"/>
          </p:cNvSpPr>
          <p:nvPr>
            <p:ph type="ftr" sz="quarter" idx="11"/>
          </p:nvPr>
        </p:nvSpPr>
        <p:spPr/>
        <p:txBody>
          <a:bodyPr/>
          <a:lstStyle/>
          <a:p>
            <a:endParaRPr lang="fr-TG"/>
          </a:p>
        </p:txBody>
      </p:sp>
      <p:sp>
        <p:nvSpPr>
          <p:cNvPr id="7" name="Espace réservé du numéro de diapositive 6">
            <a:extLst>
              <a:ext uri="{FF2B5EF4-FFF2-40B4-BE49-F238E27FC236}">
                <a16:creationId xmlns:a16="http://schemas.microsoft.com/office/drawing/2014/main" id="{32273562-04B9-8F4A-BF23-53434A644740}"/>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226133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067697-C04A-4611-EE03-BCCCF49524CF}"/>
              </a:ext>
            </a:extLst>
          </p:cNvPr>
          <p:cNvSpPr>
            <a:spLocks noGrp="1"/>
          </p:cNvSpPr>
          <p:nvPr>
            <p:ph type="title"/>
          </p:nvPr>
        </p:nvSpPr>
        <p:spPr/>
        <p:txBody>
          <a:bodyPr/>
          <a:lstStyle/>
          <a:p>
            <a:r>
              <a:rPr lang="fr-FR"/>
              <a:t>Modifiez le style du titre</a:t>
            </a:r>
            <a:endParaRPr lang="fr-TG"/>
          </a:p>
        </p:txBody>
      </p:sp>
      <p:sp>
        <p:nvSpPr>
          <p:cNvPr id="3" name="Espace réservé du texte vertical 2">
            <a:extLst>
              <a:ext uri="{FF2B5EF4-FFF2-40B4-BE49-F238E27FC236}">
                <a16:creationId xmlns:a16="http://schemas.microsoft.com/office/drawing/2014/main" id="{8D5EA54C-A428-2BBA-25ED-012F57CED86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e la date 3">
            <a:extLst>
              <a:ext uri="{FF2B5EF4-FFF2-40B4-BE49-F238E27FC236}">
                <a16:creationId xmlns:a16="http://schemas.microsoft.com/office/drawing/2014/main" id="{6C368637-24A7-2031-52C0-D503341C3534}"/>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5" name="Espace réservé du pied de page 4">
            <a:extLst>
              <a:ext uri="{FF2B5EF4-FFF2-40B4-BE49-F238E27FC236}">
                <a16:creationId xmlns:a16="http://schemas.microsoft.com/office/drawing/2014/main" id="{1795C1FD-4BD5-F0A1-3500-4EB3D937D0EB}"/>
              </a:ext>
            </a:extLst>
          </p:cNvPr>
          <p:cNvSpPr>
            <a:spLocks noGrp="1"/>
          </p:cNvSpPr>
          <p:nvPr>
            <p:ph type="ftr" sz="quarter" idx="11"/>
          </p:nvPr>
        </p:nvSpPr>
        <p:spPr/>
        <p:txBody>
          <a:bodyPr/>
          <a:lstStyle/>
          <a:p>
            <a:endParaRPr lang="fr-TG"/>
          </a:p>
        </p:txBody>
      </p:sp>
      <p:sp>
        <p:nvSpPr>
          <p:cNvPr id="6" name="Espace réservé du numéro de diapositive 5">
            <a:extLst>
              <a:ext uri="{FF2B5EF4-FFF2-40B4-BE49-F238E27FC236}">
                <a16:creationId xmlns:a16="http://schemas.microsoft.com/office/drawing/2014/main" id="{7D9E9426-F17F-FAAA-32CB-8207B5603900}"/>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532811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7626048-C750-8DBA-5638-881AEF46F8F9}"/>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TG"/>
          </a:p>
        </p:txBody>
      </p:sp>
      <p:sp>
        <p:nvSpPr>
          <p:cNvPr id="3" name="Espace réservé du texte vertical 2">
            <a:extLst>
              <a:ext uri="{FF2B5EF4-FFF2-40B4-BE49-F238E27FC236}">
                <a16:creationId xmlns:a16="http://schemas.microsoft.com/office/drawing/2014/main" id="{DDA740E2-34C0-D712-9F26-7029D6672CA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e la date 3">
            <a:extLst>
              <a:ext uri="{FF2B5EF4-FFF2-40B4-BE49-F238E27FC236}">
                <a16:creationId xmlns:a16="http://schemas.microsoft.com/office/drawing/2014/main" id="{6B18E1B9-78C0-246F-5974-F5BD775989EB}"/>
              </a:ext>
            </a:extLst>
          </p:cNvPr>
          <p:cNvSpPr>
            <a:spLocks noGrp="1"/>
          </p:cNvSpPr>
          <p:nvPr>
            <p:ph type="dt" sz="half" idx="10"/>
          </p:nvPr>
        </p:nvSpPr>
        <p:spPr/>
        <p:txBody>
          <a:bodyPr/>
          <a:lstStyle/>
          <a:p>
            <a:fld id="{450DC38A-1DFC-4852-843C-E81D8344641F}" type="datetimeFigureOut">
              <a:rPr lang="fr-TG" smtClean="0"/>
              <a:t>04/11/2025</a:t>
            </a:fld>
            <a:endParaRPr lang="fr-TG"/>
          </a:p>
        </p:txBody>
      </p:sp>
      <p:sp>
        <p:nvSpPr>
          <p:cNvPr id="5" name="Espace réservé du pied de page 4">
            <a:extLst>
              <a:ext uri="{FF2B5EF4-FFF2-40B4-BE49-F238E27FC236}">
                <a16:creationId xmlns:a16="http://schemas.microsoft.com/office/drawing/2014/main" id="{884F2C1E-17BA-61C6-3EDC-C3B854352F6C}"/>
              </a:ext>
            </a:extLst>
          </p:cNvPr>
          <p:cNvSpPr>
            <a:spLocks noGrp="1"/>
          </p:cNvSpPr>
          <p:nvPr>
            <p:ph type="ftr" sz="quarter" idx="11"/>
          </p:nvPr>
        </p:nvSpPr>
        <p:spPr/>
        <p:txBody>
          <a:bodyPr/>
          <a:lstStyle/>
          <a:p>
            <a:endParaRPr lang="fr-TG"/>
          </a:p>
        </p:txBody>
      </p:sp>
      <p:sp>
        <p:nvSpPr>
          <p:cNvPr id="6" name="Espace réservé du numéro de diapositive 5">
            <a:extLst>
              <a:ext uri="{FF2B5EF4-FFF2-40B4-BE49-F238E27FC236}">
                <a16:creationId xmlns:a16="http://schemas.microsoft.com/office/drawing/2014/main" id="{7B568B4A-A3D0-01F7-F73C-487CD5DB7904}"/>
              </a:ext>
            </a:extLst>
          </p:cNvPr>
          <p:cNvSpPr>
            <a:spLocks noGrp="1"/>
          </p:cNvSpPr>
          <p:nvPr>
            <p:ph type="sldNum" sz="quarter" idx="12"/>
          </p:nvPr>
        </p:nvSpPr>
        <p:spPr/>
        <p:txBody>
          <a:bodyPr/>
          <a:lstStyle/>
          <a:p>
            <a:fld id="{33473C04-4025-4775-B9B9-B742B2A3D368}" type="slidenum">
              <a:rPr lang="fr-TG" smtClean="0"/>
              <a:t>‹N°›</a:t>
            </a:fld>
            <a:endParaRPr lang="fr-TG"/>
          </a:p>
        </p:txBody>
      </p:sp>
    </p:spTree>
    <p:extLst>
      <p:ext uri="{BB962C8B-B14F-4D97-AF65-F5344CB8AC3E}">
        <p14:creationId xmlns:p14="http://schemas.microsoft.com/office/powerpoint/2010/main" val="39415487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B05EFED-0E07-FBB7-4F16-5F8FB8C9BE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TG"/>
          </a:p>
        </p:txBody>
      </p:sp>
      <p:sp>
        <p:nvSpPr>
          <p:cNvPr id="3" name="Espace réservé du texte 2">
            <a:extLst>
              <a:ext uri="{FF2B5EF4-FFF2-40B4-BE49-F238E27FC236}">
                <a16:creationId xmlns:a16="http://schemas.microsoft.com/office/drawing/2014/main" id="{91549BA7-8F3D-BC84-9B98-244BCD6D3F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TG"/>
          </a:p>
        </p:txBody>
      </p:sp>
      <p:sp>
        <p:nvSpPr>
          <p:cNvPr id="4" name="Espace réservé de la date 3">
            <a:extLst>
              <a:ext uri="{FF2B5EF4-FFF2-40B4-BE49-F238E27FC236}">
                <a16:creationId xmlns:a16="http://schemas.microsoft.com/office/drawing/2014/main" id="{D6E11312-8A26-6D03-12A5-A0C4220491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0DC38A-1DFC-4852-843C-E81D8344641F}" type="datetimeFigureOut">
              <a:rPr lang="fr-TG" smtClean="0"/>
              <a:t>04/11/2025</a:t>
            </a:fld>
            <a:endParaRPr lang="fr-TG"/>
          </a:p>
        </p:txBody>
      </p:sp>
      <p:sp>
        <p:nvSpPr>
          <p:cNvPr id="5" name="Espace réservé du pied de page 4">
            <a:extLst>
              <a:ext uri="{FF2B5EF4-FFF2-40B4-BE49-F238E27FC236}">
                <a16:creationId xmlns:a16="http://schemas.microsoft.com/office/drawing/2014/main" id="{70F2A77D-4E62-BDD6-51E1-D166AB48AF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TG"/>
          </a:p>
        </p:txBody>
      </p:sp>
      <p:sp>
        <p:nvSpPr>
          <p:cNvPr id="6" name="Espace réservé du numéro de diapositive 5">
            <a:extLst>
              <a:ext uri="{FF2B5EF4-FFF2-40B4-BE49-F238E27FC236}">
                <a16:creationId xmlns:a16="http://schemas.microsoft.com/office/drawing/2014/main" id="{A3963DD2-5D4C-25D4-7728-57E56C6D3D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473C04-4025-4775-B9B9-B742B2A3D368}" type="slidenum">
              <a:rPr lang="fr-TG" smtClean="0"/>
              <a:t>‹N°›</a:t>
            </a:fld>
            <a:endParaRPr lang="fr-TG"/>
          </a:p>
        </p:txBody>
      </p:sp>
    </p:spTree>
    <p:extLst>
      <p:ext uri="{BB962C8B-B14F-4D97-AF65-F5344CB8AC3E}">
        <p14:creationId xmlns:p14="http://schemas.microsoft.com/office/powerpoint/2010/main" val="2820152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T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9D4383AC-0DEB-B3D8-05D6-CE219EAC1484}"/>
              </a:ext>
            </a:extLst>
          </p:cNvPr>
          <p:cNvPicPr>
            <a:picLocks noChangeAspect="1"/>
          </p:cNvPicPr>
          <p:nvPr/>
        </p:nvPicPr>
        <p:blipFill>
          <a:blip r:embed="rId2"/>
          <a:srcRect l="36000" t="30760" r="29384" b="22242"/>
          <a:stretch/>
        </p:blipFill>
        <p:spPr>
          <a:xfrm>
            <a:off x="365760" y="1997614"/>
            <a:ext cx="6287385" cy="4783458"/>
          </a:xfrm>
          <a:prstGeom prst="rect">
            <a:avLst/>
          </a:prstGeom>
        </p:spPr>
      </p:pic>
      <p:pic>
        <p:nvPicPr>
          <p:cNvPr id="7" name="Image 6">
            <a:extLst>
              <a:ext uri="{FF2B5EF4-FFF2-40B4-BE49-F238E27FC236}">
                <a16:creationId xmlns:a16="http://schemas.microsoft.com/office/drawing/2014/main" id="{1F277BEA-84EB-199A-1E10-2D78FE116DA7}"/>
              </a:ext>
            </a:extLst>
          </p:cNvPr>
          <p:cNvPicPr>
            <a:picLocks noChangeAspect="1"/>
          </p:cNvPicPr>
          <p:nvPr/>
        </p:nvPicPr>
        <p:blipFill>
          <a:blip r:embed="rId3"/>
          <a:srcRect l="36461" t="21729" r="27538" b="34352"/>
          <a:stretch/>
        </p:blipFill>
        <p:spPr>
          <a:xfrm>
            <a:off x="6865034" y="1885072"/>
            <a:ext cx="5176911" cy="4896000"/>
          </a:xfrm>
          <a:prstGeom prst="rect">
            <a:avLst/>
          </a:prstGeom>
        </p:spPr>
      </p:pic>
      <p:sp>
        <p:nvSpPr>
          <p:cNvPr id="8" name="Rectangle 7">
            <a:extLst>
              <a:ext uri="{FF2B5EF4-FFF2-40B4-BE49-F238E27FC236}">
                <a16:creationId xmlns:a16="http://schemas.microsoft.com/office/drawing/2014/main" id="{AF597BCD-1D6C-4F15-1A0D-AFCCA8EF754E}"/>
              </a:ext>
            </a:extLst>
          </p:cNvPr>
          <p:cNvSpPr/>
          <p:nvPr/>
        </p:nvSpPr>
        <p:spPr>
          <a:xfrm>
            <a:off x="0" y="1350498"/>
            <a:ext cx="12191999" cy="351693"/>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ETUDE QUANTITATIVE ET QUALITATIVE DANS LES RECHERCHES</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2529450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B4BAF-9DD8-F4EE-D264-0D039D5905C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D64C2ED-E72E-22E9-AEDD-84DB472896AF}"/>
              </a:ext>
            </a:extLst>
          </p:cNvPr>
          <p:cNvSpPr/>
          <p:nvPr/>
        </p:nvSpPr>
        <p:spPr>
          <a:xfrm>
            <a:off x="0" y="1350498"/>
            <a:ext cx="12191999" cy="351693"/>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OBJECTIFS PEDAGOGIQUES</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040D7467-B6F6-CF5D-B8FB-4AD7B7EE46CE}"/>
              </a:ext>
            </a:extLst>
          </p:cNvPr>
          <p:cNvSpPr txBox="1"/>
          <p:nvPr/>
        </p:nvSpPr>
        <p:spPr>
          <a:xfrm>
            <a:off x="250872" y="1828562"/>
            <a:ext cx="11690253" cy="5047536"/>
          </a:xfrm>
          <a:prstGeom prst="rect">
            <a:avLst/>
          </a:prstGeom>
          <a:noFill/>
        </p:spPr>
        <p:txBody>
          <a:bodyPr wrap="square">
            <a:spAutoFit/>
          </a:bodyPr>
          <a:lstStyle/>
          <a:p>
            <a:pPr algn="just"/>
            <a:r>
              <a:rPr lang="fr-FR" sz="2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Ce cours vise à introduire les concepts et méthodes fondamentaux des études quantitatives et qualitatives, en particulier dans le cadre des sciences sociales et des études de marché. Les étudiants apprendront à mener des études statistiques et à interpréter des données qualitatives à partir d'enquêtes, d'entretiens et d'observations. </a:t>
            </a:r>
          </a:p>
          <a:p>
            <a:pPr algn="just"/>
            <a:r>
              <a:rPr lang="fr-FR" sz="2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À l'issue de ce cours, l'étudiant doit être capable de : </a:t>
            </a:r>
            <a:endParaRPr lang="fr-FR" i="0" u="none" strike="noStrike" baseline="0" dirty="0">
              <a:ln w="0"/>
              <a:effectLst>
                <a:outerShdw blurRad="38100" dist="19050" dir="2700000" algn="tl" rotWithShape="0">
                  <a:schemeClr val="dk1">
                    <a:alpha val="40000"/>
                  </a:schemeClr>
                </a:outerShdw>
              </a:effectLst>
              <a:latin typeface="Berlin Sans FB" panose="020E0602020502020306" pitchFamily="34" charset="0"/>
            </a:endParaRPr>
          </a:p>
          <a:p>
            <a:pPr algn="just"/>
            <a:endParaRPr lang="fr-FR" sz="1600" i="0" u="none" strike="noStrike" baseline="0" dirty="0">
              <a:ln w="0"/>
              <a:effectLst>
                <a:outerShdw blurRad="38100" dist="19050" dir="2700000" algn="tl" rotWithShape="0">
                  <a:schemeClr val="dk1">
                    <a:alpha val="40000"/>
                  </a:schemeClr>
                </a:outerShdw>
              </a:effectLst>
              <a:latin typeface="Berlin Sans FB" panose="020E0602020502020306" pitchFamily="34" charset="0"/>
            </a:endParaRPr>
          </a:p>
          <a:p>
            <a:pPr algn="just"/>
            <a:r>
              <a:rPr lang="fr-FR" sz="2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Connaître les différences entre les études quantitatives et qualitatives ainsi que leurs domaines d'application. </a:t>
            </a:r>
            <a:endParaRPr lang="fr-FR" sz="1600" i="0" u="none" strike="noStrike" baseline="0" dirty="0">
              <a:ln w="0"/>
              <a:effectLst>
                <a:outerShdw blurRad="38100" dist="19050" dir="2700000" algn="tl" rotWithShape="0">
                  <a:schemeClr val="dk1">
                    <a:alpha val="40000"/>
                  </a:schemeClr>
                </a:outerShdw>
              </a:effectLst>
              <a:latin typeface="Berlin Sans FB" panose="020E0602020502020306" pitchFamily="34" charset="0"/>
            </a:endParaRPr>
          </a:p>
          <a:p>
            <a:pPr algn="just"/>
            <a:endParaRPr lang="fr-FR" sz="1400" i="0" u="none" strike="noStrike" baseline="0" dirty="0">
              <a:ln w="0"/>
              <a:effectLst>
                <a:outerShdw blurRad="38100" dist="19050" dir="2700000" algn="tl" rotWithShape="0">
                  <a:schemeClr val="dk1">
                    <a:alpha val="40000"/>
                  </a:schemeClr>
                </a:outerShdw>
              </a:effectLst>
              <a:latin typeface="Berlin Sans FB" panose="020E0602020502020306" pitchFamily="34" charset="0"/>
            </a:endParaRPr>
          </a:p>
          <a:p>
            <a:pPr algn="just"/>
            <a:r>
              <a:rPr lang="fr-FR" sz="2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Concevoir et mettre en œuvre des enquêtes quantitatives (sondages, questionnaires) et qualitatives (entretiens, focus groups). </a:t>
            </a:r>
          </a:p>
          <a:p>
            <a:pPr algn="just"/>
            <a:endParaRPr lang="fr-FR" sz="2000" i="0" u="none" strike="noStrike" baseline="0" dirty="0">
              <a:ln w="0"/>
              <a:effectLst>
                <a:outerShdw blurRad="38100" dist="19050" dir="2700000" algn="tl" rotWithShape="0">
                  <a:schemeClr val="dk1">
                    <a:alpha val="40000"/>
                  </a:schemeClr>
                </a:outerShdw>
              </a:effectLst>
              <a:latin typeface="Berlin Sans FB" panose="020E0602020502020306" pitchFamily="34" charset="0"/>
            </a:endParaRPr>
          </a:p>
          <a:p>
            <a:pPr algn="just"/>
            <a:r>
              <a:rPr lang="fr-FR" sz="2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Analyser et interpréter les données quantitatives et qualitatives avec les outils appropriés. </a:t>
            </a:r>
          </a:p>
          <a:p>
            <a:pPr algn="just"/>
            <a:r>
              <a:rPr lang="fr-FR" sz="2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Présenter des résultats d’étude de manière claire et convaincante. </a:t>
            </a:r>
          </a:p>
        </p:txBody>
      </p:sp>
    </p:spTree>
    <p:extLst>
      <p:ext uri="{BB962C8B-B14F-4D97-AF65-F5344CB8AC3E}">
        <p14:creationId xmlns:p14="http://schemas.microsoft.com/office/powerpoint/2010/main" val="1245897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10FC8-EB0C-2936-A4A7-ED00CCCB8E70}"/>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AF8A25CA-8E71-EF8A-65D0-481B53FAE366}"/>
              </a:ext>
            </a:extLst>
          </p:cNvPr>
          <p:cNvSpPr txBox="1"/>
          <p:nvPr/>
        </p:nvSpPr>
        <p:spPr>
          <a:xfrm>
            <a:off x="572122" y="265233"/>
            <a:ext cx="10628025" cy="6592767"/>
          </a:xfrm>
          <a:prstGeom prst="rect">
            <a:avLst/>
          </a:prstGeom>
          <a:noFill/>
        </p:spPr>
        <p:txBody>
          <a:bodyPr wrap="square">
            <a:spAutoFit/>
          </a:bodyPr>
          <a:lstStyle/>
          <a:p>
            <a:pPr algn="just">
              <a:lnSpc>
                <a:spcPct val="107000"/>
              </a:lnSpc>
              <a:spcAft>
                <a:spcPts val="800"/>
              </a:spcAft>
              <a:buNone/>
            </a:pPr>
            <a:r>
              <a:rPr lang="fr-TG" sz="24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rPr>
              <a:t>OBJECTIFS PÉDAGOGIQUES</a:t>
            </a:r>
            <a:endParaRPr lang="fr-TG"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endParaRPr>
          </a:p>
          <a:p>
            <a:pPr marL="342900" lvl="0" indent="-342900" algn="just">
              <a:lnSpc>
                <a:spcPct val="115000"/>
              </a:lnSpc>
              <a:spcAft>
                <a:spcPts val="800"/>
              </a:spcAft>
              <a:buSzPts val="1000"/>
              <a:buFont typeface="Times New Roman" panose="02020603050405020304" pitchFamily="18" charset="0"/>
              <a:buChar char="-"/>
              <a:tabLst>
                <a:tab pos="228600" algn="l"/>
              </a:tabLst>
            </a:pPr>
            <a:r>
              <a:rPr lang="fr-TG" sz="28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rPr>
              <a:t>Maîtriser les deux approches de recherche (quantitative et qualitative).</a:t>
            </a:r>
            <a:endParaRPr lang="fr-TG" sz="20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endParaRPr>
          </a:p>
          <a:p>
            <a:pPr marL="342900" lvl="0" indent="-342900" algn="just">
              <a:lnSpc>
                <a:spcPct val="115000"/>
              </a:lnSpc>
              <a:spcAft>
                <a:spcPts val="800"/>
              </a:spcAft>
              <a:buSzPts val="1000"/>
              <a:buFont typeface="Times New Roman" panose="02020603050405020304" pitchFamily="18" charset="0"/>
              <a:buChar char="-"/>
              <a:tabLst>
                <a:tab pos="228600" algn="l"/>
              </a:tabLst>
            </a:pPr>
            <a:r>
              <a:rPr lang="fr-TG" sz="28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rPr>
              <a:t>Apprendre à formuler une problématique et construire un protocole de recherche.</a:t>
            </a:r>
            <a:endParaRPr lang="fr-TG" sz="20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endParaRPr>
          </a:p>
          <a:p>
            <a:pPr marL="342900" lvl="0" indent="-342900" algn="just">
              <a:lnSpc>
                <a:spcPct val="115000"/>
              </a:lnSpc>
              <a:spcAft>
                <a:spcPts val="800"/>
              </a:spcAft>
              <a:buSzPts val="1000"/>
              <a:buFont typeface="Times New Roman" panose="02020603050405020304" pitchFamily="18" charset="0"/>
              <a:buChar char="-"/>
              <a:tabLst>
                <a:tab pos="228600" algn="l"/>
              </a:tabLst>
            </a:pPr>
            <a:r>
              <a:rPr lang="fr-TG" sz="28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rPr>
              <a:t>Être capable d’analyser des données pour appuyer des décisions professionnelles.</a:t>
            </a:r>
            <a:endParaRPr lang="fr-TG" sz="20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endParaRPr>
          </a:p>
          <a:p>
            <a:pPr algn="just">
              <a:lnSpc>
                <a:spcPct val="107000"/>
              </a:lnSpc>
              <a:spcAft>
                <a:spcPts val="800"/>
              </a:spcAft>
              <a:buNone/>
            </a:pPr>
            <a:r>
              <a:rPr lang="fr-TG" sz="28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rPr>
              <a:t>3. RÉSULTATS D’APPRENTISSAGE ATTENDUS</a:t>
            </a:r>
            <a:endParaRPr lang="fr-TG" sz="20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endParaRPr>
          </a:p>
          <a:p>
            <a:pPr marL="342900" lvl="0" indent="-342900" algn="just">
              <a:lnSpc>
                <a:spcPct val="115000"/>
              </a:lnSpc>
              <a:spcAft>
                <a:spcPts val="800"/>
              </a:spcAft>
              <a:buSzPts val="1000"/>
              <a:buFont typeface="Times New Roman" panose="02020603050405020304" pitchFamily="18" charset="0"/>
              <a:buChar char="-"/>
              <a:tabLst>
                <a:tab pos="228600" algn="l"/>
              </a:tabLst>
            </a:pPr>
            <a:r>
              <a:rPr lang="fr-TG" sz="28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rPr>
              <a:t>Savoir concevoir et administrer un questionnaire ou un guide d’entretien.</a:t>
            </a:r>
            <a:endParaRPr lang="fr-TG" sz="20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endParaRPr>
          </a:p>
          <a:p>
            <a:pPr marL="342900" lvl="0" indent="-342900" algn="just">
              <a:lnSpc>
                <a:spcPct val="115000"/>
              </a:lnSpc>
              <a:spcAft>
                <a:spcPts val="800"/>
              </a:spcAft>
              <a:buSzPts val="1000"/>
              <a:buFont typeface="Times New Roman" panose="02020603050405020304" pitchFamily="18" charset="0"/>
              <a:buChar char="-"/>
              <a:tabLst>
                <a:tab pos="228600" algn="l"/>
              </a:tabLst>
            </a:pPr>
            <a:r>
              <a:rPr lang="fr-TG" sz="28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rPr>
              <a:t>Savoir exploiter les données avec des outils numériques.</a:t>
            </a:r>
            <a:endParaRPr lang="fr-TG" sz="20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endParaRPr>
          </a:p>
          <a:p>
            <a:pPr marL="342900" lvl="0" indent="-342900" algn="just">
              <a:lnSpc>
                <a:spcPct val="115000"/>
              </a:lnSpc>
              <a:spcAft>
                <a:spcPts val="800"/>
              </a:spcAft>
              <a:buSzPts val="1000"/>
              <a:buFont typeface="Times New Roman" panose="02020603050405020304" pitchFamily="18" charset="0"/>
              <a:buChar char="-"/>
              <a:tabLst>
                <a:tab pos="228600" algn="l"/>
              </a:tabLst>
            </a:pPr>
            <a:r>
              <a:rPr lang="fr-TG" sz="2800"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rPr>
              <a:t>Rédiger et présenter un rapport d’étude scientifiquement structuré.</a:t>
            </a:r>
            <a:endParaRPr lang="fr-TG" b="1" kern="100" dirty="0">
              <a:ln w="0"/>
              <a:effectLst>
                <a:outerShdw blurRad="38100" dist="19050" dir="2700000" algn="tl" rotWithShape="0">
                  <a:schemeClr val="dk1">
                    <a:alpha val="40000"/>
                  </a:schemeClr>
                </a:outerShdw>
              </a:effectLst>
              <a:latin typeface="Time New Roman"/>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36150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DED05-443F-EE2B-8460-2A5726A2FEF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E88617-324F-3D85-5401-74ED4D9720EA}"/>
              </a:ext>
            </a:extLst>
          </p:cNvPr>
          <p:cNvSpPr/>
          <p:nvPr/>
        </p:nvSpPr>
        <p:spPr>
          <a:xfrm>
            <a:off x="0" y="1153546"/>
            <a:ext cx="12191999" cy="351693"/>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PLAN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2471BA4E-CBFB-78D4-452A-137E28F08CBA}"/>
              </a:ext>
            </a:extLst>
          </p:cNvPr>
          <p:cNvSpPr txBox="1"/>
          <p:nvPr/>
        </p:nvSpPr>
        <p:spPr>
          <a:xfrm>
            <a:off x="351105" y="2275229"/>
            <a:ext cx="11489788" cy="4062651"/>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48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 - </a:t>
            </a:r>
            <a:r>
              <a:rPr lang="fr-FR" sz="48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Introduction aux études quantitatives et qualitatives </a:t>
            </a:r>
          </a:p>
          <a:p>
            <a:pPr algn="ctr"/>
            <a:endParaRPr lang="fr-FR" sz="36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just"/>
            <a:r>
              <a:rPr lang="fr-FR" sz="36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I.1 - Distinction entre études quantitatives et qualitatives </a:t>
            </a:r>
          </a:p>
          <a:p>
            <a:pPr algn="just"/>
            <a:r>
              <a:rPr lang="fr-FR" sz="36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1.2 - Principes méthodologiques des deux approches </a:t>
            </a:r>
          </a:p>
          <a:p>
            <a:pPr algn="just"/>
            <a:r>
              <a:rPr lang="fr-FR" sz="36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1.3 - Avantages et limites de chaque méthode </a:t>
            </a:r>
          </a:p>
          <a:p>
            <a:endParaRPr lang="fr-TG" sz="1800" b="0" i="0" u="none" strike="noStrike" baseline="0" dirty="0">
              <a:solidFill>
                <a:srgbClr val="000000"/>
              </a:solidFill>
            </a:endParaRPr>
          </a:p>
        </p:txBody>
      </p:sp>
    </p:spTree>
    <p:extLst>
      <p:ext uri="{BB962C8B-B14F-4D97-AF65-F5344CB8AC3E}">
        <p14:creationId xmlns:p14="http://schemas.microsoft.com/office/powerpoint/2010/main" val="3269233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29ABF-96B4-6C4A-3EC3-CBF6688AB01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DC4FCB0-CA14-44D5-FC01-779B964C5A24}"/>
              </a:ext>
            </a:extLst>
          </p:cNvPr>
          <p:cNvSpPr/>
          <p:nvPr/>
        </p:nvSpPr>
        <p:spPr>
          <a:xfrm>
            <a:off x="0" y="1153546"/>
            <a:ext cx="12191999" cy="351693"/>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PLAN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E15F21C5-A5ED-7A48-5DFA-F51CAEBEEE85}"/>
              </a:ext>
            </a:extLst>
          </p:cNvPr>
          <p:cNvSpPr txBox="1"/>
          <p:nvPr/>
        </p:nvSpPr>
        <p:spPr>
          <a:xfrm>
            <a:off x="449579" y="1641803"/>
            <a:ext cx="11489788" cy="4185761"/>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48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II – </a:t>
            </a:r>
            <a:r>
              <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COLLECTE DES DONNEES QUANTITATIVES</a:t>
            </a:r>
            <a:endParaRPr lang="fr-FR" sz="48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endParaRPr lang="fr-FR" sz="40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just"/>
            <a:r>
              <a:rPr lang="fr-FR" sz="4000" dirty="0">
                <a:ln w="0"/>
                <a:effectLst>
                  <a:outerShdw blurRad="38100" dist="19050" dir="2700000" algn="tl" rotWithShape="0">
                    <a:schemeClr val="dk1">
                      <a:alpha val="40000"/>
                    </a:schemeClr>
                  </a:outerShdw>
                </a:effectLst>
                <a:latin typeface="Berlin Sans FB" panose="020E0602020502020306" pitchFamily="34" charset="0"/>
              </a:rPr>
              <a:t>2</a:t>
            </a:r>
            <a:r>
              <a:rPr lang="fr-FR" sz="40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.1 – Construction de questionnaires et sondages</a:t>
            </a:r>
          </a:p>
          <a:p>
            <a:pPr algn="just"/>
            <a:r>
              <a:rPr lang="fr-FR" sz="4000" dirty="0">
                <a:ln w="0"/>
                <a:effectLst>
                  <a:outerShdw blurRad="38100" dist="19050" dir="2700000" algn="tl" rotWithShape="0">
                    <a:schemeClr val="dk1">
                      <a:alpha val="40000"/>
                    </a:schemeClr>
                  </a:outerShdw>
                </a:effectLst>
                <a:latin typeface="Berlin Sans FB" panose="020E0602020502020306" pitchFamily="34" charset="0"/>
              </a:rPr>
              <a:t>2</a:t>
            </a:r>
            <a:r>
              <a:rPr lang="fr-FR" sz="40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.2 – Techniques d’échantillonnage pour les enquêtes</a:t>
            </a:r>
          </a:p>
          <a:p>
            <a:pPr algn="just"/>
            <a:r>
              <a:rPr lang="fr-FR" sz="4000" dirty="0">
                <a:ln w="0"/>
                <a:effectLst>
                  <a:outerShdw blurRad="38100" dist="19050" dir="2700000" algn="tl" rotWithShape="0">
                    <a:schemeClr val="dk1">
                      <a:alpha val="40000"/>
                    </a:schemeClr>
                  </a:outerShdw>
                </a:effectLst>
                <a:latin typeface="Berlin Sans FB" panose="020E0602020502020306" pitchFamily="34" charset="0"/>
              </a:rPr>
              <a:t>2</a:t>
            </a:r>
            <a:r>
              <a:rPr lang="fr-FR" sz="40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.3 – </a:t>
            </a:r>
            <a:r>
              <a:rPr lang="fr-FR" sz="4000" dirty="0">
                <a:ln w="0"/>
                <a:effectLst>
                  <a:outerShdw blurRad="38100" dist="19050" dir="2700000" algn="tl" rotWithShape="0">
                    <a:schemeClr val="dk1">
                      <a:alpha val="40000"/>
                    </a:schemeClr>
                  </a:outerShdw>
                </a:effectLst>
                <a:latin typeface="Berlin Sans FB" panose="020E0602020502020306" pitchFamily="34" charset="0"/>
              </a:rPr>
              <a:t>Introduction aux outils statistiques pour l’analyse des données (SPSS – EXCEL – R)</a:t>
            </a:r>
            <a:endParaRPr lang="fr-FR" sz="4000" i="0" u="none" strike="noStrike" baseline="0" dirty="0">
              <a:ln w="0"/>
              <a:effectLst>
                <a:outerShdw blurRad="38100" dist="19050" dir="2700000" algn="tl" rotWithShape="0">
                  <a:schemeClr val="dk1">
                    <a:alpha val="40000"/>
                  </a:schemeClr>
                </a:outerShdw>
              </a:effectLst>
              <a:latin typeface="Berlin Sans FB" panose="020E0602020502020306" pitchFamily="34" charset="0"/>
            </a:endParaRPr>
          </a:p>
          <a:p>
            <a:endParaRPr lang="fr-TG" sz="1800" b="0" i="0" u="none" strike="noStrike" baseline="0" dirty="0">
              <a:solidFill>
                <a:srgbClr val="000000"/>
              </a:solidFill>
            </a:endParaRPr>
          </a:p>
        </p:txBody>
      </p:sp>
    </p:spTree>
    <p:extLst>
      <p:ext uri="{BB962C8B-B14F-4D97-AF65-F5344CB8AC3E}">
        <p14:creationId xmlns:p14="http://schemas.microsoft.com/office/powerpoint/2010/main" val="3689833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9BA133-43A5-778F-50CD-1D42C2B3DF8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193FC5-DF6F-6913-27A0-EF7C6EC0F2CA}"/>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PLAN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CCCC882E-02F8-D0FE-CCBC-8DC8DC296ECE}"/>
              </a:ext>
            </a:extLst>
          </p:cNvPr>
          <p:cNvSpPr txBox="1"/>
          <p:nvPr/>
        </p:nvSpPr>
        <p:spPr>
          <a:xfrm>
            <a:off x="449579" y="1501123"/>
            <a:ext cx="11489788" cy="5724644"/>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48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III – </a:t>
            </a:r>
            <a:r>
              <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COLLECTE DES DONNEES QUALITATIVES</a:t>
            </a:r>
            <a:endParaRPr lang="fr-FR" sz="48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6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just"/>
            <a:r>
              <a:rPr lang="fr-FR" sz="40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3.1 – </a:t>
            </a:r>
            <a:r>
              <a:rPr lang="fr-FR" sz="4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Conduite d’entretiens et organisation de focus groups</a:t>
            </a:r>
          </a:p>
          <a:p>
            <a:pPr algn="just"/>
            <a:r>
              <a:rPr lang="fr-FR" sz="4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3.2 – Observation participante et analyse du contenu</a:t>
            </a:r>
          </a:p>
          <a:p>
            <a:pPr algn="just"/>
            <a:r>
              <a:rPr lang="fr-FR" sz="4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3.3 – Méthodes d’enregistrement et transcription des données </a:t>
            </a:r>
          </a:p>
          <a:p>
            <a:endParaRPr lang="fr-TG" sz="1800" b="0" i="0" u="none" strike="noStrike" baseline="0" dirty="0">
              <a:solidFill>
                <a:srgbClr val="000000"/>
              </a:solidFill>
            </a:endParaRPr>
          </a:p>
        </p:txBody>
      </p:sp>
    </p:spTree>
    <p:extLst>
      <p:ext uri="{BB962C8B-B14F-4D97-AF65-F5344CB8AC3E}">
        <p14:creationId xmlns:p14="http://schemas.microsoft.com/office/powerpoint/2010/main" val="2554559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92423-7209-2863-1680-A9A1A47BF5D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37B34D-7A45-E9A7-D1A6-41C49E4431FC}"/>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PLAN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ADFABA36-3C60-C4AD-10F2-314129DB404D}"/>
              </a:ext>
            </a:extLst>
          </p:cNvPr>
          <p:cNvSpPr txBox="1"/>
          <p:nvPr/>
        </p:nvSpPr>
        <p:spPr>
          <a:xfrm>
            <a:off x="449579" y="1501123"/>
            <a:ext cx="11489788" cy="6555641"/>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IV – </a:t>
            </a:r>
            <a:r>
              <a:rPr lang="fr-FR" sz="40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ANALYSE DES RESULTATS ET PRESENTATION DES DONNEES</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endParaRPr lang="fr-FR" sz="10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r>
              <a:rPr lang="fr-FR" sz="4000" dirty="0">
                <a:ln w="0"/>
                <a:effectLst>
                  <a:outerShdw blurRad="38100" dist="19050" dir="2700000" algn="tl" rotWithShape="0">
                    <a:schemeClr val="dk1">
                      <a:alpha val="40000"/>
                    </a:schemeClr>
                  </a:outerShdw>
                </a:effectLst>
                <a:latin typeface="Berlin Sans FB" panose="020E0602020502020306" pitchFamily="34" charset="0"/>
              </a:rPr>
              <a:t>4</a:t>
            </a:r>
            <a:r>
              <a:rPr lang="fr-FR" sz="40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.1 – </a:t>
            </a:r>
            <a:r>
              <a:rPr lang="fr-FR" sz="3600" b="1"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Analyse statistique descriptive et inférentielle pour les données quantitatives </a:t>
            </a:r>
          </a:p>
          <a:p>
            <a:pPr algn="ctr"/>
            <a:endParaRPr lang="fr-FR" sz="1000" b="1" dirty="0">
              <a:ln w="0"/>
              <a:solidFill>
                <a:srgbClr val="000000"/>
              </a:solidFill>
              <a:effectLst>
                <a:outerShdw blurRad="38100" dist="19050" dir="2700000" algn="tl" rotWithShape="0">
                  <a:schemeClr val="dk1">
                    <a:alpha val="40000"/>
                  </a:schemeClr>
                </a:outerShdw>
              </a:effectLst>
              <a:latin typeface="Berlin Sans FB" panose="020E0602020502020306" pitchFamily="34" charset="0"/>
            </a:endParaRPr>
          </a:p>
          <a:p>
            <a:r>
              <a:rPr lang="fr-FR" sz="3600" b="1" dirty="0">
                <a:ln w="0"/>
                <a:solidFill>
                  <a:srgbClr val="000000"/>
                </a:solidFill>
                <a:effectLst>
                  <a:outerShdw blurRad="38100" dist="19050" dir="2700000" algn="tl" rotWithShape="0">
                    <a:schemeClr val="dk1">
                      <a:alpha val="40000"/>
                    </a:schemeClr>
                  </a:outerShdw>
                </a:effectLst>
                <a:latin typeface="Berlin Sans FB" panose="020E0602020502020306" pitchFamily="34" charset="0"/>
              </a:rPr>
              <a:t>4.2 – Codage et catégorisation des données qualitatives </a:t>
            </a:r>
          </a:p>
          <a:p>
            <a:r>
              <a:rPr lang="fr-FR" sz="3600" b="1" i="0" u="none" strike="noStrike" baseline="0" dirty="0">
                <a:ln w="0"/>
                <a:solidFill>
                  <a:srgbClr val="000000"/>
                </a:solidFill>
                <a:effectLst>
                  <a:outerShdw blurRad="38100" dist="19050" dir="2700000" algn="tl" rotWithShape="0">
                    <a:schemeClr val="dk1">
                      <a:alpha val="40000"/>
                    </a:schemeClr>
                  </a:outerShdw>
                </a:effectLst>
                <a:latin typeface="Berlin Sans FB" panose="020E0602020502020306" pitchFamily="34" charset="0"/>
              </a:rPr>
              <a:t>4</a:t>
            </a:r>
            <a:r>
              <a:rPr lang="fr-FR" sz="3600" b="1" dirty="0">
                <a:ln w="0"/>
                <a:solidFill>
                  <a:srgbClr val="000000"/>
                </a:solidFill>
                <a:effectLst>
                  <a:outerShdw blurRad="38100" dist="19050" dir="2700000" algn="tl" rotWithShape="0">
                    <a:schemeClr val="dk1">
                      <a:alpha val="40000"/>
                    </a:schemeClr>
                  </a:outerShdw>
                </a:effectLst>
                <a:latin typeface="Berlin Sans FB" panose="020E0602020502020306" pitchFamily="34" charset="0"/>
              </a:rPr>
              <a:t>.3 – Présentation des résultats dans un rapport ou une étude de cas</a:t>
            </a:r>
            <a:endParaRPr lang="fr-FR" sz="1800" b="1" i="0" u="none" strike="noStrike" baseline="0" dirty="0">
              <a:solidFill>
                <a:srgbClr val="000000"/>
              </a:solidFill>
              <a:latin typeface="Berlin Sans FB" panose="020E0602020502020306" pitchFamily="34" charset="0"/>
            </a:endParaRPr>
          </a:p>
          <a:p>
            <a:endParaRPr lang="fr-TG" sz="1800" b="0" i="0" u="none" strike="noStrike" baseline="0" dirty="0">
              <a:solidFill>
                <a:srgbClr val="000000"/>
              </a:solidFill>
            </a:endParaRPr>
          </a:p>
          <a:p>
            <a:pPr algn="just"/>
            <a:endParaRPr lang="fr-FR" sz="4400" i="0" u="none" strike="noStrike" baseline="0" dirty="0">
              <a:ln w="0"/>
              <a:effectLst>
                <a:outerShdw blurRad="38100" dist="19050" dir="2700000" algn="tl" rotWithShape="0">
                  <a:schemeClr val="dk1">
                    <a:alpha val="40000"/>
                  </a:schemeClr>
                </a:outerShdw>
              </a:effectLst>
              <a:latin typeface="Berlin Sans FB" panose="020E0602020502020306" pitchFamily="34" charset="0"/>
            </a:endParaRPr>
          </a:p>
          <a:p>
            <a:endParaRPr lang="fr-TG" sz="1800" b="0" i="0" u="none" strike="noStrike" baseline="0" dirty="0">
              <a:solidFill>
                <a:srgbClr val="000000"/>
              </a:solidFill>
            </a:endParaRPr>
          </a:p>
        </p:txBody>
      </p:sp>
    </p:spTree>
    <p:extLst>
      <p:ext uri="{BB962C8B-B14F-4D97-AF65-F5344CB8AC3E}">
        <p14:creationId xmlns:p14="http://schemas.microsoft.com/office/powerpoint/2010/main" val="1509399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B98CD-5E9B-1F4A-78B0-91B16B7629E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47BFDA-18F2-206F-22F3-0AE4B0099CF9}"/>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BIBLIOGRAPHIE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FC21BD1A-9160-7820-607B-C2A77597F70F}"/>
              </a:ext>
            </a:extLst>
          </p:cNvPr>
          <p:cNvSpPr txBox="1"/>
          <p:nvPr/>
        </p:nvSpPr>
        <p:spPr>
          <a:xfrm>
            <a:off x="553328" y="1392703"/>
            <a:ext cx="11085341" cy="4401205"/>
          </a:xfrm>
          <a:prstGeom prst="rect">
            <a:avLst/>
          </a:prstGeom>
          <a:noFill/>
        </p:spPr>
        <p:txBody>
          <a:bodyPr wrap="square">
            <a:spAutoFit/>
          </a:bodyPr>
          <a:lstStyle/>
          <a:p>
            <a:pPr algn="just"/>
            <a:endParaRPr lang="fr-TG" sz="2400" b="1" i="0"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r>
              <a:rPr lang="en-US" sz="3200" b="1" i="0"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Alan Bryman, </a:t>
            </a:r>
            <a:r>
              <a:rPr lang="en-US" sz="3200" b="1" i="1"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Social Research Methods</a:t>
            </a:r>
            <a:r>
              <a:rPr lang="en-US" sz="3200" b="1" i="0"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Oxford University Press, 2016. </a:t>
            </a:r>
          </a:p>
          <a:p>
            <a:pPr algn="just"/>
            <a:endParaRPr lang="en-US" sz="3200" b="1" i="0"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r>
              <a:rPr lang="en-US" sz="3200" b="1" i="0"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John Creswell, </a:t>
            </a:r>
            <a:r>
              <a:rPr lang="en-US" sz="3200" b="1" i="1"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Research Design: Qualitative, Quantitative, and Mixed Methods Approaches</a:t>
            </a:r>
            <a:r>
              <a:rPr lang="en-US" sz="3200" b="1" i="0"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SAGE Publications, 2014. </a:t>
            </a:r>
          </a:p>
          <a:p>
            <a:pPr algn="just"/>
            <a:endParaRPr lang="en-US" sz="3200" b="1" i="0"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r>
              <a:rPr lang="en-US" sz="3200" b="1" i="0"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Robert Yin, </a:t>
            </a:r>
            <a:r>
              <a:rPr lang="en-US" sz="3200" b="1" i="1"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Case Study Research and Applications: Design and Methods</a:t>
            </a:r>
            <a:r>
              <a:rPr lang="en-US" sz="3200" b="1" i="0" u="none" strike="noStrike" baseline="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SAGE Publications, 2017. </a:t>
            </a:r>
          </a:p>
        </p:txBody>
      </p:sp>
    </p:spTree>
    <p:extLst>
      <p:ext uri="{BB962C8B-B14F-4D97-AF65-F5344CB8AC3E}">
        <p14:creationId xmlns:p14="http://schemas.microsoft.com/office/powerpoint/2010/main" val="181925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6B4C5-1EEC-AC5B-00CE-29D3FF292F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EEBBC8E-67C9-7E24-498A-9E8BE79D073F}"/>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CONTENU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11DAC7B5-3A2D-B029-BD22-651D46563653}"/>
              </a:ext>
            </a:extLst>
          </p:cNvPr>
          <p:cNvSpPr txBox="1"/>
          <p:nvPr/>
        </p:nvSpPr>
        <p:spPr>
          <a:xfrm>
            <a:off x="253218" y="1566761"/>
            <a:ext cx="11648050" cy="1446550"/>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 - </a:t>
            </a:r>
            <a:r>
              <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Introduction aux études quantitatives et qualitatives </a:t>
            </a:r>
          </a:p>
        </p:txBody>
      </p:sp>
      <p:sp>
        <p:nvSpPr>
          <p:cNvPr id="6" name="Rectangle 5">
            <a:extLst>
              <a:ext uri="{FF2B5EF4-FFF2-40B4-BE49-F238E27FC236}">
                <a16:creationId xmlns:a16="http://schemas.microsoft.com/office/drawing/2014/main" id="{E773BA02-D7FF-E80E-0C44-81A3544A94F4}"/>
              </a:ext>
            </a:extLst>
          </p:cNvPr>
          <p:cNvSpPr/>
          <p:nvPr/>
        </p:nvSpPr>
        <p:spPr>
          <a:xfrm>
            <a:off x="321212" y="3187369"/>
            <a:ext cx="11549576" cy="140677"/>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r>
              <a:rPr lang="fr-FR"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APPREHENDER CETTE ETUDE, RENVOIE FORCEMENT A UN PROBLEME CONSTATE DANS UN ENVIRONNEMENT AUSSI VASTE OU RESTREINT CONNU OU NON CONNU:</a:t>
            </a:r>
          </a:p>
          <a:p>
            <a:pPr algn="just"/>
            <a:endParaRPr lang="fr-FR" sz="11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r>
              <a:rPr lang="fr-FR" sz="3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 LA POPULATION ENTIERE </a:t>
            </a:r>
          </a:p>
          <a:p>
            <a:pPr algn="just"/>
            <a:r>
              <a:rPr lang="fr-FR" sz="3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 L’ENTREPRISE</a:t>
            </a:r>
          </a:p>
          <a:p>
            <a:pPr algn="just"/>
            <a:r>
              <a:rPr lang="fr-FR" sz="3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 LE MARCHE </a:t>
            </a:r>
          </a:p>
          <a:p>
            <a:pPr algn="just"/>
            <a:r>
              <a:rPr lang="fr-FR" sz="3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 L’UNIVERSITE </a:t>
            </a: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Tree>
    <p:extLst>
      <p:ext uri="{BB962C8B-B14F-4D97-AF65-F5344CB8AC3E}">
        <p14:creationId xmlns:p14="http://schemas.microsoft.com/office/powerpoint/2010/main" val="34405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p:cTn id="25" dur="1000" fill="hold"/>
                                        <p:tgtEl>
                                          <p:spTgt spid="6">
                                            <p:txEl>
                                              <p:pRg st="0" end="0"/>
                                            </p:txEl>
                                          </p:spTgt>
                                        </p:tgtEl>
                                        <p:attrNameLst>
                                          <p:attrName>ppt_w</p:attrName>
                                        </p:attrNameLst>
                                      </p:cBhvr>
                                      <p:tavLst>
                                        <p:tav tm="0">
                                          <p:val>
                                            <p:fltVal val="0"/>
                                          </p:val>
                                        </p:tav>
                                        <p:tav tm="100000">
                                          <p:val>
                                            <p:strVal val="#ppt_w"/>
                                          </p:val>
                                        </p:tav>
                                      </p:tavLst>
                                    </p:anim>
                                    <p:anim calcmode="lin" valueType="num">
                                      <p:cBhvr>
                                        <p:cTn id="26" dur="1000" fill="hold"/>
                                        <p:tgtEl>
                                          <p:spTgt spid="6">
                                            <p:txEl>
                                              <p:pRg st="0" end="0"/>
                                            </p:txEl>
                                          </p:spTgt>
                                        </p:tgtEl>
                                        <p:attrNameLst>
                                          <p:attrName>ppt_h</p:attrName>
                                        </p:attrNameLst>
                                      </p:cBhvr>
                                      <p:tavLst>
                                        <p:tav tm="0">
                                          <p:val>
                                            <p:fltVal val="0"/>
                                          </p:val>
                                        </p:tav>
                                        <p:tav tm="100000">
                                          <p:val>
                                            <p:strVal val="#ppt_h"/>
                                          </p:val>
                                        </p:tav>
                                      </p:tavLst>
                                    </p:anim>
                                    <p:anim calcmode="lin" valueType="num">
                                      <p:cBhvr>
                                        <p:cTn id="27" dur="1000" fill="hold"/>
                                        <p:tgtEl>
                                          <p:spTgt spid="6">
                                            <p:txEl>
                                              <p:pRg st="0" end="0"/>
                                            </p:txEl>
                                          </p:spTgt>
                                        </p:tgtEl>
                                        <p:attrNameLst>
                                          <p:attrName>style.rotation</p:attrName>
                                        </p:attrNameLst>
                                      </p:cBhvr>
                                      <p:tavLst>
                                        <p:tav tm="0">
                                          <p:val>
                                            <p:fltVal val="90"/>
                                          </p:val>
                                        </p:tav>
                                        <p:tav tm="100000">
                                          <p:val>
                                            <p:fltVal val="0"/>
                                          </p:val>
                                        </p:tav>
                                      </p:tavLst>
                                    </p:anim>
                                    <p:animEffect transition="in" filter="fade">
                                      <p:cBhvr>
                                        <p:cTn id="28" dur="1000"/>
                                        <p:tgtEl>
                                          <p:spTgt spid="6">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nodeType="click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animEffect transition="in" filter="wipe(down)">
                                      <p:cBhvr>
                                        <p:cTn id="33" dur="580">
                                          <p:stCondLst>
                                            <p:cond delay="0"/>
                                          </p:stCondLst>
                                        </p:cTn>
                                        <p:tgtEl>
                                          <p:spTgt spid="6">
                                            <p:txEl>
                                              <p:pRg st="2" end="2"/>
                                            </p:txEl>
                                          </p:spTgt>
                                        </p:tgtEl>
                                      </p:cBhvr>
                                    </p:animEffect>
                                    <p:anim calcmode="lin" valueType="num">
                                      <p:cBhvr>
                                        <p:cTn id="34" dur="1822" tmFilter="0,0; 0.14,0.36; 0.43,0.73; 0.71,0.91; 1.0,1.0">
                                          <p:stCondLst>
                                            <p:cond delay="0"/>
                                          </p:stCondLst>
                                        </p:cTn>
                                        <p:tgtEl>
                                          <p:spTgt spid="6">
                                            <p:txEl>
                                              <p:pRg st="2" end="2"/>
                                            </p:txEl>
                                          </p:spTgt>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6">
                                            <p:txEl>
                                              <p:pRg st="2" end="2"/>
                                            </p:txEl>
                                          </p:spTgt>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6">
                                            <p:txEl>
                                              <p:pRg st="2" end="2"/>
                                            </p:txEl>
                                          </p:spTgt>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6">
                                            <p:txEl>
                                              <p:pRg st="2" end="2"/>
                                            </p:txEl>
                                          </p:spTgt>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6">
                                            <p:txEl>
                                              <p:pRg st="2" end="2"/>
                                            </p:txEl>
                                          </p:spTgt>
                                        </p:tgtEl>
                                        <p:attrNameLst>
                                          <p:attrName>ppt_y</p:attrName>
                                        </p:attrNameLst>
                                      </p:cBhvr>
                                      <p:tavLst>
                                        <p:tav tm="0" fmla="#ppt_y-sin(pi*$)/81">
                                          <p:val>
                                            <p:fltVal val="0"/>
                                          </p:val>
                                        </p:tav>
                                        <p:tav tm="100000">
                                          <p:val>
                                            <p:fltVal val="1"/>
                                          </p:val>
                                        </p:tav>
                                      </p:tavLst>
                                    </p:anim>
                                    <p:animScale>
                                      <p:cBhvr>
                                        <p:cTn id="39" dur="26">
                                          <p:stCondLst>
                                            <p:cond delay="650"/>
                                          </p:stCondLst>
                                        </p:cTn>
                                        <p:tgtEl>
                                          <p:spTgt spid="6">
                                            <p:txEl>
                                              <p:pRg st="2" end="2"/>
                                            </p:txEl>
                                          </p:spTgt>
                                        </p:tgtEl>
                                      </p:cBhvr>
                                      <p:to x="100000" y="60000"/>
                                    </p:animScale>
                                    <p:animScale>
                                      <p:cBhvr>
                                        <p:cTn id="40" dur="166" decel="50000">
                                          <p:stCondLst>
                                            <p:cond delay="676"/>
                                          </p:stCondLst>
                                        </p:cTn>
                                        <p:tgtEl>
                                          <p:spTgt spid="6">
                                            <p:txEl>
                                              <p:pRg st="2" end="2"/>
                                            </p:txEl>
                                          </p:spTgt>
                                        </p:tgtEl>
                                      </p:cBhvr>
                                      <p:to x="100000" y="100000"/>
                                    </p:animScale>
                                    <p:animScale>
                                      <p:cBhvr>
                                        <p:cTn id="41" dur="26">
                                          <p:stCondLst>
                                            <p:cond delay="1312"/>
                                          </p:stCondLst>
                                        </p:cTn>
                                        <p:tgtEl>
                                          <p:spTgt spid="6">
                                            <p:txEl>
                                              <p:pRg st="2" end="2"/>
                                            </p:txEl>
                                          </p:spTgt>
                                        </p:tgtEl>
                                      </p:cBhvr>
                                      <p:to x="100000" y="80000"/>
                                    </p:animScale>
                                    <p:animScale>
                                      <p:cBhvr>
                                        <p:cTn id="42" dur="166" decel="50000">
                                          <p:stCondLst>
                                            <p:cond delay="1338"/>
                                          </p:stCondLst>
                                        </p:cTn>
                                        <p:tgtEl>
                                          <p:spTgt spid="6">
                                            <p:txEl>
                                              <p:pRg st="2" end="2"/>
                                            </p:txEl>
                                          </p:spTgt>
                                        </p:tgtEl>
                                      </p:cBhvr>
                                      <p:to x="100000" y="100000"/>
                                    </p:animScale>
                                    <p:animScale>
                                      <p:cBhvr>
                                        <p:cTn id="43" dur="26">
                                          <p:stCondLst>
                                            <p:cond delay="1642"/>
                                          </p:stCondLst>
                                        </p:cTn>
                                        <p:tgtEl>
                                          <p:spTgt spid="6">
                                            <p:txEl>
                                              <p:pRg st="2" end="2"/>
                                            </p:txEl>
                                          </p:spTgt>
                                        </p:tgtEl>
                                      </p:cBhvr>
                                      <p:to x="100000" y="90000"/>
                                    </p:animScale>
                                    <p:animScale>
                                      <p:cBhvr>
                                        <p:cTn id="44" dur="166" decel="50000">
                                          <p:stCondLst>
                                            <p:cond delay="1668"/>
                                          </p:stCondLst>
                                        </p:cTn>
                                        <p:tgtEl>
                                          <p:spTgt spid="6">
                                            <p:txEl>
                                              <p:pRg st="2" end="2"/>
                                            </p:txEl>
                                          </p:spTgt>
                                        </p:tgtEl>
                                      </p:cBhvr>
                                      <p:to x="100000" y="100000"/>
                                    </p:animScale>
                                    <p:animScale>
                                      <p:cBhvr>
                                        <p:cTn id="45" dur="26">
                                          <p:stCondLst>
                                            <p:cond delay="1808"/>
                                          </p:stCondLst>
                                        </p:cTn>
                                        <p:tgtEl>
                                          <p:spTgt spid="6">
                                            <p:txEl>
                                              <p:pRg st="2" end="2"/>
                                            </p:txEl>
                                          </p:spTgt>
                                        </p:tgtEl>
                                      </p:cBhvr>
                                      <p:to x="100000" y="95000"/>
                                    </p:animScale>
                                    <p:animScale>
                                      <p:cBhvr>
                                        <p:cTn id="46" dur="166" decel="50000">
                                          <p:stCondLst>
                                            <p:cond delay="1834"/>
                                          </p:stCondLst>
                                        </p:cTn>
                                        <p:tgtEl>
                                          <p:spTgt spid="6">
                                            <p:txEl>
                                              <p:pRg st="2" end="2"/>
                                            </p:txEl>
                                          </p:spTgt>
                                        </p:tgtEl>
                                      </p:cBhvr>
                                      <p:to x="100000" y="100000"/>
                                    </p:animScale>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nodeType="clickEffect">
                                  <p:stCondLst>
                                    <p:cond delay="0"/>
                                  </p:stCondLst>
                                  <p:childTnLst>
                                    <p:set>
                                      <p:cBhvr>
                                        <p:cTn id="50" dur="1" fill="hold">
                                          <p:stCondLst>
                                            <p:cond delay="0"/>
                                          </p:stCondLst>
                                        </p:cTn>
                                        <p:tgtEl>
                                          <p:spTgt spid="6">
                                            <p:txEl>
                                              <p:pRg st="3" end="3"/>
                                            </p:txEl>
                                          </p:spTgt>
                                        </p:tgtEl>
                                        <p:attrNameLst>
                                          <p:attrName>style.visibility</p:attrName>
                                        </p:attrNameLst>
                                      </p:cBhvr>
                                      <p:to>
                                        <p:strVal val="visible"/>
                                      </p:to>
                                    </p:set>
                                    <p:animEffect transition="in" filter="wipe(down)">
                                      <p:cBhvr>
                                        <p:cTn id="51" dur="580">
                                          <p:stCondLst>
                                            <p:cond delay="0"/>
                                          </p:stCondLst>
                                        </p:cTn>
                                        <p:tgtEl>
                                          <p:spTgt spid="6">
                                            <p:txEl>
                                              <p:pRg st="3" end="3"/>
                                            </p:txEl>
                                          </p:spTgt>
                                        </p:tgtEl>
                                      </p:cBhvr>
                                    </p:animEffect>
                                    <p:anim calcmode="lin" valueType="num">
                                      <p:cBhvr>
                                        <p:cTn id="52" dur="1822" tmFilter="0,0; 0.14,0.36; 0.43,0.73; 0.71,0.91; 1.0,1.0">
                                          <p:stCondLst>
                                            <p:cond delay="0"/>
                                          </p:stCondLst>
                                        </p:cTn>
                                        <p:tgtEl>
                                          <p:spTgt spid="6">
                                            <p:txEl>
                                              <p:pRg st="3" end="3"/>
                                            </p:txEl>
                                          </p:spTgt>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6">
                                            <p:txEl>
                                              <p:pRg st="3" end="3"/>
                                            </p:txEl>
                                          </p:spTgt>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6">
                                            <p:txEl>
                                              <p:pRg st="3" end="3"/>
                                            </p:txEl>
                                          </p:spTgt>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6">
                                            <p:txEl>
                                              <p:pRg st="3" end="3"/>
                                            </p:txEl>
                                          </p:spTgt>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6">
                                            <p:txEl>
                                              <p:pRg st="3" end="3"/>
                                            </p:txEl>
                                          </p:spTgt>
                                        </p:tgtEl>
                                        <p:attrNameLst>
                                          <p:attrName>ppt_y</p:attrName>
                                        </p:attrNameLst>
                                      </p:cBhvr>
                                      <p:tavLst>
                                        <p:tav tm="0" fmla="#ppt_y-sin(pi*$)/81">
                                          <p:val>
                                            <p:fltVal val="0"/>
                                          </p:val>
                                        </p:tav>
                                        <p:tav tm="100000">
                                          <p:val>
                                            <p:fltVal val="1"/>
                                          </p:val>
                                        </p:tav>
                                      </p:tavLst>
                                    </p:anim>
                                    <p:animScale>
                                      <p:cBhvr>
                                        <p:cTn id="57" dur="26">
                                          <p:stCondLst>
                                            <p:cond delay="650"/>
                                          </p:stCondLst>
                                        </p:cTn>
                                        <p:tgtEl>
                                          <p:spTgt spid="6">
                                            <p:txEl>
                                              <p:pRg st="3" end="3"/>
                                            </p:txEl>
                                          </p:spTgt>
                                        </p:tgtEl>
                                      </p:cBhvr>
                                      <p:to x="100000" y="60000"/>
                                    </p:animScale>
                                    <p:animScale>
                                      <p:cBhvr>
                                        <p:cTn id="58" dur="166" decel="50000">
                                          <p:stCondLst>
                                            <p:cond delay="676"/>
                                          </p:stCondLst>
                                        </p:cTn>
                                        <p:tgtEl>
                                          <p:spTgt spid="6">
                                            <p:txEl>
                                              <p:pRg st="3" end="3"/>
                                            </p:txEl>
                                          </p:spTgt>
                                        </p:tgtEl>
                                      </p:cBhvr>
                                      <p:to x="100000" y="100000"/>
                                    </p:animScale>
                                    <p:animScale>
                                      <p:cBhvr>
                                        <p:cTn id="59" dur="26">
                                          <p:stCondLst>
                                            <p:cond delay="1312"/>
                                          </p:stCondLst>
                                        </p:cTn>
                                        <p:tgtEl>
                                          <p:spTgt spid="6">
                                            <p:txEl>
                                              <p:pRg st="3" end="3"/>
                                            </p:txEl>
                                          </p:spTgt>
                                        </p:tgtEl>
                                      </p:cBhvr>
                                      <p:to x="100000" y="80000"/>
                                    </p:animScale>
                                    <p:animScale>
                                      <p:cBhvr>
                                        <p:cTn id="60" dur="166" decel="50000">
                                          <p:stCondLst>
                                            <p:cond delay="1338"/>
                                          </p:stCondLst>
                                        </p:cTn>
                                        <p:tgtEl>
                                          <p:spTgt spid="6">
                                            <p:txEl>
                                              <p:pRg st="3" end="3"/>
                                            </p:txEl>
                                          </p:spTgt>
                                        </p:tgtEl>
                                      </p:cBhvr>
                                      <p:to x="100000" y="100000"/>
                                    </p:animScale>
                                    <p:animScale>
                                      <p:cBhvr>
                                        <p:cTn id="61" dur="26">
                                          <p:stCondLst>
                                            <p:cond delay="1642"/>
                                          </p:stCondLst>
                                        </p:cTn>
                                        <p:tgtEl>
                                          <p:spTgt spid="6">
                                            <p:txEl>
                                              <p:pRg st="3" end="3"/>
                                            </p:txEl>
                                          </p:spTgt>
                                        </p:tgtEl>
                                      </p:cBhvr>
                                      <p:to x="100000" y="90000"/>
                                    </p:animScale>
                                    <p:animScale>
                                      <p:cBhvr>
                                        <p:cTn id="62" dur="166" decel="50000">
                                          <p:stCondLst>
                                            <p:cond delay="1668"/>
                                          </p:stCondLst>
                                        </p:cTn>
                                        <p:tgtEl>
                                          <p:spTgt spid="6">
                                            <p:txEl>
                                              <p:pRg st="3" end="3"/>
                                            </p:txEl>
                                          </p:spTgt>
                                        </p:tgtEl>
                                      </p:cBhvr>
                                      <p:to x="100000" y="100000"/>
                                    </p:animScale>
                                    <p:animScale>
                                      <p:cBhvr>
                                        <p:cTn id="63" dur="26">
                                          <p:stCondLst>
                                            <p:cond delay="1808"/>
                                          </p:stCondLst>
                                        </p:cTn>
                                        <p:tgtEl>
                                          <p:spTgt spid="6">
                                            <p:txEl>
                                              <p:pRg st="3" end="3"/>
                                            </p:txEl>
                                          </p:spTgt>
                                        </p:tgtEl>
                                      </p:cBhvr>
                                      <p:to x="100000" y="95000"/>
                                    </p:animScale>
                                    <p:animScale>
                                      <p:cBhvr>
                                        <p:cTn id="64" dur="166" decel="50000">
                                          <p:stCondLst>
                                            <p:cond delay="1834"/>
                                          </p:stCondLst>
                                        </p:cTn>
                                        <p:tgtEl>
                                          <p:spTgt spid="6">
                                            <p:txEl>
                                              <p:pRg st="3" end="3"/>
                                            </p:txEl>
                                          </p:spTgt>
                                        </p:tgtEl>
                                      </p:cBhvr>
                                      <p:to x="100000" y="100000"/>
                                    </p:animScale>
                                  </p:childTnLst>
                                </p:cTn>
                              </p:par>
                            </p:childTnLst>
                          </p:cTn>
                        </p:par>
                      </p:childTnLst>
                    </p:cTn>
                  </p:par>
                  <p:par>
                    <p:cTn id="65" fill="hold">
                      <p:stCondLst>
                        <p:cond delay="indefinite"/>
                      </p:stCondLst>
                      <p:childTnLst>
                        <p:par>
                          <p:cTn id="66" fill="hold">
                            <p:stCondLst>
                              <p:cond delay="0"/>
                            </p:stCondLst>
                            <p:childTnLst>
                              <p:par>
                                <p:cTn id="67" presetID="26" presetClass="entr" presetSubtype="0" fill="hold" nodeType="clickEffect">
                                  <p:stCondLst>
                                    <p:cond delay="0"/>
                                  </p:stCondLst>
                                  <p:childTnLst>
                                    <p:set>
                                      <p:cBhvr>
                                        <p:cTn id="68" dur="1" fill="hold">
                                          <p:stCondLst>
                                            <p:cond delay="0"/>
                                          </p:stCondLst>
                                        </p:cTn>
                                        <p:tgtEl>
                                          <p:spTgt spid="6">
                                            <p:txEl>
                                              <p:pRg st="4" end="4"/>
                                            </p:txEl>
                                          </p:spTgt>
                                        </p:tgtEl>
                                        <p:attrNameLst>
                                          <p:attrName>style.visibility</p:attrName>
                                        </p:attrNameLst>
                                      </p:cBhvr>
                                      <p:to>
                                        <p:strVal val="visible"/>
                                      </p:to>
                                    </p:set>
                                    <p:animEffect transition="in" filter="wipe(down)">
                                      <p:cBhvr>
                                        <p:cTn id="69" dur="580">
                                          <p:stCondLst>
                                            <p:cond delay="0"/>
                                          </p:stCondLst>
                                        </p:cTn>
                                        <p:tgtEl>
                                          <p:spTgt spid="6">
                                            <p:txEl>
                                              <p:pRg st="4" end="4"/>
                                            </p:txEl>
                                          </p:spTgt>
                                        </p:tgtEl>
                                      </p:cBhvr>
                                    </p:animEffect>
                                    <p:anim calcmode="lin" valueType="num">
                                      <p:cBhvr>
                                        <p:cTn id="70" dur="1822" tmFilter="0,0; 0.14,0.36; 0.43,0.73; 0.71,0.91; 1.0,1.0">
                                          <p:stCondLst>
                                            <p:cond delay="0"/>
                                          </p:stCondLst>
                                        </p:cTn>
                                        <p:tgtEl>
                                          <p:spTgt spid="6">
                                            <p:txEl>
                                              <p:pRg st="4" end="4"/>
                                            </p:txEl>
                                          </p:spTgt>
                                        </p:tgtEl>
                                        <p:attrNameLst>
                                          <p:attrName>ppt_x</p:attrName>
                                        </p:attrNameLst>
                                      </p:cBhvr>
                                      <p:tavLst>
                                        <p:tav tm="0">
                                          <p:val>
                                            <p:strVal val="#ppt_x-0.25"/>
                                          </p:val>
                                        </p:tav>
                                        <p:tav tm="100000">
                                          <p:val>
                                            <p:strVal val="#ppt_x"/>
                                          </p:val>
                                        </p:tav>
                                      </p:tavLst>
                                    </p:anim>
                                    <p:anim calcmode="lin" valueType="num">
                                      <p:cBhvr>
                                        <p:cTn id="71" dur="664" tmFilter="0.0,0.0; 0.25,0.07; 0.50,0.2; 0.75,0.467; 1.0,1.0">
                                          <p:stCondLst>
                                            <p:cond delay="0"/>
                                          </p:stCondLst>
                                        </p:cTn>
                                        <p:tgtEl>
                                          <p:spTgt spid="6">
                                            <p:txEl>
                                              <p:pRg st="4" end="4"/>
                                            </p:txEl>
                                          </p:spTgt>
                                        </p:tgtEl>
                                        <p:attrNameLst>
                                          <p:attrName>ppt_y</p:attrName>
                                        </p:attrNameLst>
                                      </p:cBhvr>
                                      <p:tavLst>
                                        <p:tav tm="0" fmla="#ppt_y-sin(pi*$)/3">
                                          <p:val>
                                            <p:fltVal val="0.5"/>
                                          </p:val>
                                        </p:tav>
                                        <p:tav tm="100000">
                                          <p:val>
                                            <p:fltVal val="1"/>
                                          </p:val>
                                        </p:tav>
                                      </p:tavLst>
                                    </p:anim>
                                    <p:anim calcmode="lin" valueType="num">
                                      <p:cBhvr>
                                        <p:cTn id="72" dur="664" tmFilter="0, 0; 0.125,0.2665; 0.25,0.4; 0.375,0.465; 0.5,0.5;  0.625,0.535; 0.75,0.6; 0.875,0.7335; 1,1">
                                          <p:stCondLst>
                                            <p:cond delay="664"/>
                                          </p:stCondLst>
                                        </p:cTn>
                                        <p:tgtEl>
                                          <p:spTgt spid="6">
                                            <p:txEl>
                                              <p:pRg st="4" end="4"/>
                                            </p:txEl>
                                          </p:spTgt>
                                        </p:tgtEl>
                                        <p:attrNameLst>
                                          <p:attrName>ppt_y</p:attrName>
                                        </p:attrNameLst>
                                      </p:cBhvr>
                                      <p:tavLst>
                                        <p:tav tm="0" fmla="#ppt_y-sin(pi*$)/9">
                                          <p:val>
                                            <p:fltVal val="0"/>
                                          </p:val>
                                        </p:tav>
                                        <p:tav tm="100000">
                                          <p:val>
                                            <p:fltVal val="1"/>
                                          </p:val>
                                        </p:tav>
                                      </p:tavLst>
                                    </p:anim>
                                    <p:anim calcmode="lin" valueType="num">
                                      <p:cBhvr>
                                        <p:cTn id="73" dur="332" tmFilter="0, 0; 0.125,0.2665; 0.25,0.4; 0.375,0.465; 0.5,0.5;  0.625,0.535; 0.75,0.6; 0.875,0.7335; 1,1">
                                          <p:stCondLst>
                                            <p:cond delay="1324"/>
                                          </p:stCondLst>
                                        </p:cTn>
                                        <p:tgtEl>
                                          <p:spTgt spid="6">
                                            <p:txEl>
                                              <p:pRg st="4" end="4"/>
                                            </p:txEl>
                                          </p:spTgt>
                                        </p:tgtEl>
                                        <p:attrNameLst>
                                          <p:attrName>ppt_y</p:attrName>
                                        </p:attrNameLst>
                                      </p:cBhvr>
                                      <p:tavLst>
                                        <p:tav tm="0" fmla="#ppt_y-sin(pi*$)/27">
                                          <p:val>
                                            <p:fltVal val="0"/>
                                          </p:val>
                                        </p:tav>
                                        <p:tav tm="100000">
                                          <p:val>
                                            <p:fltVal val="1"/>
                                          </p:val>
                                        </p:tav>
                                      </p:tavLst>
                                    </p:anim>
                                    <p:anim calcmode="lin" valueType="num">
                                      <p:cBhvr>
                                        <p:cTn id="74" dur="164" tmFilter="0, 0; 0.125,0.2665; 0.25,0.4; 0.375,0.465; 0.5,0.5;  0.625,0.535; 0.75,0.6; 0.875,0.7335; 1,1">
                                          <p:stCondLst>
                                            <p:cond delay="1656"/>
                                          </p:stCondLst>
                                        </p:cTn>
                                        <p:tgtEl>
                                          <p:spTgt spid="6">
                                            <p:txEl>
                                              <p:pRg st="4" end="4"/>
                                            </p:txEl>
                                          </p:spTgt>
                                        </p:tgtEl>
                                        <p:attrNameLst>
                                          <p:attrName>ppt_y</p:attrName>
                                        </p:attrNameLst>
                                      </p:cBhvr>
                                      <p:tavLst>
                                        <p:tav tm="0" fmla="#ppt_y-sin(pi*$)/81">
                                          <p:val>
                                            <p:fltVal val="0"/>
                                          </p:val>
                                        </p:tav>
                                        <p:tav tm="100000">
                                          <p:val>
                                            <p:fltVal val="1"/>
                                          </p:val>
                                        </p:tav>
                                      </p:tavLst>
                                    </p:anim>
                                    <p:animScale>
                                      <p:cBhvr>
                                        <p:cTn id="75" dur="26">
                                          <p:stCondLst>
                                            <p:cond delay="650"/>
                                          </p:stCondLst>
                                        </p:cTn>
                                        <p:tgtEl>
                                          <p:spTgt spid="6">
                                            <p:txEl>
                                              <p:pRg st="4" end="4"/>
                                            </p:txEl>
                                          </p:spTgt>
                                        </p:tgtEl>
                                      </p:cBhvr>
                                      <p:to x="100000" y="60000"/>
                                    </p:animScale>
                                    <p:animScale>
                                      <p:cBhvr>
                                        <p:cTn id="76" dur="166" decel="50000">
                                          <p:stCondLst>
                                            <p:cond delay="676"/>
                                          </p:stCondLst>
                                        </p:cTn>
                                        <p:tgtEl>
                                          <p:spTgt spid="6">
                                            <p:txEl>
                                              <p:pRg st="4" end="4"/>
                                            </p:txEl>
                                          </p:spTgt>
                                        </p:tgtEl>
                                      </p:cBhvr>
                                      <p:to x="100000" y="100000"/>
                                    </p:animScale>
                                    <p:animScale>
                                      <p:cBhvr>
                                        <p:cTn id="77" dur="26">
                                          <p:stCondLst>
                                            <p:cond delay="1312"/>
                                          </p:stCondLst>
                                        </p:cTn>
                                        <p:tgtEl>
                                          <p:spTgt spid="6">
                                            <p:txEl>
                                              <p:pRg st="4" end="4"/>
                                            </p:txEl>
                                          </p:spTgt>
                                        </p:tgtEl>
                                      </p:cBhvr>
                                      <p:to x="100000" y="80000"/>
                                    </p:animScale>
                                    <p:animScale>
                                      <p:cBhvr>
                                        <p:cTn id="78" dur="166" decel="50000">
                                          <p:stCondLst>
                                            <p:cond delay="1338"/>
                                          </p:stCondLst>
                                        </p:cTn>
                                        <p:tgtEl>
                                          <p:spTgt spid="6">
                                            <p:txEl>
                                              <p:pRg st="4" end="4"/>
                                            </p:txEl>
                                          </p:spTgt>
                                        </p:tgtEl>
                                      </p:cBhvr>
                                      <p:to x="100000" y="100000"/>
                                    </p:animScale>
                                    <p:animScale>
                                      <p:cBhvr>
                                        <p:cTn id="79" dur="26">
                                          <p:stCondLst>
                                            <p:cond delay="1642"/>
                                          </p:stCondLst>
                                        </p:cTn>
                                        <p:tgtEl>
                                          <p:spTgt spid="6">
                                            <p:txEl>
                                              <p:pRg st="4" end="4"/>
                                            </p:txEl>
                                          </p:spTgt>
                                        </p:tgtEl>
                                      </p:cBhvr>
                                      <p:to x="100000" y="90000"/>
                                    </p:animScale>
                                    <p:animScale>
                                      <p:cBhvr>
                                        <p:cTn id="80" dur="166" decel="50000">
                                          <p:stCondLst>
                                            <p:cond delay="1668"/>
                                          </p:stCondLst>
                                        </p:cTn>
                                        <p:tgtEl>
                                          <p:spTgt spid="6">
                                            <p:txEl>
                                              <p:pRg st="4" end="4"/>
                                            </p:txEl>
                                          </p:spTgt>
                                        </p:tgtEl>
                                      </p:cBhvr>
                                      <p:to x="100000" y="100000"/>
                                    </p:animScale>
                                    <p:animScale>
                                      <p:cBhvr>
                                        <p:cTn id="81" dur="26">
                                          <p:stCondLst>
                                            <p:cond delay="1808"/>
                                          </p:stCondLst>
                                        </p:cTn>
                                        <p:tgtEl>
                                          <p:spTgt spid="6">
                                            <p:txEl>
                                              <p:pRg st="4" end="4"/>
                                            </p:txEl>
                                          </p:spTgt>
                                        </p:tgtEl>
                                      </p:cBhvr>
                                      <p:to x="100000" y="95000"/>
                                    </p:animScale>
                                    <p:animScale>
                                      <p:cBhvr>
                                        <p:cTn id="82" dur="166" decel="50000">
                                          <p:stCondLst>
                                            <p:cond delay="1834"/>
                                          </p:stCondLst>
                                        </p:cTn>
                                        <p:tgtEl>
                                          <p:spTgt spid="6">
                                            <p:txEl>
                                              <p:pRg st="4" end="4"/>
                                            </p:txEl>
                                          </p:spTgt>
                                        </p:tgtEl>
                                      </p:cBhvr>
                                      <p:to x="100000" y="100000"/>
                                    </p:animScale>
                                  </p:childTnLst>
                                </p:cTn>
                              </p:par>
                            </p:childTnLst>
                          </p:cTn>
                        </p:par>
                      </p:childTnLst>
                    </p:cTn>
                  </p:par>
                  <p:par>
                    <p:cTn id="83" fill="hold">
                      <p:stCondLst>
                        <p:cond delay="indefinite"/>
                      </p:stCondLst>
                      <p:childTnLst>
                        <p:par>
                          <p:cTn id="84" fill="hold">
                            <p:stCondLst>
                              <p:cond delay="0"/>
                            </p:stCondLst>
                            <p:childTnLst>
                              <p:par>
                                <p:cTn id="85" presetID="26" presetClass="entr" presetSubtype="0" fill="hold" nodeType="clickEffect">
                                  <p:stCondLst>
                                    <p:cond delay="0"/>
                                  </p:stCondLst>
                                  <p:childTnLst>
                                    <p:set>
                                      <p:cBhvr>
                                        <p:cTn id="86" dur="1" fill="hold">
                                          <p:stCondLst>
                                            <p:cond delay="0"/>
                                          </p:stCondLst>
                                        </p:cTn>
                                        <p:tgtEl>
                                          <p:spTgt spid="6">
                                            <p:txEl>
                                              <p:pRg st="5" end="5"/>
                                            </p:txEl>
                                          </p:spTgt>
                                        </p:tgtEl>
                                        <p:attrNameLst>
                                          <p:attrName>style.visibility</p:attrName>
                                        </p:attrNameLst>
                                      </p:cBhvr>
                                      <p:to>
                                        <p:strVal val="visible"/>
                                      </p:to>
                                    </p:set>
                                    <p:animEffect transition="in" filter="wipe(down)">
                                      <p:cBhvr>
                                        <p:cTn id="87" dur="580">
                                          <p:stCondLst>
                                            <p:cond delay="0"/>
                                          </p:stCondLst>
                                        </p:cTn>
                                        <p:tgtEl>
                                          <p:spTgt spid="6">
                                            <p:txEl>
                                              <p:pRg st="5" end="5"/>
                                            </p:txEl>
                                          </p:spTgt>
                                        </p:tgtEl>
                                      </p:cBhvr>
                                    </p:animEffect>
                                    <p:anim calcmode="lin" valueType="num">
                                      <p:cBhvr>
                                        <p:cTn id="88" dur="1822" tmFilter="0,0; 0.14,0.36; 0.43,0.73; 0.71,0.91; 1.0,1.0">
                                          <p:stCondLst>
                                            <p:cond delay="0"/>
                                          </p:stCondLst>
                                        </p:cTn>
                                        <p:tgtEl>
                                          <p:spTgt spid="6">
                                            <p:txEl>
                                              <p:pRg st="5" end="5"/>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6">
                                            <p:txEl>
                                              <p:pRg st="5" end="5"/>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6">
                                            <p:txEl>
                                              <p:pRg st="5" end="5"/>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6">
                                            <p:txEl>
                                              <p:pRg st="5" end="5"/>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6">
                                            <p:txEl>
                                              <p:pRg st="5" end="5"/>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6">
                                            <p:txEl>
                                              <p:pRg st="5" end="5"/>
                                            </p:txEl>
                                          </p:spTgt>
                                        </p:tgtEl>
                                      </p:cBhvr>
                                      <p:to x="100000" y="60000"/>
                                    </p:animScale>
                                    <p:animScale>
                                      <p:cBhvr>
                                        <p:cTn id="94" dur="166" decel="50000">
                                          <p:stCondLst>
                                            <p:cond delay="676"/>
                                          </p:stCondLst>
                                        </p:cTn>
                                        <p:tgtEl>
                                          <p:spTgt spid="6">
                                            <p:txEl>
                                              <p:pRg st="5" end="5"/>
                                            </p:txEl>
                                          </p:spTgt>
                                        </p:tgtEl>
                                      </p:cBhvr>
                                      <p:to x="100000" y="100000"/>
                                    </p:animScale>
                                    <p:animScale>
                                      <p:cBhvr>
                                        <p:cTn id="95" dur="26">
                                          <p:stCondLst>
                                            <p:cond delay="1312"/>
                                          </p:stCondLst>
                                        </p:cTn>
                                        <p:tgtEl>
                                          <p:spTgt spid="6">
                                            <p:txEl>
                                              <p:pRg st="5" end="5"/>
                                            </p:txEl>
                                          </p:spTgt>
                                        </p:tgtEl>
                                      </p:cBhvr>
                                      <p:to x="100000" y="80000"/>
                                    </p:animScale>
                                    <p:animScale>
                                      <p:cBhvr>
                                        <p:cTn id="96" dur="166" decel="50000">
                                          <p:stCondLst>
                                            <p:cond delay="1338"/>
                                          </p:stCondLst>
                                        </p:cTn>
                                        <p:tgtEl>
                                          <p:spTgt spid="6">
                                            <p:txEl>
                                              <p:pRg st="5" end="5"/>
                                            </p:txEl>
                                          </p:spTgt>
                                        </p:tgtEl>
                                      </p:cBhvr>
                                      <p:to x="100000" y="100000"/>
                                    </p:animScale>
                                    <p:animScale>
                                      <p:cBhvr>
                                        <p:cTn id="97" dur="26">
                                          <p:stCondLst>
                                            <p:cond delay="1642"/>
                                          </p:stCondLst>
                                        </p:cTn>
                                        <p:tgtEl>
                                          <p:spTgt spid="6">
                                            <p:txEl>
                                              <p:pRg st="5" end="5"/>
                                            </p:txEl>
                                          </p:spTgt>
                                        </p:tgtEl>
                                      </p:cBhvr>
                                      <p:to x="100000" y="90000"/>
                                    </p:animScale>
                                    <p:animScale>
                                      <p:cBhvr>
                                        <p:cTn id="98" dur="166" decel="50000">
                                          <p:stCondLst>
                                            <p:cond delay="1668"/>
                                          </p:stCondLst>
                                        </p:cTn>
                                        <p:tgtEl>
                                          <p:spTgt spid="6">
                                            <p:txEl>
                                              <p:pRg st="5" end="5"/>
                                            </p:txEl>
                                          </p:spTgt>
                                        </p:tgtEl>
                                      </p:cBhvr>
                                      <p:to x="100000" y="100000"/>
                                    </p:animScale>
                                    <p:animScale>
                                      <p:cBhvr>
                                        <p:cTn id="99" dur="26">
                                          <p:stCondLst>
                                            <p:cond delay="1808"/>
                                          </p:stCondLst>
                                        </p:cTn>
                                        <p:tgtEl>
                                          <p:spTgt spid="6">
                                            <p:txEl>
                                              <p:pRg st="5" end="5"/>
                                            </p:txEl>
                                          </p:spTgt>
                                        </p:tgtEl>
                                      </p:cBhvr>
                                      <p:to x="100000" y="95000"/>
                                    </p:animScale>
                                    <p:animScale>
                                      <p:cBhvr>
                                        <p:cTn id="100" dur="166" decel="50000">
                                          <p:stCondLst>
                                            <p:cond delay="1834"/>
                                          </p:stCondLst>
                                        </p:cTn>
                                        <p:tgtEl>
                                          <p:spTgt spid="6">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23745-36DF-B474-6B0F-573CBB90459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CF52084-0022-87AC-014E-BF7B13391BDD}"/>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CONTENU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7C4BC270-C2C2-4A8A-3170-FA312E2C74E1}"/>
              </a:ext>
            </a:extLst>
          </p:cNvPr>
          <p:cNvSpPr txBox="1"/>
          <p:nvPr/>
        </p:nvSpPr>
        <p:spPr>
          <a:xfrm>
            <a:off x="-1" y="1566761"/>
            <a:ext cx="12191999" cy="769441"/>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DEFINITION DES CONCEPTS CLES </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sp>
        <p:nvSpPr>
          <p:cNvPr id="6" name="Rectangle 5">
            <a:extLst>
              <a:ext uri="{FF2B5EF4-FFF2-40B4-BE49-F238E27FC236}">
                <a16:creationId xmlns:a16="http://schemas.microsoft.com/office/drawing/2014/main" id="{724E33A0-3523-F60B-4F7A-52795D39DF1B}"/>
              </a:ext>
            </a:extLst>
          </p:cNvPr>
          <p:cNvSpPr/>
          <p:nvPr/>
        </p:nvSpPr>
        <p:spPr>
          <a:xfrm>
            <a:off x="302455" y="2510260"/>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32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TERRAIN D’ETUDE OU DE RECHERCHE</a:t>
            </a:r>
            <a:endPar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4" name="ZoneTexte 3">
            <a:extLst>
              <a:ext uri="{FF2B5EF4-FFF2-40B4-BE49-F238E27FC236}">
                <a16:creationId xmlns:a16="http://schemas.microsoft.com/office/drawing/2014/main" id="{73CB814D-AF83-695F-AD9F-FA1007039357}"/>
              </a:ext>
            </a:extLst>
          </p:cNvPr>
          <p:cNvSpPr txBox="1"/>
          <p:nvPr/>
        </p:nvSpPr>
        <p:spPr>
          <a:xfrm>
            <a:off x="302455" y="3337558"/>
            <a:ext cx="11387797" cy="3539430"/>
          </a:xfrm>
          <a:prstGeom prst="rect">
            <a:avLst/>
          </a:prstGeom>
          <a:noFill/>
        </p:spPr>
        <p:txBody>
          <a:bodyPr wrap="square">
            <a:spAutoFit/>
          </a:bodyPr>
          <a:lstStyle/>
          <a:p>
            <a:pPr algn="just"/>
            <a:r>
              <a:rPr lang="fr-FR" sz="3200" i="0" dirty="0">
                <a:ln w="0"/>
                <a:effectLst>
                  <a:outerShdw blurRad="38100" dist="19050" dir="2700000" algn="tl" rotWithShape="0">
                    <a:schemeClr val="dk1">
                      <a:alpha val="40000"/>
                    </a:schemeClr>
                  </a:outerShdw>
                </a:effectLst>
                <a:latin typeface="Berlin Sans FB" panose="020E0602020502020306" pitchFamily="34" charset="0"/>
              </a:rPr>
              <a:t>Il s’agit bien d’un milieu qui </a:t>
            </a:r>
            <a:r>
              <a:rPr lang="fr-FR" sz="3200" dirty="0">
                <a:ln w="0"/>
                <a:effectLst>
                  <a:outerShdw blurRad="38100" dist="19050" dir="2700000" algn="tl" rotWithShape="0">
                    <a:schemeClr val="dk1">
                      <a:alpha val="40000"/>
                    </a:schemeClr>
                  </a:outerShdw>
                </a:effectLst>
                <a:latin typeface="Berlin Sans FB" panose="020E0602020502020306" pitchFamily="34" charset="0"/>
              </a:rPr>
              <a:t>accueille le chercheur </a:t>
            </a:r>
          </a:p>
          <a:p>
            <a:pPr algn="just"/>
            <a:r>
              <a:rPr lang="fr-FR" sz="3200" i="0" dirty="0">
                <a:ln w="0"/>
                <a:effectLst>
                  <a:outerShdw blurRad="38100" dist="19050" dir="2700000" algn="tl" rotWithShape="0">
                    <a:schemeClr val="dk1">
                      <a:alpha val="40000"/>
                    </a:schemeClr>
                  </a:outerShdw>
                </a:effectLst>
                <a:latin typeface="Berlin Sans FB" panose="020E0602020502020306" pitchFamily="34" charset="0"/>
              </a:rPr>
              <a:t>Un enviro</a:t>
            </a:r>
            <a:r>
              <a:rPr lang="fr-FR" sz="3200" dirty="0">
                <a:ln w="0"/>
                <a:effectLst>
                  <a:outerShdw blurRad="38100" dist="19050" dir="2700000" algn="tl" rotWithShape="0">
                    <a:schemeClr val="dk1">
                      <a:alpha val="40000"/>
                    </a:schemeClr>
                  </a:outerShdw>
                </a:effectLst>
                <a:latin typeface="Berlin Sans FB" panose="020E0602020502020306" pitchFamily="34" charset="0"/>
              </a:rPr>
              <a:t>nnement physique ou virtuel où le chercheur peut facilement rencontrer sa cible </a:t>
            </a:r>
          </a:p>
          <a:p>
            <a:pPr algn="just"/>
            <a:r>
              <a:rPr lang="fr-FR" sz="3200" i="0" dirty="0">
                <a:ln w="0"/>
                <a:effectLst>
                  <a:outerShdw blurRad="38100" dist="19050" dir="2700000" algn="tl" rotWithShape="0">
                    <a:schemeClr val="dk1">
                      <a:alpha val="40000"/>
                    </a:schemeClr>
                  </a:outerShdw>
                </a:effectLst>
                <a:latin typeface="Berlin Sans FB" panose="020E0602020502020306" pitchFamily="34" charset="0"/>
              </a:rPr>
              <a:t>C’est le terrain qui présente les informations (Métadonnées) </a:t>
            </a:r>
          </a:p>
          <a:p>
            <a:pPr algn="just"/>
            <a:r>
              <a:rPr lang="fr-FR" sz="3200" i="0" dirty="0">
                <a:ln w="0"/>
                <a:effectLst>
                  <a:outerShdw blurRad="38100" dist="19050" dir="2700000" algn="tl" rotWithShape="0">
                    <a:schemeClr val="dk1">
                      <a:alpha val="40000"/>
                    </a:schemeClr>
                  </a:outerShdw>
                </a:effectLst>
                <a:latin typeface="Berlin Sans FB" panose="020E0602020502020306" pitchFamily="34" charset="0"/>
              </a:rPr>
              <a:t>Il peut parfois être discuté pour des thèmes de manière plus ou moins approfondie ou pour décider de tester telle ou telle idée de développement.</a:t>
            </a:r>
            <a:endParaRPr lang="fr-TG" sz="3200" dirty="0">
              <a:ln w="0"/>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4211905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Effect transition="in" filter="wipe(down)">
                                      <p:cBhvr>
                                        <p:cTn id="25" dur="580">
                                          <p:stCondLst>
                                            <p:cond delay="0"/>
                                          </p:stCondLst>
                                        </p:cTn>
                                        <p:tgtEl>
                                          <p:spTgt spid="6">
                                            <p:txEl>
                                              <p:pRg st="1" end="1"/>
                                            </p:txEl>
                                          </p:spTgt>
                                        </p:tgtEl>
                                      </p:cBhvr>
                                    </p:animEffect>
                                    <p:anim calcmode="lin" valueType="num">
                                      <p:cBhvr>
                                        <p:cTn id="26" dur="1822" tmFilter="0,0; 0.14,0.36; 0.43,0.73; 0.71,0.91; 1.0,1.0">
                                          <p:stCondLst>
                                            <p:cond delay="0"/>
                                          </p:stCondLst>
                                        </p:cTn>
                                        <p:tgtEl>
                                          <p:spTgt spid="6">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xEl>
                                              <p:pRg st="1" end="1"/>
                                            </p:txEl>
                                          </p:spTgt>
                                        </p:tgtEl>
                                      </p:cBhvr>
                                      <p:to x="100000" y="60000"/>
                                    </p:animScale>
                                    <p:animScale>
                                      <p:cBhvr>
                                        <p:cTn id="32" dur="166" decel="50000">
                                          <p:stCondLst>
                                            <p:cond delay="676"/>
                                          </p:stCondLst>
                                        </p:cTn>
                                        <p:tgtEl>
                                          <p:spTgt spid="6">
                                            <p:txEl>
                                              <p:pRg st="1" end="1"/>
                                            </p:txEl>
                                          </p:spTgt>
                                        </p:tgtEl>
                                      </p:cBhvr>
                                      <p:to x="100000" y="100000"/>
                                    </p:animScale>
                                    <p:animScale>
                                      <p:cBhvr>
                                        <p:cTn id="33" dur="26">
                                          <p:stCondLst>
                                            <p:cond delay="1312"/>
                                          </p:stCondLst>
                                        </p:cTn>
                                        <p:tgtEl>
                                          <p:spTgt spid="6">
                                            <p:txEl>
                                              <p:pRg st="1" end="1"/>
                                            </p:txEl>
                                          </p:spTgt>
                                        </p:tgtEl>
                                      </p:cBhvr>
                                      <p:to x="100000" y="80000"/>
                                    </p:animScale>
                                    <p:animScale>
                                      <p:cBhvr>
                                        <p:cTn id="34" dur="166" decel="50000">
                                          <p:stCondLst>
                                            <p:cond delay="1338"/>
                                          </p:stCondLst>
                                        </p:cTn>
                                        <p:tgtEl>
                                          <p:spTgt spid="6">
                                            <p:txEl>
                                              <p:pRg st="1" end="1"/>
                                            </p:txEl>
                                          </p:spTgt>
                                        </p:tgtEl>
                                      </p:cBhvr>
                                      <p:to x="100000" y="100000"/>
                                    </p:animScale>
                                    <p:animScale>
                                      <p:cBhvr>
                                        <p:cTn id="35" dur="26">
                                          <p:stCondLst>
                                            <p:cond delay="1642"/>
                                          </p:stCondLst>
                                        </p:cTn>
                                        <p:tgtEl>
                                          <p:spTgt spid="6">
                                            <p:txEl>
                                              <p:pRg st="1" end="1"/>
                                            </p:txEl>
                                          </p:spTgt>
                                        </p:tgtEl>
                                      </p:cBhvr>
                                      <p:to x="100000" y="90000"/>
                                    </p:animScale>
                                    <p:animScale>
                                      <p:cBhvr>
                                        <p:cTn id="36" dur="166" decel="50000">
                                          <p:stCondLst>
                                            <p:cond delay="1668"/>
                                          </p:stCondLst>
                                        </p:cTn>
                                        <p:tgtEl>
                                          <p:spTgt spid="6">
                                            <p:txEl>
                                              <p:pRg st="1" end="1"/>
                                            </p:txEl>
                                          </p:spTgt>
                                        </p:tgtEl>
                                      </p:cBhvr>
                                      <p:to x="100000" y="100000"/>
                                    </p:animScale>
                                    <p:animScale>
                                      <p:cBhvr>
                                        <p:cTn id="37" dur="26">
                                          <p:stCondLst>
                                            <p:cond delay="1808"/>
                                          </p:stCondLst>
                                        </p:cTn>
                                        <p:tgtEl>
                                          <p:spTgt spid="6">
                                            <p:txEl>
                                              <p:pRg st="1" end="1"/>
                                            </p:txEl>
                                          </p:spTgt>
                                        </p:tgtEl>
                                      </p:cBhvr>
                                      <p:to x="100000" y="95000"/>
                                    </p:animScale>
                                    <p:animScale>
                                      <p:cBhvr>
                                        <p:cTn id="38" dur="166" decel="50000">
                                          <p:stCondLst>
                                            <p:cond delay="1834"/>
                                          </p:stCondLst>
                                        </p:cTn>
                                        <p:tgtEl>
                                          <p:spTgt spid="6">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AEAA3-A24E-DB2E-A4A2-9674CD513C6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74BC30F-B39D-3C45-E1A0-A141A0E4A34A}"/>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CONTENU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A19B3410-8874-88F2-3E6A-D57BEE64AF9A}"/>
              </a:ext>
            </a:extLst>
          </p:cNvPr>
          <p:cNvSpPr txBox="1"/>
          <p:nvPr/>
        </p:nvSpPr>
        <p:spPr>
          <a:xfrm>
            <a:off x="253218" y="1482353"/>
            <a:ext cx="11648050" cy="769441"/>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DEFINITION DES CONCEPTS CLES </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sp>
        <p:nvSpPr>
          <p:cNvPr id="6" name="Rectangle 5">
            <a:extLst>
              <a:ext uri="{FF2B5EF4-FFF2-40B4-BE49-F238E27FC236}">
                <a16:creationId xmlns:a16="http://schemas.microsoft.com/office/drawing/2014/main" id="{B179CFF0-9B6B-AB46-6182-3E55B59DDAA3}"/>
              </a:ext>
            </a:extLst>
          </p:cNvPr>
          <p:cNvSpPr/>
          <p:nvPr/>
        </p:nvSpPr>
        <p:spPr>
          <a:xfrm>
            <a:off x="302455" y="2383650"/>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32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L’ENVIRONNEMENT DE RECHERCHE </a:t>
            </a:r>
            <a:endPar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E118A4C5-0761-000A-42BB-C6514E43E136}"/>
              </a:ext>
            </a:extLst>
          </p:cNvPr>
          <p:cNvSpPr txBox="1"/>
          <p:nvPr/>
        </p:nvSpPr>
        <p:spPr>
          <a:xfrm>
            <a:off x="253218" y="3232705"/>
            <a:ext cx="11549575" cy="3416320"/>
          </a:xfrm>
          <a:prstGeom prst="rect">
            <a:avLst/>
          </a:prstGeom>
          <a:noFill/>
        </p:spPr>
        <p:txBody>
          <a:bodyPr wrap="square">
            <a:spAutoFit/>
          </a:bodyPr>
          <a:lstStyle/>
          <a:p>
            <a:pPr algn="just"/>
            <a:r>
              <a:rPr lang="fr-FR" sz="3600" b="1" i="0" dirty="0">
                <a:solidFill>
                  <a:srgbClr val="474747"/>
                </a:solidFill>
                <a:effectLst/>
                <a:latin typeface="Berlin Sans FB Demi" panose="020E0802020502020306" pitchFamily="34" charset="0"/>
              </a:rPr>
              <a:t>Un environnement de recherche fait référence au cadre dans lequel se déroulent les activités de recherche, impliquant les parties prenantes, les alliances et les connaissances en gestion stratégique pour faciliter l’intégration des résultats de la recherche dans l’environnement plus large</a:t>
            </a:r>
            <a:endParaRPr lang="fr-TG" sz="3600" b="1" dirty="0">
              <a:latin typeface="Berlin Sans FB Demi" panose="020E0802020502020306" pitchFamily="34" charset="0"/>
            </a:endParaRPr>
          </a:p>
        </p:txBody>
      </p:sp>
    </p:spTree>
    <p:extLst>
      <p:ext uri="{BB962C8B-B14F-4D97-AF65-F5344CB8AC3E}">
        <p14:creationId xmlns:p14="http://schemas.microsoft.com/office/powerpoint/2010/main" val="254346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DAE9A-2097-5896-41F3-8C79F519F8B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EB18234-E3F9-C69C-CEC1-898FB7BE0D00}"/>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CONTENU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B0747EA1-99FB-BEAD-E530-9BD75B76092E}"/>
              </a:ext>
            </a:extLst>
          </p:cNvPr>
          <p:cNvSpPr txBox="1"/>
          <p:nvPr/>
        </p:nvSpPr>
        <p:spPr>
          <a:xfrm>
            <a:off x="253218" y="1482353"/>
            <a:ext cx="11648050" cy="769441"/>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DEFINITION DES CONCEPTS CLES </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sp>
        <p:nvSpPr>
          <p:cNvPr id="6" name="Rectangle 5">
            <a:extLst>
              <a:ext uri="{FF2B5EF4-FFF2-40B4-BE49-F238E27FC236}">
                <a16:creationId xmlns:a16="http://schemas.microsoft.com/office/drawing/2014/main" id="{8C157498-CDA2-C51D-9BE7-D6571084C3D0}"/>
              </a:ext>
            </a:extLst>
          </p:cNvPr>
          <p:cNvSpPr/>
          <p:nvPr/>
        </p:nvSpPr>
        <p:spPr>
          <a:xfrm>
            <a:off x="302455" y="2383650"/>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32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POPULATION DE RECHERCHE</a:t>
            </a:r>
            <a:endPar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4" name="ZoneTexte 3">
            <a:extLst>
              <a:ext uri="{FF2B5EF4-FFF2-40B4-BE49-F238E27FC236}">
                <a16:creationId xmlns:a16="http://schemas.microsoft.com/office/drawing/2014/main" id="{560A32F2-2834-088B-7453-4762D6104E01}"/>
              </a:ext>
            </a:extLst>
          </p:cNvPr>
          <p:cNvSpPr txBox="1"/>
          <p:nvPr/>
        </p:nvSpPr>
        <p:spPr>
          <a:xfrm>
            <a:off x="365173" y="3245172"/>
            <a:ext cx="11461652" cy="3170099"/>
          </a:xfrm>
          <a:prstGeom prst="rect">
            <a:avLst/>
          </a:prstGeom>
          <a:noFill/>
        </p:spPr>
        <p:txBody>
          <a:bodyPr wrap="square">
            <a:spAutoFit/>
          </a:bodyPr>
          <a:lstStyle/>
          <a:p>
            <a:pPr algn="just"/>
            <a:r>
              <a:rPr lang="fr-FR" sz="4000" i="0" dirty="0">
                <a:ln w="0"/>
                <a:effectLst>
                  <a:outerShdw blurRad="38100" dist="19050" dir="2700000" algn="tl" rotWithShape="0">
                    <a:schemeClr val="dk1">
                      <a:alpha val="40000"/>
                    </a:schemeClr>
                  </a:outerShdw>
                </a:effectLst>
                <a:latin typeface="Berlin Sans FB Demi" panose="020E0802020502020306" pitchFamily="34" charset="0"/>
              </a:rPr>
              <a:t>Définir la population ou l’univers d’enquête revient à répondre à la question :</a:t>
            </a:r>
          </a:p>
          <a:p>
            <a:pPr algn="just"/>
            <a:r>
              <a:rPr lang="fr-FR" sz="4000" i="0" dirty="0">
                <a:ln w="0"/>
                <a:effectLst>
                  <a:outerShdw blurRad="38100" dist="19050" dir="2700000" algn="tl" rotWithShape="0">
                    <a:schemeClr val="dk1">
                      <a:alpha val="40000"/>
                    </a:schemeClr>
                  </a:outerShdw>
                </a:effectLst>
                <a:latin typeface="Berlin Sans FB Demi" panose="020E0802020502020306" pitchFamily="34" charset="0"/>
              </a:rPr>
              <a:t>« Qui sont les personnes qui doivent être interrogées, </a:t>
            </a:r>
          </a:p>
          <a:p>
            <a:pPr algn="just"/>
            <a:r>
              <a:rPr lang="fr-FR" sz="4000" i="0" dirty="0">
                <a:ln w="0"/>
                <a:effectLst>
                  <a:outerShdw blurRad="38100" dist="19050" dir="2700000" algn="tl" rotWithShape="0">
                    <a:schemeClr val="dk1">
                      <a:alpha val="40000"/>
                    </a:schemeClr>
                  </a:outerShdw>
                </a:effectLst>
                <a:latin typeface="Berlin Sans FB Demi" panose="020E0802020502020306" pitchFamily="34" charset="0"/>
              </a:rPr>
              <a:t>« </a:t>
            </a:r>
            <a:r>
              <a:rPr lang="fr-FR" sz="4000">
                <a:ln w="0"/>
                <a:effectLst>
                  <a:outerShdw blurRad="38100" dist="19050" dir="2700000" algn="tl" rotWithShape="0">
                    <a:schemeClr val="dk1">
                      <a:alpha val="40000"/>
                    </a:schemeClr>
                  </a:outerShdw>
                </a:effectLst>
                <a:latin typeface="Berlin Sans FB Demi" panose="020E0802020502020306" pitchFamily="34" charset="0"/>
              </a:rPr>
              <a:t>Toutes, s</a:t>
            </a:r>
            <a:r>
              <a:rPr lang="fr-FR" sz="4000" i="0">
                <a:ln w="0"/>
                <a:effectLst>
                  <a:outerShdw blurRad="38100" dist="19050" dir="2700000" algn="tl" rotWithShape="0">
                    <a:schemeClr val="dk1">
                      <a:alpha val="40000"/>
                    </a:schemeClr>
                  </a:outerShdw>
                </a:effectLst>
                <a:latin typeface="Berlin Sans FB Demi" panose="020E0802020502020306" pitchFamily="34" charset="0"/>
              </a:rPr>
              <a:t>eront-elles </a:t>
            </a:r>
            <a:r>
              <a:rPr lang="fr-FR" sz="4000" i="0" dirty="0">
                <a:ln w="0"/>
                <a:effectLst>
                  <a:outerShdw blurRad="38100" dist="19050" dir="2700000" algn="tl" rotWithShape="0">
                    <a:schemeClr val="dk1">
                      <a:alpha val="40000"/>
                    </a:schemeClr>
                  </a:outerShdw>
                </a:effectLst>
                <a:latin typeface="Berlin Sans FB Demi" panose="020E0802020502020306" pitchFamily="34" charset="0"/>
              </a:rPr>
              <a:t>interrogées ? »</a:t>
            </a:r>
            <a:endParaRPr lang="fr-TG" sz="4000" dirty="0">
              <a:ln w="0"/>
              <a:effectLst>
                <a:outerShdw blurRad="38100" dist="19050" dir="2700000" algn="tl" rotWithShape="0">
                  <a:schemeClr val="dk1">
                    <a:alpha val="40000"/>
                  </a:schemeClr>
                </a:outerShdw>
              </a:effectLst>
              <a:latin typeface="Berlin Sans FB Demi" panose="020E0802020502020306" pitchFamily="34" charset="0"/>
            </a:endParaRPr>
          </a:p>
        </p:txBody>
      </p:sp>
    </p:spTree>
    <p:extLst>
      <p:ext uri="{BB962C8B-B14F-4D97-AF65-F5344CB8AC3E}">
        <p14:creationId xmlns:p14="http://schemas.microsoft.com/office/powerpoint/2010/main" val="914298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DD7FD-E08F-BAEA-0078-F8EEFF4CA02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FD63FBF-BD49-FA4F-D890-9C2DDFFE41BC}"/>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CONTENU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893C2252-E1D6-73B9-D7BB-C620437C90C7}"/>
              </a:ext>
            </a:extLst>
          </p:cNvPr>
          <p:cNvSpPr txBox="1"/>
          <p:nvPr/>
        </p:nvSpPr>
        <p:spPr>
          <a:xfrm>
            <a:off x="253218" y="1482353"/>
            <a:ext cx="11648050" cy="769441"/>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DEFINITION DES CONCEPTS CLES </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sp>
        <p:nvSpPr>
          <p:cNvPr id="6" name="Rectangle 5">
            <a:extLst>
              <a:ext uri="{FF2B5EF4-FFF2-40B4-BE49-F238E27FC236}">
                <a16:creationId xmlns:a16="http://schemas.microsoft.com/office/drawing/2014/main" id="{C08C91A4-D00D-891E-AD43-EA1EB049B3CB}"/>
              </a:ext>
            </a:extLst>
          </p:cNvPr>
          <p:cNvSpPr/>
          <p:nvPr/>
        </p:nvSpPr>
        <p:spPr>
          <a:xfrm>
            <a:off x="302455" y="2383650"/>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32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POPULATION DE RECHERCHE</a:t>
            </a:r>
            <a:endPar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5547E412-D89E-E824-DB94-BE2697FCDAA9}"/>
              </a:ext>
            </a:extLst>
          </p:cNvPr>
          <p:cNvSpPr txBox="1"/>
          <p:nvPr/>
        </p:nvSpPr>
        <p:spPr>
          <a:xfrm>
            <a:off x="253218" y="3274255"/>
            <a:ext cx="11549575" cy="3170099"/>
          </a:xfrm>
          <a:prstGeom prst="rect">
            <a:avLst/>
          </a:prstGeom>
          <a:noFill/>
        </p:spPr>
        <p:txBody>
          <a:bodyPr wrap="square">
            <a:spAutoFit/>
          </a:bodyPr>
          <a:lstStyle/>
          <a:p>
            <a:pPr algn="just"/>
            <a:r>
              <a:rPr lang="fr-FR" sz="4000" i="0" dirty="0">
                <a:ln w="0"/>
                <a:effectLst>
                  <a:outerShdw blurRad="38100" dist="19050" dir="2700000" algn="tl" rotWithShape="0">
                    <a:schemeClr val="dk1">
                      <a:alpha val="40000"/>
                    </a:schemeClr>
                  </a:outerShdw>
                </a:effectLst>
                <a:latin typeface="Berlin Sans FB Demi" panose="020E0802020502020306" pitchFamily="34" charset="0"/>
              </a:rPr>
              <a:t>La population d’une enquête s’appelle aussi univers d’enquête, population de référence, population-mère ou population. La population d’une enquête peut être différente selon l’objectif poursuivi par l’enquête</a:t>
            </a:r>
            <a:r>
              <a:rPr lang="fr-FR" sz="4000" dirty="0">
                <a:ln w="0"/>
                <a:effectLst>
                  <a:outerShdw blurRad="38100" dist="19050" dir="2700000" algn="tl" rotWithShape="0">
                    <a:schemeClr val="dk1">
                      <a:alpha val="40000"/>
                    </a:schemeClr>
                  </a:outerShdw>
                </a:effectLst>
                <a:latin typeface="Berlin Sans FB Demi" panose="020E0802020502020306" pitchFamily="34" charset="0"/>
              </a:rPr>
              <a:t>.</a:t>
            </a:r>
            <a:endParaRPr lang="fr-TG" sz="4000" dirty="0">
              <a:ln w="0"/>
              <a:effectLst>
                <a:outerShdw blurRad="38100" dist="19050" dir="2700000" algn="tl" rotWithShape="0">
                  <a:schemeClr val="dk1">
                    <a:alpha val="40000"/>
                  </a:schemeClr>
                </a:outerShdw>
              </a:effectLst>
              <a:latin typeface="Berlin Sans FB Demi" panose="020E0802020502020306" pitchFamily="34" charset="0"/>
            </a:endParaRPr>
          </a:p>
        </p:txBody>
      </p:sp>
    </p:spTree>
    <p:extLst>
      <p:ext uri="{BB962C8B-B14F-4D97-AF65-F5344CB8AC3E}">
        <p14:creationId xmlns:p14="http://schemas.microsoft.com/office/powerpoint/2010/main" val="1067622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253-588F-6D4B-B603-FF4F0968CA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D74F51-45EC-29C6-2050-D6DEA79FB851}"/>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CONTENU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0E87D2C5-EF3A-7287-B440-9F38B00FE891}"/>
              </a:ext>
            </a:extLst>
          </p:cNvPr>
          <p:cNvSpPr txBox="1"/>
          <p:nvPr/>
        </p:nvSpPr>
        <p:spPr>
          <a:xfrm>
            <a:off x="253218" y="1482353"/>
            <a:ext cx="11648050" cy="769441"/>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DEFINITION DES CONCEPTS CLES </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sp>
        <p:nvSpPr>
          <p:cNvPr id="6" name="Rectangle 5">
            <a:extLst>
              <a:ext uri="{FF2B5EF4-FFF2-40B4-BE49-F238E27FC236}">
                <a16:creationId xmlns:a16="http://schemas.microsoft.com/office/drawing/2014/main" id="{7DE0C906-8AA3-AEE1-AC54-37FE0B27FEB0}"/>
              </a:ext>
            </a:extLst>
          </p:cNvPr>
          <p:cNvSpPr/>
          <p:nvPr/>
        </p:nvSpPr>
        <p:spPr>
          <a:xfrm>
            <a:off x="302455" y="2383650"/>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32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POPULATION DE RECHERCHE</a:t>
            </a:r>
            <a:endPar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0323ECBD-1FFF-C3BC-5B60-0CD98B59112E}"/>
              </a:ext>
            </a:extLst>
          </p:cNvPr>
          <p:cNvSpPr txBox="1"/>
          <p:nvPr/>
        </p:nvSpPr>
        <p:spPr>
          <a:xfrm>
            <a:off x="253218" y="3274255"/>
            <a:ext cx="11549575" cy="3170099"/>
          </a:xfrm>
          <a:prstGeom prst="rect">
            <a:avLst/>
          </a:prstGeom>
          <a:noFill/>
        </p:spPr>
        <p:txBody>
          <a:bodyPr wrap="square">
            <a:spAutoFit/>
          </a:bodyPr>
          <a:lstStyle/>
          <a:p>
            <a:pPr algn="just"/>
            <a:r>
              <a:rPr lang="fr-FR" sz="4000" i="0" dirty="0">
                <a:ln w="0"/>
                <a:effectLst>
                  <a:outerShdw blurRad="38100" dist="19050" dir="2700000" algn="tl" rotWithShape="0">
                    <a:schemeClr val="dk1">
                      <a:alpha val="40000"/>
                    </a:schemeClr>
                  </a:outerShdw>
                </a:effectLst>
                <a:latin typeface="Berlin Sans FB Demi" panose="020E0802020502020306" pitchFamily="34" charset="0"/>
              </a:rPr>
              <a:t>La population d’une enquête s’appelle aussi univers d’enquête, population de référence, population-mère ou population. La population d’une enquête peut être différente selon l’objectif poursuivi par l’enquête</a:t>
            </a:r>
            <a:r>
              <a:rPr lang="fr-FR" sz="4000" dirty="0">
                <a:ln w="0"/>
                <a:effectLst>
                  <a:outerShdw blurRad="38100" dist="19050" dir="2700000" algn="tl" rotWithShape="0">
                    <a:schemeClr val="dk1">
                      <a:alpha val="40000"/>
                    </a:schemeClr>
                  </a:outerShdw>
                </a:effectLst>
                <a:latin typeface="Berlin Sans FB Demi" panose="020E0802020502020306" pitchFamily="34" charset="0"/>
              </a:rPr>
              <a:t>.</a:t>
            </a:r>
            <a:endParaRPr lang="fr-TG" sz="4000" dirty="0">
              <a:ln w="0"/>
              <a:effectLst>
                <a:outerShdw blurRad="38100" dist="19050" dir="2700000" algn="tl" rotWithShape="0">
                  <a:schemeClr val="dk1">
                    <a:alpha val="40000"/>
                  </a:schemeClr>
                </a:outerShdw>
              </a:effectLst>
              <a:latin typeface="Berlin Sans FB Demi" panose="020E0802020502020306" pitchFamily="34" charset="0"/>
            </a:endParaRPr>
          </a:p>
        </p:txBody>
      </p:sp>
    </p:spTree>
    <p:extLst>
      <p:ext uri="{BB962C8B-B14F-4D97-AF65-F5344CB8AC3E}">
        <p14:creationId xmlns:p14="http://schemas.microsoft.com/office/powerpoint/2010/main" val="87033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475D6-6A74-6C27-EB9B-247D41D2D1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3F04F6D-766F-6652-769F-5FD3D4DEC286}"/>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CONTENU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F2D54F56-6B73-BBEA-4C75-B3F79F8052FD}"/>
              </a:ext>
            </a:extLst>
          </p:cNvPr>
          <p:cNvSpPr txBox="1"/>
          <p:nvPr/>
        </p:nvSpPr>
        <p:spPr>
          <a:xfrm>
            <a:off x="253218" y="1482353"/>
            <a:ext cx="11648050" cy="769441"/>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DEFINITION DES CONCEPTS CLES </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sp>
        <p:nvSpPr>
          <p:cNvPr id="6" name="Rectangle 5">
            <a:extLst>
              <a:ext uri="{FF2B5EF4-FFF2-40B4-BE49-F238E27FC236}">
                <a16:creationId xmlns:a16="http://schemas.microsoft.com/office/drawing/2014/main" id="{2FBF1E60-4EB8-4EF7-4B0A-A43082153A29}"/>
              </a:ext>
            </a:extLst>
          </p:cNvPr>
          <p:cNvSpPr/>
          <p:nvPr/>
        </p:nvSpPr>
        <p:spPr>
          <a:xfrm>
            <a:off x="302455" y="2383650"/>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32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POPULATION DE RECHERCHE</a:t>
            </a:r>
            <a:endPar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11D8E190-8726-E13A-C040-7D98593799B9}"/>
              </a:ext>
            </a:extLst>
          </p:cNvPr>
          <p:cNvSpPr txBox="1"/>
          <p:nvPr/>
        </p:nvSpPr>
        <p:spPr>
          <a:xfrm>
            <a:off x="253218" y="3274255"/>
            <a:ext cx="11549575" cy="3785652"/>
          </a:xfrm>
          <a:prstGeom prst="rect">
            <a:avLst/>
          </a:prstGeom>
          <a:noFill/>
        </p:spPr>
        <p:txBody>
          <a:bodyPr wrap="square">
            <a:spAutoFit/>
          </a:bodyPr>
          <a:lstStyle/>
          <a:p>
            <a:pPr algn="just"/>
            <a:r>
              <a:rPr lang="fr-FR" sz="4000" dirty="0">
                <a:ln w="0"/>
                <a:effectLst>
                  <a:outerShdw blurRad="38100" dist="19050" dir="2700000" algn="tl" rotWithShape="0">
                    <a:schemeClr val="dk1">
                      <a:alpha val="40000"/>
                    </a:schemeClr>
                  </a:outerShdw>
                </a:effectLst>
                <a:latin typeface="Berlin Sans FB Demi" panose="020E0802020502020306" pitchFamily="34" charset="0"/>
              </a:rPr>
              <a:t>UNE ENQUÊTE QUI VISE A LA DESCRIPTION : Estimer la proportion des médecins qui utilisent à un moment donné les ordonnances avec codes à barres</a:t>
            </a:r>
          </a:p>
          <a:p>
            <a:pPr algn="just"/>
            <a:r>
              <a:rPr lang="fr-FR" sz="4000" dirty="0">
                <a:ln w="0"/>
                <a:effectLst>
                  <a:outerShdw blurRad="38100" dist="19050" dir="2700000" algn="tl" rotWithShape="0">
                    <a:schemeClr val="dk1">
                      <a:alpha val="40000"/>
                    </a:schemeClr>
                  </a:outerShdw>
                </a:effectLst>
                <a:latin typeface="Berlin Sans FB Demi" panose="020E0802020502020306" pitchFamily="34" charset="0"/>
              </a:rPr>
              <a:t>Elle peut viser l’explication – comprendre pourquoi une telle adoption que l’autre </a:t>
            </a:r>
            <a:endParaRPr lang="fr-TG" sz="4000" dirty="0">
              <a:ln w="0"/>
              <a:effectLst>
                <a:outerShdw blurRad="38100" dist="19050" dir="2700000" algn="tl" rotWithShape="0">
                  <a:schemeClr val="dk1">
                    <a:alpha val="40000"/>
                  </a:schemeClr>
                </a:outerShdw>
              </a:effectLst>
              <a:latin typeface="Berlin Sans FB Demi" panose="020E0802020502020306" pitchFamily="34" charset="0"/>
            </a:endParaRPr>
          </a:p>
        </p:txBody>
      </p:sp>
    </p:spTree>
    <p:extLst>
      <p:ext uri="{BB962C8B-B14F-4D97-AF65-F5344CB8AC3E}">
        <p14:creationId xmlns:p14="http://schemas.microsoft.com/office/powerpoint/2010/main" val="171412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380ED-80FD-9A9F-D0FD-77E09779757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8BA9637-159B-3E6E-EF23-4C05722FCFA6}"/>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CONTENU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A960F653-2E9E-CE20-D4E0-B2800950FAB1}"/>
              </a:ext>
            </a:extLst>
          </p:cNvPr>
          <p:cNvSpPr txBox="1"/>
          <p:nvPr/>
        </p:nvSpPr>
        <p:spPr>
          <a:xfrm>
            <a:off x="253218" y="1482353"/>
            <a:ext cx="11648050" cy="769441"/>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DEFINITION DES CONCEPTS CLES </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sp>
        <p:nvSpPr>
          <p:cNvPr id="6" name="Rectangle 5">
            <a:extLst>
              <a:ext uri="{FF2B5EF4-FFF2-40B4-BE49-F238E27FC236}">
                <a16:creationId xmlns:a16="http://schemas.microsoft.com/office/drawing/2014/main" id="{07D0B1BD-E230-2C88-A09C-C0331974FBAA}"/>
              </a:ext>
            </a:extLst>
          </p:cNvPr>
          <p:cNvSpPr/>
          <p:nvPr/>
        </p:nvSpPr>
        <p:spPr>
          <a:xfrm>
            <a:off x="302455" y="2383650"/>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32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POPULATION DE RECHERCHE</a:t>
            </a:r>
            <a:endPar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F73E1552-E07B-D034-2604-9D54D1687A64}"/>
              </a:ext>
            </a:extLst>
          </p:cNvPr>
          <p:cNvSpPr txBox="1"/>
          <p:nvPr/>
        </p:nvSpPr>
        <p:spPr>
          <a:xfrm>
            <a:off x="253218" y="3274255"/>
            <a:ext cx="11549575" cy="2554545"/>
          </a:xfrm>
          <a:prstGeom prst="rect">
            <a:avLst/>
          </a:prstGeom>
          <a:noFill/>
        </p:spPr>
        <p:txBody>
          <a:bodyPr wrap="square">
            <a:spAutoFit/>
          </a:bodyPr>
          <a:lstStyle/>
          <a:p>
            <a:pPr algn="just"/>
            <a:r>
              <a:rPr lang="fr-FR" sz="4000" dirty="0">
                <a:ln w="0"/>
                <a:effectLst>
                  <a:outerShdw blurRad="38100" dist="19050" dir="2700000" algn="tl" rotWithShape="0">
                    <a:schemeClr val="dk1">
                      <a:alpha val="40000"/>
                    </a:schemeClr>
                  </a:outerShdw>
                </a:effectLst>
                <a:latin typeface="Berlin Sans FB Demi" panose="020E0802020502020306" pitchFamily="34" charset="0"/>
              </a:rPr>
              <a:t>La définition de la population est donc tributaire de : l’objet de l’enquête – elle peut être définie dans l’objet même de l’enquête ; Enquête auprès des agriculteurs sur le prix d’un produit</a:t>
            </a:r>
            <a:endParaRPr lang="fr-TG" sz="4000" dirty="0">
              <a:ln w="0"/>
              <a:effectLst>
                <a:outerShdw blurRad="38100" dist="19050" dir="2700000" algn="tl" rotWithShape="0">
                  <a:schemeClr val="dk1">
                    <a:alpha val="40000"/>
                  </a:schemeClr>
                </a:outerShdw>
              </a:effectLst>
              <a:latin typeface="Berlin Sans FB Demi" panose="020E0802020502020306" pitchFamily="34" charset="0"/>
            </a:endParaRPr>
          </a:p>
        </p:txBody>
      </p:sp>
    </p:spTree>
    <p:extLst>
      <p:ext uri="{BB962C8B-B14F-4D97-AF65-F5344CB8AC3E}">
        <p14:creationId xmlns:p14="http://schemas.microsoft.com/office/powerpoint/2010/main" val="3001510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97989-04EF-6C8D-7DBD-C59ED104485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1059092-CF32-F89C-4906-11A2D141043E}"/>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CONTENU DU COURS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A242BA3B-4AC5-D012-4538-FCCBCA772AFA}"/>
              </a:ext>
            </a:extLst>
          </p:cNvPr>
          <p:cNvSpPr txBox="1"/>
          <p:nvPr/>
        </p:nvSpPr>
        <p:spPr>
          <a:xfrm>
            <a:off x="253218" y="1482353"/>
            <a:ext cx="11648050" cy="769441"/>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DEFINITION DES CONCEPTS CLES </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sp>
        <p:nvSpPr>
          <p:cNvPr id="6" name="Rectangle 5">
            <a:extLst>
              <a:ext uri="{FF2B5EF4-FFF2-40B4-BE49-F238E27FC236}">
                <a16:creationId xmlns:a16="http://schemas.microsoft.com/office/drawing/2014/main" id="{3F081D55-4CBB-E722-BDCA-BC4B4674F7AE}"/>
              </a:ext>
            </a:extLst>
          </p:cNvPr>
          <p:cNvSpPr/>
          <p:nvPr/>
        </p:nvSpPr>
        <p:spPr>
          <a:xfrm>
            <a:off x="302455" y="2383650"/>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32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POPULATION DE CIBLE</a:t>
            </a:r>
            <a:endPar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4" name="ZoneTexte 3">
            <a:extLst>
              <a:ext uri="{FF2B5EF4-FFF2-40B4-BE49-F238E27FC236}">
                <a16:creationId xmlns:a16="http://schemas.microsoft.com/office/drawing/2014/main" id="{D86B4A05-17B1-D855-8DE8-49F456ACD9BF}"/>
              </a:ext>
            </a:extLst>
          </p:cNvPr>
          <p:cNvSpPr txBox="1"/>
          <p:nvPr/>
        </p:nvSpPr>
        <p:spPr>
          <a:xfrm>
            <a:off x="302455" y="3257847"/>
            <a:ext cx="11183815" cy="1938992"/>
          </a:xfrm>
          <a:prstGeom prst="rect">
            <a:avLst/>
          </a:prstGeom>
          <a:noFill/>
        </p:spPr>
        <p:txBody>
          <a:bodyPr wrap="square">
            <a:spAutoFit/>
          </a:bodyPr>
          <a:lstStyle/>
          <a:p>
            <a:pPr algn="ctr"/>
            <a:r>
              <a:rPr lang="fr-FR" sz="4000" b="1" i="0" dirty="0">
                <a:ln w="0"/>
                <a:effectLst>
                  <a:outerShdw blurRad="38100" dist="19050" dir="2700000" algn="tl" rotWithShape="0">
                    <a:schemeClr val="dk1">
                      <a:alpha val="40000"/>
                    </a:schemeClr>
                  </a:outerShdw>
                </a:effectLst>
                <a:latin typeface="Berlin Sans FB Demi" panose="020E0802020502020306" pitchFamily="34" charset="0"/>
              </a:rPr>
              <a:t>La population cible est la population totale pour laquelle on a besoin de l'information.</a:t>
            </a:r>
          </a:p>
          <a:p>
            <a:pPr algn="ctr"/>
            <a:r>
              <a:rPr lang="fr-FR" sz="4000" b="1" dirty="0">
                <a:ln w="0"/>
                <a:solidFill>
                  <a:srgbClr val="FF0000"/>
                </a:solidFill>
                <a:effectLst>
                  <a:outerShdw blurRad="38100" dist="19050" dir="2700000" algn="tl" rotWithShape="0">
                    <a:schemeClr val="dk1">
                      <a:alpha val="40000"/>
                    </a:schemeClr>
                  </a:outerShdw>
                </a:effectLst>
                <a:latin typeface="Berlin Sans FB Demi" panose="020E0802020502020306" pitchFamily="34" charset="0"/>
              </a:rPr>
              <a:t>COMMENT L’ESTIMER ?</a:t>
            </a:r>
            <a:endParaRPr lang="fr-TG" sz="4000" b="1" dirty="0">
              <a:ln w="0"/>
              <a:solidFill>
                <a:srgbClr val="FF0000"/>
              </a:solidFill>
              <a:effectLst>
                <a:outerShdw blurRad="38100" dist="19050" dir="2700000" algn="tl" rotWithShape="0">
                  <a:schemeClr val="dk1">
                    <a:alpha val="40000"/>
                  </a:schemeClr>
                </a:outerShdw>
              </a:effectLst>
              <a:latin typeface="Berlin Sans FB Demi" panose="020E0802020502020306" pitchFamily="34" charset="0"/>
            </a:endParaRPr>
          </a:p>
        </p:txBody>
      </p:sp>
    </p:spTree>
    <p:extLst>
      <p:ext uri="{BB962C8B-B14F-4D97-AF65-F5344CB8AC3E}">
        <p14:creationId xmlns:p14="http://schemas.microsoft.com/office/powerpoint/2010/main" val="162057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74863-7A18-7517-5A60-3A2164F7A59C}"/>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0F4C09E0-3493-B17A-C261-284599656A92}"/>
              </a:ext>
            </a:extLst>
          </p:cNvPr>
          <p:cNvSpPr txBox="1"/>
          <p:nvPr/>
        </p:nvSpPr>
        <p:spPr>
          <a:xfrm>
            <a:off x="203981" y="244396"/>
            <a:ext cx="11648050" cy="1446550"/>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TECHNIQUES D’ESTIMATION DES POPULATION D’ETUDE </a:t>
            </a:r>
          </a:p>
        </p:txBody>
      </p:sp>
      <p:sp>
        <p:nvSpPr>
          <p:cNvPr id="6" name="Rectangle 5">
            <a:extLst>
              <a:ext uri="{FF2B5EF4-FFF2-40B4-BE49-F238E27FC236}">
                <a16:creationId xmlns:a16="http://schemas.microsoft.com/office/drawing/2014/main" id="{D0AB9414-FB88-D0DA-0890-6C856D3AB278}"/>
              </a:ext>
            </a:extLst>
          </p:cNvPr>
          <p:cNvSpPr/>
          <p:nvPr/>
        </p:nvSpPr>
        <p:spPr>
          <a:xfrm>
            <a:off x="253218" y="1905348"/>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4800" b="1" dirty="0">
                <a:ln w="0"/>
                <a:solidFill>
                  <a:srgbClr val="FF0000"/>
                </a:solidFill>
                <a:effectLst>
                  <a:outerShdw blurRad="38100" dist="19050" dir="2700000" algn="tl" rotWithShape="0">
                    <a:schemeClr val="dk1">
                      <a:alpha val="40000"/>
                    </a:schemeClr>
                  </a:outerShdw>
                </a:effectLst>
                <a:latin typeface="Berlin Sans FB Demi" panose="020E0802020502020306" pitchFamily="34" charset="0"/>
              </a:rPr>
              <a:t>ECHANTILLONNAGE </a:t>
            </a:r>
            <a:endParaRPr lang="fr-TG" sz="4800" b="1" dirty="0">
              <a:ln w="0"/>
              <a:solidFill>
                <a:srgbClr val="FF0000"/>
              </a:solidFill>
              <a:effectLst>
                <a:outerShdw blurRad="38100" dist="19050" dir="2700000" algn="tl" rotWithShape="0">
                  <a:schemeClr val="dk1">
                    <a:alpha val="40000"/>
                  </a:schemeClr>
                </a:outerShdw>
              </a:effectLst>
              <a:latin typeface="Berlin Sans FB Demi" panose="020E0802020502020306" pitchFamily="34" charset="0"/>
            </a:endParaRPr>
          </a:p>
          <a:p>
            <a:pPr algn="ctr"/>
            <a:endParaRPr lang="fr-FR" sz="32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3" name="ZoneTexte 2">
            <a:extLst>
              <a:ext uri="{FF2B5EF4-FFF2-40B4-BE49-F238E27FC236}">
                <a16:creationId xmlns:a16="http://schemas.microsoft.com/office/drawing/2014/main" id="{4BB55239-2494-DDBF-030E-8D0E75FB1FA2}"/>
              </a:ext>
            </a:extLst>
          </p:cNvPr>
          <p:cNvSpPr txBox="1"/>
          <p:nvPr/>
        </p:nvSpPr>
        <p:spPr>
          <a:xfrm>
            <a:off x="302455" y="2827952"/>
            <a:ext cx="11549576" cy="3785652"/>
          </a:xfrm>
          <a:prstGeom prst="rect">
            <a:avLst/>
          </a:prstGeom>
          <a:noFill/>
        </p:spPr>
        <p:txBody>
          <a:bodyPr wrap="square">
            <a:spAutoFit/>
          </a:bodyPr>
          <a:lstStyle/>
          <a:p>
            <a:pPr algn="just"/>
            <a:r>
              <a:rPr lang="fr-FR" sz="4800" i="0" dirty="0">
                <a:ln w="0"/>
                <a:effectLst>
                  <a:outerShdw blurRad="38100" dist="19050" dir="2700000" algn="tl" rotWithShape="0">
                    <a:schemeClr val="dk1">
                      <a:alpha val="40000"/>
                    </a:schemeClr>
                  </a:outerShdw>
                </a:effectLst>
                <a:latin typeface="Berlin Sans FB Demi" panose="020E0802020502020306" pitchFamily="34" charset="0"/>
              </a:rPr>
              <a:t>L'échantillonnage  est le processus de sélection d'un groupe d'individus qui va être interroger dans le cadre d'une étude et qui symbolise une population de référence.</a:t>
            </a:r>
            <a:endParaRPr lang="fr-TG" sz="4800" dirty="0">
              <a:ln w="0"/>
              <a:effectLst>
                <a:outerShdw blurRad="38100" dist="19050" dir="2700000" algn="tl" rotWithShape="0">
                  <a:schemeClr val="dk1">
                    <a:alpha val="40000"/>
                  </a:schemeClr>
                </a:outerShdw>
              </a:effectLst>
              <a:latin typeface="Berlin Sans FB Demi" panose="020E0802020502020306" pitchFamily="34" charset="0"/>
            </a:endParaRPr>
          </a:p>
        </p:txBody>
      </p:sp>
    </p:spTree>
    <p:extLst>
      <p:ext uri="{BB962C8B-B14F-4D97-AF65-F5344CB8AC3E}">
        <p14:creationId xmlns:p14="http://schemas.microsoft.com/office/powerpoint/2010/main" val="2185081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fltVal val="0"/>
                                          </p:val>
                                        </p:tav>
                                        <p:tav tm="100000">
                                          <p:val>
                                            <p:strVal val="#ppt_w"/>
                                          </p:val>
                                        </p:tav>
                                      </p:tavLst>
                                    </p:anim>
                                    <p:anim calcmode="lin" valueType="num">
                                      <p:cBhvr>
                                        <p:cTn id="16" dur="1000" fill="hold"/>
                                        <p:tgtEl>
                                          <p:spTgt spid="6"/>
                                        </p:tgtEl>
                                        <p:attrNameLst>
                                          <p:attrName>ppt_h</p:attrName>
                                        </p:attrNameLst>
                                      </p:cBhvr>
                                      <p:tavLst>
                                        <p:tav tm="0">
                                          <p:val>
                                            <p:fltVal val="0"/>
                                          </p:val>
                                        </p:tav>
                                        <p:tav tm="100000">
                                          <p:val>
                                            <p:strVal val="#ppt_h"/>
                                          </p:val>
                                        </p:tav>
                                      </p:tavLst>
                                    </p:anim>
                                    <p:anim calcmode="lin" valueType="num">
                                      <p:cBhvr>
                                        <p:cTn id="17" dur="1000" fill="hold"/>
                                        <p:tgtEl>
                                          <p:spTgt spid="6"/>
                                        </p:tgtEl>
                                        <p:attrNameLst>
                                          <p:attrName>style.rotation</p:attrName>
                                        </p:attrNameLst>
                                      </p:cBhvr>
                                      <p:tavLst>
                                        <p:tav tm="0">
                                          <p:val>
                                            <p:fltVal val="90"/>
                                          </p:val>
                                        </p:tav>
                                        <p:tav tm="100000">
                                          <p:val>
                                            <p:fltVal val="0"/>
                                          </p:val>
                                        </p:tav>
                                      </p:tavLst>
                                    </p:anim>
                                    <p:animEffect transition="in" filter="fade">
                                      <p:cBhvr>
                                        <p:cTn id="18" dur="10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6F2BA-636C-4E9D-D973-CAE4A9B7C15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643EC19-D9DD-37C8-D47E-99DD54F974AB}"/>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ECHANTILLONNAGE</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20A57D7E-A471-3D64-C6B0-F09607E8E558}"/>
              </a:ext>
            </a:extLst>
          </p:cNvPr>
          <p:cNvSpPr txBox="1"/>
          <p:nvPr/>
        </p:nvSpPr>
        <p:spPr>
          <a:xfrm>
            <a:off x="333521" y="1593587"/>
            <a:ext cx="11271738" cy="5078313"/>
          </a:xfrm>
          <a:prstGeom prst="rect">
            <a:avLst/>
          </a:prstGeom>
          <a:noFill/>
        </p:spPr>
        <p:txBody>
          <a:bodyPr wrap="square">
            <a:spAutoFit/>
          </a:bodyPr>
          <a:lstStyle/>
          <a:p>
            <a:pPr algn="just"/>
            <a:r>
              <a:rPr lang="fr-FR" sz="3600" b="1" i="0" dirty="0">
                <a:ln w="0"/>
                <a:effectLst>
                  <a:outerShdw blurRad="38100" dist="19050" dir="2700000" algn="tl" rotWithShape="0">
                    <a:schemeClr val="dk1">
                      <a:alpha val="40000"/>
                    </a:schemeClr>
                  </a:outerShdw>
                </a:effectLst>
                <a:latin typeface="Berlin Sans FB" panose="020E0602020502020306" pitchFamily="34" charset="0"/>
              </a:rPr>
              <a:t>La méthode d'échantillonnage est une partie cruciale de toute conception d'étude de recherche car elle détermine la qualité des données que les chercheurs collecteront. Il s'agit de sélectionner un sous-ensemble représentatif d'une population pour étudier, ce qui signifie que l'échantillon doit être soigneusement sélectionné pour éviter les biais et s'assurer que les données collectées sont fiables et valides</a:t>
            </a:r>
            <a:endParaRPr lang="fr-TG" sz="3600" b="1" dirty="0">
              <a:ln w="0"/>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299931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1000" fill="hold"/>
                                        <p:tgtEl>
                                          <p:spTgt spid="4"/>
                                        </p:tgtEl>
                                        <p:attrNameLst>
                                          <p:attrName>ppt_w</p:attrName>
                                        </p:attrNameLst>
                                      </p:cBhvr>
                                      <p:tavLst>
                                        <p:tav tm="0">
                                          <p:val>
                                            <p:fltVal val="0"/>
                                          </p:val>
                                        </p:tav>
                                        <p:tav tm="100000">
                                          <p:val>
                                            <p:strVal val="#ppt_w"/>
                                          </p:val>
                                        </p:tav>
                                      </p:tavLst>
                                    </p:anim>
                                    <p:anim calcmode="lin" valueType="num">
                                      <p:cBhvr>
                                        <p:cTn id="26" dur="1000" fill="hold"/>
                                        <p:tgtEl>
                                          <p:spTgt spid="4"/>
                                        </p:tgtEl>
                                        <p:attrNameLst>
                                          <p:attrName>ppt_h</p:attrName>
                                        </p:attrNameLst>
                                      </p:cBhvr>
                                      <p:tavLst>
                                        <p:tav tm="0">
                                          <p:val>
                                            <p:fltVal val="0"/>
                                          </p:val>
                                        </p:tav>
                                        <p:tav tm="100000">
                                          <p:val>
                                            <p:strVal val="#ppt_h"/>
                                          </p:val>
                                        </p:tav>
                                      </p:tavLst>
                                    </p:anim>
                                    <p:anim calcmode="lin" valueType="num">
                                      <p:cBhvr>
                                        <p:cTn id="27" dur="1000" fill="hold"/>
                                        <p:tgtEl>
                                          <p:spTgt spid="4"/>
                                        </p:tgtEl>
                                        <p:attrNameLst>
                                          <p:attrName>style.rotation</p:attrName>
                                        </p:attrNameLst>
                                      </p:cBhvr>
                                      <p:tavLst>
                                        <p:tav tm="0">
                                          <p:val>
                                            <p:fltVal val="90"/>
                                          </p:val>
                                        </p:tav>
                                        <p:tav tm="100000">
                                          <p:val>
                                            <p:fltVal val="0"/>
                                          </p:val>
                                        </p:tav>
                                      </p:tavLst>
                                    </p:anim>
                                    <p:animEffect transition="in" filter="fade">
                                      <p:cBhvr>
                                        <p:cTn id="2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99C-11C3-C40C-BD94-68A0468200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A07E907-7F6E-D28F-6C58-024B95D11F67}"/>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METHODES D’ECHANTILLONNAGE</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53B1A412-5B9A-D66D-BEA0-7F27DAA544A1}"/>
              </a:ext>
            </a:extLst>
          </p:cNvPr>
          <p:cNvSpPr txBox="1"/>
          <p:nvPr/>
        </p:nvSpPr>
        <p:spPr>
          <a:xfrm>
            <a:off x="460130" y="1600839"/>
            <a:ext cx="11271738" cy="4832092"/>
          </a:xfrm>
          <a:prstGeom prst="rect">
            <a:avLst/>
          </a:prstGeom>
          <a:noFill/>
        </p:spPr>
        <p:txBody>
          <a:bodyPr wrap="square">
            <a:spAutoFit/>
          </a:bodyPr>
          <a:lstStyle/>
          <a:p>
            <a:pPr algn="just"/>
            <a:r>
              <a:rPr lang="fr-FR" sz="2800" b="1" dirty="0">
                <a:ln w="0"/>
                <a:effectLst>
                  <a:outerShdw blurRad="38100" dist="19050" dir="2700000" algn="tl" rotWithShape="0">
                    <a:schemeClr val="dk1">
                      <a:alpha val="40000"/>
                    </a:schemeClr>
                  </a:outerShdw>
                </a:effectLst>
                <a:latin typeface="Berlin Sans FB" panose="020E0602020502020306" pitchFamily="34" charset="0"/>
              </a:rPr>
              <a:t>ECHANTILLONNAGE NON ALEATOIRE OU NON PROBABILISTE</a:t>
            </a:r>
          </a:p>
          <a:p>
            <a:pPr algn="just"/>
            <a:endParaRPr lang="fr-FR" sz="2800" b="1" dirty="0">
              <a:ln w="0"/>
              <a:effectLst>
                <a:outerShdw blurRad="38100" dist="19050" dir="2700000" algn="tl" rotWithShape="0">
                  <a:schemeClr val="dk1">
                    <a:alpha val="40000"/>
                  </a:schemeClr>
                </a:outerShdw>
              </a:effectLst>
              <a:latin typeface="Berlin Sans FB" panose="020E0602020502020306" pitchFamily="34" charset="0"/>
            </a:endParaRPr>
          </a:p>
          <a:p>
            <a:pPr algn="just"/>
            <a:r>
              <a:rPr lang="fr-FR" sz="3200" b="1" dirty="0">
                <a:ln w="0"/>
                <a:effectLst>
                  <a:outerShdw blurRad="38100" dist="19050" dir="2700000" algn="tl" rotWithShape="0">
                    <a:schemeClr val="dk1">
                      <a:alpha val="40000"/>
                    </a:schemeClr>
                  </a:outerShdw>
                </a:effectLst>
                <a:latin typeface="Berlin Sans FB" panose="020E0602020502020306" pitchFamily="34" charset="0"/>
              </a:rPr>
              <a:t>**S</a:t>
            </a:r>
            <a:r>
              <a:rPr lang="fr-FR" sz="3200" b="1" i="0" dirty="0">
                <a:ln w="0"/>
                <a:effectLst>
                  <a:outerShdw blurRad="38100" dist="19050" dir="2700000" algn="tl" rotWithShape="0">
                    <a:schemeClr val="dk1">
                      <a:alpha val="40000"/>
                    </a:schemeClr>
                  </a:outerShdw>
                </a:effectLst>
                <a:latin typeface="Berlin Sans FB" panose="020E0602020502020306" pitchFamily="34" charset="0"/>
              </a:rPr>
              <a:t>électionner les individus de la population cible sur la base de critères subjectifs</a:t>
            </a:r>
            <a:r>
              <a:rPr lang="fr-FR" sz="3200" b="1" dirty="0">
                <a:ln w="0"/>
                <a:effectLst>
                  <a:outerShdw blurRad="38100" dist="19050" dir="2700000" algn="tl" rotWithShape="0">
                    <a:schemeClr val="dk1">
                      <a:alpha val="40000"/>
                    </a:schemeClr>
                  </a:outerShdw>
                </a:effectLst>
                <a:latin typeface="Berlin Sans FB" panose="020E0602020502020306" pitchFamily="34" charset="0"/>
              </a:rPr>
              <a:t> </a:t>
            </a:r>
          </a:p>
          <a:p>
            <a:pPr marL="457200" indent="-457200" algn="just">
              <a:buFont typeface="Wingdings" panose="05000000000000000000" pitchFamily="2" charset="2"/>
              <a:buChar char="v"/>
            </a:pPr>
            <a:r>
              <a:rPr lang="fr-FR" sz="3200" b="1" dirty="0">
                <a:ln w="0"/>
                <a:effectLst>
                  <a:outerShdw blurRad="38100" dist="19050" dir="2700000" algn="tl" rotWithShape="0">
                    <a:schemeClr val="dk1">
                      <a:alpha val="40000"/>
                    </a:schemeClr>
                  </a:outerShdw>
                </a:effectLst>
                <a:latin typeface="Berlin Sans FB" panose="020E0602020502020306" pitchFamily="34" charset="0"/>
              </a:rPr>
              <a:t> Echantillonnage de commodité ou de convenance </a:t>
            </a:r>
          </a:p>
          <a:p>
            <a:pPr marL="457200" indent="-457200" algn="just">
              <a:buFont typeface="Wingdings" panose="05000000000000000000" pitchFamily="2" charset="2"/>
              <a:buChar char="v"/>
            </a:pPr>
            <a:r>
              <a:rPr lang="fr-FR" sz="3200" b="1" dirty="0">
                <a:ln w="0"/>
                <a:effectLst>
                  <a:outerShdw blurRad="38100" dist="19050" dir="2700000" algn="tl" rotWithShape="0">
                    <a:schemeClr val="dk1">
                      <a:alpha val="40000"/>
                    </a:schemeClr>
                  </a:outerShdw>
                </a:effectLst>
                <a:latin typeface="Berlin Sans FB" panose="020E0602020502020306" pitchFamily="34" charset="0"/>
              </a:rPr>
              <a:t> Echantillonnage à participation volontaire </a:t>
            </a:r>
          </a:p>
          <a:p>
            <a:pPr marL="457200" indent="-457200" algn="just">
              <a:buFont typeface="Wingdings" panose="05000000000000000000" pitchFamily="2" charset="2"/>
              <a:buChar char="v"/>
            </a:pPr>
            <a:r>
              <a:rPr lang="fr-FR" sz="3200" b="1" dirty="0">
                <a:ln w="0"/>
                <a:effectLst>
                  <a:outerShdw blurRad="38100" dist="19050" dir="2700000" algn="tl" rotWithShape="0">
                    <a:schemeClr val="dk1">
                      <a:alpha val="40000"/>
                    </a:schemeClr>
                  </a:outerShdw>
                </a:effectLst>
                <a:latin typeface="Berlin Sans FB" panose="020E0602020502020306" pitchFamily="34" charset="0"/>
              </a:rPr>
              <a:t> Echantillonnage au  jugé ou raisonné </a:t>
            </a:r>
          </a:p>
          <a:p>
            <a:pPr marL="457200" indent="-457200" algn="just">
              <a:buFont typeface="Wingdings" panose="05000000000000000000" pitchFamily="2" charset="2"/>
              <a:buChar char="v"/>
            </a:pPr>
            <a:r>
              <a:rPr lang="fr-FR" sz="3200" b="1" dirty="0">
                <a:ln w="0"/>
                <a:effectLst>
                  <a:outerShdw blurRad="38100" dist="19050" dir="2700000" algn="tl" rotWithShape="0">
                    <a:schemeClr val="dk1">
                      <a:alpha val="40000"/>
                    </a:schemeClr>
                  </a:outerShdw>
                </a:effectLst>
                <a:latin typeface="Berlin Sans FB" panose="020E0602020502020306" pitchFamily="34" charset="0"/>
              </a:rPr>
              <a:t> Echantillonnage par quotas </a:t>
            </a:r>
          </a:p>
          <a:p>
            <a:pPr marL="457200" indent="-457200" algn="just">
              <a:buFont typeface="Wingdings" panose="05000000000000000000" pitchFamily="2" charset="2"/>
              <a:buChar char="v"/>
            </a:pPr>
            <a:r>
              <a:rPr lang="fr-FR" sz="3200" b="1" dirty="0">
                <a:ln w="0"/>
                <a:effectLst>
                  <a:outerShdw blurRad="38100" dist="19050" dir="2700000" algn="tl" rotWithShape="0">
                    <a:schemeClr val="dk1">
                      <a:alpha val="40000"/>
                    </a:schemeClr>
                  </a:outerShdw>
                </a:effectLst>
                <a:latin typeface="Berlin Sans FB" panose="020E0602020502020306" pitchFamily="34" charset="0"/>
              </a:rPr>
              <a:t> Echantillonnage Boule de neige</a:t>
            </a:r>
          </a:p>
          <a:p>
            <a:pPr algn="just"/>
            <a:endParaRPr lang="fr-TG" sz="2800" b="1" dirty="0">
              <a:ln w="0"/>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1150465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1000" fill="hold"/>
                                        <p:tgtEl>
                                          <p:spTgt spid="4"/>
                                        </p:tgtEl>
                                        <p:attrNameLst>
                                          <p:attrName>ppt_w</p:attrName>
                                        </p:attrNameLst>
                                      </p:cBhvr>
                                      <p:tavLst>
                                        <p:tav tm="0">
                                          <p:val>
                                            <p:fltVal val="0"/>
                                          </p:val>
                                        </p:tav>
                                        <p:tav tm="100000">
                                          <p:val>
                                            <p:strVal val="#ppt_w"/>
                                          </p:val>
                                        </p:tav>
                                      </p:tavLst>
                                    </p:anim>
                                    <p:anim calcmode="lin" valueType="num">
                                      <p:cBhvr>
                                        <p:cTn id="26" dur="1000" fill="hold"/>
                                        <p:tgtEl>
                                          <p:spTgt spid="4"/>
                                        </p:tgtEl>
                                        <p:attrNameLst>
                                          <p:attrName>ppt_h</p:attrName>
                                        </p:attrNameLst>
                                      </p:cBhvr>
                                      <p:tavLst>
                                        <p:tav tm="0">
                                          <p:val>
                                            <p:fltVal val="0"/>
                                          </p:val>
                                        </p:tav>
                                        <p:tav tm="100000">
                                          <p:val>
                                            <p:strVal val="#ppt_h"/>
                                          </p:val>
                                        </p:tav>
                                      </p:tavLst>
                                    </p:anim>
                                    <p:anim calcmode="lin" valueType="num">
                                      <p:cBhvr>
                                        <p:cTn id="27" dur="1000" fill="hold"/>
                                        <p:tgtEl>
                                          <p:spTgt spid="4"/>
                                        </p:tgtEl>
                                        <p:attrNameLst>
                                          <p:attrName>style.rotation</p:attrName>
                                        </p:attrNameLst>
                                      </p:cBhvr>
                                      <p:tavLst>
                                        <p:tav tm="0">
                                          <p:val>
                                            <p:fltVal val="90"/>
                                          </p:val>
                                        </p:tav>
                                        <p:tav tm="100000">
                                          <p:val>
                                            <p:fltVal val="0"/>
                                          </p:val>
                                        </p:tav>
                                      </p:tavLst>
                                    </p:anim>
                                    <p:animEffect transition="in" filter="fade">
                                      <p:cBhvr>
                                        <p:cTn id="2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0AF0B-C112-0120-763D-FEA9769A6F9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799E710-015E-4C03-DB77-0F99A1A5C05F}"/>
              </a:ext>
            </a:extLst>
          </p:cNvPr>
          <p:cNvSpPr/>
          <p:nvPr/>
        </p:nvSpPr>
        <p:spPr>
          <a:xfrm>
            <a:off x="1" y="91439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endPar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METHODES D’ECHANTILLONNAGE</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0155AA16-A587-A96F-57FF-75BAADFCCE03}"/>
              </a:ext>
            </a:extLst>
          </p:cNvPr>
          <p:cNvSpPr txBox="1"/>
          <p:nvPr/>
        </p:nvSpPr>
        <p:spPr>
          <a:xfrm>
            <a:off x="346416" y="1544569"/>
            <a:ext cx="11271738" cy="5016758"/>
          </a:xfrm>
          <a:prstGeom prst="rect">
            <a:avLst/>
          </a:prstGeom>
          <a:noFill/>
        </p:spPr>
        <p:txBody>
          <a:bodyPr wrap="square">
            <a:spAutoFit/>
          </a:bodyPr>
          <a:lstStyle/>
          <a:p>
            <a:pPr algn="ctr"/>
            <a:r>
              <a:rPr lang="fr-FR" sz="3600" b="1" dirty="0">
                <a:ln w="0"/>
                <a:effectLst>
                  <a:outerShdw blurRad="38100" dist="19050" dir="2700000" algn="tl" rotWithShape="0">
                    <a:schemeClr val="dk1">
                      <a:alpha val="40000"/>
                    </a:schemeClr>
                  </a:outerShdw>
                </a:effectLst>
                <a:latin typeface="Berlin Sans FB" panose="020E0602020502020306" pitchFamily="34" charset="0"/>
              </a:rPr>
              <a:t>ECHANTILLONNAGE  ALEATOIRE</a:t>
            </a:r>
          </a:p>
          <a:p>
            <a:pPr algn="just"/>
            <a:r>
              <a:rPr lang="fr-FR" sz="3600" b="0" i="0" dirty="0">
                <a:solidFill>
                  <a:srgbClr val="333333"/>
                </a:solidFill>
                <a:effectLst/>
                <a:latin typeface="Berlin Sans FB" panose="020E0602020502020306" pitchFamily="34" charset="0"/>
              </a:rPr>
              <a:t>Dans un </a:t>
            </a:r>
            <a:r>
              <a:rPr lang="fr-FR" sz="3600" b="1" i="0" dirty="0">
                <a:solidFill>
                  <a:srgbClr val="333333"/>
                </a:solidFill>
                <a:effectLst/>
                <a:latin typeface="Berlin Sans FB" panose="020E0602020502020306" pitchFamily="34" charset="0"/>
              </a:rPr>
              <a:t>échantillonnage aléatoire</a:t>
            </a:r>
            <a:r>
              <a:rPr lang="fr-FR" sz="3600" b="0" i="0" dirty="0">
                <a:solidFill>
                  <a:srgbClr val="333333"/>
                </a:solidFill>
                <a:effectLst/>
                <a:latin typeface="Berlin Sans FB" panose="020E0602020502020306" pitchFamily="34" charset="0"/>
              </a:rPr>
              <a:t>, chaque unité d’échantillonnage de la population a une chance égale d’être incluse dans l’échantillon. Par conséquent, chaque échantillon possible a aussi une chance égale d’être sélectionné. Pour mettre cette technique en œuvre, il faut d’abord dresser une liste de toutes les unités de la population observée.</a:t>
            </a:r>
            <a:endParaRPr lang="fr-FR" sz="3600" b="1" dirty="0">
              <a:ln w="0"/>
              <a:effectLst>
                <a:outerShdw blurRad="38100" dist="19050" dir="2700000" algn="tl" rotWithShape="0">
                  <a:schemeClr val="dk1">
                    <a:alpha val="40000"/>
                  </a:schemeClr>
                </a:outerShdw>
              </a:effectLst>
              <a:latin typeface="Berlin Sans FB" panose="020E0602020502020306" pitchFamily="34" charset="0"/>
            </a:endParaRPr>
          </a:p>
          <a:p>
            <a:pPr algn="just"/>
            <a:endParaRPr lang="fr-TG" sz="2800" b="1" dirty="0">
              <a:ln w="0"/>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2163779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1000" fill="hold"/>
                                        <p:tgtEl>
                                          <p:spTgt spid="4"/>
                                        </p:tgtEl>
                                        <p:attrNameLst>
                                          <p:attrName>ppt_w</p:attrName>
                                        </p:attrNameLst>
                                      </p:cBhvr>
                                      <p:tavLst>
                                        <p:tav tm="0">
                                          <p:val>
                                            <p:fltVal val="0"/>
                                          </p:val>
                                        </p:tav>
                                        <p:tav tm="100000">
                                          <p:val>
                                            <p:strVal val="#ppt_w"/>
                                          </p:val>
                                        </p:tav>
                                      </p:tavLst>
                                    </p:anim>
                                    <p:anim calcmode="lin" valueType="num">
                                      <p:cBhvr>
                                        <p:cTn id="26" dur="1000" fill="hold"/>
                                        <p:tgtEl>
                                          <p:spTgt spid="4"/>
                                        </p:tgtEl>
                                        <p:attrNameLst>
                                          <p:attrName>ppt_h</p:attrName>
                                        </p:attrNameLst>
                                      </p:cBhvr>
                                      <p:tavLst>
                                        <p:tav tm="0">
                                          <p:val>
                                            <p:fltVal val="0"/>
                                          </p:val>
                                        </p:tav>
                                        <p:tav tm="100000">
                                          <p:val>
                                            <p:strVal val="#ppt_h"/>
                                          </p:val>
                                        </p:tav>
                                      </p:tavLst>
                                    </p:anim>
                                    <p:anim calcmode="lin" valueType="num">
                                      <p:cBhvr>
                                        <p:cTn id="27" dur="1000" fill="hold"/>
                                        <p:tgtEl>
                                          <p:spTgt spid="4"/>
                                        </p:tgtEl>
                                        <p:attrNameLst>
                                          <p:attrName>style.rotation</p:attrName>
                                        </p:attrNameLst>
                                      </p:cBhvr>
                                      <p:tavLst>
                                        <p:tav tm="0">
                                          <p:val>
                                            <p:fltVal val="90"/>
                                          </p:val>
                                        </p:tav>
                                        <p:tav tm="100000">
                                          <p:val>
                                            <p:fltVal val="0"/>
                                          </p:val>
                                        </p:tav>
                                      </p:tavLst>
                                    </p:anim>
                                    <p:animEffect transition="in" filter="fade">
                                      <p:cBhvr>
                                        <p:cTn id="2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45AC2-4FFE-2851-6821-3A53135A3D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35C86F7-994C-0F66-5663-50289CA1F3AE}"/>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METHODES D’ECHANTILLONNAGE</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3F4FCDF1-D84B-A3B0-B360-27DCC1596441}"/>
              </a:ext>
            </a:extLst>
          </p:cNvPr>
          <p:cNvSpPr txBox="1"/>
          <p:nvPr/>
        </p:nvSpPr>
        <p:spPr>
          <a:xfrm>
            <a:off x="599048" y="1530501"/>
            <a:ext cx="11271738" cy="769441"/>
          </a:xfrm>
          <a:prstGeom prst="rect">
            <a:avLst/>
          </a:prstGeom>
          <a:noFill/>
        </p:spPr>
        <p:txBody>
          <a:bodyPr wrap="square">
            <a:spAutoFit/>
          </a:bodyPr>
          <a:lstStyle/>
          <a:p>
            <a:pPr algn="ctr"/>
            <a:r>
              <a:rPr lang="fr-FR" sz="4400" b="1" dirty="0">
                <a:ln w="0"/>
                <a:effectLst>
                  <a:outerShdw blurRad="38100" dist="19050" dir="2700000" algn="tl" rotWithShape="0">
                    <a:schemeClr val="dk1">
                      <a:alpha val="40000"/>
                    </a:schemeClr>
                  </a:outerShdw>
                </a:effectLst>
                <a:latin typeface="Berlin Sans FB" panose="020E0602020502020306" pitchFamily="34" charset="0"/>
              </a:rPr>
              <a:t>ECHANTILLONNAGE  PROBABILISTE</a:t>
            </a:r>
          </a:p>
        </p:txBody>
      </p:sp>
      <p:sp>
        <p:nvSpPr>
          <p:cNvPr id="5" name="ZoneTexte 4">
            <a:extLst>
              <a:ext uri="{FF2B5EF4-FFF2-40B4-BE49-F238E27FC236}">
                <a16:creationId xmlns:a16="http://schemas.microsoft.com/office/drawing/2014/main" id="{8D3B62B6-54F3-647E-4D2F-3B3915E85612}"/>
              </a:ext>
            </a:extLst>
          </p:cNvPr>
          <p:cNvSpPr txBox="1"/>
          <p:nvPr/>
        </p:nvSpPr>
        <p:spPr>
          <a:xfrm>
            <a:off x="321211" y="2607719"/>
            <a:ext cx="11549575" cy="3785652"/>
          </a:xfrm>
          <a:prstGeom prst="rect">
            <a:avLst/>
          </a:prstGeom>
          <a:noFill/>
        </p:spPr>
        <p:txBody>
          <a:bodyPr wrap="square">
            <a:spAutoFit/>
          </a:bodyPr>
          <a:lstStyle/>
          <a:p>
            <a:pPr algn="just"/>
            <a:r>
              <a:rPr lang="fr-FR" sz="4000" b="1" i="0" dirty="0">
                <a:ln w="0"/>
                <a:effectLst>
                  <a:outerShdw blurRad="38100" dist="19050" dir="2700000" algn="tl" rotWithShape="0">
                    <a:schemeClr val="dk1">
                      <a:alpha val="40000"/>
                    </a:schemeClr>
                  </a:outerShdw>
                </a:effectLst>
                <a:latin typeface="Berlin Sans FB" panose="020E0602020502020306" pitchFamily="34" charset="0"/>
              </a:rPr>
              <a:t>Dans le contexte d’un échantillonnage probabiliste, il faut que chaque unité de la population observée ait une probabilité connue d’être incluse dans l’échantillon, mais il n’est pas nécessaire qu’elle soit la même pour tous.</a:t>
            </a:r>
            <a:endParaRPr lang="fr-TG" sz="4000" b="1" dirty="0">
              <a:ln w="0"/>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460114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p:cTn id="25" dur="1000" fill="hold"/>
                                        <p:tgtEl>
                                          <p:spTgt spid="4"/>
                                        </p:tgtEl>
                                        <p:attrNameLst>
                                          <p:attrName>ppt_w</p:attrName>
                                        </p:attrNameLst>
                                      </p:cBhvr>
                                      <p:tavLst>
                                        <p:tav tm="0">
                                          <p:val>
                                            <p:fltVal val="0"/>
                                          </p:val>
                                        </p:tav>
                                        <p:tav tm="100000">
                                          <p:val>
                                            <p:strVal val="#ppt_w"/>
                                          </p:val>
                                        </p:tav>
                                      </p:tavLst>
                                    </p:anim>
                                    <p:anim calcmode="lin" valueType="num">
                                      <p:cBhvr>
                                        <p:cTn id="26" dur="1000" fill="hold"/>
                                        <p:tgtEl>
                                          <p:spTgt spid="4"/>
                                        </p:tgtEl>
                                        <p:attrNameLst>
                                          <p:attrName>ppt_h</p:attrName>
                                        </p:attrNameLst>
                                      </p:cBhvr>
                                      <p:tavLst>
                                        <p:tav tm="0">
                                          <p:val>
                                            <p:fltVal val="0"/>
                                          </p:val>
                                        </p:tav>
                                        <p:tav tm="100000">
                                          <p:val>
                                            <p:strVal val="#ppt_h"/>
                                          </p:val>
                                        </p:tav>
                                      </p:tavLst>
                                    </p:anim>
                                    <p:anim calcmode="lin" valueType="num">
                                      <p:cBhvr>
                                        <p:cTn id="27" dur="1000" fill="hold"/>
                                        <p:tgtEl>
                                          <p:spTgt spid="4"/>
                                        </p:tgtEl>
                                        <p:attrNameLst>
                                          <p:attrName>style.rotation</p:attrName>
                                        </p:attrNameLst>
                                      </p:cBhvr>
                                      <p:tavLst>
                                        <p:tav tm="0">
                                          <p:val>
                                            <p:fltVal val="90"/>
                                          </p:val>
                                        </p:tav>
                                        <p:tav tm="100000">
                                          <p:val>
                                            <p:fltVal val="0"/>
                                          </p:val>
                                        </p:tav>
                                      </p:tavLst>
                                    </p:anim>
                                    <p:animEffect transition="in" filter="fade">
                                      <p:cBhvr>
                                        <p:cTn id="28" dur="10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p:cTn id="33" dur="1000" fill="hold"/>
                                        <p:tgtEl>
                                          <p:spTgt spid="5"/>
                                        </p:tgtEl>
                                        <p:attrNameLst>
                                          <p:attrName>ppt_w</p:attrName>
                                        </p:attrNameLst>
                                      </p:cBhvr>
                                      <p:tavLst>
                                        <p:tav tm="0">
                                          <p:val>
                                            <p:fltVal val="0"/>
                                          </p:val>
                                        </p:tav>
                                        <p:tav tm="100000">
                                          <p:val>
                                            <p:strVal val="#ppt_w"/>
                                          </p:val>
                                        </p:tav>
                                      </p:tavLst>
                                    </p:anim>
                                    <p:anim calcmode="lin" valueType="num">
                                      <p:cBhvr>
                                        <p:cTn id="34" dur="1000" fill="hold"/>
                                        <p:tgtEl>
                                          <p:spTgt spid="5"/>
                                        </p:tgtEl>
                                        <p:attrNameLst>
                                          <p:attrName>ppt_h</p:attrName>
                                        </p:attrNameLst>
                                      </p:cBhvr>
                                      <p:tavLst>
                                        <p:tav tm="0">
                                          <p:val>
                                            <p:fltVal val="0"/>
                                          </p:val>
                                        </p:tav>
                                        <p:tav tm="100000">
                                          <p:val>
                                            <p:strVal val="#ppt_h"/>
                                          </p:val>
                                        </p:tav>
                                      </p:tavLst>
                                    </p:anim>
                                    <p:anim calcmode="lin" valueType="num">
                                      <p:cBhvr>
                                        <p:cTn id="35" dur="1000" fill="hold"/>
                                        <p:tgtEl>
                                          <p:spTgt spid="5"/>
                                        </p:tgtEl>
                                        <p:attrNameLst>
                                          <p:attrName>style.rotation</p:attrName>
                                        </p:attrNameLst>
                                      </p:cBhvr>
                                      <p:tavLst>
                                        <p:tav tm="0">
                                          <p:val>
                                            <p:fltVal val="90"/>
                                          </p:val>
                                        </p:tav>
                                        <p:tav tm="100000">
                                          <p:val>
                                            <p:fltVal val="0"/>
                                          </p:val>
                                        </p:tav>
                                      </p:tavLst>
                                    </p:anim>
                                    <p:animEffect transition="in" filter="fade">
                                      <p:cBhvr>
                                        <p:cTn id="3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5256A-BE7D-EA7E-9DF6-D0D4231D6673}"/>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85D3AD2F-D5B9-3121-EC94-EBED07021050}"/>
              </a:ext>
            </a:extLst>
          </p:cNvPr>
          <p:cNvSpPr txBox="1"/>
          <p:nvPr/>
        </p:nvSpPr>
        <p:spPr>
          <a:xfrm>
            <a:off x="163535" y="1543990"/>
            <a:ext cx="11271738" cy="1077218"/>
          </a:xfrm>
          <a:prstGeom prst="rect">
            <a:avLst/>
          </a:prstGeom>
          <a:noFill/>
        </p:spPr>
        <p:txBody>
          <a:bodyPr wrap="square">
            <a:spAutoFit/>
          </a:bodyPr>
          <a:lstStyle/>
          <a:p>
            <a:pPr algn="ctr"/>
            <a:r>
              <a:rPr lang="fr-FR" sz="3600" b="1" dirty="0">
                <a:ln w="0"/>
                <a:effectLst>
                  <a:outerShdw blurRad="38100" dist="19050" dir="2700000" algn="tl" rotWithShape="0">
                    <a:schemeClr val="dk1">
                      <a:alpha val="40000"/>
                    </a:schemeClr>
                  </a:outerShdw>
                </a:effectLst>
                <a:latin typeface="Berlin Sans FB" panose="020E0602020502020306" pitchFamily="34" charset="0"/>
              </a:rPr>
              <a:t>ECHANTILLONNAGE  PROBABILISTE</a:t>
            </a:r>
          </a:p>
          <a:p>
            <a:pPr algn="just"/>
            <a:endParaRPr lang="fr-TG" sz="2800" b="1" dirty="0">
              <a:ln w="0"/>
              <a:effectLst>
                <a:outerShdw blurRad="38100" dist="19050" dir="2700000" algn="tl" rotWithShape="0">
                  <a:schemeClr val="dk1">
                    <a:alpha val="40000"/>
                  </a:schemeClr>
                </a:outerShdw>
              </a:effectLst>
              <a:latin typeface="Berlin Sans FB" panose="020E0602020502020306" pitchFamily="34" charset="0"/>
            </a:endParaRPr>
          </a:p>
        </p:txBody>
      </p:sp>
      <p:sp>
        <p:nvSpPr>
          <p:cNvPr id="7" name="ZoneTexte 6">
            <a:extLst>
              <a:ext uri="{FF2B5EF4-FFF2-40B4-BE49-F238E27FC236}">
                <a16:creationId xmlns:a16="http://schemas.microsoft.com/office/drawing/2014/main" id="{A8CC8367-DFE6-4791-1AF5-77992F215659}"/>
              </a:ext>
            </a:extLst>
          </p:cNvPr>
          <p:cNvSpPr txBox="1"/>
          <p:nvPr/>
        </p:nvSpPr>
        <p:spPr>
          <a:xfrm>
            <a:off x="163537" y="2594231"/>
            <a:ext cx="11864928" cy="2862322"/>
          </a:xfrm>
          <a:prstGeom prst="rect">
            <a:avLst/>
          </a:prstGeom>
          <a:noFill/>
        </p:spPr>
        <p:txBody>
          <a:bodyPr wrap="square">
            <a:spAutoFit/>
          </a:bodyPr>
          <a:lstStyle/>
          <a:p>
            <a:pPr algn="just"/>
            <a:r>
              <a:rPr lang="fr-FR" sz="3600" i="0" dirty="0">
                <a:ln w="0"/>
                <a:effectLst>
                  <a:outerShdw blurRad="38100" dist="19050" dir="2700000" algn="tl" rotWithShape="0">
                    <a:schemeClr val="dk1">
                      <a:alpha val="40000"/>
                    </a:schemeClr>
                  </a:outerShdw>
                </a:effectLst>
                <a:latin typeface="Berlin Sans FB" panose="020E0602020502020306" pitchFamily="34" charset="0"/>
              </a:rPr>
              <a:t>Si la base de sondage renferme de l’information sur la taille de chaque unité (comme le nombre d’employés de chacune des entreprises qui y sont inscrites) et si la taille de ces unités varie, on peut utiliser cette information dans le cadre de la sélection de l’échantillon afin d’en accroître l’efficacité.</a:t>
            </a:r>
            <a:endParaRPr lang="fr-TG" sz="3600" dirty="0">
              <a:ln w="0"/>
              <a:effectLst>
                <a:outerShdw blurRad="38100" dist="19050" dir="2700000" algn="tl" rotWithShape="0">
                  <a:schemeClr val="dk1">
                    <a:alpha val="40000"/>
                  </a:schemeClr>
                </a:outerShdw>
              </a:effectLst>
              <a:latin typeface="Berlin Sans FB" panose="020E0602020502020306" pitchFamily="34" charset="0"/>
            </a:endParaRPr>
          </a:p>
        </p:txBody>
      </p:sp>
      <p:sp>
        <p:nvSpPr>
          <p:cNvPr id="9" name="ZoneTexte 8">
            <a:extLst>
              <a:ext uri="{FF2B5EF4-FFF2-40B4-BE49-F238E27FC236}">
                <a16:creationId xmlns:a16="http://schemas.microsoft.com/office/drawing/2014/main" id="{945EE2C2-E3B9-AFD1-09FC-8158DB2DA9BE}"/>
              </a:ext>
            </a:extLst>
          </p:cNvPr>
          <p:cNvSpPr txBox="1"/>
          <p:nvPr/>
        </p:nvSpPr>
        <p:spPr>
          <a:xfrm>
            <a:off x="337625" y="5873967"/>
            <a:ext cx="11375487" cy="954107"/>
          </a:xfrm>
          <a:prstGeom prst="rect">
            <a:avLst/>
          </a:prstGeom>
          <a:noFill/>
        </p:spPr>
        <p:txBody>
          <a:bodyPr wrap="square">
            <a:spAutoFit/>
          </a:bodyPr>
          <a:lstStyle/>
          <a:p>
            <a:pPr algn="ctr"/>
            <a:r>
              <a:rPr lang="fr-FR" sz="2800" b="1" i="0" dirty="0">
                <a:solidFill>
                  <a:srgbClr val="333333"/>
                </a:solidFill>
                <a:effectLst/>
                <a:latin typeface="Berlin Sans FB" panose="020E0602020502020306" pitchFamily="34" charset="0"/>
              </a:rPr>
              <a:t>Cela s’appelle l’échantillonnage avec probabilité proportionnelle à la taille</a:t>
            </a:r>
            <a:endParaRPr lang="fr-TG" sz="2800" b="1" dirty="0">
              <a:latin typeface="Berlin Sans FB" panose="020E0602020502020306" pitchFamily="34" charset="0"/>
            </a:endParaRPr>
          </a:p>
        </p:txBody>
      </p:sp>
      <p:sp>
        <p:nvSpPr>
          <p:cNvPr id="10" name="Rectangle 9">
            <a:extLst>
              <a:ext uri="{FF2B5EF4-FFF2-40B4-BE49-F238E27FC236}">
                <a16:creationId xmlns:a16="http://schemas.microsoft.com/office/drawing/2014/main" id="{1B1328AC-DFE8-DEF5-4F23-89D25734BD6F}"/>
              </a:ext>
            </a:extLst>
          </p:cNvPr>
          <p:cNvSpPr/>
          <p:nvPr/>
        </p:nvSpPr>
        <p:spPr>
          <a:xfrm>
            <a:off x="1" y="91439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endPar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METHODES D’ECHANTILLONNAGE</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4175599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down)">
                                      <p:cBhvr>
                                        <p:cTn id="25" dur="580">
                                          <p:stCondLst>
                                            <p:cond delay="0"/>
                                          </p:stCondLst>
                                        </p:cTn>
                                        <p:tgtEl>
                                          <p:spTgt spid="4"/>
                                        </p:tgtEl>
                                      </p:cBhvr>
                                    </p:animEffect>
                                    <p:anim calcmode="lin" valueType="num">
                                      <p:cBhvr>
                                        <p:cTn id="26"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1" dur="26">
                                          <p:stCondLst>
                                            <p:cond delay="650"/>
                                          </p:stCondLst>
                                        </p:cTn>
                                        <p:tgtEl>
                                          <p:spTgt spid="4"/>
                                        </p:tgtEl>
                                      </p:cBhvr>
                                      <p:to x="100000" y="60000"/>
                                    </p:animScale>
                                    <p:animScale>
                                      <p:cBhvr>
                                        <p:cTn id="32" dur="166" decel="50000">
                                          <p:stCondLst>
                                            <p:cond delay="676"/>
                                          </p:stCondLst>
                                        </p:cTn>
                                        <p:tgtEl>
                                          <p:spTgt spid="4"/>
                                        </p:tgtEl>
                                      </p:cBhvr>
                                      <p:to x="100000" y="100000"/>
                                    </p:animScale>
                                    <p:animScale>
                                      <p:cBhvr>
                                        <p:cTn id="33" dur="26">
                                          <p:stCondLst>
                                            <p:cond delay="1312"/>
                                          </p:stCondLst>
                                        </p:cTn>
                                        <p:tgtEl>
                                          <p:spTgt spid="4"/>
                                        </p:tgtEl>
                                      </p:cBhvr>
                                      <p:to x="100000" y="80000"/>
                                    </p:animScale>
                                    <p:animScale>
                                      <p:cBhvr>
                                        <p:cTn id="34" dur="166" decel="50000">
                                          <p:stCondLst>
                                            <p:cond delay="1338"/>
                                          </p:stCondLst>
                                        </p:cTn>
                                        <p:tgtEl>
                                          <p:spTgt spid="4"/>
                                        </p:tgtEl>
                                      </p:cBhvr>
                                      <p:to x="100000" y="100000"/>
                                    </p:animScale>
                                    <p:animScale>
                                      <p:cBhvr>
                                        <p:cTn id="35" dur="26">
                                          <p:stCondLst>
                                            <p:cond delay="1642"/>
                                          </p:stCondLst>
                                        </p:cTn>
                                        <p:tgtEl>
                                          <p:spTgt spid="4"/>
                                        </p:tgtEl>
                                      </p:cBhvr>
                                      <p:to x="100000" y="90000"/>
                                    </p:animScale>
                                    <p:animScale>
                                      <p:cBhvr>
                                        <p:cTn id="36" dur="166" decel="50000">
                                          <p:stCondLst>
                                            <p:cond delay="1668"/>
                                          </p:stCondLst>
                                        </p:cTn>
                                        <p:tgtEl>
                                          <p:spTgt spid="4"/>
                                        </p:tgtEl>
                                      </p:cBhvr>
                                      <p:to x="100000" y="100000"/>
                                    </p:animScale>
                                    <p:animScale>
                                      <p:cBhvr>
                                        <p:cTn id="37" dur="26">
                                          <p:stCondLst>
                                            <p:cond delay="1808"/>
                                          </p:stCondLst>
                                        </p:cTn>
                                        <p:tgtEl>
                                          <p:spTgt spid="4"/>
                                        </p:tgtEl>
                                      </p:cBhvr>
                                      <p:to x="100000" y="95000"/>
                                    </p:animScale>
                                    <p:animScale>
                                      <p:cBhvr>
                                        <p:cTn id="38" dur="166" decel="50000">
                                          <p:stCondLst>
                                            <p:cond delay="1834"/>
                                          </p:stCondLst>
                                        </p:cTn>
                                        <p:tgtEl>
                                          <p:spTgt spid="4"/>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3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p:cTn id="43" dur="1000" fill="hold"/>
                                        <p:tgtEl>
                                          <p:spTgt spid="7"/>
                                        </p:tgtEl>
                                        <p:attrNameLst>
                                          <p:attrName>ppt_w</p:attrName>
                                        </p:attrNameLst>
                                      </p:cBhvr>
                                      <p:tavLst>
                                        <p:tav tm="0">
                                          <p:val>
                                            <p:fltVal val="0"/>
                                          </p:val>
                                        </p:tav>
                                        <p:tav tm="100000">
                                          <p:val>
                                            <p:strVal val="#ppt_w"/>
                                          </p:val>
                                        </p:tav>
                                      </p:tavLst>
                                    </p:anim>
                                    <p:anim calcmode="lin" valueType="num">
                                      <p:cBhvr>
                                        <p:cTn id="44" dur="1000" fill="hold"/>
                                        <p:tgtEl>
                                          <p:spTgt spid="7"/>
                                        </p:tgtEl>
                                        <p:attrNameLst>
                                          <p:attrName>ppt_h</p:attrName>
                                        </p:attrNameLst>
                                      </p:cBhvr>
                                      <p:tavLst>
                                        <p:tav tm="0">
                                          <p:val>
                                            <p:fltVal val="0"/>
                                          </p:val>
                                        </p:tav>
                                        <p:tav tm="100000">
                                          <p:val>
                                            <p:strVal val="#ppt_h"/>
                                          </p:val>
                                        </p:tav>
                                      </p:tavLst>
                                    </p:anim>
                                    <p:anim calcmode="lin" valueType="num">
                                      <p:cBhvr>
                                        <p:cTn id="45" dur="1000" fill="hold"/>
                                        <p:tgtEl>
                                          <p:spTgt spid="7"/>
                                        </p:tgtEl>
                                        <p:attrNameLst>
                                          <p:attrName>style.rotation</p:attrName>
                                        </p:attrNameLst>
                                      </p:cBhvr>
                                      <p:tavLst>
                                        <p:tav tm="0">
                                          <p:val>
                                            <p:fltVal val="90"/>
                                          </p:val>
                                        </p:tav>
                                        <p:tav tm="100000">
                                          <p:val>
                                            <p:fltVal val="0"/>
                                          </p:val>
                                        </p:tav>
                                      </p:tavLst>
                                    </p:anim>
                                    <p:animEffect transition="in" filter="fade">
                                      <p:cBhvr>
                                        <p:cTn id="46" dur="10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1000" fill="hold"/>
                                        <p:tgtEl>
                                          <p:spTgt spid="9"/>
                                        </p:tgtEl>
                                        <p:attrNameLst>
                                          <p:attrName>ppt_w</p:attrName>
                                        </p:attrNameLst>
                                      </p:cBhvr>
                                      <p:tavLst>
                                        <p:tav tm="0">
                                          <p:val>
                                            <p:fltVal val="0"/>
                                          </p:val>
                                        </p:tav>
                                        <p:tav tm="100000">
                                          <p:val>
                                            <p:strVal val="#ppt_w"/>
                                          </p:val>
                                        </p:tav>
                                      </p:tavLst>
                                    </p:anim>
                                    <p:anim calcmode="lin" valueType="num">
                                      <p:cBhvr>
                                        <p:cTn id="52" dur="1000" fill="hold"/>
                                        <p:tgtEl>
                                          <p:spTgt spid="9"/>
                                        </p:tgtEl>
                                        <p:attrNameLst>
                                          <p:attrName>ppt_h</p:attrName>
                                        </p:attrNameLst>
                                      </p:cBhvr>
                                      <p:tavLst>
                                        <p:tav tm="0">
                                          <p:val>
                                            <p:fltVal val="0"/>
                                          </p:val>
                                        </p:tav>
                                        <p:tav tm="100000">
                                          <p:val>
                                            <p:strVal val="#ppt_h"/>
                                          </p:val>
                                        </p:tav>
                                      </p:tavLst>
                                    </p:anim>
                                    <p:anim calcmode="lin" valueType="num">
                                      <p:cBhvr>
                                        <p:cTn id="53" dur="1000" fill="hold"/>
                                        <p:tgtEl>
                                          <p:spTgt spid="9"/>
                                        </p:tgtEl>
                                        <p:attrNameLst>
                                          <p:attrName>style.rotation</p:attrName>
                                        </p:attrNameLst>
                                      </p:cBhvr>
                                      <p:tavLst>
                                        <p:tav tm="0">
                                          <p:val>
                                            <p:fltVal val="90"/>
                                          </p:val>
                                        </p:tav>
                                        <p:tav tm="100000">
                                          <p:val>
                                            <p:fltVal val="0"/>
                                          </p:val>
                                        </p:tav>
                                      </p:tavLst>
                                    </p:anim>
                                    <p:animEffect transition="in" filter="fade">
                                      <p:cBhvr>
                                        <p:cTn id="5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9" grpId="0"/>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E464E-EF34-EC71-172D-016076A629D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6604739-42A0-85C2-FC86-5D66247C951B}"/>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ETUDE QUANTITATIVE</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4D8723BC-63AF-E439-632B-375488B7167A}"/>
              </a:ext>
            </a:extLst>
          </p:cNvPr>
          <p:cNvSpPr txBox="1"/>
          <p:nvPr/>
        </p:nvSpPr>
        <p:spPr>
          <a:xfrm>
            <a:off x="253218" y="1482353"/>
            <a:ext cx="11648050" cy="769441"/>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CONCEPTS ET METHODE</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sp>
        <p:nvSpPr>
          <p:cNvPr id="6" name="Rectangle 5">
            <a:extLst>
              <a:ext uri="{FF2B5EF4-FFF2-40B4-BE49-F238E27FC236}">
                <a16:creationId xmlns:a16="http://schemas.microsoft.com/office/drawing/2014/main" id="{4CD3957F-B816-3BB5-DD3D-873834730F17}"/>
              </a:ext>
            </a:extLst>
          </p:cNvPr>
          <p:cNvSpPr/>
          <p:nvPr/>
        </p:nvSpPr>
        <p:spPr>
          <a:xfrm>
            <a:off x="302455" y="2383650"/>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ENQUÊTE </a:t>
            </a:r>
            <a:endParaRPr lang="fr-FR" sz="4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56BBEBEA-294F-103A-02C7-6B750B322954}"/>
              </a:ext>
            </a:extLst>
          </p:cNvPr>
          <p:cNvSpPr txBox="1"/>
          <p:nvPr/>
        </p:nvSpPr>
        <p:spPr>
          <a:xfrm>
            <a:off x="302455" y="3265772"/>
            <a:ext cx="11549576" cy="3046988"/>
          </a:xfrm>
          <a:prstGeom prst="rect">
            <a:avLst/>
          </a:prstGeom>
          <a:noFill/>
        </p:spPr>
        <p:txBody>
          <a:bodyPr wrap="square">
            <a:spAutoFit/>
          </a:bodyPr>
          <a:lstStyle/>
          <a:p>
            <a:pPr algn="just"/>
            <a:r>
              <a:rPr lang="fr-FR" sz="3200" i="0" dirty="0">
                <a:ln w="0"/>
                <a:effectLst>
                  <a:outerShdw blurRad="38100" dist="19050" dir="2700000" algn="tl" rotWithShape="0">
                    <a:schemeClr val="dk1">
                      <a:alpha val="40000"/>
                    </a:schemeClr>
                  </a:outerShdw>
                </a:effectLst>
                <a:latin typeface="Berlin Sans FB" panose="020E0602020502020306" pitchFamily="34" charset="0"/>
              </a:rPr>
              <a:t>Méthode de recherche, une enquête recueille des données auprès de sujets qui répondent à une série de questions sur les comportements et les opinions , souvent sous la forme d'un questionnaire, mais les enquêtes peuvent également prendre la forme d'entretiens avec des questions ouvertes et/ou des questions fermées.</a:t>
            </a:r>
            <a:endParaRPr lang="fr-TG" sz="3200" dirty="0">
              <a:ln w="0"/>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194183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90"/>
                                          </p:val>
                                        </p:tav>
                                        <p:tav tm="100000">
                                          <p:val>
                                            <p:fltVal val="0"/>
                                          </p:val>
                                        </p:tav>
                                      </p:tavLst>
                                    </p:anim>
                                    <p:animEffect transition="in" filter="fade">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1000" fill="hold"/>
                                        <p:tgtEl>
                                          <p:spTgt spid="6"/>
                                        </p:tgtEl>
                                        <p:attrNameLst>
                                          <p:attrName>ppt_w</p:attrName>
                                        </p:attrNameLst>
                                      </p:cBhvr>
                                      <p:tavLst>
                                        <p:tav tm="0">
                                          <p:val>
                                            <p:fltVal val="0"/>
                                          </p:val>
                                        </p:tav>
                                        <p:tav tm="100000">
                                          <p:val>
                                            <p:strVal val="#ppt_w"/>
                                          </p:val>
                                        </p:tav>
                                      </p:tavLst>
                                    </p:anim>
                                    <p:anim calcmode="lin" valueType="num">
                                      <p:cBhvr>
                                        <p:cTn id="22" dur="1000" fill="hold"/>
                                        <p:tgtEl>
                                          <p:spTgt spid="6"/>
                                        </p:tgtEl>
                                        <p:attrNameLst>
                                          <p:attrName>ppt_h</p:attrName>
                                        </p:attrNameLst>
                                      </p:cBhvr>
                                      <p:tavLst>
                                        <p:tav tm="0">
                                          <p:val>
                                            <p:fltVal val="0"/>
                                          </p:val>
                                        </p:tav>
                                        <p:tav tm="100000">
                                          <p:val>
                                            <p:strVal val="#ppt_h"/>
                                          </p:val>
                                        </p:tav>
                                      </p:tavLst>
                                    </p:anim>
                                    <p:anim calcmode="lin" valueType="num">
                                      <p:cBhvr>
                                        <p:cTn id="23" dur="1000" fill="hold"/>
                                        <p:tgtEl>
                                          <p:spTgt spid="6"/>
                                        </p:tgtEl>
                                        <p:attrNameLst>
                                          <p:attrName>style.rotation</p:attrName>
                                        </p:attrNameLst>
                                      </p:cBhvr>
                                      <p:tavLst>
                                        <p:tav tm="0">
                                          <p:val>
                                            <p:fltVal val="90"/>
                                          </p:val>
                                        </p:tav>
                                        <p:tav tm="100000">
                                          <p:val>
                                            <p:fltVal val="0"/>
                                          </p:val>
                                        </p:tav>
                                      </p:tavLst>
                                    </p:anim>
                                    <p:animEffect transition="in" filter="fade">
                                      <p:cBhvr>
                                        <p:cTn id="24" dur="1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80">
                                          <p:stCondLst>
                                            <p:cond delay="0"/>
                                          </p:stCondLst>
                                        </p:cTn>
                                        <p:tgtEl>
                                          <p:spTgt spid="7"/>
                                        </p:tgtEl>
                                      </p:cBhvr>
                                    </p:animEffect>
                                    <p:anim calcmode="lin" valueType="num">
                                      <p:cBhvr>
                                        <p:cTn id="3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5" dur="26">
                                          <p:stCondLst>
                                            <p:cond delay="650"/>
                                          </p:stCondLst>
                                        </p:cTn>
                                        <p:tgtEl>
                                          <p:spTgt spid="7"/>
                                        </p:tgtEl>
                                      </p:cBhvr>
                                      <p:to x="100000" y="60000"/>
                                    </p:animScale>
                                    <p:animScale>
                                      <p:cBhvr>
                                        <p:cTn id="36" dur="166" decel="50000">
                                          <p:stCondLst>
                                            <p:cond delay="676"/>
                                          </p:stCondLst>
                                        </p:cTn>
                                        <p:tgtEl>
                                          <p:spTgt spid="7"/>
                                        </p:tgtEl>
                                      </p:cBhvr>
                                      <p:to x="100000" y="100000"/>
                                    </p:animScale>
                                    <p:animScale>
                                      <p:cBhvr>
                                        <p:cTn id="37" dur="26">
                                          <p:stCondLst>
                                            <p:cond delay="1312"/>
                                          </p:stCondLst>
                                        </p:cTn>
                                        <p:tgtEl>
                                          <p:spTgt spid="7"/>
                                        </p:tgtEl>
                                      </p:cBhvr>
                                      <p:to x="100000" y="80000"/>
                                    </p:animScale>
                                    <p:animScale>
                                      <p:cBhvr>
                                        <p:cTn id="38" dur="166" decel="50000">
                                          <p:stCondLst>
                                            <p:cond delay="1338"/>
                                          </p:stCondLst>
                                        </p:cTn>
                                        <p:tgtEl>
                                          <p:spTgt spid="7"/>
                                        </p:tgtEl>
                                      </p:cBhvr>
                                      <p:to x="100000" y="100000"/>
                                    </p:animScale>
                                    <p:animScale>
                                      <p:cBhvr>
                                        <p:cTn id="39" dur="26">
                                          <p:stCondLst>
                                            <p:cond delay="1642"/>
                                          </p:stCondLst>
                                        </p:cTn>
                                        <p:tgtEl>
                                          <p:spTgt spid="7"/>
                                        </p:tgtEl>
                                      </p:cBhvr>
                                      <p:to x="100000" y="90000"/>
                                    </p:animScale>
                                    <p:animScale>
                                      <p:cBhvr>
                                        <p:cTn id="40" dur="166" decel="50000">
                                          <p:stCondLst>
                                            <p:cond delay="1668"/>
                                          </p:stCondLst>
                                        </p:cTn>
                                        <p:tgtEl>
                                          <p:spTgt spid="7"/>
                                        </p:tgtEl>
                                      </p:cBhvr>
                                      <p:to x="100000" y="100000"/>
                                    </p:animScale>
                                    <p:animScale>
                                      <p:cBhvr>
                                        <p:cTn id="41" dur="26">
                                          <p:stCondLst>
                                            <p:cond delay="1808"/>
                                          </p:stCondLst>
                                        </p:cTn>
                                        <p:tgtEl>
                                          <p:spTgt spid="7"/>
                                        </p:tgtEl>
                                      </p:cBhvr>
                                      <p:to x="100000" y="95000"/>
                                    </p:animScale>
                                    <p:animScale>
                                      <p:cBhvr>
                                        <p:cTn id="42"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6" grpId="0" animBg="1"/>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B09F7-C254-572A-0226-CC6D08068A6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A5C4BE1-5357-1E62-F455-D67BDB645019}"/>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CONCEPT ET METHODE</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6" name="Rectangle 5">
            <a:extLst>
              <a:ext uri="{FF2B5EF4-FFF2-40B4-BE49-F238E27FC236}">
                <a16:creationId xmlns:a16="http://schemas.microsoft.com/office/drawing/2014/main" id="{65D96F4D-9C31-67D9-1436-F9CCD027273B}"/>
              </a:ext>
            </a:extLst>
          </p:cNvPr>
          <p:cNvSpPr/>
          <p:nvPr/>
        </p:nvSpPr>
        <p:spPr>
          <a:xfrm>
            <a:off x="396825" y="1680265"/>
            <a:ext cx="11549576" cy="247008"/>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ENQUÊTE PAR QUESTIONNAIRE</a:t>
            </a:r>
            <a:endParaRPr lang="fr-FR" sz="4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4" name="ZoneTexte 3">
            <a:extLst>
              <a:ext uri="{FF2B5EF4-FFF2-40B4-BE49-F238E27FC236}">
                <a16:creationId xmlns:a16="http://schemas.microsoft.com/office/drawing/2014/main" id="{C1D7F40B-C7AF-4BF1-41FA-AD93B2CB2809}"/>
              </a:ext>
            </a:extLst>
          </p:cNvPr>
          <p:cNvSpPr txBox="1"/>
          <p:nvPr/>
        </p:nvSpPr>
        <p:spPr>
          <a:xfrm>
            <a:off x="472439" y="2923020"/>
            <a:ext cx="11398348" cy="2862322"/>
          </a:xfrm>
          <a:prstGeom prst="rect">
            <a:avLst/>
          </a:prstGeom>
          <a:noFill/>
        </p:spPr>
        <p:txBody>
          <a:bodyPr wrap="square">
            <a:spAutoFit/>
          </a:bodyPr>
          <a:lstStyle/>
          <a:p>
            <a:pPr algn="just"/>
            <a:r>
              <a:rPr lang="fr-FR" sz="3600" i="0" dirty="0">
                <a:ln w="0"/>
                <a:effectLst>
                  <a:outerShdw blurRad="38100" dist="19050" dir="2700000" algn="tl" rotWithShape="0">
                    <a:schemeClr val="dk1">
                      <a:alpha val="40000"/>
                    </a:schemeClr>
                  </a:outerShdw>
                </a:effectLst>
                <a:latin typeface="Berlin Sans FB" panose="020E0602020502020306" pitchFamily="34" charset="0"/>
              </a:rPr>
              <a:t>L'enquête par questionnaire est un outil méthodologique d'observation qui comprend un ensemble de questions s'enchaînant de manière structurée et logique. Ce type d'enquête vise à obtenir des données statistiques quantifiables et comparables sur une population précise.</a:t>
            </a:r>
            <a:endParaRPr lang="fr-TG" sz="3600" dirty="0">
              <a:ln w="0"/>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4240792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80">
                                          <p:stCondLst>
                                            <p:cond delay="0"/>
                                          </p:stCondLst>
                                        </p:cTn>
                                        <p:tgtEl>
                                          <p:spTgt spid="6"/>
                                        </p:tgtEl>
                                      </p:cBhvr>
                                    </p:animEffect>
                                    <p:anim calcmode="lin" valueType="num">
                                      <p:cBhvr>
                                        <p:cTn id="1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1" dur="26">
                                          <p:stCondLst>
                                            <p:cond delay="650"/>
                                          </p:stCondLst>
                                        </p:cTn>
                                        <p:tgtEl>
                                          <p:spTgt spid="6"/>
                                        </p:tgtEl>
                                      </p:cBhvr>
                                      <p:to x="100000" y="60000"/>
                                    </p:animScale>
                                    <p:animScale>
                                      <p:cBhvr>
                                        <p:cTn id="22" dur="166" decel="50000">
                                          <p:stCondLst>
                                            <p:cond delay="676"/>
                                          </p:stCondLst>
                                        </p:cTn>
                                        <p:tgtEl>
                                          <p:spTgt spid="6"/>
                                        </p:tgtEl>
                                      </p:cBhvr>
                                      <p:to x="100000" y="100000"/>
                                    </p:animScale>
                                    <p:animScale>
                                      <p:cBhvr>
                                        <p:cTn id="23" dur="26">
                                          <p:stCondLst>
                                            <p:cond delay="1312"/>
                                          </p:stCondLst>
                                        </p:cTn>
                                        <p:tgtEl>
                                          <p:spTgt spid="6"/>
                                        </p:tgtEl>
                                      </p:cBhvr>
                                      <p:to x="100000" y="80000"/>
                                    </p:animScale>
                                    <p:animScale>
                                      <p:cBhvr>
                                        <p:cTn id="24" dur="166" decel="50000">
                                          <p:stCondLst>
                                            <p:cond delay="1338"/>
                                          </p:stCondLst>
                                        </p:cTn>
                                        <p:tgtEl>
                                          <p:spTgt spid="6"/>
                                        </p:tgtEl>
                                      </p:cBhvr>
                                      <p:to x="100000" y="100000"/>
                                    </p:animScale>
                                    <p:animScale>
                                      <p:cBhvr>
                                        <p:cTn id="25" dur="26">
                                          <p:stCondLst>
                                            <p:cond delay="1642"/>
                                          </p:stCondLst>
                                        </p:cTn>
                                        <p:tgtEl>
                                          <p:spTgt spid="6"/>
                                        </p:tgtEl>
                                      </p:cBhvr>
                                      <p:to x="100000" y="90000"/>
                                    </p:animScale>
                                    <p:animScale>
                                      <p:cBhvr>
                                        <p:cTn id="26" dur="166" decel="50000">
                                          <p:stCondLst>
                                            <p:cond delay="1668"/>
                                          </p:stCondLst>
                                        </p:cTn>
                                        <p:tgtEl>
                                          <p:spTgt spid="6"/>
                                        </p:tgtEl>
                                      </p:cBhvr>
                                      <p:to x="100000" y="100000"/>
                                    </p:animScale>
                                    <p:animScale>
                                      <p:cBhvr>
                                        <p:cTn id="27" dur="26">
                                          <p:stCondLst>
                                            <p:cond delay="1808"/>
                                          </p:stCondLst>
                                        </p:cTn>
                                        <p:tgtEl>
                                          <p:spTgt spid="6"/>
                                        </p:tgtEl>
                                      </p:cBhvr>
                                      <p:to x="100000" y="95000"/>
                                    </p:animScale>
                                    <p:animScale>
                                      <p:cBhvr>
                                        <p:cTn id="28" dur="166" decel="50000">
                                          <p:stCondLst>
                                            <p:cond delay="1834"/>
                                          </p:stCondLst>
                                        </p:cTn>
                                        <p:tgtEl>
                                          <p:spTgt spid="6"/>
                                        </p:tgtEl>
                                      </p:cBhvr>
                                      <p:to x="100000" y="100000"/>
                                    </p:animScale>
                                  </p:childTnLst>
                                </p:cTn>
                              </p:par>
                              <p:par>
                                <p:cTn id="29" presetID="26"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down)">
                                      <p:cBhvr>
                                        <p:cTn id="31" dur="580">
                                          <p:stCondLst>
                                            <p:cond delay="0"/>
                                          </p:stCondLst>
                                        </p:cTn>
                                        <p:tgtEl>
                                          <p:spTgt spid="4"/>
                                        </p:tgtEl>
                                      </p:cBhvr>
                                    </p:animEffect>
                                    <p:anim calcmode="lin" valueType="num">
                                      <p:cBhvr>
                                        <p:cTn id="32"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37" dur="26">
                                          <p:stCondLst>
                                            <p:cond delay="650"/>
                                          </p:stCondLst>
                                        </p:cTn>
                                        <p:tgtEl>
                                          <p:spTgt spid="4"/>
                                        </p:tgtEl>
                                      </p:cBhvr>
                                      <p:to x="100000" y="60000"/>
                                    </p:animScale>
                                    <p:animScale>
                                      <p:cBhvr>
                                        <p:cTn id="38" dur="166" decel="50000">
                                          <p:stCondLst>
                                            <p:cond delay="676"/>
                                          </p:stCondLst>
                                        </p:cTn>
                                        <p:tgtEl>
                                          <p:spTgt spid="4"/>
                                        </p:tgtEl>
                                      </p:cBhvr>
                                      <p:to x="100000" y="100000"/>
                                    </p:animScale>
                                    <p:animScale>
                                      <p:cBhvr>
                                        <p:cTn id="39" dur="26">
                                          <p:stCondLst>
                                            <p:cond delay="1312"/>
                                          </p:stCondLst>
                                        </p:cTn>
                                        <p:tgtEl>
                                          <p:spTgt spid="4"/>
                                        </p:tgtEl>
                                      </p:cBhvr>
                                      <p:to x="100000" y="80000"/>
                                    </p:animScale>
                                    <p:animScale>
                                      <p:cBhvr>
                                        <p:cTn id="40" dur="166" decel="50000">
                                          <p:stCondLst>
                                            <p:cond delay="1338"/>
                                          </p:stCondLst>
                                        </p:cTn>
                                        <p:tgtEl>
                                          <p:spTgt spid="4"/>
                                        </p:tgtEl>
                                      </p:cBhvr>
                                      <p:to x="100000" y="100000"/>
                                    </p:animScale>
                                    <p:animScale>
                                      <p:cBhvr>
                                        <p:cTn id="41" dur="26">
                                          <p:stCondLst>
                                            <p:cond delay="1642"/>
                                          </p:stCondLst>
                                        </p:cTn>
                                        <p:tgtEl>
                                          <p:spTgt spid="4"/>
                                        </p:tgtEl>
                                      </p:cBhvr>
                                      <p:to x="100000" y="90000"/>
                                    </p:animScale>
                                    <p:animScale>
                                      <p:cBhvr>
                                        <p:cTn id="42" dur="166" decel="50000">
                                          <p:stCondLst>
                                            <p:cond delay="1668"/>
                                          </p:stCondLst>
                                        </p:cTn>
                                        <p:tgtEl>
                                          <p:spTgt spid="4"/>
                                        </p:tgtEl>
                                      </p:cBhvr>
                                      <p:to x="100000" y="100000"/>
                                    </p:animScale>
                                    <p:animScale>
                                      <p:cBhvr>
                                        <p:cTn id="43" dur="26">
                                          <p:stCondLst>
                                            <p:cond delay="1808"/>
                                          </p:stCondLst>
                                        </p:cTn>
                                        <p:tgtEl>
                                          <p:spTgt spid="4"/>
                                        </p:tgtEl>
                                      </p:cBhvr>
                                      <p:to x="100000" y="95000"/>
                                    </p:animScale>
                                    <p:animScale>
                                      <p:cBhvr>
                                        <p:cTn id="44"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C2CCC-57F4-5170-E43B-36C0C57D460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EC26C87-2159-8F0E-32B8-F2016063A6E8}"/>
              </a:ext>
            </a:extLst>
          </p:cNvPr>
          <p:cNvSpPr/>
          <p:nvPr/>
        </p:nvSpPr>
        <p:spPr>
          <a:xfrm>
            <a:off x="253217" y="1736535"/>
            <a:ext cx="11648050" cy="239156"/>
          </a:xfrm>
          <a:prstGeom prst="rect">
            <a:avLst/>
          </a:prstGeom>
          <a:solidFill>
            <a:srgbClr val="00B050"/>
          </a:solidFill>
          <a:scene3d>
            <a:camera prst="orthographicFront"/>
            <a:lightRig rig="threePt" dir="t"/>
          </a:scene3d>
          <a:sp3d>
            <a:bevelT prst="angle"/>
          </a:sp3d>
        </p:spPr>
        <p:style>
          <a:lnRef idx="2">
            <a:schemeClr val="dk1"/>
          </a:lnRef>
          <a:fillRef idx="1">
            <a:schemeClr val="lt1"/>
          </a:fillRef>
          <a:effectRef idx="0">
            <a:schemeClr val="dk1"/>
          </a:effectRef>
          <a:fontRef idx="minor">
            <a:schemeClr val="dk1"/>
          </a:fontRef>
        </p:style>
        <p:txBody>
          <a:bodyPr rtlCol="0" anchor="t">
            <a:sp3d extrusionH="57150">
              <a:bevelT w="82550" h="38100" prst="coolSlant"/>
            </a:sp3d>
          </a:bodyPr>
          <a:lstStyle/>
          <a:p>
            <a:pPr algn="just"/>
            <a:endParaRPr lang="fr-FR" sz="16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ctr"/>
            <a:r>
              <a:rPr lang="fr-FR" sz="40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rPr>
              <a:t>ENQUÊTE PAR SONDAGE </a:t>
            </a:r>
            <a:endParaRPr lang="fr-FR" sz="4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a:p>
            <a:pPr algn="just"/>
            <a:endParaRPr lang="fr-TG" sz="2800" b="1" dirty="0">
              <a:ln w="0"/>
              <a:solidFill>
                <a:schemeClr val="tx1"/>
              </a:solidFill>
              <a:effectLst>
                <a:outerShdw blurRad="38100" dist="19050" dir="2700000" algn="tl" rotWithShape="0">
                  <a:schemeClr val="dk1">
                    <a:alpha val="40000"/>
                  </a:schemeClr>
                </a:outerShdw>
              </a:effectLst>
              <a:latin typeface="Berlin Sans FB Demi" panose="020E0802020502020306" pitchFamily="34" charset="0"/>
              <a:cs typeface="Times New Roman" panose="02020603050405020304" pitchFamily="18" charset="0"/>
            </a:endParaRPr>
          </a:p>
        </p:txBody>
      </p:sp>
      <p:sp>
        <p:nvSpPr>
          <p:cNvPr id="7" name="ZoneTexte 6">
            <a:extLst>
              <a:ext uri="{FF2B5EF4-FFF2-40B4-BE49-F238E27FC236}">
                <a16:creationId xmlns:a16="http://schemas.microsoft.com/office/drawing/2014/main" id="{5427EAE9-1057-8A88-DC40-0C83B5AC0CE6}"/>
              </a:ext>
            </a:extLst>
          </p:cNvPr>
          <p:cNvSpPr txBox="1"/>
          <p:nvPr/>
        </p:nvSpPr>
        <p:spPr>
          <a:xfrm>
            <a:off x="253217" y="2831547"/>
            <a:ext cx="11549575" cy="3108543"/>
          </a:xfrm>
          <a:prstGeom prst="rect">
            <a:avLst/>
          </a:prstGeom>
          <a:noFill/>
        </p:spPr>
        <p:txBody>
          <a:bodyPr wrap="square">
            <a:spAutoFit/>
          </a:bodyPr>
          <a:lstStyle/>
          <a:p>
            <a:pPr algn="just"/>
            <a:r>
              <a:rPr lang="fr-FR" sz="2800" i="0" dirty="0">
                <a:ln w="0"/>
                <a:effectLst>
                  <a:outerShdw blurRad="38100" dist="19050" dir="2700000" algn="tl" rotWithShape="0">
                    <a:schemeClr val="dk1">
                      <a:alpha val="40000"/>
                    </a:schemeClr>
                  </a:outerShdw>
                </a:effectLst>
                <a:latin typeface="Berlin Sans FB Demi" panose="020E0802020502020306" pitchFamily="34" charset="0"/>
              </a:rPr>
              <a:t>Les enquêtes par sondage sont une méthodologie qui met l’accent sur la sélection d’un ensemble de personnes capables de représenter la population cible. </a:t>
            </a:r>
          </a:p>
          <a:p>
            <a:pPr algn="just"/>
            <a:r>
              <a:rPr lang="fr-FR" sz="2800" i="0" dirty="0">
                <a:ln w="0"/>
                <a:effectLst>
                  <a:outerShdw blurRad="38100" dist="19050" dir="2700000" algn="tl" rotWithShape="0">
                    <a:schemeClr val="dk1">
                      <a:alpha val="40000"/>
                    </a:schemeClr>
                  </a:outerShdw>
                </a:effectLst>
                <a:latin typeface="Berlin Sans FB Demi" panose="020E0802020502020306" pitchFamily="34" charset="0"/>
              </a:rPr>
              <a:t>L’idée de base qui sous-tend le concept d’enquêtes par sondage est de recueillir les informations qui stimuleront la collecte de données tout en le faisant dans un délai précis. Cela maximise l’efficacité des processus de recherche en rendant le résultat final et l’analyse exploitables. </a:t>
            </a:r>
          </a:p>
        </p:txBody>
      </p:sp>
      <p:sp>
        <p:nvSpPr>
          <p:cNvPr id="8" name="Rectangle 7">
            <a:extLst>
              <a:ext uri="{FF2B5EF4-FFF2-40B4-BE49-F238E27FC236}">
                <a16:creationId xmlns:a16="http://schemas.microsoft.com/office/drawing/2014/main" id="{CA844436-42C6-B657-5C2A-783D03D374FC}"/>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CONCEPT ET METHODE</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1337346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80">
                                          <p:stCondLst>
                                            <p:cond delay="0"/>
                                          </p:stCondLst>
                                        </p:cTn>
                                        <p:tgtEl>
                                          <p:spTgt spid="6"/>
                                        </p:tgtEl>
                                      </p:cBhvr>
                                    </p:animEffect>
                                    <p:anim calcmode="lin" valueType="num">
                                      <p:cBhvr>
                                        <p:cTn id="1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1" dur="26">
                                          <p:stCondLst>
                                            <p:cond delay="650"/>
                                          </p:stCondLst>
                                        </p:cTn>
                                        <p:tgtEl>
                                          <p:spTgt spid="6"/>
                                        </p:tgtEl>
                                      </p:cBhvr>
                                      <p:to x="100000" y="60000"/>
                                    </p:animScale>
                                    <p:animScale>
                                      <p:cBhvr>
                                        <p:cTn id="22" dur="166" decel="50000">
                                          <p:stCondLst>
                                            <p:cond delay="676"/>
                                          </p:stCondLst>
                                        </p:cTn>
                                        <p:tgtEl>
                                          <p:spTgt spid="6"/>
                                        </p:tgtEl>
                                      </p:cBhvr>
                                      <p:to x="100000" y="100000"/>
                                    </p:animScale>
                                    <p:animScale>
                                      <p:cBhvr>
                                        <p:cTn id="23" dur="26">
                                          <p:stCondLst>
                                            <p:cond delay="1312"/>
                                          </p:stCondLst>
                                        </p:cTn>
                                        <p:tgtEl>
                                          <p:spTgt spid="6"/>
                                        </p:tgtEl>
                                      </p:cBhvr>
                                      <p:to x="100000" y="80000"/>
                                    </p:animScale>
                                    <p:animScale>
                                      <p:cBhvr>
                                        <p:cTn id="24" dur="166" decel="50000">
                                          <p:stCondLst>
                                            <p:cond delay="1338"/>
                                          </p:stCondLst>
                                        </p:cTn>
                                        <p:tgtEl>
                                          <p:spTgt spid="6"/>
                                        </p:tgtEl>
                                      </p:cBhvr>
                                      <p:to x="100000" y="100000"/>
                                    </p:animScale>
                                    <p:animScale>
                                      <p:cBhvr>
                                        <p:cTn id="25" dur="26">
                                          <p:stCondLst>
                                            <p:cond delay="1642"/>
                                          </p:stCondLst>
                                        </p:cTn>
                                        <p:tgtEl>
                                          <p:spTgt spid="6"/>
                                        </p:tgtEl>
                                      </p:cBhvr>
                                      <p:to x="100000" y="90000"/>
                                    </p:animScale>
                                    <p:animScale>
                                      <p:cBhvr>
                                        <p:cTn id="26" dur="166" decel="50000">
                                          <p:stCondLst>
                                            <p:cond delay="1668"/>
                                          </p:stCondLst>
                                        </p:cTn>
                                        <p:tgtEl>
                                          <p:spTgt spid="6"/>
                                        </p:tgtEl>
                                      </p:cBhvr>
                                      <p:to x="100000" y="100000"/>
                                    </p:animScale>
                                    <p:animScale>
                                      <p:cBhvr>
                                        <p:cTn id="27" dur="26">
                                          <p:stCondLst>
                                            <p:cond delay="1808"/>
                                          </p:stCondLst>
                                        </p:cTn>
                                        <p:tgtEl>
                                          <p:spTgt spid="6"/>
                                        </p:tgtEl>
                                      </p:cBhvr>
                                      <p:to x="100000" y="95000"/>
                                    </p:animScale>
                                    <p:animScale>
                                      <p:cBhvr>
                                        <p:cTn id="28" dur="166" decel="50000">
                                          <p:stCondLst>
                                            <p:cond delay="1834"/>
                                          </p:stCondLst>
                                        </p:cTn>
                                        <p:tgtEl>
                                          <p:spTgt spid="6"/>
                                        </p:tgtEl>
                                      </p:cBhvr>
                                      <p:to x="100000" y="100000"/>
                                    </p:animScale>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1000" fill="hold"/>
                                        <p:tgtEl>
                                          <p:spTgt spid="7"/>
                                        </p:tgtEl>
                                        <p:attrNameLst>
                                          <p:attrName>ppt_w</p:attrName>
                                        </p:attrNameLst>
                                      </p:cBhvr>
                                      <p:tavLst>
                                        <p:tav tm="0">
                                          <p:val>
                                            <p:fltVal val="0"/>
                                          </p:val>
                                        </p:tav>
                                        <p:tav tm="100000">
                                          <p:val>
                                            <p:strVal val="#ppt_w"/>
                                          </p:val>
                                        </p:tav>
                                      </p:tavLst>
                                    </p:anim>
                                    <p:anim calcmode="lin" valueType="num">
                                      <p:cBhvr>
                                        <p:cTn id="34" dur="1000" fill="hold"/>
                                        <p:tgtEl>
                                          <p:spTgt spid="7"/>
                                        </p:tgtEl>
                                        <p:attrNameLst>
                                          <p:attrName>ppt_h</p:attrName>
                                        </p:attrNameLst>
                                      </p:cBhvr>
                                      <p:tavLst>
                                        <p:tav tm="0">
                                          <p:val>
                                            <p:fltVal val="0"/>
                                          </p:val>
                                        </p:tav>
                                        <p:tav tm="100000">
                                          <p:val>
                                            <p:strVal val="#ppt_h"/>
                                          </p:val>
                                        </p:tav>
                                      </p:tavLst>
                                    </p:anim>
                                    <p:anim calcmode="lin" valueType="num">
                                      <p:cBhvr>
                                        <p:cTn id="35" dur="1000" fill="hold"/>
                                        <p:tgtEl>
                                          <p:spTgt spid="7"/>
                                        </p:tgtEl>
                                        <p:attrNameLst>
                                          <p:attrName>style.rotation</p:attrName>
                                        </p:attrNameLst>
                                      </p:cBhvr>
                                      <p:tavLst>
                                        <p:tav tm="0">
                                          <p:val>
                                            <p:fltVal val="90"/>
                                          </p:val>
                                        </p:tav>
                                        <p:tav tm="100000">
                                          <p:val>
                                            <p:fltVal val="0"/>
                                          </p:val>
                                        </p:tav>
                                      </p:tavLst>
                                    </p:anim>
                                    <p:animEffect transition="in" filter="fade">
                                      <p:cBhvr>
                                        <p:cTn id="3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ED722-13E3-BCAB-19A5-D8ABBE8500B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8217A0A-69B4-C790-EF20-459C9AA19119}"/>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ETUDE QUALITATIVE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5F139FD9-19F1-6020-6A68-F9D92330F0BE}"/>
              </a:ext>
            </a:extLst>
          </p:cNvPr>
          <p:cNvSpPr txBox="1"/>
          <p:nvPr/>
        </p:nvSpPr>
        <p:spPr>
          <a:xfrm>
            <a:off x="307144" y="1744830"/>
            <a:ext cx="11577710" cy="4411464"/>
          </a:xfrm>
          <a:prstGeom prst="rect">
            <a:avLst/>
          </a:prstGeom>
          <a:noFill/>
        </p:spPr>
        <p:txBody>
          <a:bodyPr wrap="square">
            <a:spAutoFit/>
          </a:bodyPr>
          <a:lstStyle/>
          <a:p>
            <a:pPr algn="just">
              <a:spcAft>
                <a:spcPts val="1950"/>
              </a:spcAft>
            </a:pPr>
            <a:r>
              <a:rPr lang="fr-FR" sz="4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L’étude qualitative est définie comme une méthode d’</a:t>
            </a:r>
            <a:r>
              <a:rPr lang="fr-FR" sz="4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étude de marché</a:t>
            </a:r>
            <a:r>
              <a:rPr lang="fr-FR" sz="4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qui se concentre sur l’obtention de données par le biais d’une communication ouverte et conversationnelle..</a:t>
            </a:r>
          </a:p>
          <a:p>
            <a:pPr algn="just">
              <a:spcAft>
                <a:spcPts val="1950"/>
              </a:spcAft>
            </a:pPr>
            <a:r>
              <a:rPr lang="fr-FR" sz="4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Cette méthode s’intéresse à « ce que » les gens pensent et à « pourquoi » ils le pensent.</a:t>
            </a:r>
          </a:p>
        </p:txBody>
      </p:sp>
    </p:spTree>
    <p:extLst>
      <p:ext uri="{BB962C8B-B14F-4D97-AF65-F5344CB8AC3E}">
        <p14:creationId xmlns:p14="http://schemas.microsoft.com/office/powerpoint/2010/main" val="2794709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80">
                                          <p:stCondLst>
                                            <p:cond delay="0"/>
                                          </p:stCondLst>
                                        </p:cTn>
                                        <p:tgtEl>
                                          <p:spTgt spid="4"/>
                                        </p:tgtEl>
                                      </p:cBhvr>
                                    </p:animEffect>
                                    <p:anim calcmode="lin" valueType="num">
                                      <p:cBhvr>
                                        <p:cTn id="16"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1" dur="26">
                                          <p:stCondLst>
                                            <p:cond delay="650"/>
                                          </p:stCondLst>
                                        </p:cTn>
                                        <p:tgtEl>
                                          <p:spTgt spid="4"/>
                                        </p:tgtEl>
                                      </p:cBhvr>
                                      <p:to x="100000" y="60000"/>
                                    </p:animScale>
                                    <p:animScale>
                                      <p:cBhvr>
                                        <p:cTn id="22" dur="166" decel="50000">
                                          <p:stCondLst>
                                            <p:cond delay="676"/>
                                          </p:stCondLst>
                                        </p:cTn>
                                        <p:tgtEl>
                                          <p:spTgt spid="4"/>
                                        </p:tgtEl>
                                      </p:cBhvr>
                                      <p:to x="100000" y="100000"/>
                                    </p:animScale>
                                    <p:animScale>
                                      <p:cBhvr>
                                        <p:cTn id="23" dur="26">
                                          <p:stCondLst>
                                            <p:cond delay="1312"/>
                                          </p:stCondLst>
                                        </p:cTn>
                                        <p:tgtEl>
                                          <p:spTgt spid="4"/>
                                        </p:tgtEl>
                                      </p:cBhvr>
                                      <p:to x="100000" y="80000"/>
                                    </p:animScale>
                                    <p:animScale>
                                      <p:cBhvr>
                                        <p:cTn id="24" dur="166" decel="50000">
                                          <p:stCondLst>
                                            <p:cond delay="1338"/>
                                          </p:stCondLst>
                                        </p:cTn>
                                        <p:tgtEl>
                                          <p:spTgt spid="4"/>
                                        </p:tgtEl>
                                      </p:cBhvr>
                                      <p:to x="100000" y="100000"/>
                                    </p:animScale>
                                    <p:animScale>
                                      <p:cBhvr>
                                        <p:cTn id="25" dur="26">
                                          <p:stCondLst>
                                            <p:cond delay="1642"/>
                                          </p:stCondLst>
                                        </p:cTn>
                                        <p:tgtEl>
                                          <p:spTgt spid="4"/>
                                        </p:tgtEl>
                                      </p:cBhvr>
                                      <p:to x="100000" y="90000"/>
                                    </p:animScale>
                                    <p:animScale>
                                      <p:cBhvr>
                                        <p:cTn id="26" dur="166" decel="50000">
                                          <p:stCondLst>
                                            <p:cond delay="1668"/>
                                          </p:stCondLst>
                                        </p:cTn>
                                        <p:tgtEl>
                                          <p:spTgt spid="4"/>
                                        </p:tgtEl>
                                      </p:cBhvr>
                                      <p:to x="100000" y="100000"/>
                                    </p:animScale>
                                    <p:animScale>
                                      <p:cBhvr>
                                        <p:cTn id="27" dur="26">
                                          <p:stCondLst>
                                            <p:cond delay="1808"/>
                                          </p:stCondLst>
                                        </p:cTn>
                                        <p:tgtEl>
                                          <p:spTgt spid="4"/>
                                        </p:tgtEl>
                                      </p:cBhvr>
                                      <p:to x="100000" y="95000"/>
                                    </p:animScale>
                                    <p:animScale>
                                      <p:cBhvr>
                                        <p:cTn id="28"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B98FE-8936-55EE-2129-3CA6F73946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212021E-4B81-51AC-71A2-90D2E58ACB12}"/>
              </a:ext>
            </a:extLst>
          </p:cNvPr>
          <p:cNvSpPr/>
          <p:nvPr/>
        </p:nvSpPr>
        <p:spPr>
          <a:xfrm>
            <a:off x="0" y="1153547"/>
            <a:ext cx="12191999" cy="239156"/>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ETUDE QUALITATIVE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E75E90EA-DA76-8D6F-9BD4-3D687839787F}"/>
              </a:ext>
            </a:extLst>
          </p:cNvPr>
          <p:cNvSpPr txBox="1"/>
          <p:nvPr/>
        </p:nvSpPr>
        <p:spPr>
          <a:xfrm>
            <a:off x="253218" y="1482353"/>
            <a:ext cx="11648050" cy="769441"/>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METHODES DE COLLECTES D’INFORMATION</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pic>
        <p:nvPicPr>
          <p:cNvPr id="3" name="Picture 2" descr="Types de recherche qualitative">
            <a:extLst>
              <a:ext uri="{FF2B5EF4-FFF2-40B4-BE49-F238E27FC236}">
                <a16:creationId xmlns:a16="http://schemas.microsoft.com/office/drawing/2014/main" id="{361A476C-AA8E-CFC5-7701-FAF24FFEA33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897"/>
          <a:stretch/>
        </p:blipFill>
        <p:spPr bwMode="auto">
          <a:xfrm>
            <a:off x="290733" y="94957"/>
            <a:ext cx="11610535" cy="6668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55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fltVal val="0"/>
                                          </p:val>
                                        </p:tav>
                                        <p:tav tm="100000">
                                          <p:val>
                                            <p:strVal val="#ppt_w"/>
                                          </p:val>
                                        </p:tav>
                                      </p:tavLst>
                                    </p:anim>
                                    <p:anim calcmode="lin" valueType="num">
                                      <p:cBhvr>
                                        <p:cTn id="14" dur="1000" fill="hold"/>
                                        <p:tgtEl>
                                          <p:spTgt spid="5"/>
                                        </p:tgtEl>
                                        <p:attrNameLst>
                                          <p:attrName>ppt_h</p:attrName>
                                        </p:attrNameLst>
                                      </p:cBhvr>
                                      <p:tavLst>
                                        <p:tav tm="0">
                                          <p:val>
                                            <p:fltVal val="0"/>
                                          </p:val>
                                        </p:tav>
                                        <p:tav tm="100000">
                                          <p:val>
                                            <p:strVal val="#ppt_h"/>
                                          </p:val>
                                        </p:tav>
                                      </p:tavLst>
                                    </p:anim>
                                    <p:anim calcmode="lin" valueType="num">
                                      <p:cBhvr>
                                        <p:cTn id="15" dur="1000" fill="hold"/>
                                        <p:tgtEl>
                                          <p:spTgt spid="5"/>
                                        </p:tgtEl>
                                        <p:attrNameLst>
                                          <p:attrName>style.rotation</p:attrName>
                                        </p:attrNameLst>
                                      </p:cBhvr>
                                      <p:tavLst>
                                        <p:tav tm="0">
                                          <p:val>
                                            <p:fltVal val="90"/>
                                          </p:val>
                                        </p:tav>
                                        <p:tav tm="100000">
                                          <p:val>
                                            <p:fltVal val="0"/>
                                          </p:val>
                                        </p:tav>
                                      </p:tavLst>
                                    </p:anim>
                                    <p:animEffect transition="in" filter="fade">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1000" fill="hold"/>
                                        <p:tgtEl>
                                          <p:spTgt spid="3"/>
                                        </p:tgtEl>
                                        <p:attrNameLst>
                                          <p:attrName>ppt_w</p:attrName>
                                        </p:attrNameLst>
                                      </p:cBhvr>
                                      <p:tavLst>
                                        <p:tav tm="0">
                                          <p:val>
                                            <p:fltVal val="0"/>
                                          </p:val>
                                        </p:tav>
                                        <p:tav tm="100000">
                                          <p:val>
                                            <p:strVal val="#ppt_w"/>
                                          </p:val>
                                        </p:tav>
                                      </p:tavLst>
                                    </p:anim>
                                    <p:anim calcmode="lin" valueType="num">
                                      <p:cBhvr>
                                        <p:cTn id="22" dur="1000" fill="hold"/>
                                        <p:tgtEl>
                                          <p:spTgt spid="3"/>
                                        </p:tgtEl>
                                        <p:attrNameLst>
                                          <p:attrName>ppt_h</p:attrName>
                                        </p:attrNameLst>
                                      </p:cBhvr>
                                      <p:tavLst>
                                        <p:tav tm="0">
                                          <p:val>
                                            <p:fltVal val="0"/>
                                          </p:val>
                                        </p:tav>
                                        <p:tav tm="100000">
                                          <p:val>
                                            <p:strVal val="#ppt_h"/>
                                          </p:val>
                                        </p:tav>
                                      </p:tavLst>
                                    </p:anim>
                                    <p:anim calcmode="lin" valueType="num">
                                      <p:cBhvr>
                                        <p:cTn id="23" dur="1000" fill="hold"/>
                                        <p:tgtEl>
                                          <p:spTgt spid="3"/>
                                        </p:tgtEl>
                                        <p:attrNameLst>
                                          <p:attrName>style.rotation</p:attrName>
                                        </p:attrNameLst>
                                      </p:cBhvr>
                                      <p:tavLst>
                                        <p:tav tm="0">
                                          <p:val>
                                            <p:fltVal val="90"/>
                                          </p:val>
                                        </p:tav>
                                        <p:tav tm="100000">
                                          <p:val>
                                            <p:fltVal val="0"/>
                                          </p:val>
                                        </p:tav>
                                      </p:tavLst>
                                    </p:anim>
                                    <p:animEffect transition="in" filter="fade">
                                      <p:cBhvr>
                                        <p:cTn id="2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123D9-3712-F8B4-CF61-497D3000002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6C55A5-58F3-1E9D-BA92-91DCC7ABFC46}"/>
              </a:ext>
            </a:extLst>
          </p:cNvPr>
          <p:cNvSpPr/>
          <p:nvPr/>
        </p:nvSpPr>
        <p:spPr>
          <a:xfrm>
            <a:off x="1" y="1491175"/>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DISTINCTION ENTRE ETUDES QUANTITATIVES ET QUALITATIVES</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5B77133E-1703-07C2-9BA0-42526A4A9F94}"/>
              </a:ext>
            </a:extLst>
          </p:cNvPr>
          <p:cNvSpPr txBox="1"/>
          <p:nvPr/>
        </p:nvSpPr>
        <p:spPr>
          <a:xfrm>
            <a:off x="330004" y="1893779"/>
            <a:ext cx="11531992" cy="1754326"/>
          </a:xfrm>
          <a:prstGeom prst="rect">
            <a:avLst/>
          </a:prstGeom>
          <a:solidFill>
            <a:schemeClr val="accent1">
              <a:lumMod val="40000"/>
              <a:lumOff val="60000"/>
            </a:schemeClr>
          </a:solidFill>
          <a:scene3d>
            <a:camera prst="orthographicFront"/>
            <a:lightRig rig="threePt" dir="t"/>
          </a:scene3d>
          <a:sp3d>
            <a:bevelT w="165100" prst="coolSlant"/>
          </a:sp3d>
        </p:spPr>
        <p:txBody>
          <a:bodyPr wrap="square">
            <a:spAutoFit/>
            <a:sp3d extrusionH="57150">
              <a:bevelT w="38100" h="38100"/>
            </a:sp3d>
          </a:bodyPr>
          <a:lstStyle/>
          <a:p>
            <a:pPr algn="just"/>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Les études quantitatives et qualitatives sont des méthodes complémentaires, utilisées dans les sondages pour obtenir des résultats à la fois détaillés et à large portée.</a:t>
            </a:r>
            <a:endParaRPr lang="fr-TG"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92F83155-D72A-B316-4A9D-523668B0CB72}"/>
              </a:ext>
            </a:extLst>
          </p:cNvPr>
          <p:cNvSpPr txBox="1"/>
          <p:nvPr/>
        </p:nvSpPr>
        <p:spPr>
          <a:xfrm>
            <a:off x="330004" y="3853766"/>
            <a:ext cx="11531992" cy="2862322"/>
          </a:xfrm>
          <a:prstGeom prst="rect">
            <a:avLst/>
          </a:prstGeom>
          <a:solidFill>
            <a:schemeClr val="accent4">
              <a:lumMod val="20000"/>
              <a:lumOff val="80000"/>
            </a:schemeClr>
          </a:solidFill>
          <a:scene3d>
            <a:camera prst="orthographicFront"/>
            <a:lightRig rig="threePt" dir="t"/>
          </a:scene3d>
          <a:sp3d>
            <a:bevelT/>
          </a:sp3d>
        </p:spPr>
        <p:txBody>
          <a:bodyPr wrap="square">
            <a:spAutoFit/>
            <a:sp3d extrusionH="57150">
              <a:bevelT w="38100" h="38100"/>
            </a:sp3d>
          </a:bodyPr>
          <a:lstStyle/>
          <a:p>
            <a:pPr algn="just"/>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Le choix de la méthode dépend du type de données et d’informations que vous recherchez. Les données qualitatives fournissent des détails et des informations contextuelles qui vous permettent de mieux comprendre chaque réponse individuelle.</a:t>
            </a:r>
            <a:endParaRPr lang="fr-TG"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81831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80">
                                          <p:stCondLst>
                                            <p:cond delay="0"/>
                                          </p:stCondLst>
                                        </p:cTn>
                                        <p:tgtEl>
                                          <p:spTgt spid="4"/>
                                        </p:tgtEl>
                                      </p:cBhvr>
                                    </p:animEffect>
                                    <p:anim calcmode="lin" valueType="num">
                                      <p:cBhvr>
                                        <p:cTn id="16"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1" dur="26">
                                          <p:stCondLst>
                                            <p:cond delay="650"/>
                                          </p:stCondLst>
                                        </p:cTn>
                                        <p:tgtEl>
                                          <p:spTgt spid="4"/>
                                        </p:tgtEl>
                                      </p:cBhvr>
                                      <p:to x="100000" y="60000"/>
                                    </p:animScale>
                                    <p:animScale>
                                      <p:cBhvr>
                                        <p:cTn id="22" dur="166" decel="50000">
                                          <p:stCondLst>
                                            <p:cond delay="676"/>
                                          </p:stCondLst>
                                        </p:cTn>
                                        <p:tgtEl>
                                          <p:spTgt spid="4"/>
                                        </p:tgtEl>
                                      </p:cBhvr>
                                      <p:to x="100000" y="100000"/>
                                    </p:animScale>
                                    <p:animScale>
                                      <p:cBhvr>
                                        <p:cTn id="23" dur="26">
                                          <p:stCondLst>
                                            <p:cond delay="1312"/>
                                          </p:stCondLst>
                                        </p:cTn>
                                        <p:tgtEl>
                                          <p:spTgt spid="4"/>
                                        </p:tgtEl>
                                      </p:cBhvr>
                                      <p:to x="100000" y="80000"/>
                                    </p:animScale>
                                    <p:animScale>
                                      <p:cBhvr>
                                        <p:cTn id="24" dur="166" decel="50000">
                                          <p:stCondLst>
                                            <p:cond delay="1338"/>
                                          </p:stCondLst>
                                        </p:cTn>
                                        <p:tgtEl>
                                          <p:spTgt spid="4"/>
                                        </p:tgtEl>
                                      </p:cBhvr>
                                      <p:to x="100000" y="100000"/>
                                    </p:animScale>
                                    <p:animScale>
                                      <p:cBhvr>
                                        <p:cTn id="25" dur="26">
                                          <p:stCondLst>
                                            <p:cond delay="1642"/>
                                          </p:stCondLst>
                                        </p:cTn>
                                        <p:tgtEl>
                                          <p:spTgt spid="4"/>
                                        </p:tgtEl>
                                      </p:cBhvr>
                                      <p:to x="100000" y="90000"/>
                                    </p:animScale>
                                    <p:animScale>
                                      <p:cBhvr>
                                        <p:cTn id="26" dur="166" decel="50000">
                                          <p:stCondLst>
                                            <p:cond delay="1668"/>
                                          </p:stCondLst>
                                        </p:cTn>
                                        <p:tgtEl>
                                          <p:spTgt spid="4"/>
                                        </p:tgtEl>
                                      </p:cBhvr>
                                      <p:to x="100000" y="100000"/>
                                    </p:animScale>
                                    <p:animScale>
                                      <p:cBhvr>
                                        <p:cTn id="27" dur="26">
                                          <p:stCondLst>
                                            <p:cond delay="1808"/>
                                          </p:stCondLst>
                                        </p:cTn>
                                        <p:tgtEl>
                                          <p:spTgt spid="4"/>
                                        </p:tgtEl>
                                      </p:cBhvr>
                                      <p:to x="100000" y="95000"/>
                                    </p:animScale>
                                    <p:animScale>
                                      <p:cBhvr>
                                        <p:cTn id="28" dur="166" decel="50000">
                                          <p:stCondLst>
                                            <p:cond delay="1834"/>
                                          </p:stCondLst>
                                        </p:cTn>
                                        <p:tgtEl>
                                          <p:spTgt spid="4"/>
                                        </p:tgtEl>
                                      </p:cBhvr>
                                      <p:to x="100000" y="100000"/>
                                    </p:animScale>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1000" fill="hold"/>
                                        <p:tgtEl>
                                          <p:spTgt spid="7"/>
                                        </p:tgtEl>
                                        <p:attrNameLst>
                                          <p:attrName>ppt_w</p:attrName>
                                        </p:attrNameLst>
                                      </p:cBhvr>
                                      <p:tavLst>
                                        <p:tav tm="0">
                                          <p:val>
                                            <p:fltVal val="0"/>
                                          </p:val>
                                        </p:tav>
                                        <p:tav tm="100000">
                                          <p:val>
                                            <p:strVal val="#ppt_w"/>
                                          </p:val>
                                        </p:tav>
                                      </p:tavLst>
                                    </p:anim>
                                    <p:anim calcmode="lin" valueType="num">
                                      <p:cBhvr>
                                        <p:cTn id="34" dur="1000" fill="hold"/>
                                        <p:tgtEl>
                                          <p:spTgt spid="7"/>
                                        </p:tgtEl>
                                        <p:attrNameLst>
                                          <p:attrName>ppt_h</p:attrName>
                                        </p:attrNameLst>
                                      </p:cBhvr>
                                      <p:tavLst>
                                        <p:tav tm="0">
                                          <p:val>
                                            <p:fltVal val="0"/>
                                          </p:val>
                                        </p:tav>
                                        <p:tav tm="100000">
                                          <p:val>
                                            <p:strVal val="#ppt_h"/>
                                          </p:val>
                                        </p:tav>
                                      </p:tavLst>
                                    </p:anim>
                                    <p:anim calcmode="lin" valueType="num">
                                      <p:cBhvr>
                                        <p:cTn id="35" dur="1000" fill="hold"/>
                                        <p:tgtEl>
                                          <p:spTgt spid="7"/>
                                        </p:tgtEl>
                                        <p:attrNameLst>
                                          <p:attrName>style.rotation</p:attrName>
                                        </p:attrNameLst>
                                      </p:cBhvr>
                                      <p:tavLst>
                                        <p:tav tm="0">
                                          <p:val>
                                            <p:fltVal val="90"/>
                                          </p:val>
                                        </p:tav>
                                        <p:tav tm="100000">
                                          <p:val>
                                            <p:fltVal val="0"/>
                                          </p:val>
                                        </p:tav>
                                      </p:tavLst>
                                    </p:anim>
                                    <p:animEffect transition="in" filter="fade">
                                      <p:cBhvr>
                                        <p:cTn id="3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400B7-7ED2-EF61-64B8-6F6A32913FEF}"/>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63168D19-099E-71B1-859B-B4E2884619C0}"/>
              </a:ext>
            </a:extLst>
          </p:cNvPr>
          <p:cNvSpPr txBox="1"/>
          <p:nvPr/>
        </p:nvSpPr>
        <p:spPr>
          <a:xfrm>
            <a:off x="344659" y="253107"/>
            <a:ext cx="11303391" cy="3416320"/>
          </a:xfrm>
          <a:prstGeom prst="rect">
            <a:avLst/>
          </a:prstGeom>
          <a:solidFill>
            <a:schemeClr val="accent4">
              <a:lumMod val="20000"/>
              <a:lumOff val="80000"/>
            </a:schemeClr>
          </a:solidFill>
          <a:scene3d>
            <a:camera prst="orthographicFront"/>
            <a:lightRig rig="threePt" dir="t"/>
          </a:scene3d>
          <a:sp3d>
            <a:bevelT w="165100" prst="coolSlant"/>
          </a:sp3d>
        </p:spPr>
        <p:txBody>
          <a:bodyPr wrap="square">
            <a:spAutoFit/>
            <a:sp3d extrusionH="57150">
              <a:bevelT w="38100" h="38100" prst="angle"/>
            </a:sp3d>
          </a:bodyPr>
          <a:lstStyle/>
          <a:p>
            <a:pPr algn="just"/>
            <a:r>
              <a:rPr lang="fr-FR" sz="3600" b="1" i="0" dirty="0">
                <a:ln w="0">
                  <a:solidFill>
                    <a:schemeClr val="tx1">
                      <a:lumMod val="65000"/>
                      <a:lumOff val="35000"/>
                    </a:schemeClr>
                  </a:solidFill>
                </a:ln>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Les données quantitatives vous fournissent les résultats chiffrés dont vous avez besoin pour étayer vos hypothèses ou les grands axes de votre étude. Pour tirer le meilleur parti de ces deux méthodes dans vos sondages, il est important de bien saisir ce qui les différencie</a:t>
            </a:r>
            <a:endParaRPr lang="fr-TG" sz="3600" b="1" dirty="0">
              <a:ln w="0">
                <a:solidFill>
                  <a:schemeClr val="tx1">
                    <a:lumMod val="65000"/>
                    <a:lumOff val="35000"/>
                  </a:schemeClr>
                </a:solidFill>
              </a:ln>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98EDE5C-D5DD-C85D-1C01-B4B63C8E5BE4}"/>
              </a:ext>
            </a:extLst>
          </p:cNvPr>
          <p:cNvSpPr/>
          <p:nvPr/>
        </p:nvSpPr>
        <p:spPr>
          <a:xfrm>
            <a:off x="535905" y="3746912"/>
            <a:ext cx="10330481" cy="417125"/>
          </a:xfrm>
          <a:prstGeom prst="rect">
            <a:avLst/>
          </a:prstGeom>
          <a:solidFill>
            <a:schemeClr val="accent4">
              <a:lumMod val="20000"/>
              <a:lumOff val="80000"/>
            </a:schemeClr>
          </a:solidFill>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t"/>
          <a:lstStyle/>
          <a:p>
            <a:pPr algn="ctr"/>
            <a:r>
              <a:rPr lang="fr-FR" sz="28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AIDE A TIRER DES CONCLUSION GENERALES DE VOS RECHERCHES ET A PREVOIR CERTAINS COMPORTEMENTS</a:t>
            </a:r>
          </a:p>
          <a:p>
            <a:pPr algn="ctr"/>
            <a:r>
              <a:rPr lang="fr-FR" sz="28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Les données chiffrées sont collectées et sont utilisées pour mesurer des variables </a:t>
            </a:r>
          </a:p>
          <a:p>
            <a:pPr algn="ctr"/>
            <a:r>
              <a:rPr lang="fr-FR" sz="28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Ces données sont structurées et s’appuient sur des statistiques </a:t>
            </a:r>
          </a:p>
          <a:p>
            <a:pPr algn="ctr"/>
            <a:r>
              <a:rPr lang="fr-FR" sz="28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L’analyse est faite pour des résultats objectifs   </a:t>
            </a:r>
            <a:endParaRPr lang="fr-TG" sz="2800" b="1"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16043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D15D4-54E1-B855-EA37-5A4FE72E4BE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87E4228-0BB8-F684-EECB-DAA74B24D982}"/>
              </a:ext>
            </a:extLst>
          </p:cNvPr>
          <p:cNvSpPr/>
          <p:nvPr/>
        </p:nvSpPr>
        <p:spPr>
          <a:xfrm>
            <a:off x="676530" y="2307858"/>
            <a:ext cx="10330481" cy="481501"/>
          </a:xfrm>
          <a:prstGeom prst="rect">
            <a:avLst/>
          </a:prstGeom>
          <a:solidFill>
            <a:schemeClr val="accent4">
              <a:lumMod val="20000"/>
              <a:lumOff val="80000"/>
            </a:schemeClr>
          </a:solidFill>
          <a:scene3d>
            <a:camera prst="orthographicFront"/>
            <a:lightRig rig="threePt" dir="t"/>
          </a:scene3d>
          <a:sp3d>
            <a:bevelT/>
          </a:sp3d>
        </p:spPr>
        <p:style>
          <a:lnRef idx="2">
            <a:schemeClr val="dk1"/>
          </a:lnRef>
          <a:fillRef idx="1">
            <a:schemeClr val="lt1"/>
          </a:fillRef>
          <a:effectRef idx="0">
            <a:schemeClr val="dk1"/>
          </a:effectRef>
          <a:fontRef idx="minor">
            <a:schemeClr val="dk1"/>
          </a:fontRef>
        </p:style>
        <p:txBody>
          <a:bodyPr rtlCol="0" anchor="t"/>
          <a:lstStyle/>
          <a:p>
            <a:pPr algn="ctr"/>
            <a:r>
              <a:rPr lang="fr-FR" sz="36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Il faut s’appuyer sur des interactions directes , comme des entretiens individuels ou des groupes de discussion</a:t>
            </a:r>
          </a:p>
          <a:p>
            <a:pPr algn="ctr"/>
            <a:r>
              <a:rPr lang="fr-FR" sz="36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Elle se réalise dans un cadre naturel </a:t>
            </a:r>
          </a:p>
          <a:p>
            <a:pPr algn="ctr"/>
            <a:r>
              <a:rPr lang="fr-FR" sz="36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L’étude des gens tels qu’ils sont, sans les comparer à des groupes témoins</a:t>
            </a:r>
          </a:p>
          <a:p>
            <a:pPr algn="ctr"/>
            <a:r>
              <a:rPr lang="fr-FR" sz="36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Par l’analyse qualitative, l’entrepreneurs décrit un sujet, plutôt qu’à des chiffres bruts </a:t>
            </a:r>
            <a:endParaRPr lang="fr-TG" sz="3600" b="1"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A29872D6-2F50-26BF-AD58-F153E7535052}"/>
              </a:ext>
            </a:extLst>
          </p:cNvPr>
          <p:cNvSpPr txBox="1"/>
          <p:nvPr/>
        </p:nvSpPr>
        <p:spPr>
          <a:xfrm>
            <a:off x="388833" y="105078"/>
            <a:ext cx="11414333" cy="2062103"/>
          </a:xfrm>
          <a:prstGeom prst="rect">
            <a:avLst/>
          </a:prstGeom>
          <a:noFill/>
        </p:spPr>
        <p:txBody>
          <a:bodyPr wrap="square">
            <a:spAutoFit/>
          </a:bodyPr>
          <a:lstStyle/>
          <a:p>
            <a:pPr algn="just"/>
            <a:r>
              <a:rPr lang="fr-FR" sz="3200"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Une étude qualitative vous permet de comprendre le « pourquoi » des résultats. Moins axée sur les statistiques et les données structurées, elle fait la part belle aux émotions, aux motivations et aux comportements humains, grâce à des informations textuelles. </a:t>
            </a:r>
            <a:endParaRPr lang="fr-TG" sz="320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31229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1000" fill="hold"/>
                                        <p:tgtEl>
                                          <p:spTgt spid="6"/>
                                        </p:tgtEl>
                                        <p:attrNameLst>
                                          <p:attrName>ppt_w</p:attrName>
                                        </p:attrNameLst>
                                      </p:cBhvr>
                                      <p:tavLst>
                                        <p:tav tm="0">
                                          <p:val>
                                            <p:fltVal val="0"/>
                                          </p:val>
                                        </p:tav>
                                        <p:tav tm="100000">
                                          <p:val>
                                            <p:strVal val="#ppt_w"/>
                                          </p:val>
                                        </p:tav>
                                      </p:tavLst>
                                    </p:anim>
                                    <p:anim calcmode="lin" valueType="num">
                                      <p:cBhvr>
                                        <p:cTn id="16" dur="1000" fill="hold"/>
                                        <p:tgtEl>
                                          <p:spTgt spid="6"/>
                                        </p:tgtEl>
                                        <p:attrNameLst>
                                          <p:attrName>ppt_h</p:attrName>
                                        </p:attrNameLst>
                                      </p:cBhvr>
                                      <p:tavLst>
                                        <p:tav tm="0">
                                          <p:val>
                                            <p:fltVal val="0"/>
                                          </p:val>
                                        </p:tav>
                                        <p:tav tm="100000">
                                          <p:val>
                                            <p:strVal val="#ppt_h"/>
                                          </p:val>
                                        </p:tav>
                                      </p:tavLst>
                                    </p:anim>
                                    <p:anim calcmode="lin" valueType="num">
                                      <p:cBhvr>
                                        <p:cTn id="17" dur="1000" fill="hold"/>
                                        <p:tgtEl>
                                          <p:spTgt spid="6"/>
                                        </p:tgtEl>
                                        <p:attrNameLst>
                                          <p:attrName>style.rotation</p:attrName>
                                        </p:attrNameLst>
                                      </p:cBhvr>
                                      <p:tavLst>
                                        <p:tav tm="0">
                                          <p:val>
                                            <p:fltVal val="90"/>
                                          </p:val>
                                        </p:tav>
                                        <p:tav tm="100000">
                                          <p:val>
                                            <p:fltVal val="0"/>
                                          </p:val>
                                        </p:tav>
                                      </p:tavLst>
                                    </p:anim>
                                    <p:animEffect transition="in" filter="fade">
                                      <p:cBhvr>
                                        <p:cTn id="1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E98A3-AFD2-F5C4-1A83-F5914525C113}"/>
            </a:ext>
          </a:extLst>
        </p:cNvPr>
        <p:cNvGrpSpPr/>
        <p:nvPr/>
      </p:nvGrpSpPr>
      <p:grpSpPr>
        <a:xfrm>
          <a:off x="0" y="0"/>
          <a:ext cx="0" cy="0"/>
          <a:chOff x="0" y="0"/>
          <a:chExt cx="0" cy="0"/>
        </a:xfrm>
      </p:grpSpPr>
      <p:grpSp>
        <p:nvGrpSpPr>
          <p:cNvPr id="7" name="Groupe 6">
            <a:extLst>
              <a:ext uri="{FF2B5EF4-FFF2-40B4-BE49-F238E27FC236}">
                <a16:creationId xmlns:a16="http://schemas.microsoft.com/office/drawing/2014/main" id="{717543F1-2034-3C1C-45ED-3C2A466951E6}"/>
              </a:ext>
            </a:extLst>
          </p:cNvPr>
          <p:cNvGrpSpPr/>
          <p:nvPr/>
        </p:nvGrpSpPr>
        <p:grpSpPr>
          <a:xfrm>
            <a:off x="159431" y="207488"/>
            <a:ext cx="11873138" cy="6443024"/>
            <a:chOff x="159431" y="207488"/>
            <a:chExt cx="11873138" cy="6443024"/>
          </a:xfrm>
        </p:grpSpPr>
        <p:pic>
          <p:nvPicPr>
            <p:cNvPr id="4" name="Image 3">
              <a:extLst>
                <a:ext uri="{FF2B5EF4-FFF2-40B4-BE49-F238E27FC236}">
                  <a16:creationId xmlns:a16="http://schemas.microsoft.com/office/drawing/2014/main" id="{A9C152B9-F116-0964-7DB9-EC74F71E9E63}"/>
                </a:ext>
              </a:extLst>
            </p:cNvPr>
            <p:cNvPicPr>
              <a:picLocks noChangeAspect="1"/>
            </p:cNvPicPr>
            <p:nvPr/>
          </p:nvPicPr>
          <p:blipFill>
            <a:blip r:embed="rId2"/>
            <a:srcRect l="12231" t="16599" r="12653" b="13419"/>
            <a:stretch/>
          </p:blipFill>
          <p:spPr>
            <a:xfrm>
              <a:off x="159431" y="207488"/>
              <a:ext cx="11873138" cy="6443024"/>
            </a:xfrm>
            <a:prstGeom prst="rect">
              <a:avLst/>
            </a:prstGeom>
            <a:ln w="88900" cap="sq" cmpd="thickThin">
              <a:solidFill>
                <a:srgbClr val="000000"/>
              </a:solidFill>
              <a:prstDash val="solid"/>
              <a:miter lim="800000"/>
            </a:ln>
            <a:effectLst>
              <a:innerShdw blurRad="76200">
                <a:srgbClr val="000000"/>
              </a:innerShdw>
            </a:effectLst>
            <a:scene3d>
              <a:camera prst="orthographicFront"/>
              <a:lightRig rig="threePt" dir="t"/>
            </a:scene3d>
            <a:sp3d>
              <a:bevelT w="165100" prst="coolSlant"/>
            </a:sp3d>
          </p:spPr>
        </p:pic>
        <p:sp>
          <p:nvSpPr>
            <p:cNvPr id="5" name="Rectangle 4">
              <a:extLst>
                <a:ext uri="{FF2B5EF4-FFF2-40B4-BE49-F238E27FC236}">
                  <a16:creationId xmlns:a16="http://schemas.microsoft.com/office/drawing/2014/main" id="{D7B4BC94-6116-EF5A-3CB0-606AD1847B7E}"/>
                </a:ext>
              </a:extLst>
            </p:cNvPr>
            <p:cNvSpPr/>
            <p:nvPr/>
          </p:nvSpPr>
          <p:spPr>
            <a:xfrm>
              <a:off x="159431" y="207488"/>
              <a:ext cx="11873138" cy="1565041"/>
            </a:xfrm>
            <a:prstGeom prst="rect">
              <a:avLst/>
            </a:prstGeom>
            <a:solidFill>
              <a:schemeClr val="accent1">
                <a:lumMod val="20000"/>
                <a:lumOff val="80000"/>
              </a:schemeClr>
            </a:solidFill>
            <a:scene3d>
              <a:camera prst="orthographicFront"/>
              <a:lightRig rig="threePt" dir="t"/>
            </a:scene3d>
            <a:sp3d>
              <a:bevelT w="165100" prst="coolSlant"/>
            </a:sp3d>
          </p:spPr>
          <p:style>
            <a:lnRef idx="2">
              <a:schemeClr val="accent6"/>
            </a:lnRef>
            <a:fillRef idx="1">
              <a:schemeClr val="lt1"/>
            </a:fillRef>
            <a:effectRef idx="0">
              <a:schemeClr val="accent6"/>
            </a:effectRef>
            <a:fontRef idx="minor">
              <a:schemeClr val="dk1"/>
            </a:fontRef>
          </p:style>
          <p:txBody>
            <a:bodyPr rtlCol="0" anchor="ctr"/>
            <a:lstStyle/>
            <a:p>
              <a:pPr algn="ctr"/>
              <a:r>
                <a:rPr lang="fr-FR" sz="4000" b="1" dirty="0">
                  <a:ln w="0"/>
                  <a:solidFill>
                    <a:sysClr val="windowText" lastClr="00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DISTINCTION SELON LA FLEXIBILITE DE LA RECHERCHE</a:t>
              </a:r>
              <a:endParaRPr lang="fr-TG" sz="4000" b="1" dirty="0">
                <a:ln w="0"/>
                <a:solidFill>
                  <a:sysClr val="windowText" lastClr="00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5614650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5BC7F-E20E-5C01-20E8-3E208BAD41C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CDD65C5-DDEC-F0B6-6D85-64469D8EF2AD}"/>
              </a:ext>
            </a:extLst>
          </p:cNvPr>
          <p:cNvSpPr/>
          <p:nvPr/>
        </p:nvSpPr>
        <p:spPr>
          <a:xfrm>
            <a:off x="1" y="1533378"/>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QUAND UTILISER UNE METHODE QUANTITATIVE ET QUALITATIVE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E0D862B6-C04A-F814-7371-4C319E929035}"/>
              </a:ext>
            </a:extLst>
          </p:cNvPr>
          <p:cNvSpPr txBox="1"/>
          <p:nvPr/>
        </p:nvSpPr>
        <p:spPr>
          <a:xfrm>
            <a:off x="140091" y="1867266"/>
            <a:ext cx="11489788" cy="5293757"/>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60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Objectifs différents </a:t>
            </a:r>
            <a:endParaRPr lang="fr-FR" sz="60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endParaRPr lang="fr-FR" sz="1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just"/>
            <a:r>
              <a:rPr lang="fr-FR" sz="4800" dirty="0">
                <a:ln w="0"/>
                <a:effectLst>
                  <a:outerShdw blurRad="38100" dist="19050" dir="2700000" algn="tl" rotWithShape="0">
                    <a:schemeClr val="dk1">
                      <a:alpha val="40000"/>
                    </a:schemeClr>
                  </a:outerShdw>
                </a:effectLst>
                <a:latin typeface="Berlin Sans FB" panose="020E0602020502020306" pitchFamily="34" charset="0"/>
              </a:rPr>
              <a:t>Les données quantitatives permettent d’avoir une vision globale, tandis que les données qualitatives apportent plus de détails et d’humanité aux résultats des sondages</a:t>
            </a:r>
          </a:p>
          <a:p>
            <a:endParaRPr lang="fr-TG" sz="2400" b="0" i="0" u="none" strike="noStrike" baseline="0" dirty="0">
              <a:solidFill>
                <a:srgbClr val="000000"/>
              </a:solidFill>
            </a:endParaRPr>
          </a:p>
        </p:txBody>
      </p:sp>
    </p:spTree>
    <p:extLst>
      <p:ext uri="{BB962C8B-B14F-4D97-AF65-F5344CB8AC3E}">
        <p14:creationId xmlns:p14="http://schemas.microsoft.com/office/powerpoint/2010/main" val="2013963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10B43-2C5C-EDC0-2EF5-3DB0512955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26467F9-9040-74FE-6B65-10A035870B3B}"/>
              </a:ext>
            </a:extLst>
          </p:cNvPr>
          <p:cNvSpPr/>
          <p:nvPr/>
        </p:nvSpPr>
        <p:spPr>
          <a:xfrm>
            <a:off x="-14066" y="1378633"/>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QUAND UTILISER UNE METHODE QUANTITATIVE ET QUALITATIVE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A605DEA4-D33B-BF15-F1B7-EA58657E8EDD}"/>
              </a:ext>
            </a:extLst>
          </p:cNvPr>
          <p:cNvSpPr txBox="1"/>
          <p:nvPr/>
        </p:nvSpPr>
        <p:spPr>
          <a:xfrm>
            <a:off x="209707" y="1575577"/>
            <a:ext cx="11489788" cy="1908215"/>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40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CHOIX D’UNE APPROCHE </a:t>
            </a:r>
          </a:p>
          <a:p>
            <a:pPr algn="ctr"/>
            <a:r>
              <a:rPr lang="fr-FR" sz="40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Choix</a:t>
            </a:r>
            <a:r>
              <a:rPr lang="fr-FR" sz="4000" i="0" u="none" strike="noStrike"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 pour des stratégies de  complémentarité</a:t>
            </a:r>
            <a:endParaRPr lang="fr-FR" sz="40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endParaRPr lang="fr-FR" sz="1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endParaRPr lang="fr-TG" sz="2400" b="0" i="0" u="none" strike="noStrike" baseline="0" dirty="0">
              <a:solidFill>
                <a:srgbClr val="000000"/>
              </a:solidFill>
            </a:endParaRPr>
          </a:p>
        </p:txBody>
      </p:sp>
      <p:pic>
        <p:nvPicPr>
          <p:cNvPr id="4" name="Image 3">
            <a:extLst>
              <a:ext uri="{FF2B5EF4-FFF2-40B4-BE49-F238E27FC236}">
                <a16:creationId xmlns:a16="http://schemas.microsoft.com/office/drawing/2014/main" id="{3F272BC6-A47E-C39B-0782-AAFCC53D9E7B}"/>
              </a:ext>
            </a:extLst>
          </p:cNvPr>
          <p:cNvPicPr>
            <a:picLocks noChangeAspect="1"/>
          </p:cNvPicPr>
          <p:nvPr/>
        </p:nvPicPr>
        <p:blipFill>
          <a:blip r:embed="rId2"/>
          <a:srcRect l="17077" t="38764" r="14615" b="30042"/>
          <a:stretch/>
        </p:blipFill>
        <p:spPr>
          <a:xfrm>
            <a:off x="266687" y="3432516"/>
            <a:ext cx="11715606" cy="3168000"/>
          </a:xfrm>
          <a:prstGeom prst="rect">
            <a:avLst/>
          </a:prstGeom>
        </p:spPr>
      </p:pic>
    </p:spTree>
    <p:extLst>
      <p:ext uri="{BB962C8B-B14F-4D97-AF65-F5344CB8AC3E}">
        <p14:creationId xmlns:p14="http://schemas.microsoft.com/office/powerpoint/2010/main" val="1537350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1000" fill="hold"/>
                                        <p:tgtEl>
                                          <p:spTgt spid="4"/>
                                        </p:tgtEl>
                                        <p:attrNameLst>
                                          <p:attrName>ppt_w</p:attrName>
                                        </p:attrNameLst>
                                      </p:cBhvr>
                                      <p:tavLst>
                                        <p:tav tm="0">
                                          <p:val>
                                            <p:fltVal val="0"/>
                                          </p:val>
                                        </p:tav>
                                        <p:tav tm="100000">
                                          <p:val>
                                            <p:strVal val="#ppt_w"/>
                                          </p:val>
                                        </p:tav>
                                      </p:tavLst>
                                    </p:anim>
                                    <p:anim calcmode="lin" valueType="num">
                                      <p:cBhvr>
                                        <p:cTn id="24" dur="1000" fill="hold"/>
                                        <p:tgtEl>
                                          <p:spTgt spid="4"/>
                                        </p:tgtEl>
                                        <p:attrNameLst>
                                          <p:attrName>ppt_h</p:attrName>
                                        </p:attrNameLst>
                                      </p:cBhvr>
                                      <p:tavLst>
                                        <p:tav tm="0">
                                          <p:val>
                                            <p:fltVal val="0"/>
                                          </p:val>
                                        </p:tav>
                                        <p:tav tm="100000">
                                          <p:val>
                                            <p:strVal val="#ppt_h"/>
                                          </p:val>
                                        </p:tav>
                                      </p:tavLst>
                                    </p:anim>
                                    <p:anim calcmode="lin" valueType="num">
                                      <p:cBhvr>
                                        <p:cTn id="25" dur="1000" fill="hold"/>
                                        <p:tgtEl>
                                          <p:spTgt spid="4"/>
                                        </p:tgtEl>
                                        <p:attrNameLst>
                                          <p:attrName>style.rotation</p:attrName>
                                        </p:attrNameLst>
                                      </p:cBhvr>
                                      <p:tavLst>
                                        <p:tav tm="0">
                                          <p:val>
                                            <p:fltVal val="90"/>
                                          </p:val>
                                        </p:tav>
                                        <p:tav tm="100000">
                                          <p:val>
                                            <p:fltVal val="0"/>
                                          </p:val>
                                        </p:tav>
                                      </p:tavLst>
                                    </p:anim>
                                    <p:animEffect transition="in" filter="fade">
                                      <p:cBhvr>
                                        <p:cTn id="2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5A3E1-79EC-009F-DACC-220B9CC703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60F183E-5CFC-B1A9-BFB3-10630442A45D}"/>
              </a:ext>
            </a:extLst>
          </p:cNvPr>
          <p:cNvSpPr/>
          <p:nvPr/>
        </p:nvSpPr>
        <p:spPr>
          <a:xfrm>
            <a:off x="-14066" y="1378633"/>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QUAND UTILISER UNE METHODE QUANTITATIVE ET QUALITATIVE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A98EEDBA-E2DF-9961-23A0-BF55E1120A39}"/>
              </a:ext>
            </a:extLst>
          </p:cNvPr>
          <p:cNvSpPr txBox="1"/>
          <p:nvPr/>
        </p:nvSpPr>
        <p:spPr>
          <a:xfrm>
            <a:off x="209707" y="1575577"/>
            <a:ext cx="11489788" cy="1908215"/>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40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CHOIX D’UNE APPROCHE </a:t>
            </a:r>
          </a:p>
          <a:p>
            <a:pPr algn="ctr"/>
            <a:r>
              <a:rPr lang="fr-FR" sz="40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Choix</a:t>
            </a:r>
            <a:r>
              <a:rPr lang="fr-FR" sz="4000" i="0" u="none" strike="noStrike"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 pour des stratégies de  complémentarité</a:t>
            </a:r>
            <a:endParaRPr lang="fr-FR" sz="40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endParaRPr lang="fr-FR" sz="1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endParaRPr lang="fr-TG" sz="2400" b="0" i="0" u="none" strike="noStrike" baseline="0" dirty="0">
              <a:solidFill>
                <a:srgbClr val="000000"/>
              </a:solidFill>
            </a:endParaRPr>
          </a:p>
        </p:txBody>
      </p:sp>
      <p:pic>
        <p:nvPicPr>
          <p:cNvPr id="6" name="Image 5">
            <a:extLst>
              <a:ext uri="{FF2B5EF4-FFF2-40B4-BE49-F238E27FC236}">
                <a16:creationId xmlns:a16="http://schemas.microsoft.com/office/drawing/2014/main" id="{81C0A5AE-BFC4-DD58-0CDE-E1D87BD1C484}"/>
              </a:ext>
            </a:extLst>
          </p:cNvPr>
          <p:cNvPicPr>
            <a:picLocks noChangeAspect="1"/>
          </p:cNvPicPr>
          <p:nvPr/>
        </p:nvPicPr>
        <p:blipFill>
          <a:blip r:embed="rId2"/>
          <a:srcRect l="14885" t="36300" r="20615" b="16702"/>
          <a:stretch/>
        </p:blipFill>
        <p:spPr>
          <a:xfrm>
            <a:off x="1235611" y="3094892"/>
            <a:ext cx="9720777" cy="3539463"/>
          </a:xfrm>
          <a:prstGeom prst="rect">
            <a:avLst/>
          </a:prstGeom>
        </p:spPr>
      </p:pic>
    </p:spTree>
    <p:extLst>
      <p:ext uri="{BB962C8B-B14F-4D97-AF65-F5344CB8AC3E}">
        <p14:creationId xmlns:p14="http://schemas.microsoft.com/office/powerpoint/2010/main" val="2507185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88F6B-9557-C388-AEA2-417C16720D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B1CD7C8-E84C-2F03-50A6-2518005142AA}"/>
              </a:ext>
            </a:extLst>
          </p:cNvPr>
          <p:cNvSpPr/>
          <p:nvPr/>
        </p:nvSpPr>
        <p:spPr>
          <a:xfrm>
            <a:off x="1" y="1547445"/>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COMMENT UTILISER CHACUNE DE CES METHODES DANS UN PROJET D’ETUDE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65B23FD3-4F26-585B-5C61-7E57806BBDAE}"/>
              </a:ext>
            </a:extLst>
          </p:cNvPr>
          <p:cNvSpPr txBox="1"/>
          <p:nvPr/>
        </p:nvSpPr>
        <p:spPr>
          <a:xfrm>
            <a:off x="351106" y="2936410"/>
            <a:ext cx="11489788" cy="2800767"/>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48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FORMULATION DES HYPOTHESES</a:t>
            </a:r>
          </a:p>
          <a:p>
            <a:pPr algn="ctr"/>
            <a:endParaRPr lang="fr-FR" sz="32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r>
              <a:rPr lang="fr-FR" sz="48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VALIDATION DES HYPOTHESES </a:t>
            </a:r>
            <a:endParaRPr lang="fr-FR" sz="20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endParaRPr lang="fr-FR" sz="48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p:txBody>
      </p:sp>
    </p:spTree>
    <p:extLst>
      <p:ext uri="{BB962C8B-B14F-4D97-AF65-F5344CB8AC3E}">
        <p14:creationId xmlns:p14="http://schemas.microsoft.com/office/powerpoint/2010/main" val="386962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BD998-480E-6B6D-2BFE-E0DDA47885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FC69E1E-2865-8FCA-D6B8-4C4CDFF76468}"/>
              </a:ext>
            </a:extLst>
          </p:cNvPr>
          <p:cNvSpPr/>
          <p:nvPr/>
        </p:nvSpPr>
        <p:spPr>
          <a:xfrm>
            <a:off x="1" y="1716258"/>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PRINCIPES METHODOLOGIQUES DES DEUX APPROCHES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753E3320-6B98-D84B-0784-0B278D880B09}"/>
              </a:ext>
            </a:extLst>
          </p:cNvPr>
          <p:cNvSpPr txBox="1"/>
          <p:nvPr/>
        </p:nvSpPr>
        <p:spPr>
          <a:xfrm>
            <a:off x="422031" y="2008159"/>
            <a:ext cx="11521440" cy="769441"/>
          </a:xfrm>
          <a:prstGeom prst="rect">
            <a:avLst/>
          </a:prstGeom>
          <a:noFill/>
        </p:spPr>
        <p:txBody>
          <a:bodyPr wrap="square">
            <a:spAutoFit/>
          </a:bodyPr>
          <a:lstStyle/>
          <a:p>
            <a:pPr algn="ctr"/>
            <a:r>
              <a:rPr lang="fr-FR" sz="4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Qu’est-ce qu’une méthodologie de recherche ?</a:t>
            </a:r>
          </a:p>
        </p:txBody>
      </p:sp>
      <p:sp>
        <p:nvSpPr>
          <p:cNvPr id="7" name="ZoneTexte 6">
            <a:extLst>
              <a:ext uri="{FF2B5EF4-FFF2-40B4-BE49-F238E27FC236}">
                <a16:creationId xmlns:a16="http://schemas.microsoft.com/office/drawing/2014/main" id="{4E6C3C1D-C935-0FEF-5663-838845EE8D7B}"/>
              </a:ext>
            </a:extLst>
          </p:cNvPr>
          <p:cNvSpPr txBox="1"/>
          <p:nvPr/>
        </p:nvSpPr>
        <p:spPr>
          <a:xfrm>
            <a:off x="248529" y="2755730"/>
            <a:ext cx="11521440" cy="954107"/>
          </a:xfrm>
          <a:prstGeom prst="rect">
            <a:avLst/>
          </a:prstGeom>
          <a:noFill/>
        </p:spPr>
        <p:txBody>
          <a:bodyPr wrap="square">
            <a:spAutoFit/>
          </a:bodyPr>
          <a:lstStyle/>
          <a:p>
            <a:pPr algn="ctr"/>
            <a:r>
              <a:rPr lang="fr-FR" sz="28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On parlera d’</a:t>
            </a:r>
            <a:r>
              <a:rPr lang="fr-FR" sz="28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ensemble des méthodes et techniques mises en place dans un domaine particulier.</a:t>
            </a:r>
            <a:endParaRPr lang="fr-TG" sz="28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9" name="ZoneTexte 8">
            <a:extLst>
              <a:ext uri="{FF2B5EF4-FFF2-40B4-BE49-F238E27FC236}">
                <a16:creationId xmlns:a16="http://schemas.microsoft.com/office/drawing/2014/main" id="{773A6AC5-55AE-FCE4-41BE-D73199FA490D}"/>
              </a:ext>
            </a:extLst>
          </p:cNvPr>
          <p:cNvSpPr txBox="1"/>
          <p:nvPr/>
        </p:nvSpPr>
        <p:spPr>
          <a:xfrm>
            <a:off x="248529" y="3811077"/>
            <a:ext cx="11694942" cy="2554545"/>
          </a:xfrm>
          <a:prstGeom prst="rect">
            <a:avLst/>
          </a:prstGeom>
          <a:noFill/>
        </p:spPr>
        <p:txBody>
          <a:bodyPr wrap="square">
            <a:spAutoFit/>
          </a:bodyPr>
          <a:lstStyle/>
          <a:p>
            <a:pPr algn="just"/>
            <a:r>
              <a:rPr lang="fr-FR" sz="40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Autrement dit, la méthodologie est l’ensemble des règles et des démarches adoptées par un chercheur pendant son travail de recherche pour parvenir à une ou plusieurs conclusions.</a:t>
            </a:r>
            <a:endParaRPr lang="fr-TG" sz="40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725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down)">
                                      <p:cBhvr>
                                        <p:cTn id="15" dur="580">
                                          <p:stCondLst>
                                            <p:cond delay="0"/>
                                          </p:stCondLst>
                                        </p:cTn>
                                        <p:tgtEl>
                                          <p:spTgt spid="4"/>
                                        </p:tgtEl>
                                      </p:cBhvr>
                                    </p:animEffect>
                                    <p:anim calcmode="lin" valueType="num">
                                      <p:cBhvr>
                                        <p:cTn id="16"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1" dur="26">
                                          <p:stCondLst>
                                            <p:cond delay="650"/>
                                          </p:stCondLst>
                                        </p:cTn>
                                        <p:tgtEl>
                                          <p:spTgt spid="4"/>
                                        </p:tgtEl>
                                      </p:cBhvr>
                                      <p:to x="100000" y="60000"/>
                                    </p:animScale>
                                    <p:animScale>
                                      <p:cBhvr>
                                        <p:cTn id="22" dur="166" decel="50000">
                                          <p:stCondLst>
                                            <p:cond delay="676"/>
                                          </p:stCondLst>
                                        </p:cTn>
                                        <p:tgtEl>
                                          <p:spTgt spid="4"/>
                                        </p:tgtEl>
                                      </p:cBhvr>
                                      <p:to x="100000" y="100000"/>
                                    </p:animScale>
                                    <p:animScale>
                                      <p:cBhvr>
                                        <p:cTn id="23" dur="26">
                                          <p:stCondLst>
                                            <p:cond delay="1312"/>
                                          </p:stCondLst>
                                        </p:cTn>
                                        <p:tgtEl>
                                          <p:spTgt spid="4"/>
                                        </p:tgtEl>
                                      </p:cBhvr>
                                      <p:to x="100000" y="80000"/>
                                    </p:animScale>
                                    <p:animScale>
                                      <p:cBhvr>
                                        <p:cTn id="24" dur="166" decel="50000">
                                          <p:stCondLst>
                                            <p:cond delay="1338"/>
                                          </p:stCondLst>
                                        </p:cTn>
                                        <p:tgtEl>
                                          <p:spTgt spid="4"/>
                                        </p:tgtEl>
                                      </p:cBhvr>
                                      <p:to x="100000" y="100000"/>
                                    </p:animScale>
                                    <p:animScale>
                                      <p:cBhvr>
                                        <p:cTn id="25" dur="26">
                                          <p:stCondLst>
                                            <p:cond delay="1642"/>
                                          </p:stCondLst>
                                        </p:cTn>
                                        <p:tgtEl>
                                          <p:spTgt spid="4"/>
                                        </p:tgtEl>
                                      </p:cBhvr>
                                      <p:to x="100000" y="90000"/>
                                    </p:animScale>
                                    <p:animScale>
                                      <p:cBhvr>
                                        <p:cTn id="26" dur="166" decel="50000">
                                          <p:stCondLst>
                                            <p:cond delay="1668"/>
                                          </p:stCondLst>
                                        </p:cTn>
                                        <p:tgtEl>
                                          <p:spTgt spid="4"/>
                                        </p:tgtEl>
                                      </p:cBhvr>
                                      <p:to x="100000" y="100000"/>
                                    </p:animScale>
                                    <p:animScale>
                                      <p:cBhvr>
                                        <p:cTn id="27" dur="26">
                                          <p:stCondLst>
                                            <p:cond delay="1808"/>
                                          </p:stCondLst>
                                        </p:cTn>
                                        <p:tgtEl>
                                          <p:spTgt spid="4"/>
                                        </p:tgtEl>
                                      </p:cBhvr>
                                      <p:to x="100000" y="95000"/>
                                    </p:animScale>
                                    <p:animScale>
                                      <p:cBhvr>
                                        <p:cTn id="28" dur="166" decel="50000">
                                          <p:stCondLst>
                                            <p:cond delay="1834"/>
                                          </p:stCondLst>
                                        </p:cTn>
                                        <p:tgtEl>
                                          <p:spTgt spid="4"/>
                                        </p:tgtEl>
                                      </p:cBhvr>
                                      <p:to x="100000" y="100000"/>
                                    </p:animScale>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down)">
                                      <p:cBhvr>
                                        <p:cTn id="33" dur="580">
                                          <p:stCondLst>
                                            <p:cond delay="0"/>
                                          </p:stCondLst>
                                        </p:cTn>
                                        <p:tgtEl>
                                          <p:spTgt spid="7"/>
                                        </p:tgtEl>
                                      </p:cBhvr>
                                    </p:animEffect>
                                    <p:anim calcmode="lin" valueType="num">
                                      <p:cBhvr>
                                        <p:cTn id="3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39" dur="26">
                                          <p:stCondLst>
                                            <p:cond delay="650"/>
                                          </p:stCondLst>
                                        </p:cTn>
                                        <p:tgtEl>
                                          <p:spTgt spid="7"/>
                                        </p:tgtEl>
                                      </p:cBhvr>
                                      <p:to x="100000" y="60000"/>
                                    </p:animScale>
                                    <p:animScale>
                                      <p:cBhvr>
                                        <p:cTn id="40" dur="166" decel="50000">
                                          <p:stCondLst>
                                            <p:cond delay="676"/>
                                          </p:stCondLst>
                                        </p:cTn>
                                        <p:tgtEl>
                                          <p:spTgt spid="7"/>
                                        </p:tgtEl>
                                      </p:cBhvr>
                                      <p:to x="100000" y="100000"/>
                                    </p:animScale>
                                    <p:animScale>
                                      <p:cBhvr>
                                        <p:cTn id="41" dur="26">
                                          <p:stCondLst>
                                            <p:cond delay="1312"/>
                                          </p:stCondLst>
                                        </p:cTn>
                                        <p:tgtEl>
                                          <p:spTgt spid="7"/>
                                        </p:tgtEl>
                                      </p:cBhvr>
                                      <p:to x="100000" y="80000"/>
                                    </p:animScale>
                                    <p:animScale>
                                      <p:cBhvr>
                                        <p:cTn id="42" dur="166" decel="50000">
                                          <p:stCondLst>
                                            <p:cond delay="1338"/>
                                          </p:stCondLst>
                                        </p:cTn>
                                        <p:tgtEl>
                                          <p:spTgt spid="7"/>
                                        </p:tgtEl>
                                      </p:cBhvr>
                                      <p:to x="100000" y="100000"/>
                                    </p:animScale>
                                    <p:animScale>
                                      <p:cBhvr>
                                        <p:cTn id="43" dur="26">
                                          <p:stCondLst>
                                            <p:cond delay="1642"/>
                                          </p:stCondLst>
                                        </p:cTn>
                                        <p:tgtEl>
                                          <p:spTgt spid="7"/>
                                        </p:tgtEl>
                                      </p:cBhvr>
                                      <p:to x="100000" y="90000"/>
                                    </p:animScale>
                                    <p:animScale>
                                      <p:cBhvr>
                                        <p:cTn id="44" dur="166" decel="50000">
                                          <p:stCondLst>
                                            <p:cond delay="1668"/>
                                          </p:stCondLst>
                                        </p:cTn>
                                        <p:tgtEl>
                                          <p:spTgt spid="7"/>
                                        </p:tgtEl>
                                      </p:cBhvr>
                                      <p:to x="100000" y="100000"/>
                                    </p:animScale>
                                    <p:animScale>
                                      <p:cBhvr>
                                        <p:cTn id="45" dur="26">
                                          <p:stCondLst>
                                            <p:cond delay="1808"/>
                                          </p:stCondLst>
                                        </p:cTn>
                                        <p:tgtEl>
                                          <p:spTgt spid="7"/>
                                        </p:tgtEl>
                                      </p:cBhvr>
                                      <p:to x="100000" y="95000"/>
                                    </p:animScale>
                                    <p:animScale>
                                      <p:cBhvr>
                                        <p:cTn id="46" dur="166" decel="50000">
                                          <p:stCondLst>
                                            <p:cond delay="1834"/>
                                          </p:stCondLst>
                                        </p:cTn>
                                        <p:tgtEl>
                                          <p:spTgt spid="7"/>
                                        </p:tgtEl>
                                      </p:cBhvr>
                                      <p:to x="100000" y="100000"/>
                                    </p:animScale>
                                  </p:childTnLst>
                                </p:cTn>
                              </p:par>
                            </p:childTnLst>
                          </p:cTn>
                        </p:par>
                      </p:childTnLst>
                    </p:cTn>
                  </p:par>
                  <p:par>
                    <p:cTn id="47" fill="hold">
                      <p:stCondLst>
                        <p:cond delay="indefinite"/>
                      </p:stCondLst>
                      <p:childTnLst>
                        <p:par>
                          <p:cTn id="48" fill="hold">
                            <p:stCondLst>
                              <p:cond delay="0"/>
                            </p:stCondLst>
                            <p:childTnLst>
                              <p:par>
                                <p:cTn id="49" presetID="31"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 calcmode="lin" valueType="num">
                                      <p:cBhvr>
                                        <p:cTn id="51" dur="1000" fill="hold"/>
                                        <p:tgtEl>
                                          <p:spTgt spid="9"/>
                                        </p:tgtEl>
                                        <p:attrNameLst>
                                          <p:attrName>ppt_w</p:attrName>
                                        </p:attrNameLst>
                                      </p:cBhvr>
                                      <p:tavLst>
                                        <p:tav tm="0">
                                          <p:val>
                                            <p:fltVal val="0"/>
                                          </p:val>
                                        </p:tav>
                                        <p:tav tm="100000">
                                          <p:val>
                                            <p:strVal val="#ppt_w"/>
                                          </p:val>
                                        </p:tav>
                                      </p:tavLst>
                                    </p:anim>
                                    <p:anim calcmode="lin" valueType="num">
                                      <p:cBhvr>
                                        <p:cTn id="52" dur="1000" fill="hold"/>
                                        <p:tgtEl>
                                          <p:spTgt spid="9"/>
                                        </p:tgtEl>
                                        <p:attrNameLst>
                                          <p:attrName>ppt_h</p:attrName>
                                        </p:attrNameLst>
                                      </p:cBhvr>
                                      <p:tavLst>
                                        <p:tav tm="0">
                                          <p:val>
                                            <p:fltVal val="0"/>
                                          </p:val>
                                        </p:tav>
                                        <p:tav tm="100000">
                                          <p:val>
                                            <p:strVal val="#ppt_h"/>
                                          </p:val>
                                        </p:tav>
                                      </p:tavLst>
                                    </p:anim>
                                    <p:anim calcmode="lin" valueType="num">
                                      <p:cBhvr>
                                        <p:cTn id="53" dur="1000" fill="hold"/>
                                        <p:tgtEl>
                                          <p:spTgt spid="9"/>
                                        </p:tgtEl>
                                        <p:attrNameLst>
                                          <p:attrName>style.rotation</p:attrName>
                                        </p:attrNameLst>
                                      </p:cBhvr>
                                      <p:tavLst>
                                        <p:tav tm="0">
                                          <p:val>
                                            <p:fltVal val="90"/>
                                          </p:val>
                                        </p:tav>
                                        <p:tav tm="100000">
                                          <p:val>
                                            <p:fltVal val="0"/>
                                          </p:val>
                                        </p:tav>
                                      </p:tavLst>
                                    </p:anim>
                                    <p:animEffect transition="in" filter="fade">
                                      <p:cBhvr>
                                        <p:cTn id="5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7"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A6DC4-5A0D-3C01-6120-2F4C8B51B5F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5642333-2E87-8265-32AF-90C4D6E5ACFE}"/>
              </a:ext>
            </a:extLst>
          </p:cNvPr>
          <p:cNvSpPr/>
          <p:nvPr/>
        </p:nvSpPr>
        <p:spPr>
          <a:xfrm>
            <a:off x="1" y="1645918"/>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PRINCIPES METHODOLOGIQUES DES DEUX APPROCHES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46F8F838-70F1-40AD-2F92-FED0400BA859}"/>
              </a:ext>
            </a:extLst>
          </p:cNvPr>
          <p:cNvSpPr txBox="1"/>
          <p:nvPr/>
        </p:nvSpPr>
        <p:spPr>
          <a:xfrm>
            <a:off x="168811" y="2079229"/>
            <a:ext cx="11577711" cy="4339650"/>
          </a:xfrm>
          <a:prstGeom prst="rect">
            <a:avLst/>
          </a:prstGeom>
          <a:noFill/>
        </p:spPr>
        <p:txBody>
          <a:bodyPr wrap="square">
            <a:spAutoFit/>
          </a:bodyPr>
          <a:lstStyle/>
          <a:p>
            <a:pPr algn="ct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L’UTILITÉ DE LA MÉTHODOLOGIE</a:t>
            </a:r>
          </a:p>
          <a:p>
            <a:pPr algn="just"/>
            <a:r>
              <a:rPr lang="fr-FR" sz="40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 méthodologie permet à l’étudiant d’avancer dans la réalisation de son étude, grâce à des méthodes d’enquête et des outils analytiques.</a:t>
            </a:r>
          </a:p>
          <a:p>
            <a:pPr algn="just"/>
            <a:r>
              <a:rPr lang="fr-FR" sz="40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 méthodologie de travail mise en place permet de guider l’étudiant depuis ses premières recherches jusqu’à sa conclusion finale.</a:t>
            </a:r>
          </a:p>
        </p:txBody>
      </p:sp>
    </p:spTree>
    <p:extLst>
      <p:ext uri="{BB962C8B-B14F-4D97-AF65-F5344CB8AC3E}">
        <p14:creationId xmlns:p14="http://schemas.microsoft.com/office/powerpoint/2010/main" val="3616407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F8937-0910-107B-4DC7-2C873FC2A2D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418521-D686-1FCA-C413-438E942DFEEB}"/>
              </a:ext>
            </a:extLst>
          </p:cNvPr>
          <p:cNvSpPr/>
          <p:nvPr/>
        </p:nvSpPr>
        <p:spPr>
          <a:xfrm>
            <a:off x="1" y="1645918"/>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PRINCIPES METHODOLOGIQUES DES DEUX APPROCHES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F4CA6144-5F22-FD9B-CD62-76C52F89959E}"/>
              </a:ext>
            </a:extLst>
          </p:cNvPr>
          <p:cNvSpPr txBox="1"/>
          <p:nvPr/>
        </p:nvSpPr>
        <p:spPr>
          <a:xfrm>
            <a:off x="182881" y="2008389"/>
            <a:ext cx="11540196" cy="4555093"/>
          </a:xfrm>
          <a:prstGeom prst="rect">
            <a:avLst/>
          </a:prstGeom>
          <a:noFill/>
        </p:spPr>
        <p:txBody>
          <a:bodyPr wrap="square">
            <a:spAutoFit/>
          </a:bodyPr>
          <a:lstStyle/>
          <a:p>
            <a:pPr algn="ct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LES DIFFÉRENTS TYPES DE MÉTHODOLOGIES</a:t>
            </a:r>
          </a:p>
          <a:p>
            <a:pPr algn="just"/>
            <a:endParaRPr lang="fr-FR"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r>
              <a:rPr lang="fr-FR" sz="28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Pour collecter des données, il existe plusieurs méthodes de recherche dont l’étudiant peut se servir</a:t>
            </a:r>
          </a:p>
          <a:p>
            <a:pPr algn="ctr"/>
            <a:r>
              <a:rPr lang="fr-FR" sz="2800" b="1"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RECHERCHE QUALI ET QUANTI</a:t>
            </a:r>
            <a:endParaRPr lang="fr-FR" sz="2800" b="1" i="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r>
              <a:rPr lang="fr-FR" sz="28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1</a:t>
            </a:r>
            <a:r>
              <a:rPr lang="fr-FR" sz="3200" b="1" i="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La recherche transversale</a:t>
            </a:r>
            <a:endParaRPr lang="fr-FR" sz="2800" b="1" i="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r>
              <a:rPr lang="fr-FR" sz="2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Une analyse transversale est </a:t>
            </a:r>
            <a:r>
              <a:rPr lang="fr-FR" sz="2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une </a:t>
            </a:r>
            <a:r>
              <a:rPr lang="fr-FR" sz="2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méthode de recherche consistant à observer une population dans sa globalité à travers un </a:t>
            </a:r>
            <a:r>
              <a:rPr lang="fr-FR" sz="2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échantillon</a:t>
            </a:r>
            <a:r>
              <a:rPr lang="fr-FR" sz="2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représentatif de personnes à un instant précis. Cette recherche vise donc à réaliser une coupe transversale de la population étudiée pour pouvoir analyser plus précisément un sujet ou un phénomène particulier.</a:t>
            </a:r>
          </a:p>
        </p:txBody>
      </p:sp>
    </p:spTree>
    <p:extLst>
      <p:ext uri="{BB962C8B-B14F-4D97-AF65-F5344CB8AC3E}">
        <p14:creationId xmlns:p14="http://schemas.microsoft.com/office/powerpoint/2010/main" val="307939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12990-C510-7E38-74A4-C54C73D1D31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1F78F40-C279-D581-AA8C-47F8CFA75B8E}"/>
              </a:ext>
            </a:extLst>
          </p:cNvPr>
          <p:cNvSpPr/>
          <p:nvPr/>
        </p:nvSpPr>
        <p:spPr>
          <a:xfrm>
            <a:off x="1" y="1645918"/>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PRINCIPES METHODOLOGIQUES DES DEUX APPROCHES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A4544EAE-4BC7-E350-3D42-AEA835E6B993}"/>
              </a:ext>
            </a:extLst>
          </p:cNvPr>
          <p:cNvSpPr txBox="1"/>
          <p:nvPr/>
        </p:nvSpPr>
        <p:spPr>
          <a:xfrm>
            <a:off x="279009" y="2114399"/>
            <a:ext cx="11633981" cy="4093428"/>
          </a:xfrm>
          <a:prstGeom prst="rect">
            <a:avLst/>
          </a:prstGeom>
          <a:noFill/>
        </p:spPr>
        <p:txBody>
          <a:bodyPr wrap="square">
            <a:spAutoFit/>
          </a:bodyPr>
          <a:lstStyle/>
          <a:p>
            <a:pPr algn="ctr"/>
            <a:r>
              <a:rPr lang="fr-FR" sz="4400" b="1"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2.</a:t>
            </a:r>
            <a:r>
              <a:rPr lang="fr-FR" sz="4400" b="1" i="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 recherche d’observation</a:t>
            </a:r>
          </a:p>
          <a:p>
            <a:pPr algn="just"/>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Cette recherche consiste à baser son enquête uniquement sur </a:t>
            </a:r>
            <a:r>
              <a:rPr lang="fr-FR"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l’observation</a:t>
            </a: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sur une longue période du phénomène ou du sujet étudié. Plus qu’un outil de</a:t>
            </a:r>
            <a:r>
              <a:rPr lang="fr-FR"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l’étude qualitative</a:t>
            </a: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fr-FR"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l’observation</a:t>
            </a: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peut à elle seule permettre de réaliser une recherche complète. Le chercheur collecte ainsi des données grâce à ses observations sur le terrain.</a:t>
            </a:r>
          </a:p>
        </p:txBody>
      </p:sp>
    </p:spTree>
    <p:extLst>
      <p:ext uri="{BB962C8B-B14F-4D97-AF65-F5344CB8AC3E}">
        <p14:creationId xmlns:p14="http://schemas.microsoft.com/office/powerpoint/2010/main" val="3153654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32ECA-4FF2-96CD-AF5F-BBB83378FB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7A4DD89-DCAE-B363-31D3-D56E0BF947DE}"/>
              </a:ext>
            </a:extLst>
          </p:cNvPr>
          <p:cNvSpPr/>
          <p:nvPr/>
        </p:nvSpPr>
        <p:spPr>
          <a:xfrm>
            <a:off x="1" y="1645918"/>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PRINCIPES METHODOLOGIQUES DES DEUX APPROCHES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05F6CDD3-D855-F3FF-82D0-26F16557328C}"/>
              </a:ext>
            </a:extLst>
          </p:cNvPr>
          <p:cNvSpPr txBox="1"/>
          <p:nvPr/>
        </p:nvSpPr>
        <p:spPr>
          <a:xfrm>
            <a:off x="279009" y="2114399"/>
            <a:ext cx="11633981" cy="4216539"/>
          </a:xfrm>
          <a:prstGeom prst="rect">
            <a:avLst/>
          </a:prstGeom>
          <a:noFill/>
        </p:spPr>
        <p:txBody>
          <a:bodyPr wrap="square">
            <a:spAutoFit/>
          </a:bodyPr>
          <a:lstStyle/>
          <a:p>
            <a:pPr algn="ctr"/>
            <a:r>
              <a:rPr lang="fr-FR" sz="4400" b="1"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3.</a:t>
            </a:r>
            <a:r>
              <a:rPr lang="fr-FR" sz="4400" b="1" i="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 recherche </a:t>
            </a:r>
            <a:r>
              <a:rPr lang="fr-FR" sz="4400" b="1"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 masse ou d’enquête</a:t>
            </a:r>
            <a:endParaRPr lang="fr-FR" sz="4400" b="1" i="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just"/>
            <a:r>
              <a:rPr lang="fr-FR" sz="32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 recherche de masse (également enquête de masse) permet aux chercheurs d’étudier un phénomène de société à grande échelle. On parle ici de milliers d’individus. Pour ce faire, l’enquête utilise des méthodes pour simplifier la recherche, comme l’application de sondage ou de questionnaire réalisé à partir d’un échantillon représentatif de la population étudiée. Ce type de recherche est régulièrement utilisée en sciences sociales.</a:t>
            </a:r>
          </a:p>
        </p:txBody>
      </p:sp>
    </p:spTree>
    <p:extLst>
      <p:ext uri="{BB962C8B-B14F-4D97-AF65-F5344CB8AC3E}">
        <p14:creationId xmlns:p14="http://schemas.microsoft.com/office/powerpoint/2010/main" val="148433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2EF85-FC51-F9FF-37BD-5F82C0EC46E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843C4A0-6E51-C875-C522-CCA6344D84B1}"/>
              </a:ext>
            </a:extLst>
          </p:cNvPr>
          <p:cNvSpPr/>
          <p:nvPr/>
        </p:nvSpPr>
        <p:spPr>
          <a:xfrm>
            <a:off x="1" y="1645918"/>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PRINCIPES METHODOLOGIQUES DES DEUX APPROCHES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4CE24D3A-6AA4-731B-8B58-1059F5D9CD21}"/>
              </a:ext>
            </a:extLst>
          </p:cNvPr>
          <p:cNvSpPr txBox="1"/>
          <p:nvPr/>
        </p:nvSpPr>
        <p:spPr>
          <a:xfrm>
            <a:off x="279009" y="2114399"/>
            <a:ext cx="11633981" cy="4093428"/>
          </a:xfrm>
          <a:prstGeom prst="rect">
            <a:avLst/>
          </a:prstGeom>
          <a:noFill/>
        </p:spPr>
        <p:txBody>
          <a:bodyPr wrap="square">
            <a:spAutoFit/>
          </a:bodyPr>
          <a:lstStyle/>
          <a:p>
            <a:pPr algn="ctr"/>
            <a:r>
              <a:rPr lang="fr-FR" sz="4400" b="1"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4.</a:t>
            </a:r>
            <a:r>
              <a:rPr lang="fr-FR" sz="4400" b="1" i="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 recherche </a:t>
            </a:r>
            <a:r>
              <a:rPr lang="fr-FR" sz="4400" b="1"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documentaire </a:t>
            </a:r>
            <a:endParaRPr lang="fr-FR" sz="3200" b="0" i="0" dirty="0">
              <a:solidFill>
                <a:srgbClr val="0D405F"/>
              </a:solidFill>
              <a:effectLst/>
              <a:latin typeface="Inter"/>
            </a:endParaRPr>
          </a:p>
          <a:p>
            <a:pPr algn="just"/>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a:t>
            </a:r>
            <a:r>
              <a:rPr lang="fr-FR"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recherche documentaire</a:t>
            </a: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consiste à collecter des informations par rapport à son sujet de recherche à partir de sources fiables. Selon son sujet, l’enquêteur sélectionne les documents les plus pertinents, susceptibles de lui apporter des informations essentielles pour l’avancement de sa recherche.</a:t>
            </a:r>
          </a:p>
        </p:txBody>
      </p:sp>
    </p:spTree>
    <p:extLst>
      <p:ext uri="{BB962C8B-B14F-4D97-AF65-F5344CB8AC3E}">
        <p14:creationId xmlns:p14="http://schemas.microsoft.com/office/powerpoint/2010/main" val="138670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72D2C-AEAF-74C2-7CE9-0DC2FC420B9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0BFE923-08CE-4A2A-E0EC-E65568713CF5}"/>
              </a:ext>
            </a:extLst>
          </p:cNvPr>
          <p:cNvSpPr/>
          <p:nvPr/>
        </p:nvSpPr>
        <p:spPr>
          <a:xfrm>
            <a:off x="1" y="1448971"/>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0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PRINCIPES METHODOLOGIQUES DES DEUX APPROCHES </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7" name="ZoneTexte 6">
            <a:extLst>
              <a:ext uri="{FF2B5EF4-FFF2-40B4-BE49-F238E27FC236}">
                <a16:creationId xmlns:a16="http://schemas.microsoft.com/office/drawing/2014/main" id="{A4B95A6E-1DCA-A5B4-4983-09E9C29C16C5}"/>
              </a:ext>
            </a:extLst>
          </p:cNvPr>
          <p:cNvSpPr txBox="1"/>
          <p:nvPr/>
        </p:nvSpPr>
        <p:spPr>
          <a:xfrm>
            <a:off x="363415" y="1645915"/>
            <a:ext cx="11465169" cy="3046988"/>
          </a:xfrm>
          <a:prstGeom prst="rect">
            <a:avLst/>
          </a:prstGeom>
          <a:noFill/>
        </p:spPr>
        <p:txBody>
          <a:bodyPr wrap="square">
            <a:spAutoFit/>
          </a:bodyPr>
          <a:lstStyle/>
          <a:p>
            <a:pPr algn="ctr"/>
            <a:r>
              <a:rPr lang="fr-FR" sz="3200" b="1" i="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 RECHERCHE QUANTITATIVE</a:t>
            </a:r>
          </a:p>
          <a:p>
            <a:pPr algn="just"/>
            <a:r>
              <a:rPr lang="fr-FR" sz="32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t>
            </a:r>
            <a:r>
              <a:rPr lang="fr-FR" sz="3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étude quantitative</a:t>
            </a:r>
            <a:r>
              <a:rPr lang="fr-FR" sz="32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permet au chercheur d’analyser des comportements, des opinions, ou même des attentes en quantité. L’objectif est souvent d’en déduire des conclusions mesurables statistiquement, répertoriées dans un tableau statistique ou un graphique.</a:t>
            </a:r>
          </a:p>
        </p:txBody>
      </p:sp>
      <p:sp>
        <p:nvSpPr>
          <p:cNvPr id="9" name="ZoneTexte 8">
            <a:extLst>
              <a:ext uri="{FF2B5EF4-FFF2-40B4-BE49-F238E27FC236}">
                <a16:creationId xmlns:a16="http://schemas.microsoft.com/office/drawing/2014/main" id="{D79BEF30-C80D-02D3-2228-43DCE917161D}"/>
              </a:ext>
            </a:extLst>
          </p:cNvPr>
          <p:cNvSpPr txBox="1"/>
          <p:nvPr/>
        </p:nvSpPr>
        <p:spPr>
          <a:xfrm>
            <a:off x="363415" y="4692903"/>
            <a:ext cx="11138096" cy="1938992"/>
          </a:xfrm>
          <a:prstGeom prst="rect">
            <a:avLst/>
          </a:prstGeom>
          <a:noFill/>
        </p:spPr>
        <p:txBody>
          <a:bodyPr wrap="square">
            <a:spAutoFit/>
          </a:bodyPr>
          <a:lstStyle/>
          <a:p>
            <a:pPr algn="ctr"/>
            <a:r>
              <a:rPr lang="fr-FR" sz="2400" b="1" i="0" dirty="0">
                <a:ln w="0"/>
                <a:solidFill>
                  <a:srgbClr val="FF0000"/>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 RECHERCHE QUALITATIVE</a:t>
            </a:r>
          </a:p>
          <a:p>
            <a:pPr algn="just"/>
            <a:r>
              <a:rPr lang="fr-FR" sz="2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a:t>
            </a:r>
            <a:r>
              <a:rPr lang="fr-FR" sz="2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recherche qualitative</a:t>
            </a:r>
            <a:r>
              <a:rPr lang="fr-FR" sz="2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est une étude permettant d’analyser et de comprendre des phénomènes, des comportements de groupe, des faits ou des sujets. L’objectif est d’obtenir des données de fond en se concentrant sur des interprétations, des expériences et leur signification.</a:t>
            </a:r>
          </a:p>
        </p:txBody>
      </p:sp>
    </p:spTree>
    <p:extLst>
      <p:ext uri="{BB962C8B-B14F-4D97-AF65-F5344CB8AC3E}">
        <p14:creationId xmlns:p14="http://schemas.microsoft.com/office/powerpoint/2010/main" val="3389780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p:cTn id="15" dur="1000" fill="hold"/>
                                        <p:tgtEl>
                                          <p:spTgt spid="7"/>
                                        </p:tgtEl>
                                        <p:attrNameLst>
                                          <p:attrName>ppt_w</p:attrName>
                                        </p:attrNameLst>
                                      </p:cBhvr>
                                      <p:tavLst>
                                        <p:tav tm="0">
                                          <p:val>
                                            <p:fltVal val="0"/>
                                          </p:val>
                                        </p:tav>
                                        <p:tav tm="100000">
                                          <p:val>
                                            <p:strVal val="#ppt_w"/>
                                          </p:val>
                                        </p:tav>
                                      </p:tavLst>
                                    </p:anim>
                                    <p:anim calcmode="lin" valueType="num">
                                      <p:cBhvr>
                                        <p:cTn id="16" dur="1000" fill="hold"/>
                                        <p:tgtEl>
                                          <p:spTgt spid="7"/>
                                        </p:tgtEl>
                                        <p:attrNameLst>
                                          <p:attrName>ppt_h</p:attrName>
                                        </p:attrNameLst>
                                      </p:cBhvr>
                                      <p:tavLst>
                                        <p:tav tm="0">
                                          <p:val>
                                            <p:fltVal val="0"/>
                                          </p:val>
                                        </p:tav>
                                        <p:tav tm="100000">
                                          <p:val>
                                            <p:strVal val="#ppt_h"/>
                                          </p:val>
                                        </p:tav>
                                      </p:tavLst>
                                    </p:anim>
                                    <p:anim calcmode="lin" valueType="num">
                                      <p:cBhvr>
                                        <p:cTn id="17" dur="1000" fill="hold"/>
                                        <p:tgtEl>
                                          <p:spTgt spid="7"/>
                                        </p:tgtEl>
                                        <p:attrNameLst>
                                          <p:attrName>style.rotation</p:attrName>
                                        </p:attrNameLst>
                                      </p:cBhvr>
                                      <p:tavLst>
                                        <p:tav tm="0">
                                          <p:val>
                                            <p:fltVal val="90"/>
                                          </p:val>
                                        </p:tav>
                                        <p:tav tm="100000">
                                          <p:val>
                                            <p:fltVal val="0"/>
                                          </p:val>
                                        </p:tav>
                                      </p:tavLst>
                                    </p:anim>
                                    <p:animEffect transition="in" filter="fade">
                                      <p:cBhvr>
                                        <p:cTn id="18" dur="1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ppt_w</p:attrName>
                                        </p:attrNameLst>
                                      </p:cBhvr>
                                      <p:tavLst>
                                        <p:tav tm="0">
                                          <p:val>
                                            <p:fltVal val="0"/>
                                          </p:val>
                                        </p:tav>
                                        <p:tav tm="100000">
                                          <p:val>
                                            <p:strVal val="#ppt_w"/>
                                          </p:val>
                                        </p:tav>
                                      </p:tavLst>
                                    </p:anim>
                                    <p:anim calcmode="lin" valueType="num">
                                      <p:cBhvr>
                                        <p:cTn id="24" dur="1000" fill="hold"/>
                                        <p:tgtEl>
                                          <p:spTgt spid="9"/>
                                        </p:tgtEl>
                                        <p:attrNameLst>
                                          <p:attrName>ppt_h</p:attrName>
                                        </p:attrNameLst>
                                      </p:cBhvr>
                                      <p:tavLst>
                                        <p:tav tm="0">
                                          <p:val>
                                            <p:fltVal val="0"/>
                                          </p:val>
                                        </p:tav>
                                        <p:tav tm="100000">
                                          <p:val>
                                            <p:strVal val="#ppt_h"/>
                                          </p:val>
                                        </p:tav>
                                      </p:tavLst>
                                    </p:anim>
                                    <p:anim calcmode="lin" valueType="num">
                                      <p:cBhvr>
                                        <p:cTn id="25" dur="1000" fill="hold"/>
                                        <p:tgtEl>
                                          <p:spTgt spid="9"/>
                                        </p:tgtEl>
                                        <p:attrNameLst>
                                          <p:attrName>style.rotation</p:attrName>
                                        </p:attrNameLst>
                                      </p:cBhvr>
                                      <p:tavLst>
                                        <p:tav tm="0">
                                          <p:val>
                                            <p:fltVal val="90"/>
                                          </p:val>
                                        </p:tav>
                                        <p:tav tm="100000">
                                          <p:val>
                                            <p:fltVal val="0"/>
                                          </p:val>
                                        </p:tav>
                                      </p:tavLst>
                                    </p:anim>
                                    <p:animEffect transition="in" filter="fade">
                                      <p:cBhvr>
                                        <p:cTn id="26"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59591-4838-CCE0-32AB-C542A90381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660D030-E11F-B23F-C272-0D9DC160F508}"/>
              </a:ext>
            </a:extLst>
          </p:cNvPr>
          <p:cNvSpPr/>
          <p:nvPr/>
        </p:nvSpPr>
        <p:spPr>
          <a:xfrm>
            <a:off x="1" y="1659986"/>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54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AVANTAGES ET LIMITES DES ETUDES QUANTI ET QUALI</a:t>
            </a:r>
          </a:p>
          <a:p>
            <a:pPr algn="ctr"/>
            <a:endParaRPr lang="fr-FR" sz="4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8FC8C404-C3D4-B191-61AC-A1B4DDD29AAC}"/>
              </a:ext>
            </a:extLst>
          </p:cNvPr>
          <p:cNvSpPr txBox="1"/>
          <p:nvPr/>
        </p:nvSpPr>
        <p:spPr>
          <a:xfrm>
            <a:off x="211015" y="2135501"/>
            <a:ext cx="11535508" cy="4524315"/>
          </a:xfrm>
          <a:prstGeom prst="rect">
            <a:avLst/>
          </a:prstGeom>
          <a:noFill/>
        </p:spPr>
        <p:txBody>
          <a:bodyPr wrap="square">
            <a:spAutoFit/>
          </a:bodyPr>
          <a:lstStyle/>
          <a:p>
            <a:pPr algn="just"/>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Les données sont quantifiables,</a:t>
            </a:r>
            <a:r>
              <a:rPr lang="fr-FR"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contrairement à une étude qualitative</a:t>
            </a: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dans laquelle les réponses sont rédigées par les participantes et participants, avec leurs propres mots. L’étude quantitative est donc plus rapide et plus simple, puisque les personnes interrogées ont simplement à choisir une possibilité de réponses parmi d’autres. Cela vous permettra de recueillir beaucoup de données en peu de temps.</a:t>
            </a:r>
            <a:endParaRPr lang="fr-TG"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846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style.rotation</p:attrName>
                                        </p:attrNameLst>
                                      </p:cBhvr>
                                      <p:tavLst>
                                        <p:tav tm="0">
                                          <p:val>
                                            <p:fltVal val="90"/>
                                          </p:val>
                                        </p:tav>
                                        <p:tav tm="100000">
                                          <p:val>
                                            <p:fltVal val="0"/>
                                          </p:val>
                                        </p:tav>
                                      </p:tavLst>
                                    </p:anim>
                                    <p:animEffect transition="in" filter="fade">
                                      <p:cBhvr>
                                        <p:cTn id="1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A1961-0E50-01E2-8F60-8336BDCD0B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1DCC2C7-497C-74B8-CC76-B5791C0E2A2F}"/>
              </a:ext>
            </a:extLst>
          </p:cNvPr>
          <p:cNvSpPr/>
          <p:nvPr/>
        </p:nvSpPr>
        <p:spPr>
          <a:xfrm>
            <a:off x="1" y="1223885"/>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AVANTAGES ET LIMITES DES ETUDES QUANTI</a:t>
            </a:r>
            <a:endParaRPr lang="fr-FR" sz="44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E7A25FE1-6830-A8EB-A19D-40844D6C8B50}"/>
              </a:ext>
            </a:extLst>
          </p:cNvPr>
          <p:cNvSpPr txBox="1"/>
          <p:nvPr/>
        </p:nvSpPr>
        <p:spPr>
          <a:xfrm>
            <a:off x="286043" y="1889814"/>
            <a:ext cx="11619914" cy="1200329"/>
          </a:xfrm>
          <a:prstGeom prst="rect">
            <a:avLst/>
          </a:prstGeom>
          <a:noFill/>
        </p:spPr>
        <p:txBody>
          <a:bodyPr wrap="square">
            <a:spAutoFit/>
          </a:bodyPr>
          <a:lstStyle/>
          <a:p>
            <a:pPr algn="just"/>
            <a:r>
              <a:rPr lang="fr-FR" sz="2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En attribuant des valeurs numériques à vos options de réponses, vous pourrez facilement les convertir en tableaux ou en graphiques pour en présenter les résultats et expliquer vos décisions stratégiques.</a:t>
            </a:r>
            <a:endParaRPr lang="fr-TG" sz="2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621E9B1E-326B-5F2C-6F0D-F48806F34723}"/>
              </a:ext>
            </a:extLst>
          </p:cNvPr>
          <p:cNvSpPr txBox="1"/>
          <p:nvPr/>
        </p:nvSpPr>
        <p:spPr>
          <a:xfrm>
            <a:off x="286042" y="3233277"/>
            <a:ext cx="11619913" cy="1200329"/>
          </a:xfrm>
          <a:prstGeom prst="rect">
            <a:avLst/>
          </a:prstGeom>
          <a:noFill/>
        </p:spPr>
        <p:txBody>
          <a:bodyPr wrap="square">
            <a:spAutoFit/>
          </a:bodyPr>
          <a:lstStyle/>
          <a:p>
            <a:pPr algn="just"/>
            <a:r>
              <a:rPr lang="fr-FR" sz="2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À l’ère des données, les études quantitatives vous aident à prendre des décisions importantes, par exemple pour vous démarquer de votre concurrence ou améliorer les conditions de travail de vos équipes. </a:t>
            </a:r>
            <a:endParaRPr lang="fr-TG" sz="2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9" name="ZoneTexte 8">
            <a:extLst>
              <a:ext uri="{FF2B5EF4-FFF2-40B4-BE49-F238E27FC236}">
                <a16:creationId xmlns:a16="http://schemas.microsoft.com/office/drawing/2014/main" id="{65FFEF73-C5FC-C26B-E337-A4151DA78D3D}"/>
              </a:ext>
            </a:extLst>
          </p:cNvPr>
          <p:cNvSpPr txBox="1"/>
          <p:nvPr/>
        </p:nvSpPr>
        <p:spPr>
          <a:xfrm>
            <a:off x="286042" y="4520463"/>
            <a:ext cx="11516752" cy="1815882"/>
          </a:xfrm>
          <a:prstGeom prst="rect">
            <a:avLst/>
          </a:prstGeom>
          <a:noFill/>
        </p:spPr>
        <p:txBody>
          <a:bodyPr wrap="square">
            <a:spAutoFit/>
          </a:bodyPr>
          <a:lstStyle/>
          <a:p>
            <a:pPr algn="just"/>
            <a:r>
              <a:rPr lang="fr-FR" sz="28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Autre avantage : après avoir préparé une étude quantitative, vous pourrez la dupliquer, la personnaliser et l’adapter pour différents besoins, ou pour la réutiliser régulièrement. Dans l’idéal, vous voudrez intégrer des études quantitatives à vos processus commerciaux au quotidien. </a:t>
            </a:r>
            <a:endParaRPr lang="fr-TG" sz="28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59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1000" fill="hold"/>
                                        <p:tgtEl>
                                          <p:spTgt spid="7"/>
                                        </p:tgtEl>
                                        <p:attrNameLst>
                                          <p:attrName>ppt_w</p:attrName>
                                        </p:attrNameLst>
                                      </p:cBhvr>
                                      <p:tavLst>
                                        <p:tav tm="0">
                                          <p:val>
                                            <p:fltVal val="0"/>
                                          </p:val>
                                        </p:tav>
                                        <p:tav tm="100000">
                                          <p:val>
                                            <p:strVal val="#ppt_w"/>
                                          </p:val>
                                        </p:tav>
                                      </p:tavLst>
                                    </p:anim>
                                    <p:anim calcmode="lin" valueType="num">
                                      <p:cBhvr>
                                        <p:cTn id="24" dur="1000" fill="hold"/>
                                        <p:tgtEl>
                                          <p:spTgt spid="7"/>
                                        </p:tgtEl>
                                        <p:attrNameLst>
                                          <p:attrName>ppt_h</p:attrName>
                                        </p:attrNameLst>
                                      </p:cBhvr>
                                      <p:tavLst>
                                        <p:tav tm="0">
                                          <p:val>
                                            <p:fltVal val="0"/>
                                          </p:val>
                                        </p:tav>
                                        <p:tav tm="100000">
                                          <p:val>
                                            <p:strVal val="#ppt_h"/>
                                          </p:val>
                                        </p:tav>
                                      </p:tavLst>
                                    </p:anim>
                                    <p:anim calcmode="lin" valueType="num">
                                      <p:cBhvr>
                                        <p:cTn id="25" dur="1000" fill="hold"/>
                                        <p:tgtEl>
                                          <p:spTgt spid="7"/>
                                        </p:tgtEl>
                                        <p:attrNameLst>
                                          <p:attrName>style.rotation</p:attrName>
                                        </p:attrNameLst>
                                      </p:cBhvr>
                                      <p:tavLst>
                                        <p:tav tm="0">
                                          <p:val>
                                            <p:fltVal val="90"/>
                                          </p:val>
                                        </p:tav>
                                        <p:tav tm="100000">
                                          <p:val>
                                            <p:fltVal val="0"/>
                                          </p:val>
                                        </p:tav>
                                      </p:tavLst>
                                    </p:anim>
                                    <p:animEffect transition="in" filter="fade">
                                      <p:cBhvr>
                                        <p:cTn id="26" dur="10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p:cTn id="31" dur="1000" fill="hold"/>
                                        <p:tgtEl>
                                          <p:spTgt spid="9"/>
                                        </p:tgtEl>
                                        <p:attrNameLst>
                                          <p:attrName>ppt_w</p:attrName>
                                        </p:attrNameLst>
                                      </p:cBhvr>
                                      <p:tavLst>
                                        <p:tav tm="0">
                                          <p:val>
                                            <p:fltVal val="0"/>
                                          </p:val>
                                        </p:tav>
                                        <p:tav tm="100000">
                                          <p:val>
                                            <p:strVal val="#ppt_w"/>
                                          </p:val>
                                        </p:tav>
                                      </p:tavLst>
                                    </p:anim>
                                    <p:anim calcmode="lin" valueType="num">
                                      <p:cBhvr>
                                        <p:cTn id="32" dur="1000" fill="hold"/>
                                        <p:tgtEl>
                                          <p:spTgt spid="9"/>
                                        </p:tgtEl>
                                        <p:attrNameLst>
                                          <p:attrName>ppt_h</p:attrName>
                                        </p:attrNameLst>
                                      </p:cBhvr>
                                      <p:tavLst>
                                        <p:tav tm="0">
                                          <p:val>
                                            <p:fltVal val="0"/>
                                          </p:val>
                                        </p:tav>
                                        <p:tav tm="100000">
                                          <p:val>
                                            <p:strVal val="#ppt_h"/>
                                          </p:val>
                                        </p:tav>
                                      </p:tavLst>
                                    </p:anim>
                                    <p:anim calcmode="lin" valueType="num">
                                      <p:cBhvr>
                                        <p:cTn id="33" dur="1000" fill="hold"/>
                                        <p:tgtEl>
                                          <p:spTgt spid="9"/>
                                        </p:tgtEl>
                                        <p:attrNameLst>
                                          <p:attrName>style.rotation</p:attrName>
                                        </p:attrNameLst>
                                      </p:cBhvr>
                                      <p:tavLst>
                                        <p:tav tm="0">
                                          <p:val>
                                            <p:fltVal val="90"/>
                                          </p:val>
                                        </p:tav>
                                        <p:tav tm="100000">
                                          <p:val>
                                            <p:fltVal val="0"/>
                                          </p:val>
                                        </p:tav>
                                      </p:tavLst>
                                    </p:anim>
                                    <p:animEffect transition="in" filter="fade">
                                      <p:cBhvr>
                                        <p:cTn id="34"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7" grpId="0"/>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7C443-11E3-7E23-90EF-01540560DEE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A4B4E0-D199-FB33-805D-7AE0E13605C0}"/>
              </a:ext>
            </a:extLst>
          </p:cNvPr>
          <p:cNvSpPr/>
          <p:nvPr/>
        </p:nvSpPr>
        <p:spPr>
          <a:xfrm>
            <a:off x="1" y="1223885"/>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AVANTAGES ET LIMITES DES ETUDES QUANTI</a:t>
            </a:r>
            <a:endParaRPr lang="fr-FR" sz="44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48B0FD52-79D2-29C7-7043-D384A73B02DD}"/>
              </a:ext>
            </a:extLst>
          </p:cNvPr>
          <p:cNvSpPr txBox="1"/>
          <p:nvPr/>
        </p:nvSpPr>
        <p:spPr>
          <a:xfrm>
            <a:off x="349347" y="1659377"/>
            <a:ext cx="11493305" cy="4524315"/>
          </a:xfrm>
          <a:prstGeom prst="rect">
            <a:avLst/>
          </a:prstGeom>
          <a:noFill/>
        </p:spPr>
        <p:txBody>
          <a:bodyPr wrap="square">
            <a:spAutoFit/>
          </a:bodyPr>
          <a:lstStyle/>
          <a:p>
            <a:pPr algn="just"/>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Les études quantitatives sont idéales pour valider des hypothèses, comme le choix d’une nouvelle fonctionnalité ou une enquête sur un mode de consommation. En revanche, elles ont leurs limites : si vous envoyez à des participantes et participants une batterie de questions fermées sans jamais leur laisser la possibilité de s’exprimer, vous risquez de les frustrer et potentiellement de recevoir moins de réponses que ce que vous espériez.</a:t>
            </a:r>
            <a:endParaRPr lang="fr-TG" sz="36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5618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style.rotation</p:attrName>
                                        </p:attrNameLst>
                                      </p:cBhvr>
                                      <p:tavLst>
                                        <p:tav tm="0">
                                          <p:val>
                                            <p:fltVal val="90"/>
                                          </p:val>
                                        </p:tav>
                                        <p:tav tm="100000">
                                          <p:val>
                                            <p:fltVal val="0"/>
                                          </p:val>
                                        </p:tav>
                                      </p:tavLst>
                                    </p:anim>
                                    <p:animEffect transition="in" filter="fade">
                                      <p:cBhvr>
                                        <p:cTn id="1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3CD3F-BBEB-462E-1C71-0EE43A2C43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AB460F5-918F-1908-A27D-A871E10A4E3E}"/>
              </a:ext>
            </a:extLst>
          </p:cNvPr>
          <p:cNvSpPr/>
          <p:nvPr/>
        </p:nvSpPr>
        <p:spPr>
          <a:xfrm>
            <a:off x="1" y="1223885"/>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AVANTAGES ET LIMITES DES ETUDES QUANTI</a:t>
            </a:r>
            <a:endParaRPr lang="fr-FR" sz="44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1F16C765-75AC-4B68-5457-FD4C924952FE}"/>
              </a:ext>
            </a:extLst>
          </p:cNvPr>
          <p:cNvSpPr txBox="1"/>
          <p:nvPr/>
        </p:nvSpPr>
        <p:spPr>
          <a:xfrm>
            <a:off x="370449" y="1731894"/>
            <a:ext cx="11451101" cy="4524315"/>
          </a:xfrm>
          <a:prstGeom prst="rect">
            <a:avLst/>
          </a:prstGeom>
          <a:noFill/>
        </p:spPr>
        <p:txBody>
          <a:bodyPr wrap="square">
            <a:spAutoFit/>
          </a:bodyPr>
          <a:lstStyle/>
          <a:p>
            <a:pPr algn="just"/>
            <a:r>
              <a:rPr lang="fr-FR" sz="32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Les études quantitatives ne permettent pas aux personnes interrogées d’être créatives et vous ne recevrez pas de suggestions inattendues. Pour récolter des données chiffrées tout en donnant la possibilité à vos participantes et participants d’exprimer leurs envies ou leurs idées, il peut être judicieux d’intégrer une ou deux questions ouvertes (donc qualitatives). Les personnes interrogées pourront alors rédiger leur réponse dans un champ de texte libre, et vous recevrez des suggestions intéressantes, même si elles seront plus difficiles à chiffrer.</a:t>
            </a:r>
            <a:endParaRPr lang="fr-TG" sz="3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936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D59C9-BBD3-8E4C-8646-BDDF2B2750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7225363-B349-4C6C-0308-78496E2FCE9E}"/>
              </a:ext>
            </a:extLst>
          </p:cNvPr>
          <p:cNvSpPr/>
          <p:nvPr/>
        </p:nvSpPr>
        <p:spPr>
          <a:xfrm>
            <a:off x="1" y="1223885"/>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AVANTAGES ET LIMITES DES ETUDES QUALI</a:t>
            </a:r>
            <a:endParaRPr lang="fr-FR" sz="44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E4A8EE4B-F9CC-1D60-4343-7FBD66CD4746}"/>
              </a:ext>
            </a:extLst>
          </p:cNvPr>
          <p:cNvSpPr txBox="1"/>
          <p:nvPr/>
        </p:nvSpPr>
        <p:spPr>
          <a:xfrm>
            <a:off x="280768" y="1990468"/>
            <a:ext cx="11630464" cy="4154984"/>
          </a:xfrm>
          <a:prstGeom prst="rect">
            <a:avLst/>
          </a:prstGeom>
          <a:noFill/>
        </p:spPr>
        <p:txBody>
          <a:bodyPr wrap="square">
            <a:spAutoFit/>
          </a:bodyPr>
          <a:lstStyle/>
          <a:p>
            <a:pPr algn="just"/>
            <a:r>
              <a:rPr lang="fr-FR" sz="44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Si l'approche qualitative vous aide à gagner en profondeur dans vos sujets de recherche, les résultats sont souvent plus difficiles à analyser. Une étude qualitative sert à recueillir des informations destinées à décrire un sujet, plutôt qu'à le mesurer.</a:t>
            </a:r>
            <a:endParaRPr lang="fr-TG" sz="4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858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style.rotation</p:attrName>
                                        </p:attrNameLst>
                                      </p:cBhvr>
                                      <p:tavLst>
                                        <p:tav tm="0">
                                          <p:val>
                                            <p:fltVal val="90"/>
                                          </p:val>
                                        </p:tav>
                                        <p:tav tm="100000">
                                          <p:val>
                                            <p:fltVal val="0"/>
                                          </p:val>
                                        </p:tav>
                                      </p:tavLst>
                                    </p:anim>
                                    <p:animEffect transition="in" filter="fade">
                                      <p:cBhvr>
                                        <p:cTn id="1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4ED0E-0821-DCF5-84DF-780DBE693B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6CF230-F240-D660-2C6F-EB311166E321}"/>
              </a:ext>
            </a:extLst>
          </p:cNvPr>
          <p:cNvSpPr/>
          <p:nvPr/>
        </p:nvSpPr>
        <p:spPr>
          <a:xfrm>
            <a:off x="1" y="1223885"/>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AVANTAGES ET LIMITES DES ETUDES QUALI</a:t>
            </a:r>
            <a:endParaRPr lang="fr-FR" sz="44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5FFA1F19-187A-B7F5-5BCB-D07D440A5FB7}"/>
              </a:ext>
            </a:extLst>
          </p:cNvPr>
          <p:cNvSpPr txBox="1"/>
          <p:nvPr/>
        </p:nvSpPr>
        <p:spPr>
          <a:xfrm>
            <a:off x="370449" y="1965973"/>
            <a:ext cx="11451102" cy="4162678"/>
          </a:xfrm>
          <a:prstGeom prst="rect">
            <a:avLst/>
          </a:prstGeom>
          <a:noFill/>
        </p:spPr>
        <p:txBody>
          <a:bodyPr wrap="square">
            <a:spAutoFit/>
          </a:bodyPr>
          <a:lstStyle/>
          <a:p>
            <a:pPr algn="just">
              <a:spcAft>
                <a:spcPts val="900"/>
              </a:spcAft>
            </a:pP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Ainsi, nous pouvons facilement mettre en lumière les avantages principaux d'une étude qualitative :</a:t>
            </a:r>
          </a:p>
          <a:p>
            <a:pPr algn="just">
              <a:spcAft>
                <a:spcPts val="300"/>
              </a:spcAft>
              <a:buFont typeface="Arial" panose="020B0604020202020204" pitchFamily="34" charset="0"/>
              <a:buChar char="•"/>
            </a:pP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une approche centrée sur l'aspect humain,</a:t>
            </a:r>
          </a:p>
          <a:p>
            <a:pPr algn="just">
              <a:spcAft>
                <a:spcPts val="300"/>
              </a:spcAft>
              <a:buFont typeface="Arial" panose="020B0604020202020204" pitchFamily="34" charset="0"/>
              <a:buChar char="•"/>
            </a:pP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une plus grande profondeur dans les réponses grâce à la grande liberté d'expression laissée aux sondés.</a:t>
            </a:r>
          </a:p>
          <a:p>
            <a:pPr algn="just">
              <a:spcAft>
                <a:spcPts val="300"/>
              </a:spcAft>
              <a:buFont typeface="Arial" panose="020B0604020202020204" pitchFamily="34" charset="0"/>
              <a:buChar char="•"/>
            </a:pPr>
            <a:r>
              <a:rPr lang="fr-FR" sz="36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une grande flexibilité dans la conduite de l'enquête auprès des sondés</a:t>
            </a:r>
          </a:p>
        </p:txBody>
      </p:sp>
    </p:spTree>
    <p:extLst>
      <p:ext uri="{BB962C8B-B14F-4D97-AF65-F5344CB8AC3E}">
        <p14:creationId xmlns:p14="http://schemas.microsoft.com/office/powerpoint/2010/main" val="3613194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3C8FC-FD32-B0AC-FB6B-1A72D39D789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DCF1A91-83E5-80A7-5B50-F6D4D8AAD98E}"/>
              </a:ext>
            </a:extLst>
          </p:cNvPr>
          <p:cNvSpPr/>
          <p:nvPr/>
        </p:nvSpPr>
        <p:spPr>
          <a:xfrm>
            <a:off x="0" y="1111343"/>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AVANTAGES ET LIMITES DES ETUDES QUALI</a:t>
            </a:r>
            <a:endParaRPr lang="fr-FR" sz="44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4" name="ZoneTexte 3">
            <a:extLst>
              <a:ext uri="{FF2B5EF4-FFF2-40B4-BE49-F238E27FC236}">
                <a16:creationId xmlns:a16="http://schemas.microsoft.com/office/drawing/2014/main" id="{739E2DEB-974B-3D19-1B94-04714EE6FC43}"/>
              </a:ext>
            </a:extLst>
          </p:cNvPr>
          <p:cNvSpPr txBox="1"/>
          <p:nvPr/>
        </p:nvSpPr>
        <p:spPr>
          <a:xfrm>
            <a:off x="300110" y="1483029"/>
            <a:ext cx="11591778" cy="5509200"/>
          </a:xfrm>
          <a:prstGeom prst="rect">
            <a:avLst/>
          </a:prstGeom>
          <a:noFill/>
        </p:spPr>
        <p:txBody>
          <a:bodyPr wrap="square">
            <a:spAutoFit/>
          </a:bodyPr>
          <a:lstStyle/>
          <a:p>
            <a:pPr algn="just"/>
            <a:r>
              <a:rPr lang="fr-FR" sz="32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Les études qualitatives sont primordiales dans la recherche scientifique et académique. En permettant de comprendre précisément les perceptions, les motivations et les expériences individuelles, l'étude qualitative offre une vision riche et nuancée que l'</a:t>
            </a:r>
            <a:r>
              <a:rPr lang="fr-FR" sz="3200" b="1" i="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étude quantitative</a:t>
            </a:r>
            <a:r>
              <a:rPr lang="fr-FR" sz="32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ne peut souvent pas capturer. </a:t>
            </a:r>
          </a:p>
          <a:p>
            <a:pPr algn="just"/>
            <a:r>
              <a:rPr lang="fr-FR" sz="32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Un étudiant qui mène une enquête qualitative dans le cadre de son </a:t>
            </a:r>
            <a:r>
              <a:rPr lang="fr-FR" sz="3200" b="1" i="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mémoire</a:t>
            </a:r>
            <a:r>
              <a:rPr lang="fr-FR" sz="3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r>
              <a:rPr lang="fr-FR" sz="32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ou de sa </a:t>
            </a:r>
            <a:r>
              <a:rPr lang="fr-FR" sz="3200" b="1" i="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thèse</a:t>
            </a:r>
            <a:r>
              <a:rPr lang="fr-FR" sz="32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développe des compétences essentielles telles que l'analyse critique, la pensée créative ou encore la capacité à interpréter des données complexes. Il pourra ainsi apporter des contributions significatives à son domaine de recherche.</a:t>
            </a:r>
          </a:p>
        </p:txBody>
      </p:sp>
    </p:spTree>
    <p:extLst>
      <p:ext uri="{BB962C8B-B14F-4D97-AF65-F5344CB8AC3E}">
        <p14:creationId xmlns:p14="http://schemas.microsoft.com/office/powerpoint/2010/main" val="14150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style.rotation</p:attrName>
                                        </p:attrNameLst>
                                      </p:cBhvr>
                                      <p:tavLst>
                                        <p:tav tm="0">
                                          <p:val>
                                            <p:fltVal val="90"/>
                                          </p:val>
                                        </p:tav>
                                        <p:tav tm="100000">
                                          <p:val>
                                            <p:fltVal val="0"/>
                                          </p:val>
                                        </p:tav>
                                      </p:tavLst>
                                    </p:anim>
                                    <p:animEffect transition="in" filter="fade">
                                      <p:cBhvr>
                                        <p:cTn id="1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7EBC7-5A16-D3F5-889B-293CD26B14F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B44C324-8650-1E2A-4FFE-2F778F7CD95D}"/>
              </a:ext>
            </a:extLst>
          </p:cNvPr>
          <p:cNvSpPr/>
          <p:nvPr/>
        </p:nvSpPr>
        <p:spPr>
          <a:xfrm>
            <a:off x="0" y="1111343"/>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48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AVANTAGES ET LIMITES DES ETUDES QUALI</a:t>
            </a:r>
            <a:endParaRPr lang="fr-FR" sz="44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5" name="ZoneTexte 4">
            <a:extLst>
              <a:ext uri="{FF2B5EF4-FFF2-40B4-BE49-F238E27FC236}">
                <a16:creationId xmlns:a16="http://schemas.microsoft.com/office/drawing/2014/main" id="{4870B702-C4A9-3A35-42A8-3CE6CB94EABD}"/>
              </a:ext>
            </a:extLst>
          </p:cNvPr>
          <p:cNvSpPr txBox="1"/>
          <p:nvPr/>
        </p:nvSpPr>
        <p:spPr>
          <a:xfrm>
            <a:off x="636564" y="1761030"/>
            <a:ext cx="11166230" cy="1384995"/>
          </a:xfrm>
          <a:prstGeom prst="rect">
            <a:avLst/>
          </a:prstGeom>
          <a:noFill/>
        </p:spPr>
        <p:txBody>
          <a:bodyPr wrap="square">
            <a:spAutoFit/>
          </a:bodyPr>
          <a:lstStyle/>
          <a:p>
            <a:pPr algn="just"/>
            <a:r>
              <a:rPr lang="fr-FR" sz="2800" b="1" i="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L'une des limites les plus courantes des hypothèses de recherche qualitative est qu'elles ne sont pas destinées à être généralisées à d'autres populations ou contextes.</a:t>
            </a:r>
            <a:endParaRPr lang="fr-TG" sz="28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D3B1D75D-6BF0-3576-F46C-1CECAB1479DB}"/>
              </a:ext>
            </a:extLst>
          </p:cNvPr>
          <p:cNvSpPr txBox="1"/>
          <p:nvPr/>
        </p:nvSpPr>
        <p:spPr>
          <a:xfrm>
            <a:off x="636564" y="3865098"/>
            <a:ext cx="11166230" cy="2862322"/>
          </a:xfrm>
          <a:prstGeom prst="rect">
            <a:avLst/>
          </a:prstGeom>
          <a:noFill/>
        </p:spPr>
        <p:txBody>
          <a:bodyPr wrap="square">
            <a:spAutoFit/>
          </a:bodyPr>
          <a:lstStyle/>
          <a:p>
            <a:pPr algn="ctr"/>
            <a:r>
              <a:rPr lang="fr-FR" sz="6000" b="1" i="0" dirty="0">
                <a:ln w="0"/>
                <a:solidFill>
                  <a:schemeClr val="accent1">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En résumé, l’on peut retenir quelques indices de faisabilité des deux méthodes</a:t>
            </a:r>
            <a:endParaRPr lang="fr-TG" sz="6000" b="1" dirty="0">
              <a:ln w="0"/>
              <a:solidFill>
                <a:schemeClr val="accent1">
                  <a:lumMod val="5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9705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685CB-CC3C-6BE3-1A10-14FB17FB80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74E109-298A-A1A6-E290-BC6F0AA5E3B2}"/>
              </a:ext>
            </a:extLst>
          </p:cNvPr>
          <p:cNvSpPr/>
          <p:nvPr/>
        </p:nvSpPr>
        <p:spPr>
          <a:xfrm>
            <a:off x="0" y="1111343"/>
            <a:ext cx="12191999" cy="196944"/>
          </a:xfrm>
          <a:prstGeom prst="rect">
            <a:avLst/>
          </a:prstGeom>
          <a:solidFill>
            <a:schemeClr val="accent1">
              <a:lumMod val="75000"/>
            </a:schemeClr>
          </a:solidFill>
          <a:scene3d>
            <a:camera prst="orthographicFront"/>
            <a:lightRig rig="threePt" dir="t"/>
          </a:scene3d>
          <a:sp3d>
            <a:bevelT w="114300" prst="artDeco"/>
          </a:sp3d>
        </p:spPr>
        <p:style>
          <a:lnRef idx="2">
            <a:schemeClr val="dk1"/>
          </a:lnRef>
          <a:fillRef idx="1">
            <a:schemeClr val="lt1"/>
          </a:fillRef>
          <a:effectRef idx="0">
            <a:schemeClr val="dk1"/>
          </a:effectRef>
          <a:fontRef idx="minor">
            <a:schemeClr val="dk1"/>
          </a:fontRef>
        </p:style>
        <p:txBody>
          <a:bodyPr rtlCol="0" anchor="ctr"/>
          <a:lstStyle/>
          <a:p>
            <a:pPr algn="ctr"/>
            <a:r>
              <a:rPr lang="fr-FR" sz="6600" b="1" dirty="0">
                <a:ln w="0"/>
                <a:solidFill>
                  <a:srgbClr val="FF0000"/>
                </a:solidFill>
                <a:effectLst>
                  <a:outerShdw blurRad="38100" dist="19050" dir="2700000" algn="tl" rotWithShape="0">
                    <a:schemeClr val="dk1">
                      <a:alpha val="40000"/>
                    </a:schemeClr>
                  </a:outerShdw>
                </a:effectLst>
                <a:latin typeface="Berlin Sans FB" panose="020E0602020502020306" pitchFamily="34" charset="0"/>
              </a:rPr>
              <a:t>II COLLECTE DES DONNEES </a:t>
            </a:r>
            <a:endParaRPr lang="fr-FR" sz="60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a:p>
            <a:pPr algn="ctr"/>
            <a:r>
              <a:rPr lang="fr-FR"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rPr>
              <a:t> </a:t>
            </a:r>
            <a:endParaRPr lang="fr-TG" sz="3200" dirty="0">
              <a:ln w="0"/>
              <a:solidFill>
                <a:schemeClr val="tx1"/>
              </a:solidFill>
              <a:effectLst>
                <a:outerShdw blurRad="38100" dist="19050" dir="2700000" algn="tl" rotWithShape="0">
                  <a:schemeClr val="dk1">
                    <a:alpha val="40000"/>
                  </a:schemeClr>
                </a:outerShdw>
              </a:effectLst>
              <a:latin typeface="Berlin Sans FB" panose="020E0602020502020306" pitchFamily="34" charset="0"/>
            </a:endParaRPr>
          </a:p>
        </p:txBody>
      </p:sp>
      <p:sp>
        <p:nvSpPr>
          <p:cNvPr id="7" name="ZoneTexte 6">
            <a:extLst>
              <a:ext uri="{FF2B5EF4-FFF2-40B4-BE49-F238E27FC236}">
                <a16:creationId xmlns:a16="http://schemas.microsoft.com/office/drawing/2014/main" id="{D48BA4C8-5E06-2950-7455-095D6B11C1B0}"/>
              </a:ext>
            </a:extLst>
          </p:cNvPr>
          <p:cNvSpPr txBox="1"/>
          <p:nvPr/>
        </p:nvSpPr>
        <p:spPr>
          <a:xfrm>
            <a:off x="449579" y="1641803"/>
            <a:ext cx="11489788" cy="4031873"/>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48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II – </a:t>
            </a:r>
            <a:r>
              <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INTRODUCTION AUX OUTILS STATISTIQUES</a:t>
            </a:r>
          </a:p>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SPSS – EXCEL </a:t>
            </a:r>
            <a:endParaRPr lang="fr-FR" sz="48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just"/>
            <a:r>
              <a:rPr lang="fr-FR" sz="4000" dirty="0">
                <a:ln w="0">
                  <a:solidFill>
                    <a:schemeClr val="tx1">
                      <a:lumMod val="75000"/>
                      <a:lumOff val="25000"/>
                    </a:schemeClr>
                  </a:solidFill>
                </a:ln>
                <a:solidFill>
                  <a:schemeClr val="accent1">
                    <a:lumMod val="50000"/>
                  </a:schemeClr>
                </a:solidFill>
                <a:effectLst>
                  <a:outerShdw blurRad="38100" dist="19050" dir="2700000" algn="tl" rotWithShape="0">
                    <a:schemeClr val="dk1">
                      <a:alpha val="40000"/>
                    </a:schemeClr>
                  </a:outerShdw>
                </a:effectLst>
                <a:latin typeface="Berlin Sans FB" panose="020E0602020502020306" pitchFamily="34" charset="0"/>
              </a:rPr>
              <a:t>2.1 TECHNIQUES D’ECHANTILLONNAGE</a:t>
            </a:r>
          </a:p>
          <a:p>
            <a:pPr algn="just"/>
            <a:r>
              <a:rPr lang="fr-FR" sz="4000" dirty="0">
                <a:ln w="0">
                  <a:solidFill>
                    <a:schemeClr val="tx1">
                      <a:lumMod val="75000"/>
                      <a:lumOff val="25000"/>
                    </a:schemeClr>
                  </a:solidFill>
                </a:ln>
                <a:solidFill>
                  <a:schemeClr val="accent1">
                    <a:lumMod val="50000"/>
                  </a:schemeClr>
                </a:solidFill>
                <a:effectLst>
                  <a:outerShdw blurRad="38100" dist="19050" dir="2700000" algn="tl" rotWithShape="0">
                    <a:schemeClr val="dk1">
                      <a:alpha val="40000"/>
                    </a:schemeClr>
                  </a:outerShdw>
                </a:effectLst>
                <a:latin typeface="Berlin Sans FB" panose="020E0602020502020306" pitchFamily="34" charset="0"/>
              </a:rPr>
              <a:t>2.2 CONSTRUCTION DES QUESTIONNAIRES ET SONDAGES</a:t>
            </a:r>
          </a:p>
        </p:txBody>
      </p:sp>
    </p:spTree>
    <p:extLst>
      <p:ext uri="{BB962C8B-B14F-4D97-AF65-F5344CB8AC3E}">
        <p14:creationId xmlns:p14="http://schemas.microsoft.com/office/powerpoint/2010/main" val="2340236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91615-D33D-78A6-213A-008A8446FA5D}"/>
            </a:ext>
          </a:extLst>
        </p:cNvPr>
        <p:cNvGrpSpPr/>
        <p:nvPr/>
      </p:nvGrpSpPr>
      <p:grpSpPr>
        <a:xfrm>
          <a:off x="0" y="0"/>
          <a:ext cx="0" cy="0"/>
          <a:chOff x="0" y="0"/>
          <a:chExt cx="0" cy="0"/>
        </a:xfrm>
      </p:grpSpPr>
      <p:pic>
        <p:nvPicPr>
          <p:cNvPr id="1026" name="Picture 2" descr="différence étude qualitative et étude quantitative">
            <a:extLst>
              <a:ext uri="{FF2B5EF4-FFF2-40B4-BE49-F238E27FC236}">
                <a16:creationId xmlns:a16="http://schemas.microsoft.com/office/drawing/2014/main" id="{C48E54DA-36DC-995C-80E9-4CF841682A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605" y="824719"/>
            <a:ext cx="9706707" cy="58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84766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9F960-A899-6B55-5051-65E6CF662A00}"/>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69D6D1E-5ADF-E175-79D2-C3DEFAF97312}"/>
              </a:ext>
            </a:extLst>
          </p:cNvPr>
          <p:cNvSpPr txBox="1"/>
          <p:nvPr/>
        </p:nvSpPr>
        <p:spPr>
          <a:xfrm>
            <a:off x="351106" y="952483"/>
            <a:ext cx="11489788" cy="5724644"/>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48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III – </a:t>
            </a:r>
            <a:r>
              <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COLLECTE DES DONNEES QUALITATIVES</a:t>
            </a:r>
            <a:endParaRPr lang="fr-FR" sz="48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endParaRPr lang="fr-FR" sz="36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just"/>
            <a:r>
              <a:rPr lang="fr-FR" sz="40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3.1 – </a:t>
            </a:r>
            <a:r>
              <a:rPr lang="fr-FR" sz="4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Conduite d’entretiens et organisation de focus groups</a:t>
            </a:r>
          </a:p>
          <a:p>
            <a:pPr algn="just"/>
            <a:r>
              <a:rPr lang="fr-FR" sz="4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3.2 – Observation participante et analyse du contenu</a:t>
            </a:r>
          </a:p>
          <a:p>
            <a:pPr algn="just"/>
            <a:r>
              <a:rPr lang="fr-FR" sz="44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3.3 – Méthodes d’enregistrement et transcription des données </a:t>
            </a:r>
          </a:p>
          <a:p>
            <a:endParaRPr lang="fr-TG" sz="1800" b="0" i="0" u="none" strike="noStrike" baseline="0" dirty="0">
              <a:solidFill>
                <a:srgbClr val="000000"/>
              </a:solidFill>
            </a:endParaRPr>
          </a:p>
        </p:txBody>
      </p:sp>
    </p:spTree>
    <p:extLst>
      <p:ext uri="{BB962C8B-B14F-4D97-AF65-F5344CB8AC3E}">
        <p14:creationId xmlns:p14="http://schemas.microsoft.com/office/powerpoint/2010/main" val="40610253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F00A5-CA02-7ECE-58C5-D099E64C09D4}"/>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F8C9B821-0BA8-4E74-9264-D9FD6C9565F9}"/>
              </a:ext>
            </a:extLst>
          </p:cNvPr>
          <p:cNvSpPr txBox="1"/>
          <p:nvPr/>
        </p:nvSpPr>
        <p:spPr>
          <a:xfrm>
            <a:off x="449579" y="642977"/>
            <a:ext cx="11489788" cy="6555641"/>
          </a:xfrm>
          <a:prstGeom prst="rect">
            <a:avLst/>
          </a:prstGeom>
          <a:noFill/>
        </p:spPr>
        <p:txBody>
          <a:bodyPr wrap="square">
            <a:spAutoFit/>
            <a:scene3d>
              <a:camera prst="orthographicFront"/>
              <a:lightRig rig="threePt" dir="t"/>
            </a:scene3d>
            <a:sp3d extrusionH="57150">
              <a:bevelT w="82550" h="38100" prst="coolSlant"/>
            </a:sp3d>
          </a:bodyPr>
          <a:lstStyle/>
          <a:p>
            <a:pPr algn="ctr"/>
            <a:r>
              <a:rPr lang="fr-FR" sz="44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IV – </a:t>
            </a:r>
            <a:r>
              <a:rPr lang="fr-FR" sz="40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rPr>
              <a:t>ANALYSE DES RESULTATS ET PRESENTATION DES DONNEES</a:t>
            </a:r>
            <a:endParaRPr lang="fr-FR" sz="4400" i="0" u="none" strike="noStrike" baseline="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endParaRPr lang="fr-FR" sz="1000" dirty="0">
              <a:ln w="0">
                <a:solidFill>
                  <a:schemeClr val="tx1">
                    <a:lumMod val="75000"/>
                    <a:lumOff val="25000"/>
                  </a:schemeClr>
                </a:solidFill>
              </a:ln>
              <a:effectLst>
                <a:outerShdw blurRad="38100" dist="19050" dir="2700000" algn="tl" rotWithShape="0">
                  <a:schemeClr val="dk1">
                    <a:alpha val="40000"/>
                  </a:schemeClr>
                </a:outerShdw>
              </a:effectLst>
              <a:latin typeface="Berlin Sans FB" panose="020E0602020502020306" pitchFamily="34" charset="0"/>
            </a:endParaRPr>
          </a:p>
          <a:p>
            <a:pPr algn="ctr"/>
            <a:r>
              <a:rPr lang="fr-FR" sz="4000" dirty="0">
                <a:ln w="0"/>
                <a:effectLst>
                  <a:outerShdw blurRad="38100" dist="19050" dir="2700000" algn="tl" rotWithShape="0">
                    <a:schemeClr val="dk1">
                      <a:alpha val="40000"/>
                    </a:schemeClr>
                  </a:outerShdw>
                </a:effectLst>
                <a:latin typeface="Berlin Sans FB" panose="020E0602020502020306" pitchFamily="34" charset="0"/>
              </a:rPr>
              <a:t>4</a:t>
            </a:r>
            <a:r>
              <a:rPr lang="fr-FR" sz="4000"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.1 – </a:t>
            </a:r>
            <a:r>
              <a:rPr lang="fr-FR" sz="3600" b="1" i="0" u="none" strike="noStrike" baseline="0" dirty="0">
                <a:ln w="0"/>
                <a:effectLst>
                  <a:outerShdw blurRad="38100" dist="19050" dir="2700000" algn="tl" rotWithShape="0">
                    <a:schemeClr val="dk1">
                      <a:alpha val="40000"/>
                    </a:schemeClr>
                  </a:outerShdw>
                </a:effectLst>
                <a:latin typeface="Berlin Sans FB" panose="020E0602020502020306" pitchFamily="34" charset="0"/>
              </a:rPr>
              <a:t>Analyse statistique descriptive et inférentielle pour les données quantitatives </a:t>
            </a:r>
          </a:p>
          <a:p>
            <a:pPr algn="ctr"/>
            <a:endParaRPr lang="fr-FR" sz="1000" b="1" dirty="0">
              <a:ln w="0"/>
              <a:solidFill>
                <a:srgbClr val="000000"/>
              </a:solidFill>
              <a:effectLst>
                <a:outerShdw blurRad="38100" dist="19050" dir="2700000" algn="tl" rotWithShape="0">
                  <a:schemeClr val="dk1">
                    <a:alpha val="40000"/>
                  </a:schemeClr>
                </a:outerShdw>
              </a:effectLst>
              <a:latin typeface="Berlin Sans FB" panose="020E0602020502020306" pitchFamily="34" charset="0"/>
            </a:endParaRPr>
          </a:p>
          <a:p>
            <a:r>
              <a:rPr lang="fr-FR" sz="3600" b="1" dirty="0">
                <a:ln w="0"/>
                <a:solidFill>
                  <a:srgbClr val="000000"/>
                </a:solidFill>
                <a:effectLst>
                  <a:outerShdw blurRad="38100" dist="19050" dir="2700000" algn="tl" rotWithShape="0">
                    <a:schemeClr val="dk1">
                      <a:alpha val="40000"/>
                    </a:schemeClr>
                  </a:outerShdw>
                </a:effectLst>
                <a:latin typeface="Berlin Sans FB" panose="020E0602020502020306" pitchFamily="34" charset="0"/>
              </a:rPr>
              <a:t>4.2 – Codage et catégorisation des données qualitatives </a:t>
            </a:r>
          </a:p>
          <a:p>
            <a:r>
              <a:rPr lang="fr-FR" sz="3600" b="1" i="0" u="none" strike="noStrike" baseline="0" dirty="0">
                <a:ln w="0"/>
                <a:solidFill>
                  <a:srgbClr val="000000"/>
                </a:solidFill>
                <a:effectLst>
                  <a:outerShdw blurRad="38100" dist="19050" dir="2700000" algn="tl" rotWithShape="0">
                    <a:schemeClr val="dk1">
                      <a:alpha val="40000"/>
                    </a:schemeClr>
                  </a:outerShdw>
                </a:effectLst>
                <a:latin typeface="Berlin Sans FB" panose="020E0602020502020306" pitchFamily="34" charset="0"/>
              </a:rPr>
              <a:t>4</a:t>
            </a:r>
            <a:r>
              <a:rPr lang="fr-FR" sz="3600" b="1" dirty="0">
                <a:ln w="0"/>
                <a:solidFill>
                  <a:srgbClr val="000000"/>
                </a:solidFill>
                <a:effectLst>
                  <a:outerShdw blurRad="38100" dist="19050" dir="2700000" algn="tl" rotWithShape="0">
                    <a:schemeClr val="dk1">
                      <a:alpha val="40000"/>
                    </a:schemeClr>
                  </a:outerShdw>
                </a:effectLst>
                <a:latin typeface="Berlin Sans FB" panose="020E0602020502020306" pitchFamily="34" charset="0"/>
              </a:rPr>
              <a:t>.3 – Présentation des résultats dans un rapport ou une étude de cas</a:t>
            </a:r>
            <a:endParaRPr lang="fr-FR" sz="1800" b="1" i="0" u="none" strike="noStrike" baseline="0" dirty="0">
              <a:solidFill>
                <a:srgbClr val="000000"/>
              </a:solidFill>
              <a:latin typeface="Berlin Sans FB" panose="020E0602020502020306" pitchFamily="34" charset="0"/>
            </a:endParaRPr>
          </a:p>
          <a:p>
            <a:endParaRPr lang="fr-TG" sz="1800" b="0" i="0" u="none" strike="noStrike" baseline="0" dirty="0">
              <a:solidFill>
                <a:srgbClr val="000000"/>
              </a:solidFill>
            </a:endParaRPr>
          </a:p>
          <a:p>
            <a:pPr algn="just"/>
            <a:endParaRPr lang="fr-FR" sz="4400" i="0" u="none" strike="noStrike" baseline="0" dirty="0">
              <a:ln w="0"/>
              <a:effectLst>
                <a:outerShdw blurRad="38100" dist="19050" dir="2700000" algn="tl" rotWithShape="0">
                  <a:schemeClr val="dk1">
                    <a:alpha val="40000"/>
                  </a:schemeClr>
                </a:outerShdw>
              </a:effectLst>
              <a:latin typeface="Berlin Sans FB" panose="020E0602020502020306" pitchFamily="34" charset="0"/>
            </a:endParaRPr>
          </a:p>
          <a:p>
            <a:endParaRPr lang="fr-TG" sz="1800" b="0" i="0" u="none" strike="noStrike" baseline="0" dirty="0">
              <a:solidFill>
                <a:srgbClr val="000000"/>
              </a:solidFill>
            </a:endParaRPr>
          </a:p>
        </p:txBody>
      </p:sp>
    </p:spTree>
    <p:extLst>
      <p:ext uri="{BB962C8B-B14F-4D97-AF65-F5344CB8AC3E}">
        <p14:creationId xmlns:p14="http://schemas.microsoft.com/office/powerpoint/2010/main" val="344714051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15790</TotalTime>
  <Words>2971</Words>
  <Application>Microsoft Office PowerPoint</Application>
  <PresentationFormat>Grand écran</PresentationFormat>
  <Paragraphs>403</Paragraphs>
  <Slides>55</Slides>
  <Notes>20</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55</vt:i4>
      </vt:variant>
    </vt:vector>
  </HeadingPairs>
  <TitlesOfParts>
    <vt:vector size="65" baseType="lpstr">
      <vt:lpstr>Arial</vt:lpstr>
      <vt:lpstr>Berlin Sans FB</vt:lpstr>
      <vt:lpstr>Berlin Sans FB Demi</vt:lpstr>
      <vt:lpstr>Calibri</vt:lpstr>
      <vt:lpstr>Calibri Light</vt:lpstr>
      <vt:lpstr>Inter</vt:lpstr>
      <vt:lpstr>Time New Roman</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Tagba Esso-Itissa TCHANGAI</dc:creator>
  <cp:lastModifiedBy>Tagba Esso-Itissa TCHANGAI</cp:lastModifiedBy>
  <cp:revision>83</cp:revision>
  <dcterms:created xsi:type="dcterms:W3CDTF">2024-11-22T16:29:24Z</dcterms:created>
  <dcterms:modified xsi:type="dcterms:W3CDTF">2025-11-06T20:50:25Z</dcterms:modified>
</cp:coreProperties>
</file>